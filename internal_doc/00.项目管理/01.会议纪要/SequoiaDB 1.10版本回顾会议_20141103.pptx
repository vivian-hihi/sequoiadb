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69" r:id="rId3"/>
    <p:sldId id="268" r:id="rId4"/>
    <p:sldId id="270" r:id="rId5"/>
    <p:sldId id="271" r:id="rId6"/>
    <p:sldId id="272" r:id="rId7"/>
    <p:sldId id="267" r:id="rId8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99"/>
    <a:srgbClr val="13C0D7"/>
    <a:srgbClr val="339966"/>
    <a:srgbClr val="993366"/>
    <a:srgbClr val="C0BD2D"/>
    <a:srgbClr val="3DAD78"/>
    <a:srgbClr val="E161FF"/>
    <a:srgbClr val="CC00FF"/>
    <a:srgbClr val="3399FF"/>
    <a:srgbClr val="0066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84961" autoAdjust="0"/>
  </p:normalViewPr>
  <p:slideViewPr>
    <p:cSldViewPr>
      <p:cViewPr varScale="1">
        <p:scale>
          <a:sx n="87" d="100"/>
          <a:sy n="87" d="100"/>
        </p:scale>
        <p:origin x="-1470" y="-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3E46FB-0C22-4315-8E08-4C5C8B3D1168}" type="datetimeFigureOut">
              <a:rPr lang="zh-CN" altLang="en-US" smtClean="0"/>
              <a:pPr/>
              <a:t>2014/11/4</a:t>
            </a:fld>
            <a:endParaRPr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DED305-2F38-4124-B22A-2A7AC7C037B9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DED305-2F38-4124-B22A-2A7AC7C037B9}" type="slidenum">
              <a:rPr lang="zh-CN" altLang="en-US" smtClean="0"/>
              <a:pPr/>
              <a:t>3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altLang="zh-CN" dirty="0" smtClean="0"/>
              <a:t>1</a:t>
            </a:r>
            <a:r>
              <a:rPr lang="zh-CN" altLang="en-US" dirty="0" smtClean="0"/>
              <a:t>、流程和模块前期设计充分</a:t>
            </a:r>
            <a:endParaRPr lang="en-US" altLang="zh-CN" dirty="0" smtClean="0"/>
          </a:p>
          <a:p>
            <a:r>
              <a:rPr lang="en-US" altLang="zh-CN" b="1" dirty="0" smtClean="0"/>
              <a:t>2</a:t>
            </a:r>
            <a:r>
              <a:rPr lang="zh-CN" altLang="en-US" b="1" dirty="0" smtClean="0"/>
              <a:t>、发现问题及时讨论 </a:t>
            </a:r>
            <a:r>
              <a:rPr lang="en-US" altLang="zh-CN" b="1" dirty="0" smtClean="0"/>
              <a:t>+2</a:t>
            </a:r>
          </a:p>
          <a:p>
            <a:r>
              <a:rPr lang="en-US" altLang="zh-CN" dirty="0" smtClean="0"/>
              <a:t>3</a:t>
            </a:r>
            <a:r>
              <a:rPr lang="zh-CN" altLang="en-US" dirty="0" smtClean="0"/>
              <a:t>、</a:t>
            </a:r>
            <a:r>
              <a:rPr lang="en-US" altLang="zh-CN" dirty="0" smtClean="0"/>
              <a:t>CI</a:t>
            </a:r>
            <a:r>
              <a:rPr lang="zh-CN" altLang="en-US" dirty="0" smtClean="0"/>
              <a:t>及时补充测试用例</a:t>
            </a:r>
            <a:endParaRPr lang="en-US" altLang="zh-CN" dirty="0" smtClean="0"/>
          </a:p>
          <a:p>
            <a:r>
              <a:rPr lang="en-US" altLang="zh-CN" b="1" dirty="0" smtClean="0"/>
              <a:t>4</a:t>
            </a:r>
            <a:r>
              <a:rPr lang="zh-CN" altLang="en-US" b="1" dirty="0" smtClean="0"/>
              <a:t>、代码流程培训 </a:t>
            </a:r>
            <a:r>
              <a:rPr lang="en-US" altLang="zh-CN" b="1" dirty="0" smtClean="0"/>
              <a:t>+2</a:t>
            </a:r>
          </a:p>
          <a:p>
            <a:r>
              <a:rPr lang="en-US" altLang="zh-CN" b="1" dirty="0" smtClean="0"/>
              <a:t>5</a:t>
            </a:r>
            <a:r>
              <a:rPr lang="zh-CN" altLang="en-US" b="1" dirty="0" smtClean="0"/>
              <a:t>、开发前对功能的设计培训</a:t>
            </a:r>
            <a:endParaRPr lang="en-US" altLang="zh-CN" b="1" dirty="0" smtClean="0"/>
          </a:p>
          <a:p>
            <a:r>
              <a:rPr lang="en-US" altLang="zh-CN" dirty="0" smtClean="0"/>
              <a:t>6</a:t>
            </a:r>
            <a:r>
              <a:rPr lang="zh-CN" altLang="en-US" dirty="0" smtClean="0"/>
              <a:t>、提单及问题修改的规范性</a:t>
            </a:r>
            <a:endParaRPr lang="en-US" altLang="zh-CN" dirty="0" smtClean="0"/>
          </a:p>
          <a:p>
            <a:r>
              <a:rPr lang="en-US" altLang="zh-CN" dirty="0" smtClean="0"/>
              <a:t>7</a:t>
            </a:r>
            <a:r>
              <a:rPr lang="zh-CN" altLang="en-US" dirty="0" smtClean="0"/>
              <a:t>、出现问题及时提单</a:t>
            </a:r>
            <a:endParaRPr lang="en-US" altLang="zh-CN" dirty="0" smtClean="0"/>
          </a:p>
          <a:p>
            <a:r>
              <a:rPr lang="en-US" altLang="zh-CN" dirty="0" smtClean="0"/>
              <a:t>9</a:t>
            </a:r>
            <a:r>
              <a:rPr lang="zh-CN" altLang="en-US" dirty="0" smtClean="0"/>
              <a:t>、以用户角度看问题的意识加强</a:t>
            </a:r>
            <a:endParaRPr lang="en-US" altLang="zh-CN" dirty="0" smtClean="0"/>
          </a:p>
          <a:p>
            <a:r>
              <a:rPr lang="en-US" altLang="zh-CN" dirty="0" smtClean="0"/>
              <a:t>10</a:t>
            </a:r>
            <a:r>
              <a:rPr lang="zh-CN" altLang="en-US" dirty="0" smtClean="0"/>
              <a:t>、开发节奏比上一版本加强</a:t>
            </a:r>
            <a:endParaRPr lang="en-US" altLang="zh-CN" dirty="0" smtClean="0"/>
          </a:p>
          <a:p>
            <a:r>
              <a:rPr lang="en-US" altLang="zh-CN" dirty="0" smtClean="0"/>
              <a:t>11</a:t>
            </a:r>
            <a:r>
              <a:rPr lang="zh-CN" altLang="en-US" dirty="0" smtClean="0"/>
              <a:t>、代码模块较上版本清淅</a:t>
            </a:r>
            <a:endParaRPr lang="en-US" altLang="zh-CN" dirty="0" smtClean="0"/>
          </a:p>
          <a:p>
            <a:r>
              <a:rPr lang="en-US" altLang="zh-CN" dirty="0" smtClean="0"/>
              <a:t>12</a:t>
            </a:r>
            <a:r>
              <a:rPr lang="zh-CN" altLang="en-US" dirty="0" smtClean="0"/>
              <a:t>、测试用例讨论会很关键</a:t>
            </a:r>
            <a:endParaRPr lang="en-US" altLang="zh-CN" dirty="0" smtClean="0"/>
          </a:p>
          <a:p>
            <a:r>
              <a:rPr lang="en-US" altLang="zh-CN" dirty="0" smtClean="0"/>
              <a:t>13</a:t>
            </a:r>
            <a:r>
              <a:rPr lang="zh-CN" altLang="en-US" dirty="0" smtClean="0"/>
              <a:t>、</a:t>
            </a:r>
            <a:r>
              <a:rPr lang="en-US" altLang="zh-CN" dirty="0" smtClean="0"/>
              <a:t>CI</a:t>
            </a:r>
            <a:r>
              <a:rPr lang="zh-CN" altLang="en-US" dirty="0" smtClean="0"/>
              <a:t>容错性提升，测试性能提升</a:t>
            </a:r>
            <a:endParaRPr lang="en-US" altLang="zh-CN" dirty="0" smtClean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DED305-2F38-4124-B22A-2A7AC7C037B9}" type="slidenum">
              <a:rPr lang="zh-CN" altLang="en-US" smtClean="0"/>
              <a:pPr/>
              <a:t>4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altLang="zh-CN" b="1" dirty="0" smtClean="0"/>
              <a:t>1</a:t>
            </a:r>
            <a:r>
              <a:rPr lang="zh-CN" altLang="en-US" b="1" dirty="0" smtClean="0"/>
              <a:t>、对外界使用数据库的了解很少    </a:t>
            </a:r>
            <a:r>
              <a:rPr lang="en-US" altLang="zh-CN" dirty="0" smtClean="0"/>
              <a:t>---</a:t>
            </a:r>
            <a:r>
              <a:rPr lang="zh-CN" altLang="en-US" b="1" dirty="0" smtClean="0"/>
              <a:t>售前人员定期分享客户经验</a:t>
            </a:r>
            <a:endParaRPr lang="en-US" altLang="zh-CN" dirty="0" smtClean="0"/>
          </a:p>
          <a:p>
            <a:r>
              <a:rPr lang="en-US" altLang="zh-CN" dirty="0" smtClean="0"/>
              <a:t>3</a:t>
            </a:r>
            <a:r>
              <a:rPr lang="zh-CN" altLang="en-US" dirty="0" smtClean="0"/>
              <a:t>、引擎代码内核阅读需要花很多时间</a:t>
            </a:r>
            <a:endParaRPr lang="en-US" altLang="zh-CN" dirty="0" smtClean="0"/>
          </a:p>
          <a:p>
            <a:r>
              <a:rPr lang="en-US" altLang="zh-CN" b="1" dirty="0" smtClean="0"/>
              <a:t>4</a:t>
            </a:r>
            <a:r>
              <a:rPr lang="zh-CN" altLang="en-US" b="1" dirty="0" smtClean="0"/>
              <a:t>、测试维度不够，对功能理解不够深刻，测试方法和技巧需要加强；测试用例重点需要转变，需要设计复杂场景 </a:t>
            </a:r>
            <a:r>
              <a:rPr lang="en-US" altLang="zh-CN" dirty="0" smtClean="0"/>
              <a:t>---</a:t>
            </a:r>
            <a:r>
              <a:rPr lang="zh-CN" altLang="en-US" b="1" dirty="0" smtClean="0"/>
              <a:t>测试方法培训和讨论</a:t>
            </a:r>
            <a:endParaRPr lang="en-US" altLang="zh-CN" b="1" dirty="0" smtClean="0"/>
          </a:p>
          <a:p>
            <a:r>
              <a:rPr lang="en-US" altLang="zh-CN" b="1" dirty="0" smtClean="0"/>
              <a:t>5</a:t>
            </a:r>
            <a:r>
              <a:rPr lang="zh-CN" altLang="en-US" b="1" dirty="0" smtClean="0"/>
              <a:t>、进度控制不够理想  </a:t>
            </a:r>
            <a:r>
              <a:rPr lang="en-US" altLang="zh-CN" dirty="0" smtClean="0"/>
              <a:t>---</a:t>
            </a:r>
            <a:r>
              <a:rPr lang="zh-CN" altLang="en-US" b="1" dirty="0" smtClean="0"/>
              <a:t>开发任务细化， 出问进度风险及时沟通</a:t>
            </a:r>
            <a:endParaRPr lang="en-US" altLang="zh-CN" dirty="0" smtClean="0"/>
          </a:p>
          <a:p>
            <a:r>
              <a:rPr lang="en-US" altLang="zh-CN" dirty="0" smtClean="0"/>
              <a:t>6</a:t>
            </a:r>
            <a:r>
              <a:rPr lang="zh-CN" altLang="en-US" dirty="0" smtClean="0"/>
              <a:t>、不同模块工作之间的交流太少  </a:t>
            </a:r>
            <a:r>
              <a:rPr lang="en-US" altLang="zh-CN" dirty="0" smtClean="0"/>
              <a:t>---</a:t>
            </a:r>
            <a:r>
              <a:rPr lang="zh-CN" altLang="en-US" b="1" dirty="0" smtClean="0"/>
              <a:t>多动手使用</a:t>
            </a:r>
            <a:endParaRPr lang="en-US" altLang="zh-CN" b="1" dirty="0" smtClean="0"/>
          </a:p>
          <a:p>
            <a:r>
              <a:rPr lang="en-US" altLang="zh-CN" dirty="0" smtClean="0"/>
              <a:t>7</a:t>
            </a:r>
            <a:r>
              <a:rPr lang="zh-CN" altLang="en-US" dirty="0" smtClean="0"/>
              <a:t>、开发需求缺乏文档，导致不能完全理解功能    </a:t>
            </a:r>
            <a:r>
              <a:rPr lang="en-US" altLang="zh-CN" dirty="0" smtClean="0"/>
              <a:t>---</a:t>
            </a:r>
            <a:r>
              <a:rPr lang="zh-CN" altLang="en-US" b="1" dirty="0" smtClean="0"/>
              <a:t>沟通、重要考虑项和要求需要明确，使用场景要明确</a:t>
            </a:r>
            <a:endParaRPr lang="en-US" altLang="zh-CN" b="1" dirty="0" smtClean="0"/>
          </a:p>
          <a:p>
            <a:r>
              <a:rPr lang="en-US" altLang="zh-CN" dirty="0" smtClean="0"/>
              <a:t>8</a:t>
            </a:r>
            <a:r>
              <a:rPr lang="zh-CN" altLang="en-US" dirty="0" smtClean="0"/>
              <a:t>、希望能加强文档的迭代，很多新加入的功能非本人很难知道  </a:t>
            </a:r>
            <a:r>
              <a:rPr lang="en-US" altLang="zh-CN" dirty="0" smtClean="0"/>
              <a:t>---</a:t>
            </a:r>
            <a:r>
              <a:rPr lang="zh-CN" altLang="en-US" b="1" dirty="0" smtClean="0"/>
              <a:t>功能完成要及时更新资料，在问题单确认关闭时需要加上资料项</a:t>
            </a:r>
            <a:endParaRPr lang="en-US" altLang="zh-CN" b="1" dirty="0" smtClean="0"/>
          </a:p>
          <a:p>
            <a:r>
              <a:rPr lang="en-US" altLang="zh-CN" dirty="0" smtClean="0"/>
              <a:t>9</a:t>
            </a:r>
            <a:r>
              <a:rPr lang="zh-CN" altLang="en-US" dirty="0" smtClean="0"/>
              <a:t>、设计目标没有对齐，代码没有设计，返工现象存在，代码异常考虑不全  </a:t>
            </a:r>
            <a:r>
              <a:rPr lang="en-US" altLang="zh-CN" dirty="0" smtClean="0"/>
              <a:t>---</a:t>
            </a:r>
            <a:r>
              <a:rPr lang="en-US" altLang="zh-CN" b="1" dirty="0" smtClean="0"/>
              <a:t>Story</a:t>
            </a:r>
            <a:r>
              <a:rPr lang="zh-CN" altLang="en-US" b="1" dirty="0" smtClean="0"/>
              <a:t>开发流程遵守</a:t>
            </a:r>
            <a:endParaRPr lang="en-US" altLang="zh-CN" b="1" dirty="0" smtClean="0"/>
          </a:p>
          <a:p>
            <a:r>
              <a:rPr lang="en-US" altLang="zh-CN" dirty="0" smtClean="0"/>
              <a:t>11</a:t>
            </a:r>
            <a:r>
              <a:rPr lang="zh-CN" altLang="en-US" dirty="0" smtClean="0"/>
              <a:t>、有价值的实践文档不足    </a:t>
            </a:r>
            <a:r>
              <a:rPr lang="en-US" altLang="zh-CN" dirty="0" smtClean="0"/>
              <a:t>---</a:t>
            </a:r>
            <a:r>
              <a:rPr lang="zh-CN" altLang="en-US" b="1" dirty="0" smtClean="0"/>
              <a:t>开发人员要分享相应功能的实践文档</a:t>
            </a:r>
            <a:endParaRPr lang="en-US" altLang="zh-CN" b="1" dirty="0" smtClean="0"/>
          </a:p>
          <a:p>
            <a:r>
              <a:rPr lang="en-US" altLang="zh-CN" b="0" dirty="0" smtClean="0"/>
              <a:t>12</a:t>
            </a:r>
            <a:r>
              <a:rPr lang="zh-CN" altLang="en-US" b="0" dirty="0" smtClean="0"/>
              <a:t>、培训场次有待增加 </a:t>
            </a:r>
            <a:r>
              <a:rPr lang="en-US" altLang="zh-CN" b="0" dirty="0" smtClean="0"/>
              <a:t>+1   ---</a:t>
            </a:r>
          </a:p>
          <a:p>
            <a:r>
              <a:rPr lang="en-US" altLang="zh-CN" dirty="0" smtClean="0"/>
              <a:t>13</a:t>
            </a:r>
            <a:r>
              <a:rPr lang="zh-CN" altLang="en-US" dirty="0" smtClean="0"/>
              <a:t>、前后端人员不足 </a:t>
            </a:r>
            <a:r>
              <a:rPr lang="en-US" altLang="zh-CN" dirty="0" smtClean="0"/>
              <a:t>+1</a:t>
            </a:r>
          </a:p>
          <a:p>
            <a:r>
              <a:rPr lang="en-US" altLang="zh-CN" dirty="0" smtClean="0"/>
              <a:t>15</a:t>
            </a:r>
            <a:r>
              <a:rPr lang="zh-CN" altLang="en-US" dirty="0" smtClean="0"/>
              <a:t>、文档不够易用   </a:t>
            </a:r>
            <a:r>
              <a:rPr lang="en-US" altLang="zh-CN" dirty="0" smtClean="0"/>
              <a:t>---</a:t>
            </a:r>
            <a:r>
              <a:rPr lang="zh-CN" altLang="en-US" b="1" dirty="0" smtClean="0"/>
              <a:t>交叉验证</a:t>
            </a:r>
            <a:endParaRPr lang="en-US" altLang="zh-CN" b="1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DED305-2F38-4124-B22A-2A7AC7C037B9}" type="slidenum">
              <a:rPr lang="zh-CN" altLang="en-US" smtClean="0"/>
              <a:pPr/>
              <a:t>5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altLang="zh-CN" dirty="0" smtClean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DED305-2F38-4124-B22A-2A7AC7C037B9}" type="slidenum">
              <a:rPr lang="zh-CN" altLang="en-US" smtClean="0"/>
              <a:pPr/>
              <a:t>6</a:t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857356" y="2571744"/>
            <a:ext cx="7286644" cy="1214422"/>
          </a:xfrm>
        </p:spPr>
        <p:txBody>
          <a:bodyPr>
            <a:normAutofit/>
          </a:bodyPr>
          <a:lstStyle>
            <a:lvl1pPr algn="l">
              <a:defRPr sz="3200" baseline="0">
                <a:solidFill>
                  <a:schemeClr val="bg1"/>
                </a:solidFill>
                <a:latin typeface="HelveticaNeueLT Pro 65 Md" pitchFamily="34" charset="0"/>
                <a:ea typeface="方正兰亭中黑_GBK" pitchFamily="2" charset="-122"/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57356" y="3929066"/>
            <a:ext cx="7286644" cy="642942"/>
          </a:xfrm>
        </p:spPr>
        <p:txBody>
          <a:bodyPr>
            <a:normAutofit/>
          </a:bodyPr>
          <a:lstStyle>
            <a:lvl1pPr marL="0" indent="0" algn="l"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 smtClean="0"/>
              <a:t>Click to edit Master subtitle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2071678"/>
            <a:ext cx="8229600" cy="4054485"/>
          </a:xfrm>
        </p:spPr>
        <p:txBody>
          <a:bodyPr/>
          <a:lstStyle/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14348" y="4143380"/>
            <a:ext cx="7772400" cy="1362075"/>
          </a:xfrm>
        </p:spPr>
        <p:txBody>
          <a:bodyPr anchor="t">
            <a:normAutofit/>
          </a:bodyPr>
          <a:lstStyle>
            <a:lvl1pPr algn="l">
              <a:defRPr sz="3200" b="1" cap="all">
                <a:solidFill>
                  <a:schemeClr val="bg1"/>
                </a:solidFill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14348" y="2643182"/>
            <a:ext cx="7772400" cy="1500187"/>
          </a:xfrm>
        </p:spPr>
        <p:txBody>
          <a:bodyPr anchor="b">
            <a:normAutofit/>
          </a:bodyPr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2071678"/>
            <a:ext cx="4038600" cy="405448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2071678"/>
            <a:ext cx="4038600" cy="405448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928802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714619"/>
            <a:ext cx="4040188" cy="34115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928802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714619"/>
            <a:ext cx="4041775" cy="34115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071678"/>
            <a:ext cx="5111750" cy="405448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  <a:p>
            <a:pPr lvl="1"/>
            <a:r>
              <a:rPr lang="en-US" altLang="zh-CN" smtClean="0"/>
              <a:t>Second level</a:t>
            </a:r>
          </a:p>
          <a:p>
            <a:pPr lvl="2"/>
            <a:r>
              <a:rPr lang="en-US" altLang="zh-CN" smtClean="0"/>
              <a:t>Third level</a:t>
            </a:r>
          </a:p>
          <a:p>
            <a:pPr lvl="3"/>
            <a:r>
              <a:rPr lang="en-US" altLang="zh-CN" smtClean="0"/>
              <a:t>Fourth level</a:t>
            </a:r>
          </a:p>
          <a:p>
            <a:pPr lvl="4"/>
            <a:r>
              <a:rPr lang="en-US" altLang="zh-CN" smtClean="0"/>
              <a:t>Fifth level</a:t>
            </a:r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2071678"/>
            <a:ext cx="3008313" cy="405448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  <p:sp>
        <p:nvSpPr>
          <p:cNvPr id="9" name="标题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</p:spPr>
        <p:txBody>
          <a:bodyPr/>
          <a:lstStyle/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1000108"/>
            <a:ext cx="5486400" cy="372746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altLang="zh-CN" smtClean="0"/>
              <a:t>Click icon to add picture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zh-CN" smtClean="0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底"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2143108" y="4357694"/>
            <a:ext cx="7000892" cy="1214422"/>
          </a:xfrm>
        </p:spPr>
        <p:txBody>
          <a:bodyPr>
            <a:normAutofit/>
          </a:bodyPr>
          <a:lstStyle>
            <a:lvl1pPr algn="l">
              <a:defRPr sz="3200" baseline="0">
                <a:solidFill>
                  <a:schemeClr val="bg1"/>
                </a:solidFill>
                <a:latin typeface="HelveticaNeueLT Pro 65 Md" pitchFamily="34" charset="0"/>
                <a:ea typeface="方正兰亭中黑_GBK" pitchFamily="2" charset="-122"/>
              </a:defRPr>
            </a:lvl1pPr>
          </a:lstStyle>
          <a:p>
            <a:r>
              <a:rPr lang="en-US" altLang="zh-CN" smtClean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457200" y="785794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 smtClean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928802"/>
            <a:ext cx="8229600" cy="41973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 smtClean="0"/>
              <a:t>单击此处编辑母版文本样式</a:t>
            </a:r>
          </a:p>
          <a:p>
            <a:pPr lvl="1"/>
            <a:r>
              <a:rPr lang="zh-CN" altLang="en-US" dirty="0" smtClean="0"/>
              <a:t>第二级</a:t>
            </a:r>
          </a:p>
          <a:p>
            <a:pPr lvl="2"/>
            <a:r>
              <a:rPr lang="zh-CN" altLang="en-US" dirty="0" smtClean="0"/>
              <a:t>第三级</a:t>
            </a:r>
          </a:p>
          <a:p>
            <a:pPr lvl="3"/>
            <a:r>
              <a:rPr lang="zh-CN" altLang="en-US" dirty="0" smtClean="0"/>
              <a:t>第四级</a:t>
            </a:r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200" kern="1200" baseline="0">
          <a:solidFill>
            <a:schemeClr val="tx1"/>
          </a:solidFill>
          <a:latin typeface="HelveticaNeueLT Pro 65 Md" pitchFamily="34" charset="0"/>
          <a:ea typeface="方正兰亭中黑_GBK" pitchFamily="2" charset="-122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18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16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1400" kern="1200" baseline="0">
          <a:solidFill>
            <a:schemeClr val="tx1"/>
          </a:solidFill>
          <a:latin typeface="HelveticaNeueLT Pro 55 Roman" pitchFamily="34" charset="0"/>
          <a:ea typeface="方正兰亭黑_GBK" pitchFamily="2" charset="-122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 smtClean="0"/>
              <a:t>SequoiaDB</a:t>
            </a:r>
            <a:r>
              <a:rPr lang="zh-CN" altLang="en-US" dirty="0" smtClean="0"/>
              <a:t> </a:t>
            </a:r>
            <a:r>
              <a:rPr lang="en-US" altLang="zh-CN" dirty="0" smtClean="0"/>
              <a:t>1.10</a:t>
            </a:r>
            <a:r>
              <a:rPr lang="zh-CN" altLang="en-US" dirty="0" smtClean="0"/>
              <a:t>版本回顾会议</a:t>
            </a:r>
            <a:endParaRPr lang="zh-CN" alt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CN" altLang="en-US" dirty="0" smtClean="0"/>
              <a:t>内部会议资料</a:t>
            </a:r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会议流程</a:t>
            </a:r>
            <a:endParaRPr lang="zh-CN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版本总结（</a:t>
            </a:r>
            <a:r>
              <a:rPr lang="en-US" altLang="zh-CN" dirty="0" smtClean="0"/>
              <a:t>20-25Mins</a:t>
            </a:r>
            <a:r>
              <a:rPr lang="zh-CN" altLang="en-US" dirty="0" smtClean="0"/>
              <a:t>）</a:t>
            </a:r>
            <a:endParaRPr lang="en-US" altLang="zh-CN" dirty="0" smtClean="0"/>
          </a:p>
          <a:p>
            <a:r>
              <a:rPr lang="zh-CN" altLang="en-US" dirty="0" smtClean="0"/>
              <a:t>成果巩固（</a:t>
            </a:r>
            <a:r>
              <a:rPr lang="en-US" altLang="zh-CN" dirty="0" smtClean="0"/>
              <a:t>20-30Mins</a:t>
            </a:r>
            <a:r>
              <a:rPr lang="zh-CN" altLang="en-US" dirty="0" smtClean="0"/>
              <a:t>）</a:t>
            </a:r>
            <a:endParaRPr lang="en-US" altLang="zh-CN" dirty="0" smtClean="0"/>
          </a:p>
          <a:p>
            <a:r>
              <a:rPr lang="zh-CN" altLang="en-US" dirty="0" smtClean="0"/>
              <a:t>优化改进（</a:t>
            </a:r>
            <a:r>
              <a:rPr lang="en-US" altLang="zh-CN" dirty="0" smtClean="0"/>
              <a:t>20-30Mins</a:t>
            </a:r>
            <a:r>
              <a:rPr lang="zh-CN" altLang="en-US" dirty="0" smtClean="0"/>
              <a:t>）</a:t>
            </a:r>
            <a:endParaRPr lang="en-US" altLang="zh-CN" dirty="0" smtClean="0"/>
          </a:p>
          <a:p>
            <a:r>
              <a:rPr lang="zh-CN" altLang="en-US" dirty="0" smtClean="0"/>
              <a:t>版本荣誉墙（</a:t>
            </a:r>
            <a:r>
              <a:rPr lang="en-US" altLang="zh-CN" dirty="0" smtClean="0"/>
              <a:t>5-10Mins</a:t>
            </a:r>
            <a:r>
              <a:rPr lang="zh-CN" altLang="en-US" dirty="0" smtClean="0"/>
              <a:t>）</a:t>
            </a:r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版本总结</a:t>
            </a:r>
            <a:endParaRPr lang="zh-CN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zh-CN" altLang="en-US" dirty="0" smtClean="0"/>
              <a:t>回顾版本特性的完成情况，以及版本的质量情况（ </a:t>
            </a:r>
            <a:r>
              <a:rPr lang="en-US" altLang="zh-CN" dirty="0" smtClean="0"/>
              <a:t>5Mins</a:t>
            </a:r>
            <a:r>
              <a:rPr lang="zh-CN" altLang="en-US" dirty="0" smtClean="0"/>
              <a:t>）</a:t>
            </a:r>
            <a:endParaRPr lang="en-US" altLang="zh-CN" dirty="0" smtClean="0"/>
          </a:p>
          <a:p>
            <a:r>
              <a:rPr lang="zh-CN" altLang="en-US" dirty="0" smtClean="0"/>
              <a:t>对团队和版本做系统总结（</a:t>
            </a:r>
            <a:r>
              <a:rPr lang="en-US" altLang="zh-CN" dirty="0" smtClean="0"/>
              <a:t>5Mins</a:t>
            </a:r>
            <a:r>
              <a:rPr lang="zh-CN" altLang="en-US" dirty="0" smtClean="0"/>
              <a:t>）</a:t>
            </a:r>
            <a:endParaRPr lang="en-US" altLang="zh-CN" dirty="0" smtClean="0"/>
          </a:p>
          <a:p>
            <a:r>
              <a:rPr lang="zh-CN" altLang="en-US" dirty="0" smtClean="0"/>
              <a:t>团队成员发表感言（</a:t>
            </a:r>
            <a:r>
              <a:rPr lang="en-US" altLang="zh-CN" dirty="0" smtClean="0"/>
              <a:t>10-15Mins</a:t>
            </a:r>
            <a:r>
              <a:rPr lang="zh-CN" altLang="en-US" dirty="0" smtClean="0"/>
              <a:t>）</a:t>
            </a:r>
            <a:endParaRPr lang="en-US" altLang="zh-CN" dirty="0" smtClean="0"/>
          </a:p>
          <a:p>
            <a:pPr lvl="1"/>
            <a:r>
              <a:rPr lang="en-US" altLang="zh-CN" b="1" dirty="0" smtClean="0">
                <a:solidFill>
                  <a:srgbClr val="000099"/>
                </a:solidFill>
              </a:rPr>
              <a:t>1.10</a:t>
            </a:r>
            <a:r>
              <a:rPr lang="zh-CN" altLang="en-US" b="1" dirty="0" smtClean="0">
                <a:solidFill>
                  <a:srgbClr val="000099"/>
                </a:solidFill>
              </a:rPr>
              <a:t>版本在功能开发和质量上都有大幅度提升，整体效率也得到提升。</a:t>
            </a:r>
            <a:r>
              <a:rPr lang="en-US" altLang="zh-CN" b="1" dirty="0" smtClean="0">
                <a:solidFill>
                  <a:srgbClr val="000099"/>
                </a:solidFill>
              </a:rPr>
              <a:t>CI</a:t>
            </a:r>
            <a:r>
              <a:rPr lang="zh-CN" altLang="en-US" b="1" dirty="0" smtClean="0">
                <a:solidFill>
                  <a:srgbClr val="000099"/>
                </a:solidFill>
              </a:rPr>
              <a:t>持继集成在版本开发的整个过程中运转正常，任何时刻的版本迭代都保证了正确性，都能达到对外发布版本的要求；测试用例的质量和稳定性大幅提升，测试方法，测试的全面性有所改善；团队交流和互助逐步形成一种习惯，更体现了凝聚力。但是，我们也发现了许多的问题：人员技能不足，进度估计不准，需求勾通交流不足等，这些是我们需要持续提升和改进的不足点，我们要巩固优秀的实践，在下一版本发扬，也要改进我们的不足，在下一版本探索新的实践，进一步提升版本质量，提升效</a:t>
            </a:r>
            <a:r>
              <a:rPr lang="zh-CN" altLang="en-US" b="1" dirty="0" smtClean="0">
                <a:solidFill>
                  <a:srgbClr val="000099"/>
                </a:solidFill>
              </a:rPr>
              <a:t>率</a:t>
            </a:r>
            <a:r>
              <a:rPr lang="zh-CN" altLang="en-US" b="1" dirty="0" smtClean="0">
                <a:solidFill>
                  <a:srgbClr val="000099"/>
                </a:solidFill>
              </a:rPr>
              <a:t>。</a:t>
            </a:r>
            <a:endParaRPr lang="en-US" altLang="zh-CN" b="1" dirty="0" smtClean="0">
              <a:solidFill>
                <a:srgbClr val="000099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成果巩固</a:t>
            </a:r>
            <a:endParaRPr lang="zh-CN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团队成员发言讨论本版本优秀的实践（开发、培训、流程、活动、设计、质量措施、市场信息等）</a:t>
            </a:r>
            <a:endParaRPr lang="en-US" altLang="zh-CN" dirty="0" smtClean="0"/>
          </a:p>
          <a:p>
            <a:r>
              <a:rPr lang="zh-CN" altLang="en-US" dirty="0" smtClean="0"/>
              <a:t>投票选取</a:t>
            </a:r>
            <a:r>
              <a:rPr lang="en-US" altLang="zh-CN" dirty="0" smtClean="0"/>
              <a:t>TOP3</a:t>
            </a:r>
            <a:r>
              <a:rPr lang="zh-CN" altLang="en-US" dirty="0" smtClean="0"/>
              <a:t>，并制订巩固措施，在下一版本继续发扬</a:t>
            </a:r>
            <a:endParaRPr lang="en-US" altLang="zh-CN" dirty="0" smtClean="0"/>
          </a:p>
          <a:p>
            <a:pPr lvl="1"/>
            <a:r>
              <a:rPr lang="zh-CN" altLang="en-US" b="1" dirty="0" smtClean="0">
                <a:solidFill>
                  <a:srgbClr val="000099"/>
                </a:solidFill>
              </a:rPr>
              <a:t>发现问题，及时沟通和讨论，不要一个人埋头苦想，要讲究团队精神</a:t>
            </a:r>
            <a:endParaRPr lang="en-US" altLang="zh-CN" b="1" dirty="0" smtClean="0">
              <a:solidFill>
                <a:srgbClr val="000099"/>
              </a:solidFill>
            </a:endParaRPr>
          </a:p>
          <a:p>
            <a:pPr lvl="1"/>
            <a:r>
              <a:rPr lang="zh-CN" altLang="en-US" b="1" dirty="0" smtClean="0">
                <a:solidFill>
                  <a:srgbClr val="000099"/>
                </a:solidFill>
              </a:rPr>
              <a:t>继续开展流程、设计、代码等培训，增加大家对系统的熟悉</a:t>
            </a:r>
            <a:endParaRPr lang="en-US" altLang="zh-CN" b="1" dirty="0" smtClean="0">
              <a:solidFill>
                <a:srgbClr val="000099"/>
              </a:solidFill>
            </a:endParaRPr>
          </a:p>
          <a:p>
            <a:pPr lvl="1"/>
            <a:r>
              <a:rPr lang="zh-CN" altLang="en-US" b="1" dirty="0" smtClean="0">
                <a:solidFill>
                  <a:srgbClr val="000099"/>
                </a:solidFill>
              </a:rPr>
              <a:t>继续遵守和细化</a:t>
            </a:r>
            <a:r>
              <a:rPr lang="en-US" altLang="zh-CN" b="1" dirty="0" smtClean="0">
                <a:solidFill>
                  <a:srgbClr val="000099"/>
                </a:solidFill>
              </a:rPr>
              <a:t>Story</a:t>
            </a:r>
            <a:r>
              <a:rPr lang="zh-CN" altLang="en-US" b="1" dirty="0" smtClean="0">
                <a:solidFill>
                  <a:srgbClr val="000099"/>
                </a:solidFill>
              </a:rPr>
              <a:t>开发流程，做好开发前的设计工作，细化开发前的测试项，充分讨论和沟通，确保开发效率</a:t>
            </a:r>
            <a:endParaRPr lang="zh-CN" altLang="en-US" b="1" dirty="0">
              <a:solidFill>
                <a:srgbClr val="000099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优化改进</a:t>
            </a:r>
            <a:endParaRPr lang="zh-CN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zh-CN" altLang="en-US" dirty="0" smtClean="0"/>
              <a:t>团队成员发言讨论该版本做的不好的地方，以及好的想法和点子</a:t>
            </a:r>
            <a:endParaRPr lang="en-US" altLang="zh-CN" dirty="0" smtClean="0"/>
          </a:p>
          <a:p>
            <a:r>
              <a:rPr lang="zh-CN" altLang="en-US" dirty="0" smtClean="0"/>
              <a:t>团队成员投票选出</a:t>
            </a:r>
            <a:r>
              <a:rPr lang="en-US" altLang="zh-CN" dirty="0" smtClean="0"/>
              <a:t>TOP3</a:t>
            </a:r>
            <a:r>
              <a:rPr lang="zh-CN" altLang="en-US" dirty="0" smtClean="0"/>
              <a:t>不好的地方和点子</a:t>
            </a:r>
            <a:endParaRPr lang="en-US" altLang="zh-CN" dirty="0" smtClean="0"/>
          </a:p>
          <a:p>
            <a:r>
              <a:rPr lang="zh-CN" altLang="en-US" dirty="0" smtClean="0"/>
              <a:t>团队成员共同讨论</a:t>
            </a:r>
            <a:r>
              <a:rPr lang="en-US" altLang="zh-CN" dirty="0" smtClean="0"/>
              <a:t>TOP3</a:t>
            </a:r>
            <a:r>
              <a:rPr lang="zh-CN" altLang="en-US" dirty="0" smtClean="0"/>
              <a:t>不好的地方的改进点和点子的实施办法，并制订措施，在下一版本改进实施</a:t>
            </a:r>
            <a:endParaRPr lang="en-US" altLang="zh-CN" dirty="0" smtClean="0"/>
          </a:p>
          <a:p>
            <a:pPr lvl="1"/>
            <a:r>
              <a:rPr lang="zh-CN" altLang="en-US" b="1" dirty="0" smtClean="0">
                <a:solidFill>
                  <a:srgbClr val="000099"/>
                </a:solidFill>
              </a:rPr>
              <a:t>开展对开发人员外部使用场景的交流培训，售前人员需要总结支撑和大会报告，定期与开发人员交流</a:t>
            </a:r>
            <a:endParaRPr lang="en-US" altLang="zh-CN" b="1" dirty="0" smtClean="0">
              <a:solidFill>
                <a:srgbClr val="000099"/>
              </a:solidFill>
            </a:endParaRPr>
          </a:p>
          <a:p>
            <a:pPr lvl="1"/>
            <a:r>
              <a:rPr lang="zh-CN" altLang="en-US" b="1" dirty="0" smtClean="0">
                <a:solidFill>
                  <a:srgbClr val="000099"/>
                </a:solidFill>
              </a:rPr>
              <a:t>探索和细化测试方法，开展培训交流，深化测试面，提升测试人员技能技巧</a:t>
            </a:r>
            <a:endParaRPr lang="en-US" altLang="zh-CN" b="1" dirty="0" smtClean="0">
              <a:solidFill>
                <a:srgbClr val="000099"/>
              </a:solidFill>
            </a:endParaRPr>
          </a:p>
          <a:p>
            <a:pPr lvl="1"/>
            <a:r>
              <a:rPr lang="zh-CN" altLang="en-US" b="1" dirty="0" smtClean="0">
                <a:solidFill>
                  <a:srgbClr val="000099"/>
                </a:solidFill>
              </a:rPr>
              <a:t>开发任务要细化到周，要及时反馈风险；出现问题和开展重构要及时沟通，确保进度</a:t>
            </a:r>
            <a:endParaRPr lang="en-US" altLang="zh-CN" b="1" dirty="0" smtClean="0">
              <a:solidFill>
                <a:srgbClr val="000099"/>
              </a:solidFill>
            </a:endParaRPr>
          </a:p>
          <a:p>
            <a:endParaRPr lang="zh-CN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版本荣誉墙</a:t>
            </a:r>
            <a:endParaRPr lang="zh-CN" alt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团队成员评选该版本优秀的人物和事迹（成长、积极、主动、贡献、分享等各方面） </a:t>
            </a:r>
            <a:r>
              <a:rPr lang="en-US" altLang="zh-CN" dirty="0" smtClean="0"/>
              <a:t>1~4</a:t>
            </a:r>
            <a:r>
              <a:rPr lang="zh-CN" altLang="en-US" dirty="0" smtClean="0"/>
              <a:t>人</a:t>
            </a:r>
            <a:endParaRPr lang="en-US" altLang="zh-CN" dirty="0" smtClean="0"/>
          </a:p>
          <a:p>
            <a:pPr lvl="1"/>
            <a:endParaRPr lang="en-US" altLang="zh-CN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14480" y="2571744"/>
            <a:ext cx="7286644" cy="1214422"/>
          </a:xfrm>
        </p:spPr>
        <p:txBody>
          <a:bodyPr>
            <a:normAutofit/>
          </a:bodyPr>
          <a:lstStyle/>
          <a:p>
            <a:pPr algn="ctr"/>
            <a:r>
              <a:rPr lang="en-US" altLang="zh-CN" sz="4400" dirty="0" smtClean="0"/>
              <a:t>Thanks</a:t>
            </a:r>
            <a:endParaRPr lang="zh-CN" altLang="en-US" sz="4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SequoiaDB">
  <a:themeElements>
    <a:clrScheme name="平衡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Flow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30000"/>
              </a:schemeClr>
            </a:gs>
            <a:gs pos="43000">
              <a:schemeClr val="phClr">
                <a:tint val="44000"/>
                <a:satMod val="165000"/>
              </a:schemeClr>
            </a:gs>
            <a:gs pos="93000">
              <a:schemeClr val="phClr">
                <a:tint val="15000"/>
                <a:satMod val="165000"/>
              </a:schemeClr>
            </a:gs>
            <a:gs pos="100000">
              <a:schemeClr val="phClr">
                <a:tint val="5000"/>
                <a:satMod val="250000"/>
              </a:schemeClr>
            </a:gs>
          </a:gsLst>
          <a:path path="circle">
            <a:fillToRect l="50000" t="130000" r="50000" b="-30000"/>
          </a:path>
        </a:gradFill>
        <a:gradFill rotWithShape="1">
          <a:gsLst>
            <a:gs pos="0">
              <a:schemeClr val="phClr">
                <a:tint val="98000"/>
                <a:shade val="25000"/>
                <a:satMod val="250000"/>
              </a:schemeClr>
            </a:gs>
            <a:gs pos="68000">
              <a:schemeClr val="phClr">
                <a:tint val="86000"/>
                <a:satMod val="115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</a:fillStyleLst>
      <a:lnStyleLst>
        <a:ln w="9525" cap="flat" cmpd="sng" algn="ctr">
          <a:solidFill>
            <a:schemeClr val="phClr">
              <a:shade val="50000"/>
              <a:satMod val="103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  <a:scene3d>
            <a:camera prst="orthographicFront" fov="0">
              <a:rot lat="0" lon="0" rev="0"/>
            </a:camera>
            <a:lightRig rig="glow" dir="tl">
              <a:rot lat="0" lon="0" rev="900000"/>
            </a:lightRig>
          </a:scene3d>
          <a:sp3d prstMaterial="powder">
            <a:bevelT w="25400" h="381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SequoiaDB</Template>
  <TotalTime>8906</TotalTime>
  <Words>1292</Words>
  <Application>Microsoft Office PowerPoint</Application>
  <PresentationFormat>On-screen Show (4:3)</PresentationFormat>
  <Paragraphs>56</Paragraphs>
  <Slides>7</Slides>
  <Notes>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SequoiaDB</vt:lpstr>
      <vt:lpstr>SequoiaDB 1.10版本回顾会议</vt:lpstr>
      <vt:lpstr>会议流程</vt:lpstr>
      <vt:lpstr>版本总结</vt:lpstr>
      <vt:lpstr>成果巩固</vt:lpstr>
      <vt:lpstr>优化改进</vt:lpstr>
      <vt:lpstr>版本荣誉墙</vt:lpstr>
      <vt:lpstr>Thanks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SequoiaDB架构总览</dc:title>
  <dc:creator>taoewang</dc:creator>
  <cp:lastModifiedBy>xujianhui</cp:lastModifiedBy>
  <cp:revision>269</cp:revision>
  <dcterms:created xsi:type="dcterms:W3CDTF">2013-11-01T02:43:08Z</dcterms:created>
  <dcterms:modified xsi:type="dcterms:W3CDTF">2014-11-04T03:25:31Z</dcterms:modified>
</cp:coreProperties>
</file>