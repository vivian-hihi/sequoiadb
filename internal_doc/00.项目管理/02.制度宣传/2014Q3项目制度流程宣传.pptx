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71" r:id="rId3"/>
    <p:sldId id="268" r:id="rId4"/>
    <p:sldId id="269" r:id="rId5"/>
    <p:sldId id="270" r:id="rId6"/>
    <p:sldId id="267" r:id="rId7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61FF"/>
    <a:srgbClr val="C0BD2D"/>
    <a:srgbClr val="3DAD78"/>
    <a:srgbClr val="0066FF"/>
    <a:srgbClr val="993366"/>
    <a:srgbClr val="13C0D7"/>
    <a:srgbClr val="3399FF"/>
    <a:srgbClr val="339966"/>
    <a:srgbClr val="CC00FF"/>
    <a:srgbClr val="0033CC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3179" autoAdjust="0"/>
  </p:normalViewPr>
  <p:slideViewPr>
    <p:cSldViewPr>
      <p:cViewPr varScale="1">
        <p:scale>
          <a:sx n="96" d="100"/>
          <a:sy n="96" d="100"/>
        </p:scale>
        <p:origin x="-1230" y="-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E46FB-0C22-4315-8E08-4C5C8B3D1168}" type="datetimeFigureOut">
              <a:rPr lang="zh-CN" altLang="en-US" smtClean="0"/>
              <a:pPr/>
              <a:t>2014/7/15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ED305-2F38-4124-B22A-2A7AC7C037B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jira:8080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20.200:8080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2014Q3</a:t>
            </a:r>
            <a:r>
              <a:rPr lang="zh-CN" altLang="en-US" dirty="0" smtClean="0"/>
              <a:t>项目制度流程宣传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 smtClean="0"/>
              <a:t>内部会议资料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例会制度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ounded Rectangle 4"/>
          <p:cNvSpPr/>
          <p:nvPr/>
        </p:nvSpPr>
        <p:spPr>
          <a:xfrm>
            <a:off x="957234" y="2071678"/>
            <a:ext cx="4972088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b="1" dirty="0" smtClean="0"/>
              <a:t>时间：</a:t>
            </a:r>
            <a:r>
              <a:rPr lang="zh-CN" altLang="en-US" dirty="0" smtClean="0"/>
              <a:t>每周一早上</a:t>
            </a:r>
            <a:r>
              <a:rPr lang="en-US" altLang="zh-CN" dirty="0" smtClean="0"/>
              <a:t>10</a:t>
            </a:r>
            <a:r>
              <a:rPr lang="zh-CN" altLang="en-US" dirty="0" smtClean="0"/>
              <a:t>点至</a:t>
            </a:r>
            <a:r>
              <a:rPr lang="en-US" altLang="zh-CN" dirty="0" smtClean="0"/>
              <a:t>11</a:t>
            </a:r>
            <a:r>
              <a:rPr lang="zh-CN" altLang="en-US" dirty="0" smtClean="0"/>
              <a:t>点</a:t>
            </a:r>
            <a:endParaRPr lang="zh-CN" altLang="en-US" dirty="0"/>
          </a:p>
        </p:txBody>
      </p:sp>
      <p:sp>
        <p:nvSpPr>
          <p:cNvPr id="6" name="Flowchart: Connector 5"/>
          <p:cNvSpPr/>
          <p:nvPr/>
        </p:nvSpPr>
        <p:spPr>
          <a:xfrm>
            <a:off x="428596" y="2185982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1671614" y="3929066"/>
            <a:ext cx="5472154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b="1" dirty="0" smtClean="0"/>
              <a:t>目的：</a:t>
            </a:r>
            <a:r>
              <a:rPr lang="zh-CN" altLang="en-US" dirty="0" smtClean="0"/>
              <a:t>增强成员的相互了解，提升团队活力</a:t>
            </a:r>
            <a:endParaRPr lang="en-US" altLang="zh-CN" dirty="0" smtClean="0"/>
          </a:p>
        </p:txBody>
      </p:sp>
      <p:sp>
        <p:nvSpPr>
          <p:cNvPr id="8" name="Flowchart: Connector 7"/>
          <p:cNvSpPr/>
          <p:nvPr/>
        </p:nvSpPr>
        <p:spPr>
          <a:xfrm>
            <a:off x="1142976" y="4043370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9" name="Rounded Rectangle 8"/>
          <p:cNvSpPr/>
          <p:nvPr/>
        </p:nvSpPr>
        <p:spPr>
          <a:xfrm>
            <a:off x="2100242" y="4857760"/>
            <a:ext cx="5900782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b="1" dirty="0" smtClean="0"/>
              <a:t>形式：</a:t>
            </a:r>
            <a:r>
              <a:rPr lang="zh-CN" altLang="en-US" dirty="0" smtClean="0"/>
              <a:t>上周回顾、任务跟踪、困难求助、经验分享</a:t>
            </a:r>
            <a:endParaRPr lang="en-US" altLang="zh-CN" dirty="0" smtClean="0"/>
          </a:p>
        </p:txBody>
      </p:sp>
      <p:sp>
        <p:nvSpPr>
          <p:cNvPr id="10" name="Flowchart: Connector 9"/>
          <p:cNvSpPr/>
          <p:nvPr/>
        </p:nvSpPr>
        <p:spPr>
          <a:xfrm>
            <a:off x="1571604" y="4972064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4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1357290" y="3000372"/>
            <a:ext cx="5143536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b="1" dirty="0" smtClean="0"/>
              <a:t>主持：</a:t>
            </a:r>
            <a:r>
              <a:rPr lang="zh-CN" altLang="en-US" dirty="0" smtClean="0"/>
              <a:t>团队成员轮流主持</a:t>
            </a:r>
            <a:endParaRPr lang="en-US" altLang="zh-CN" dirty="0" smtClean="0"/>
          </a:p>
        </p:txBody>
      </p:sp>
      <p:sp>
        <p:nvSpPr>
          <p:cNvPr id="12" name="Flowchart: Connector 11"/>
          <p:cNvSpPr/>
          <p:nvPr/>
        </p:nvSpPr>
        <p:spPr>
          <a:xfrm>
            <a:off x="828652" y="3114676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2428860" y="5715016"/>
            <a:ext cx="6286544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b="1" dirty="0" smtClean="0"/>
              <a:t>输出：</a:t>
            </a:r>
            <a:r>
              <a:rPr lang="en-US" altLang="zh-CN" dirty="0" smtClean="0"/>
              <a:t>《</a:t>
            </a:r>
            <a:r>
              <a:rPr lang="zh-CN" altLang="en-US" dirty="0" smtClean="0"/>
              <a:t>例会纪要</a:t>
            </a:r>
            <a:r>
              <a:rPr lang="en-US" altLang="zh-CN" dirty="0" smtClean="0"/>
              <a:t>》</a:t>
            </a:r>
            <a:r>
              <a:rPr lang="zh-CN" altLang="en-US" dirty="0" smtClean="0"/>
              <a:t>，并归档</a:t>
            </a:r>
            <a:endParaRPr lang="en-US" altLang="zh-CN" dirty="0" smtClean="0"/>
          </a:p>
        </p:txBody>
      </p:sp>
      <p:sp>
        <p:nvSpPr>
          <p:cNvPr id="14" name="Flowchart: Connector 13"/>
          <p:cNvSpPr/>
          <p:nvPr/>
        </p:nvSpPr>
        <p:spPr>
          <a:xfrm>
            <a:off x="1900222" y="5829320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5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JIRA</a:t>
            </a:r>
            <a:r>
              <a:rPr lang="zh-CN" altLang="en-US" dirty="0" smtClean="0"/>
              <a:t>单流程规范 （</a:t>
            </a:r>
            <a:r>
              <a:rPr lang="en-US" altLang="zh-CN" dirty="0" smtClean="0">
                <a:hlinkClick r:id="rId3"/>
              </a:rPr>
              <a:t>http://jira:8080</a:t>
            </a:r>
            <a:r>
              <a:rPr lang="zh-CN" altLang="en-US" dirty="0" smtClean="0"/>
              <a:t>）</a:t>
            </a:r>
            <a:endParaRPr lang="zh-CN" altLang="en-US" dirty="0"/>
          </a:p>
        </p:txBody>
      </p:sp>
      <p:sp>
        <p:nvSpPr>
          <p:cNvPr id="4" name="Smiley Face 3"/>
          <p:cNvSpPr/>
          <p:nvPr/>
        </p:nvSpPr>
        <p:spPr>
          <a:xfrm>
            <a:off x="1749492" y="192880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extBox 6"/>
          <p:cNvSpPr txBox="1"/>
          <p:nvPr/>
        </p:nvSpPr>
        <p:spPr>
          <a:xfrm>
            <a:off x="606484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8" name="Smiley Face 7"/>
          <p:cNvSpPr/>
          <p:nvPr/>
        </p:nvSpPr>
        <p:spPr>
          <a:xfrm>
            <a:off x="2678186" y="1928802"/>
            <a:ext cx="500066" cy="500066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249690" y="198809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928662" y="2928934"/>
            <a:ext cx="3214710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单</a:t>
            </a:r>
            <a:endParaRPr lang="zh-CN" altLang="en-US" dirty="0"/>
          </a:p>
        </p:txBody>
      </p:sp>
      <p:sp>
        <p:nvSpPr>
          <p:cNvPr id="11" name="Down Arrow 10"/>
          <p:cNvSpPr/>
          <p:nvPr/>
        </p:nvSpPr>
        <p:spPr>
          <a:xfrm>
            <a:off x="2178120" y="2428868"/>
            <a:ext cx="642942" cy="428628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Flowchart: Connector 13"/>
          <p:cNvSpPr/>
          <p:nvPr/>
        </p:nvSpPr>
        <p:spPr>
          <a:xfrm>
            <a:off x="400024" y="3043238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16" name="Flowchart: Connector 15"/>
          <p:cNvSpPr/>
          <p:nvPr/>
        </p:nvSpPr>
        <p:spPr>
          <a:xfrm>
            <a:off x="400024" y="4043370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17" name="Rounded Rectangle 16"/>
          <p:cNvSpPr/>
          <p:nvPr/>
        </p:nvSpPr>
        <p:spPr>
          <a:xfrm>
            <a:off x="928662" y="3929066"/>
            <a:ext cx="3214710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开发人员定位问题</a:t>
            </a:r>
            <a:endParaRPr lang="zh-CN" altLang="en-US" dirty="0"/>
          </a:p>
        </p:txBody>
      </p:sp>
      <p:sp>
        <p:nvSpPr>
          <p:cNvPr id="18" name="Flowchart: Connector 17"/>
          <p:cNvSpPr/>
          <p:nvPr/>
        </p:nvSpPr>
        <p:spPr>
          <a:xfrm>
            <a:off x="400024" y="5043502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19" name="Rounded Rectangle 18"/>
          <p:cNvSpPr/>
          <p:nvPr/>
        </p:nvSpPr>
        <p:spPr>
          <a:xfrm>
            <a:off x="928662" y="4929198"/>
            <a:ext cx="3214710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测试人员回归测试</a:t>
            </a:r>
            <a:endParaRPr lang="zh-CN" altLang="en-US" dirty="0"/>
          </a:p>
        </p:txBody>
      </p:sp>
      <p:sp>
        <p:nvSpPr>
          <p:cNvPr id="20" name="Flowchart: Connector 19"/>
          <p:cNvSpPr/>
          <p:nvPr/>
        </p:nvSpPr>
        <p:spPr>
          <a:xfrm>
            <a:off x="400024" y="6043634"/>
            <a:ext cx="457200" cy="457200"/>
          </a:xfrm>
          <a:prstGeom prst="flowChartConnector">
            <a:avLst/>
          </a:prstGeom>
          <a:solidFill>
            <a:srgbClr val="3399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4</a:t>
            </a:r>
            <a:endParaRPr lang="zh-CN" altLang="en-US" dirty="0"/>
          </a:p>
        </p:txBody>
      </p:sp>
      <p:sp>
        <p:nvSpPr>
          <p:cNvPr id="21" name="Rounded Rectangle 20"/>
          <p:cNvSpPr/>
          <p:nvPr/>
        </p:nvSpPr>
        <p:spPr>
          <a:xfrm>
            <a:off x="928662" y="5929330"/>
            <a:ext cx="3214710" cy="64294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问题提交者确认关闭</a:t>
            </a:r>
            <a:endParaRPr lang="zh-CN" altLang="en-US" dirty="0"/>
          </a:p>
        </p:txBody>
      </p:sp>
      <p:sp>
        <p:nvSpPr>
          <p:cNvPr id="22" name="Down Arrow 21"/>
          <p:cNvSpPr/>
          <p:nvPr/>
        </p:nvSpPr>
        <p:spPr>
          <a:xfrm>
            <a:off x="2178120" y="3643314"/>
            <a:ext cx="642942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Down Arrow 22"/>
          <p:cNvSpPr/>
          <p:nvPr/>
        </p:nvSpPr>
        <p:spPr>
          <a:xfrm>
            <a:off x="2178120" y="4643446"/>
            <a:ext cx="642942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Down Arrow 23"/>
          <p:cNvSpPr/>
          <p:nvPr/>
        </p:nvSpPr>
        <p:spPr>
          <a:xfrm>
            <a:off x="2178120" y="5643578"/>
            <a:ext cx="642942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Rounded Rectangular Callout 24"/>
          <p:cNvSpPr/>
          <p:nvPr/>
        </p:nvSpPr>
        <p:spPr>
          <a:xfrm>
            <a:off x="5000628" y="2000240"/>
            <a:ext cx="3714776" cy="1428760"/>
          </a:xfrm>
          <a:prstGeom prst="wedgeRoundRectCallout">
            <a:avLst>
              <a:gd name="adj1" fmla="val -71657"/>
              <a:gd name="adj2" fmla="val 38608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1</a:t>
            </a:r>
            <a:r>
              <a:rPr lang="zh-CN" altLang="en-US" sz="1600" dirty="0" smtClean="0"/>
              <a:t>：标明问题具体现象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2</a:t>
            </a:r>
            <a:r>
              <a:rPr lang="zh-CN" altLang="en-US" sz="1600" dirty="0" smtClean="0"/>
              <a:t>：标明测试环境和步聚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3</a:t>
            </a:r>
            <a:r>
              <a:rPr lang="zh-CN" altLang="en-US" sz="1600" dirty="0" smtClean="0"/>
              <a:t>：标明发生问题的版本信息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4</a:t>
            </a:r>
            <a:r>
              <a:rPr lang="zh-CN" altLang="en-US" sz="1600" dirty="0" smtClean="0"/>
              <a:t>：标明现场定位人员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5</a:t>
            </a:r>
            <a:r>
              <a:rPr lang="zh-CN" altLang="en-US" sz="1600" dirty="0" smtClean="0"/>
              <a:t>：原因未明确的，需收集信息</a:t>
            </a:r>
            <a:endParaRPr lang="en-US" altLang="zh-CN" sz="1600" dirty="0" smtClean="0"/>
          </a:p>
        </p:txBody>
      </p:sp>
      <p:sp>
        <p:nvSpPr>
          <p:cNvPr id="26" name="Rounded Rectangular Callout 25"/>
          <p:cNvSpPr/>
          <p:nvPr/>
        </p:nvSpPr>
        <p:spPr>
          <a:xfrm>
            <a:off x="5000628" y="3786190"/>
            <a:ext cx="3714776" cy="1143008"/>
          </a:xfrm>
          <a:prstGeom prst="wedgeRoundRectCallout">
            <a:avLst>
              <a:gd name="adj1" fmla="val -71341"/>
              <a:gd name="adj2" fmla="val -1145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1</a:t>
            </a:r>
            <a:r>
              <a:rPr lang="zh-CN" altLang="en-US" sz="1600" dirty="0" smtClean="0"/>
              <a:t>：标明问题产生的原因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2</a:t>
            </a:r>
            <a:r>
              <a:rPr lang="zh-CN" altLang="en-US" sz="1600" dirty="0" smtClean="0"/>
              <a:t>：标明修改方案和提交</a:t>
            </a:r>
            <a:r>
              <a:rPr lang="en-US" altLang="zh-CN" sz="1600" dirty="0" smtClean="0"/>
              <a:t>SVN</a:t>
            </a:r>
            <a:r>
              <a:rPr lang="zh-CN" altLang="en-US" sz="1600" dirty="0" smtClean="0"/>
              <a:t>号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3</a:t>
            </a:r>
            <a:r>
              <a:rPr lang="zh-CN" altLang="en-US" sz="1600" dirty="0" smtClean="0"/>
              <a:t>：标明问题重现条件</a:t>
            </a:r>
            <a:endParaRPr lang="en-US" altLang="zh-CN" sz="1600" dirty="0" smtClean="0"/>
          </a:p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4</a:t>
            </a:r>
            <a:r>
              <a:rPr lang="zh-CN" altLang="en-US" sz="1600" dirty="0" smtClean="0"/>
              <a:t>：标明问题模块和修复版本</a:t>
            </a:r>
            <a:endParaRPr lang="en-US" altLang="zh-CN" sz="1600" dirty="0" smtClean="0"/>
          </a:p>
        </p:txBody>
      </p:sp>
      <p:sp>
        <p:nvSpPr>
          <p:cNvPr id="27" name="Rounded Rectangular Callout 26"/>
          <p:cNvSpPr/>
          <p:nvPr/>
        </p:nvSpPr>
        <p:spPr>
          <a:xfrm>
            <a:off x="5000628" y="5357826"/>
            <a:ext cx="3714776" cy="785818"/>
          </a:xfrm>
          <a:prstGeom prst="wedgeRoundRectCallout">
            <a:avLst>
              <a:gd name="adj1" fmla="val -71657"/>
              <a:gd name="adj2" fmla="val -6750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600" dirty="0" smtClean="0"/>
              <a:t>要求</a:t>
            </a:r>
            <a:r>
              <a:rPr lang="en-US" altLang="zh-CN" sz="1600" dirty="0" smtClean="0"/>
              <a:t>1</a:t>
            </a:r>
            <a:r>
              <a:rPr lang="zh-CN" altLang="en-US" sz="1600" dirty="0" smtClean="0"/>
              <a:t>：标明重现条件在新旧版本中的测试结果</a:t>
            </a:r>
            <a:endParaRPr lang="en-US" altLang="zh-CN" sz="1600" dirty="0" smtClean="0"/>
          </a:p>
        </p:txBody>
      </p:sp>
      <p:sp>
        <p:nvSpPr>
          <p:cNvPr id="29" name="Rounded Rectangle 28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CI</a:t>
            </a:r>
            <a:r>
              <a:rPr lang="zh-CN" altLang="en-US" dirty="0" smtClean="0"/>
              <a:t>流程规范 </a:t>
            </a:r>
            <a:r>
              <a:rPr lang="en-US" altLang="zh-CN" dirty="0" smtClean="0"/>
              <a:t> </a:t>
            </a:r>
            <a:r>
              <a:rPr lang="zh-CN" altLang="en-US" dirty="0" smtClean="0"/>
              <a:t>（</a:t>
            </a:r>
            <a:r>
              <a:rPr lang="en-US" altLang="zh-CN" dirty="0" smtClean="0">
                <a:hlinkClick r:id="rId3"/>
              </a:rPr>
              <a:t>http://192.168.20.200:8080</a:t>
            </a:r>
            <a:r>
              <a:rPr lang="zh-CN" altLang="en-US" dirty="0" smtClean="0"/>
              <a:t>）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Straight Connector 5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39791" y="1857364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提交流程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810375" y="185736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日常运维流程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9" name="Smiley Face 8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编写用例</a:t>
            </a:r>
            <a:endParaRPr lang="zh-CN" alt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本地调测</a:t>
            </a:r>
            <a:endParaRPr lang="zh-CN" altLang="en-US" dirty="0"/>
          </a:p>
        </p:txBody>
      </p:sp>
      <p:sp>
        <p:nvSpPr>
          <p:cNvPr id="14" name="Rounded Rectangle 13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提交构建</a:t>
            </a:r>
            <a:endParaRPr lang="zh-CN" altLang="en-US" dirty="0"/>
          </a:p>
        </p:txBody>
      </p:sp>
      <p:sp>
        <p:nvSpPr>
          <p:cNvPr id="15" name="Rounded Rectangle 14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确保成功</a:t>
            </a:r>
            <a:endParaRPr lang="zh-CN" altLang="en-US" dirty="0"/>
          </a:p>
        </p:txBody>
      </p:sp>
      <p:sp>
        <p:nvSpPr>
          <p:cNvPr id="16" name="Rounded Rectangular Callout 15"/>
          <p:cNvSpPr/>
          <p:nvPr/>
        </p:nvSpPr>
        <p:spPr>
          <a:xfrm>
            <a:off x="2000232" y="2714620"/>
            <a:ext cx="2428892" cy="1071570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、按照用例规范编写用例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、考虑</a:t>
            </a:r>
            <a:r>
              <a:rPr lang="en-US" altLang="zh-CN" sz="1400" dirty="0" smtClean="0"/>
              <a:t>Standalone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Cluster</a:t>
            </a:r>
            <a:r>
              <a:rPr lang="zh-CN" altLang="en-US" sz="1400" dirty="0" smtClean="0"/>
              <a:t>等运行场景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、交叉检视用例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4071942"/>
            <a:ext cx="2428892" cy="64294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使用</a:t>
            </a:r>
            <a:r>
              <a:rPr lang="en-US" altLang="zh-CN" sz="1400" dirty="0" smtClean="0"/>
              <a:t>runTest</a:t>
            </a:r>
            <a:r>
              <a:rPr lang="zh-CN" altLang="en-US" sz="1400" dirty="0" smtClean="0"/>
              <a:t>进行本地多种场景调测，确保用例通过</a:t>
            </a:r>
            <a:endParaRPr lang="en-US" altLang="zh-CN" sz="1400" dirty="0" smtClean="0"/>
          </a:p>
        </p:txBody>
      </p:sp>
      <p:sp>
        <p:nvSpPr>
          <p:cNvPr id="18" name="Rounded Rectangular Callout 17"/>
          <p:cNvSpPr/>
          <p:nvPr/>
        </p:nvSpPr>
        <p:spPr>
          <a:xfrm>
            <a:off x="2000232" y="5000636"/>
            <a:ext cx="2428892" cy="642942"/>
          </a:xfrm>
          <a:prstGeom prst="wedgeRoundRectCallout">
            <a:avLst>
              <a:gd name="adj1" fmla="val -62039"/>
              <a:gd name="adj2" fmla="val 1955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提交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，并手动构建各种测式工程</a:t>
            </a:r>
            <a:endParaRPr lang="en-US" altLang="zh-CN" sz="1400" dirty="0" smtClean="0"/>
          </a:p>
        </p:txBody>
      </p:sp>
      <p:sp>
        <p:nvSpPr>
          <p:cNvPr id="19" name="Rounded Rectangular Callout 18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分析用例结果，确保用例全部通过</a:t>
            </a:r>
            <a:endParaRPr lang="en-US" altLang="zh-CN" sz="1400" dirty="0" smtClean="0"/>
          </a:p>
        </p:txBody>
      </p:sp>
      <p:sp>
        <p:nvSpPr>
          <p:cNvPr id="20" name="Down Arrow 19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Down Arrow 21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Down Arrow 22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Smiley Face 23"/>
          <p:cNvSpPr/>
          <p:nvPr/>
        </p:nvSpPr>
        <p:spPr>
          <a:xfrm>
            <a:off x="7916319" y="272676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TextBox 24"/>
          <p:cNvSpPr txBox="1"/>
          <p:nvPr/>
        </p:nvSpPr>
        <p:spPr>
          <a:xfrm>
            <a:off x="7643834" y="2357430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CI</a:t>
            </a:r>
            <a:r>
              <a:rPr lang="zh-CN" altLang="en-US" dirty="0" smtClean="0"/>
              <a:t>责任人</a:t>
            </a:r>
            <a:endParaRPr lang="zh-CN" altLang="en-US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过滤</a:t>
            </a:r>
            <a:r>
              <a:rPr lang="en-US" altLang="zh-CN" sz="1600" dirty="0" smtClean="0"/>
              <a:t>CI</a:t>
            </a:r>
            <a:r>
              <a:rPr lang="zh-CN" altLang="en-US" sz="1600" dirty="0" smtClean="0"/>
              <a:t>问题</a:t>
            </a:r>
            <a:endParaRPr lang="zh-CN" altLang="en-US" sz="16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催促用例责任人</a:t>
            </a:r>
            <a:endParaRPr lang="zh-CN" altLang="en-US" sz="1600" dirty="0"/>
          </a:p>
        </p:txBody>
      </p:sp>
      <p:sp>
        <p:nvSpPr>
          <p:cNvPr id="28" name="Rounded Rectangle 27"/>
          <p:cNvSpPr/>
          <p:nvPr/>
        </p:nvSpPr>
        <p:spPr>
          <a:xfrm>
            <a:off x="7500958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催促开发责任人</a:t>
            </a:r>
            <a:endParaRPr lang="zh-CN" altLang="en-US" sz="1600" dirty="0"/>
          </a:p>
        </p:txBody>
      </p:sp>
      <p:sp>
        <p:nvSpPr>
          <p:cNvPr id="29" name="Rounded Rectangle 28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确保成功</a:t>
            </a:r>
            <a:endParaRPr lang="zh-CN" altLang="en-US" sz="1600" dirty="0"/>
          </a:p>
        </p:txBody>
      </p:sp>
      <p:sp>
        <p:nvSpPr>
          <p:cNvPr id="30" name="Down Arrow 29"/>
          <p:cNvSpPr/>
          <p:nvPr/>
        </p:nvSpPr>
        <p:spPr>
          <a:xfrm>
            <a:off x="7964598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Down Arrow 31"/>
          <p:cNvSpPr/>
          <p:nvPr/>
        </p:nvSpPr>
        <p:spPr>
          <a:xfrm>
            <a:off x="7964598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Down Arrow 32"/>
          <p:cNvSpPr/>
          <p:nvPr/>
        </p:nvSpPr>
        <p:spPr>
          <a:xfrm>
            <a:off x="7964598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2714620"/>
            <a:ext cx="2428892" cy="1071570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责任人为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本周例会主持人</a:t>
            </a:r>
            <a:r>
              <a:rPr lang="zh-CN" altLang="en-US" sz="1400" dirty="0" smtClean="0"/>
              <a:t>和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龙阳</a:t>
            </a:r>
            <a:endParaRPr lang="en-US" altLang="zh-CN" sz="1400" b="1" dirty="0" smtClean="0">
              <a:solidFill>
                <a:srgbClr val="C00000"/>
              </a:solidFill>
            </a:endParaRPr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、分析是否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本身问题或用例问题</a:t>
            </a:r>
            <a:endParaRPr lang="en-US" altLang="zh-CN" sz="1400" dirty="0" smtClean="0"/>
          </a:p>
        </p:txBody>
      </p:sp>
      <p:sp>
        <p:nvSpPr>
          <p:cNvPr id="35" name="Rounded Rectangular Callout 34"/>
          <p:cNvSpPr/>
          <p:nvPr/>
        </p:nvSpPr>
        <p:spPr>
          <a:xfrm>
            <a:off x="4786314" y="4000504"/>
            <a:ext cx="2428892" cy="785818"/>
          </a:xfrm>
          <a:prstGeom prst="wedgeRoundRectCallout">
            <a:avLst>
              <a:gd name="adj1" fmla="val 61443"/>
              <a:gd name="adj2" fmla="val 4231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测试用例书写人员</a:t>
            </a:r>
            <a:endParaRPr lang="en-US" altLang="zh-CN" sz="1400" dirty="0" smtClean="0"/>
          </a:p>
          <a:p>
            <a:r>
              <a:rPr lang="zh-CN" altLang="en-US" sz="1400" dirty="0" smtClean="0"/>
              <a:t>分析为用例问题或版本问题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用例总负责人</a:t>
            </a:r>
            <a:r>
              <a:rPr lang="zh-CN" altLang="en-US" sz="1400" dirty="0" smtClean="0"/>
              <a:t>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丁普升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 </a:t>
            </a:r>
            <a:r>
              <a:rPr lang="en-US" altLang="zh-CN" sz="1400" dirty="0" smtClean="0"/>
              <a:t>]</a:t>
            </a:r>
          </a:p>
        </p:txBody>
      </p:sp>
      <p:sp>
        <p:nvSpPr>
          <p:cNvPr id="36" name="Rounded Rectangular Callout 35"/>
          <p:cNvSpPr/>
          <p:nvPr/>
        </p:nvSpPr>
        <p:spPr>
          <a:xfrm>
            <a:off x="4786314" y="5000636"/>
            <a:ext cx="2428892" cy="785818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对应该功能模块负责人</a:t>
            </a:r>
            <a:endParaRPr lang="en-US" altLang="zh-CN" sz="1400" dirty="0" smtClean="0"/>
          </a:p>
          <a:p>
            <a:r>
              <a:rPr lang="zh-CN" altLang="en-US" sz="1400" dirty="0" smtClean="0"/>
              <a:t>分析导致用例不过的原因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开发总负责人：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许建辉 </a:t>
            </a:r>
            <a:r>
              <a:rPr lang="en-US" altLang="zh-CN" sz="1400" dirty="0" smtClean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7" name="Rounded Rectangular Callout 36"/>
          <p:cNvSpPr/>
          <p:nvPr/>
        </p:nvSpPr>
        <p:spPr>
          <a:xfrm>
            <a:off x="4786314" y="5929330"/>
            <a:ext cx="2428892" cy="642942"/>
          </a:xfrm>
          <a:prstGeom prst="wedgeRoundRectCallout">
            <a:avLst>
              <a:gd name="adj1" fmla="val 61442"/>
              <a:gd name="adj2" fmla="val -83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用例责任人确保用例全部通过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Story</a:t>
            </a:r>
            <a:r>
              <a:rPr lang="zh-CN" altLang="en-US" dirty="0" smtClean="0"/>
              <a:t>开发流程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Smiley Face 4"/>
          <p:cNvSpPr/>
          <p:nvPr/>
        </p:nvSpPr>
        <p:spPr>
          <a:xfrm>
            <a:off x="1249426" y="1928802"/>
            <a:ext cx="500066" cy="500066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820930" y="198809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571472" y="2643182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571472" y="3429000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设计讨论会</a:t>
            </a:r>
            <a:endParaRPr lang="zh-CN" altLang="en-US" dirty="0"/>
          </a:p>
        </p:txBody>
      </p:sp>
      <p:sp>
        <p:nvSpPr>
          <p:cNvPr id="9" name="Rounded Rectangle 8"/>
          <p:cNvSpPr/>
          <p:nvPr/>
        </p:nvSpPr>
        <p:spPr>
          <a:xfrm>
            <a:off x="6786578" y="435769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测试设计会</a:t>
            </a:r>
            <a:endParaRPr lang="zh-CN" alt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6322938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6786578" y="364331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</a:t>
            </a:r>
            <a:endParaRPr lang="zh-CN" alt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71472" y="4214818"/>
            <a:ext cx="1928826" cy="92869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开发</a:t>
            </a:r>
            <a:endParaRPr lang="zh-CN" altLang="en-US" dirty="0"/>
          </a:p>
        </p:txBody>
      </p:sp>
      <p:sp>
        <p:nvSpPr>
          <p:cNvPr id="14" name="Rounded Rectangle 13"/>
          <p:cNvSpPr/>
          <p:nvPr/>
        </p:nvSpPr>
        <p:spPr>
          <a:xfrm>
            <a:off x="6786578" y="507207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用例开发</a:t>
            </a:r>
            <a:endParaRPr lang="zh-CN" altLang="en-US" dirty="0"/>
          </a:p>
        </p:txBody>
      </p:sp>
      <p:sp>
        <p:nvSpPr>
          <p:cNvPr id="15" name="Rounded Rectangle 14"/>
          <p:cNvSpPr/>
          <p:nvPr/>
        </p:nvSpPr>
        <p:spPr>
          <a:xfrm>
            <a:off x="571472" y="5357826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验收</a:t>
            </a:r>
            <a:endParaRPr lang="zh-CN" altLang="en-US" dirty="0"/>
          </a:p>
        </p:txBody>
      </p:sp>
      <p:sp>
        <p:nvSpPr>
          <p:cNvPr id="16" name="Rounded Rectangle 15"/>
          <p:cNvSpPr/>
          <p:nvPr/>
        </p:nvSpPr>
        <p:spPr>
          <a:xfrm>
            <a:off x="6786578" y="578645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</a:t>
            </a:r>
            <a:endParaRPr lang="zh-CN" altLang="en-US" dirty="0"/>
          </a:p>
        </p:txBody>
      </p:sp>
      <p:sp>
        <p:nvSpPr>
          <p:cNvPr id="17" name="Rounded Rectangle 16"/>
          <p:cNvSpPr/>
          <p:nvPr/>
        </p:nvSpPr>
        <p:spPr>
          <a:xfrm>
            <a:off x="571472" y="6072206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关闭</a:t>
            </a:r>
            <a:endParaRPr lang="zh-CN" altLang="en-US" dirty="0"/>
          </a:p>
        </p:txBody>
      </p:sp>
      <p:sp>
        <p:nvSpPr>
          <p:cNvPr id="19" name="Down Arrow 18"/>
          <p:cNvSpPr/>
          <p:nvPr/>
        </p:nvSpPr>
        <p:spPr>
          <a:xfrm>
            <a:off x="1320864" y="250030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1320864" y="321468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1320864" y="4000504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Straight Connector 24"/>
          <p:cNvCxnSpPr/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Down Arrow 25"/>
          <p:cNvSpPr/>
          <p:nvPr/>
        </p:nvSpPr>
        <p:spPr>
          <a:xfrm rot="16200000">
            <a:off x="4446630" y="3482932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Down Arrow 26"/>
          <p:cNvSpPr/>
          <p:nvPr/>
        </p:nvSpPr>
        <p:spPr>
          <a:xfrm>
            <a:off x="1320864" y="5214950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Down Arrow 27"/>
          <p:cNvSpPr/>
          <p:nvPr/>
        </p:nvSpPr>
        <p:spPr>
          <a:xfrm>
            <a:off x="7572396" y="421481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572396" y="492919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607408" y="564357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 rot="5400000">
            <a:off x="4303754" y="5840386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Down Arrow 31"/>
          <p:cNvSpPr/>
          <p:nvPr/>
        </p:nvSpPr>
        <p:spPr>
          <a:xfrm>
            <a:off x="1320864" y="5929330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Rounded Rectangular Callout 32"/>
          <p:cNvSpPr/>
          <p:nvPr/>
        </p:nvSpPr>
        <p:spPr>
          <a:xfrm>
            <a:off x="2714612" y="2428868"/>
            <a:ext cx="1785950" cy="785818"/>
          </a:xfrm>
          <a:prstGeom prst="wedgeRoundRectCallout">
            <a:avLst>
              <a:gd name="adj1" fmla="val -62219"/>
              <a:gd name="adj2" fmla="val 7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34" name="Rounded Rectangular Callout 33"/>
          <p:cNvSpPr/>
          <p:nvPr/>
        </p:nvSpPr>
        <p:spPr>
          <a:xfrm>
            <a:off x="2714612" y="3429000"/>
            <a:ext cx="1571636" cy="714380"/>
          </a:xfrm>
          <a:prstGeom prst="wedgeRoundRectCallout">
            <a:avLst>
              <a:gd name="adj1" fmla="val -62902"/>
              <a:gd name="adj2" fmla="val -1233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35" name="Rounded Rectangular Callout 34"/>
          <p:cNvSpPr/>
          <p:nvPr/>
        </p:nvSpPr>
        <p:spPr>
          <a:xfrm>
            <a:off x="5000628" y="2786058"/>
            <a:ext cx="1857388" cy="857256"/>
          </a:xfrm>
          <a:prstGeom prst="wedgeRoundRectCallout">
            <a:avLst>
              <a:gd name="adj1" fmla="val 44927"/>
              <a:gd name="adj2" fmla="val 7612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按照模板细化用例设计，输出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测试设计文档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36" name="Rounded Rectangular Callout 35"/>
          <p:cNvSpPr/>
          <p:nvPr/>
        </p:nvSpPr>
        <p:spPr>
          <a:xfrm>
            <a:off x="4786314" y="4071942"/>
            <a:ext cx="1714512" cy="714380"/>
          </a:xfrm>
          <a:prstGeom prst="wedgeRoundRectCallout">
            <a:avLst>
              <a:gd name="adj1" fmla="val 66908"/>
              <a:gd name="adj2" fmla="val 2179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37" name="Rounded Rectangular Callout 36"/>
          <p:cNvSpPr/>
          <p:nvPr/>
        </p:nvSpPr>
        <p:spPr>
          <a:xfrm>
            <a:off x="2714612" y="4929198"/>
            <a:ext cx="1643074" cy="642942"/>
          </a:xfrm>
          <a:prstGeom prst="wedgeRoundRectCallout">
            <a:avLst>
              <a:gd name="adj1" fmla="val -64200"/>
              <a:gd name="adj2" fmla="val 5232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Checklist</a:t>
            </a:r>
            <a:r>
              <a:rPr lang="zh-CN" altLang="en-US" sz="1400" dirty="0" smtClean="0"/>
              <a:t>完成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、验收用例通过</a:t>
            </a:r>
            <a:endParaRPr lang="en-US" altLang="zh-CN" sz="1400" dirty="0" smtClean="0"/>
          </a:p>
        </p:txBody>
      </p:sp>
      <p:sp>
        <p:nvSpPr>
          <p:cNvPr id="38" name="Down Arrow 37"/>
          <p:cNvSpPr/>
          <p:nvPr/>
        </p:nvSpPr>
        <p:spPr>
          <a:xfrm rot="16200000">
            <a:off x="4375192" y="5518208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Rounded Rectangular Callout 38"/>
          <p:cNvSpPr/>
          <p:nvPr/>
        </p:nvSpPr>
        <p:spPr>
          <a:xfrm>
            <a:off x="4929190" y="4929198"/>
            <a:ext cx="1643074" cy="785818"/>
          </a:xfrm>
          <a:prstGeom prst="wedgeRoundRectCallout">
            <a:avLst>
              <a:gd name="adj1" fmla="val 61944"/>
              <a:gd name="adj2" fmla="val 578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验收用例和测试用例，验收用例先开发</a:t>
            </a:r>
            <a:endParaRPr lang="en-US" altLang="zh-CN" sz="1400" dirty="0" smtClean="0"/>
          </a:p>
        </p:txBody>
      </p:sp>
      <p:sp>
        <p:nvSpPr>
          <p:cNvPr id="40" name="Rounded Rectangular Callout 39"/>
          <p:cNvSpPr/>
          <p:nvPr/>
        </p:nvSpPr>
        <p:spPr>
          <a:xfrm>
            <a:off x="4929190" y="6000768"/>
            <a:ext cx="1643074" cy="428628"/>
          </a:xfrm>
          <a:prstGeom prst="wedgeRoundRectCallout">
            <a:avLst>
              <a:gd name="adj1" fmla="val 63428"/>
              <a:gd name="adj2" fmla="val -16974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自动化</a:t>
            </a:r>
            <a:endParaRPr lang="en-US" altLang="zh-CN" sz="1400" dirty="0" smtClean="0"/>
          </a:p>
        </p:txBody>
      </p:sp>
      <p:sp>
        <p:nvSpPr>
          <p:cNvPr id="42" name="Smiley Face 41"/>
          <p:cNvSpPr/>
          <p:nvPr/>
        </p:nvSpPr>
        <p:spPr>
          <a:xfrm>
            <a:off x="7429520" y="192880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480" y="2571744"/>
            <a:ext cx="7286644" cy="1214422"/>
          </a:xfrm>
        </p:spPr>
        <p:txBody>
          <a:bodyPr>
            <a:normAutofit/>
          </a:bodyPr>
          <a:lstStyle/>
          <a:p>
            <a:pPr algn="ctr"/>
            <a:r>
              <a:rPr lang="en-US" altLang="zh-CN" sz="4400" dirty="0" smtClean="0"/>
              <a:t>Thanks</a:t>
            </a:r>
            <a:endParaRPr lang="zh-CN" altLang="en-US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quoiaDB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SequoiaDB</Template>
  <TotalTime>7979</TotalTime>
  <Words>732</Words>
  <Application>Microsoft Office PowerPoint</Application>
  <PresentationFormat>On-screen Show (4:3)</PresentationFormat>
  <Paragraphs>87</Paragraphs>
  <Slides>6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SequoiaDB</vt:lpstr>
      <vt:lpstr>2014Q3项目制度流程宣传</vt:lpstr>
      <vt:lpstr>例会制度</vt:lpstr>
      <vt:lpstr>JIRA单流程规范 （http://jira:8080）</vt:lpstr>
      <vt:lpstr>CI流程规范  （http://192.168.20.200:8080）</vt:lpstr>
      <vt:lpstr>Story开发流程</vt:lpstr>
      <vt:lpstr>Thanks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SequoiaDB架构总览</dc:title>
  <dc:creator>taoewang</dc:creator>
  <cp:lastModifiedBy>xujianhui</cp:lastModifiedBy>
  <cp:revision>282</cp:revision>
  <dcterms:created xsi:type="dcterms:W3CDTF">2013-11-01T02:43:08Z</dcterms:created>
  <dcterms:modified xsi:type="dcterms:W3CDTF">2014-07-15T05:27:51Z</dcterms:modified>
</cp:coreProperties>
</file>