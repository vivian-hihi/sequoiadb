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68" r:id="rId4"/>
    <p:sldId id="269" r:id="rId5"/>
    <p:sldId id="270" r:id="rId6"/>
    <p:sldId id="267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61FF"/>
    <a:srgbClr val="C0BD2D"/>
    <a:srgbClr val="3DAD78"/>
    <a:srgbClr val="0066FF"/>
    <a:srgbClr val="993366"/>
    <a:srgbClr val="13C0D7"/>
    <a:srgbClr val="3399FF"/>
    <a:srgbClr val="339966"/>
    <a:srgbClr val="CC00FF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76744" autoAdjust="0"/>
  </p:normalViewPr>
  <p:slideViewPr>
    <p:cSldViewPr>
      <p:cViewPr varScale="1">
        <p:scale>
          <a:sx n="78" d="100"/>
          <a:sy n="78" d="100"/>
        </p:scale>
        <p:origin x="-17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2014/7/15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jira:808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20.200:808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2014Q3</a:t>
            </a:r>
            <a:r>
              <a:rPr lang="zh-CN" altLang="en-US" dirty="0" smtClean="0"/>
              <a:t>项目制度流程宣传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内部会议资料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例会制度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957234" y="2071678"/>
            <a:ext cx="4972088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时间：</a:t>
            </a:r>
            <a:r>
              <a:rPr lang="zh-CN" altLang="en-US" dirty="0" smtClean="0"/>
              <a:t>每周一早上</a:t>
            </a:r>
            <a:r>
              <a:rPr lang="en-US" altLang="zh-CN" dirty="0" smtClean="0"/>
              <a:t>10</a:t>
            </a:r>
            <a:r>
              <a:rPr lang="zh-CN" altLang="en-US" dirty="0" smtClean="0"/>
              <a:t>点至</a:t>
            </a:r>
            <a:r>
              <a:rPr lang="en-US" altLang="zh-CN" dirty="0" smtClean="0"/>
              <a:t>11</a:t>
            </a:r>
            <a:r>
              <a:rPr lang="zh-CN" altLang="en-US" dirty="0" smtClean="0"/>
              <a:t>点</a:t>
            </a:r>
            <a:endParaRPr lang="zh-CN" altLang="en-US" dirty="0"/>
          </a:p>
        </p:txBody>
      </p:sp>
      <p:sp>
        <p:nvSpPr>
          <p:cNvPr id="6" name="Flowchart: Connector 5"/>
          <p:cNvSpPr/>
          <p:nvPr/>
        </p:nvSpPr>
        <p:spPr>
          <a:xfrm>
            <a:off x="428596" y="2185982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314424" y="3000372"/>
            <a:ext cx="5186402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目的：</a:t>
            </a:r>
            <a:r>
              <a:rPr lang="zh-CN" altLang="en-US" dirty="0" smtClean="0"/>
              <a:t>增强成员的相互了解，提升团队活力</a:t>
            </a:r>
            <a:endParaRPr lang="en-US" altLang="zh-CN" dirty="0" smtClean="0"/>
          </a:p>
        </p:txBody>
      </p:sp>
      <p:sp>
        <p:nvSpPr>
          <p:cNvPr id="8" name="Flowchart: Connector 7"/>
          <p:cNvSpPr/>
          <p:nvPr/>
        </p:nvSpPr>
        <p:spPr>
          <a:xfrm>
            <a:off x="785786" y="3114676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671614" y="3929066"/>
            <a:ext cx="5543592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形式：</a:t>
            </a:r>
            <a:r>
              <a:rPr lang="zh-CN" altLang="en-US" dirty="0" smtClean="0"/>
              <a:t>上周回顾、任务跟踪、困难求助、经验分享</a:t>
            </a:r>
            <a:endParaRPr lang="en-US" altLang="zh-CN" dirty="0" smtClean="0"/>
          </a:p>
        </p:txBody>
      </p:sp>
      <p:sp>
        <p:nvSpPr>
          <p:cNvPr id="10" name="Flowchart: Connector 9"/>
          <p:cNvSpPr/>
          <p:nvPr/>
        </p:nvSpPr>
        <p:spPr>
          <a:xfrm>
            <a:off x="1142976" y="4043370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028804" y="4857760"/>
            <a:ext cx="5929354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主持：</a:t>
            </a:r>
            <a:r>
              <a:rPr lang="zh-CN" altLang="en-US" dirty="0" smtClean="0"/>
              <a:t>团队成员轮流主持</a:t>
            </a:r>
            <a:endParaRPr lang="en-US" altLang="zh-CN" dirty="0" smtClean="0"/>
          </a:p>
        </p:txBody>
      </p:sp>
      <p:sp>
        <p:nvSpPr>
          <p:cNvPr id="12" name="Flowchart: Connector 11"/>
          <p:cNvSpPr/>
          <p:nvPr/>
        </p:nvSpPr>
        <p:spPr>
          <a:xfrm>
            <a:off x="1500166" y="4972064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2428860" y="5715016"/>
            <a:ext cx="6286544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输</a:t>
            </a:r>
            <a:r>
              <a:rPr lang="zh-CN" altLang="en-US" b="1" dirty="0" smtClean="0"/>
              <a:t>出</a:t>
            </a:r>
            <a:r>
              <a:rPr lang="zh-CN" altLang="en-US" b="1" dirty="0" smtClean="0"/>
              <a:t>：</a:t>
            </a:r>
            <a:r>
              <a:rPr lang="en-US" altLang="zh-CN" dirty="0" smtClean="0"/>
              <a:t>《</a:t>
            </a:r>
            <a:r>
              <a:rPr lang="zh-CN" altLang="en-US" dirty="0" smtClean="0"/>
              <a:t>例会纪要</a:t>
            </a:r>
            <a:r>
              <a:rPr lang="en-US" altLang="zh-CN" dirty="0" smtClean="0"/>
              <a:t>》</a:t>
            </a:r>
            <a:r>
              <a:rPr lang="zh-CN" altLang="en-US" dirty="0" smtClean="0"/>
              <a:t>，并归档</a:t>
            </a:r>
            <a:endParaRPr lang="en-US" altLang="zh-CN" dirty="0" smtClean="0"/>
          </a:p>
        </p:txBody>
      </p:sp>
      <p:sp>
        <p:nvSpPr>
          <p:cNvPr id="14" name="Flowchart: Connector 13"/>
          <p:cNvSpPr/>
          <p:nvPr/>
        </p:nvSpPr>
        <p:spPr>
          <a:xfrm>
            <a:off x="1900222" y="5829320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JIRA</a:t>
            </a:r>
            <a:r>
              <a:rPr lang="zh-CN" altLang="en-US" dirty="0" smtClean="0"/>
              <a:t>单流程规范 （</a:t>
            </a:r>
            <a:r>
              <a:rPr lang="en-US" altLang="zh-CN" dirty="0" smtClean="0">
                <a:hlinkClick r:id="rId3"/>
              </a:rPr>
              <a:t>http</a:t>
            </a:r>
            <a:r>
              <a:rPr lang="en-US" altLang="zh-CN" dirty="0" smtClean="0">
                <a:hlinkClick r:id="rId3"/>
              </a:rPr>
              <a:t>://</a:t>
            </a:r>
            <a:r>
              <a:rPr lang="en-US" altLang="zh-CN" dirty="0" smtClean="0">
                <a:hlinkClick r:id="rId3"/>
              </a:rPr>
              <a:t>jira:8080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Smiley Face 3"/>
          <p:cNvSpPr/>
          <p:nvPr/>
        </p:nvSpPr>
        <p:spPr>
          <a:xfrm>
            <a:off x="1749492" y="1928802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6484" y="2000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测试人员</a:t>
            </a:r>
            <a:endParaRPr lang="zh-CN" altLang="en-US" dirty="0"/>
          </a:p>
        </p:txBody>
      </p:sp>
      <p:sp>
        <p:nvSpPr>
          <p:cNvPr id="8" name="Smiley Face 7"/>
          <p:cNvSpPr/>
          <p:nvPr/>
        </p:nvSpPr>
        <p:spPr>
          <a:xfrm>
            <a:off x="2678186" y="1928802"/>
            <a:ext cx="500066" cy="500066"/>
          </a:xfrm>
          <a:prstGeom prst="smileyFac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249690" y="19880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开发人员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928662" y="2928934"/>
            <a:ext cx="3214710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提交</a:t>
            </a:r>
            <a:r>
              <a:rPr lang="en-US" altLang="zh-CN" dirty="0" smtClean="0"/>
              <a:t>JIRA</a:t>
            </a:r>
            <a:r>
              <a:rPr lang="zh-CN" altLang="en-US" dirty="0" smtClean="0"/>
              <a:t>单</a:t>
            </a:r>
            <a:endParaRPr lang="zh-CN" altLang="en-US" dirty="0"/>
          </a:p>
        </p:txBody>
      </p:sp>
      <p:sp>
        <p:nvSpPr>
          <p:cNvPr id="11" name="Down Arrow 10"/>
          <p:cNvSpPr/>
          <p:nvPr/>
        </p:nvSpPr>
        <p:spPr>
          <a:xfrm>
            <a:off x="2178120" y="2428868"/>
            <a:ext cx="642942" cy="428628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Flowchart: Connector 13"/>
          <p:cNvSpPr/>
          <p:nvPr/>
        </p:nvSpPr>
        <p:spPr>
          <a:xfrm>
            <a:off x="400024" y="3043238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6" name="Flowchart: Connector 15"/>
          <p:cNvSpPr/>
          <p:nvPr/>
        </p:nvSpPr>
        <p:spPr>
          <a:xfrm>
            <a:off x="400024" y="4043370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928662" y="3929066"/>
            <a:ext cx="3214710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开发人员定位问题</a:t>
            </a:r>
            <a:endParaRPr lang="zh-CN" altLang="en-US" dirty="0"/>
          </a:p>
        </p:txBody>
      </p:sp>
      <p:sp>
        <p:nvSpPr>
          <p:cNvPr id="18" name="Flowchart: Connector 17"/>
          <p:cNvSpPr/>
          <p:nvPr/>
        </p:nvSpPr>
        <p:spPr>
          <a:xfrm>
            <a:off x="400024" y="5043502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928662" y="4929198"/>
            <a:ext cx="3214710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测试人员回归测试</a:t>
            </a:r>
            <a:endParaRPr lang="zh-CN" altLang="en-US" dirty="0"/>
          </a:p>
        </p:txBody>
      </p:sp>
      <p:sp>
        <p:nvSpPr>
          <p:cNvPr id="20" name="Flowchart: Connector 19"/>
          <p:cNvSpPr/>
          <p:nvPr/>
        </p:nvSpPr>
        <p:spPr>
          <a:xfrm>
            <a:off x="400024" y="6043634"/>
            <a:ext cx="457200" cy="457200"/>
          </a:xfrm>
          <a:prstGeom prst="flowChartConnector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928662" y="5929330"/>
            <a:ext cx="3214710" cy="6429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问题提交者确认关闭</a:t>
            </a:r>
            <a:endParaRPr lang="zh-CN" altLang="en-US" dirty="0"/>
          </a:p>
        </p:txBody>
      </p:sp>
      <p:sp>
        <p:nvSpPr>
          <p:cNvPr id="22" name="Down Arrow 21"/>
          <p:cNvSpPr/>
          <p:nvPr/>
        </p:nvSpPr>
        <p:spPr>
          <a:xfrm>
            <a:off x="2178120" y="3643314"/>
            <a:ext cx="642942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Down Arrow 22"/>
          <p:cNvSpPr/>
          <p:nvPr/>
        </p:nvSpPr>
        <p:spPr>
          <a:xfrm>
            <a:off x="2178120" y="4643446"/>
            <a:ext cx="642942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Down Arrow 23"/>
          <p:cNvSpPr/>
          <p:nvPr/>
        </p:nvSpPr>
        <p:spPr>
          <a:xfrm>
            <a:off x="2178120" y="5643578"/>
            <a:ext cx="642942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ounded Rectangular Callout 24"/>
          <p:cNvSpPr/>
          <p:nvPr/>
        </p:nvSpPr>
        <p:spPr>
          <a:xfrm>
            <a:off x="5000628" y="2000240"/>
            <a:ext cx="3714776" cy="1428760"/>
          </a:xfrm>
          <a:prstGeom prst="wedgeRoundRectCallout">
            <a:avLst>
              <a:gd name="adj1" fmla="val -71657"/>
              <a:gd name="adj2" fmla="val 38608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：标明问题具体现象</a:t>
            </a:r>
            <a:endParaRPr lang="en-US" altLang="zh-CN" sz="1600" dirty="0" smtClean="0"/>
          </a:p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：标明测试环境和步聚</a:t>
            </a:r>
            <a:endParaRPr lang="en-US" altLang="zh-CN" sz="1600" dirty="0" smtClean="0"/>
          </a:p>
          <a:p>
            <a:r>
              <a:rPr lang="zh-CN" altLang="en-US" sz="1600" dirty="0" smtClean="0"/>
              <a:t>要</a:t>
            </a:r>
            <a:r>
              <a:rPr lang="zh-CN" altLang="en-US" sz="1600" dirty="0" smtClean="0"/>
              <a:t>求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：</a:t>
            </a:r>
            <a:r>
              <a:rPr lang="zh-CN" altLang="en-US" sz="1600" dirty="0" smtClean="0"/>
              <a:t>标明发生问题的版本信</a:t>
            </a:r>
            <a:r>
              <a:rPr lang="zh-CN" altLang="en-US" sz="1600" dirty="0" smtClean="0"/>
              <a:t>息</a:t>
            </a:r>
            <a:endParaRPr lang="en-US" altLang="zh-CN" sz="1600" dirty="0" smtClean="0"/>
          </a:p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4</a:t>
            </a:r>
            <a:r>
              <a:rPr lang="zh-CN" altLang="en-US" sz="1600" dirty="0" smtClean="0"/>
              <a:t>：标明现场定位人员</a:t>
            </a:r>
            <a:endParaRPr lang="en-US" altLang="zh-CN" sz="1600" dirty="0" smtClean="0"/>
          </a:p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5</a:t>
            </a:r>
            <a:r>
              <a:rPr lang="zh-CN" altLang="en-US" sz="1600" dirty="0" smtClean="0"/>
              <a:t>：原因未明确的，需收集信息</a:t>
            </a:r>
            <a:endParaRPr lang="en-US" altLang="zh-CN" sz="1600" dirty="0" smtClean="0"/>
          </a:p>
        </p:txBody>
      </p:sp>
      <p:sp>
        <p:nvSpPr>
          <p:cNvPr id="26" name="Rounded Rectangular Callout 25"/>
          <p:cNvSpPr/>
          <p:nvPr/>
        </p:nvSpPr>
        <p:spPr>
          <a:xfrm>
            <a:off x="5000628" y="3786190"/>
            <a:ext cx="3714776" cy="1143008"/>
          </a:xfrm>
          <a:prstGeom prst="wedgeRoundRectCallout">
            <a:avLst>
              <a:gd name="adj1" fmla="val -71341"/>
              <a:gd name="adj2" fmla="val -11452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：标明问题产生的原因</a:t>
            </a:r>
            <a:endParaRPr lang="en-US" altLang="zh-CN" sz="1600" dirty="0" smtClean="0"/>
          </a:p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：标明修改方案和提交</a:t>
            </a:r>
            <a:r>
              <a:rPr lang="en-US" altLang="zh-CN" sz="1600" dirty="0" smtClean="0"/>
              <a:t>SVN</a:t>
            </a:r>
            <a:r>
              <a:rPr lang="zh-CN" altLang="en-US" sz="1600" dirty="0" smtClean="0"/>
              <a:t>号</a:t>
            </a:r>
            <a:endParaRPr lang="en-US" altLang="zh-CN" sz="1600" dirty="0" smtClean="0"/>
          </a:p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：标明问题重现条件</a:t>
            </a:r>
            <a:endParaRPr lang="en-US" altLang="zh-CN" sz="1600" dirty="0" smtClean="0"/>
          </a:p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4</a:t>
            </a:r>
            <a:r>
              <a:rPr lang="zh-CN" altLang="en-US" sz="1600" dirty="0" smtClean="0"/>
              <a:t>：标明问题模块和修复版本</a:t>
            </a:r>
            <a:endParaRPr lang="en-US" altLang="zh-CN" sz="1600" dirty="0" smtClean="0"/>
          </a:p>
        </p:txBody>
      </p:sp>
      <p:sp>
        <p:nvSpPr>
          <p:cNvPr id="27" name="Rounded Rectangular Callout 26"/>
          <p:cNvSpPr/>
          <p:nvPr/>
        </p:nvSpPr>
        <p:spPr>
          <a:xfrm>
            <a:off x="5000628" y="5357826"/>
            <a:ext cx="3714776" cy="785818"/>
          </a:xfrm>
          <a:prstGeom prst="wedgeRoundRectCallout">
            <a:avLst>
              <a:gd name="adj1" fmla="val -71657"/>
              <a:gd name="adj2" fmla="val -6750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 smtClean="0"/>
              <a:t>要求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：标明重现条件在新旧版本中的测试结果</a:t>
            </a:r>
            <a:endParaRPr lang="en-US" altLang="zh-CN" sz="1600" dirty="0" smtClean="0"/>
          </a:p>
        </p:txBody>
      </p:sp>
      <p:sp>
        <p:nvSpPr>
          <p:cNvPr id="29" name="Rounded Rectangle 28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CI</a:t>
            </a:r>
            <a:r>
              <a:rPr lang="zh-CN" altLang="en-US" dirty="0" smtClean="0"/>
              <a:t>流程规范 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>
                <a:hlinkClick r:id="rId3"/>
              </a:rPr>
              <a:t>http</a:t>
            </a:r>
            <a:r>
              <a:rPr lang="en-US" altLang="zh-CN" dirty="0" smtClean="0">
                <a:hlinkClick r:id="rId3"/>
              </a:rPr>
              <a:t>://</a:t>
            </a:r>
            <a:r>
              <a:rPr lang="en-US" altLang="zh-CN" dirty="0" smtClean="0">
                <a:hlinkClick r:id="rId3"/>
              </a:rPr>
              <a:t>192.168.20.200:8080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Straight Connector 5"/>
          <p:cNvCxnSpPr>
            <a:stCxn id="4" idx="0"/>
            <a:endCxn id="4" idx="2"/>
          </p:cNvCxnSpPr>
          <p:nvPr/>
        </p:nvCxnSpPr>
        <p:spPr>
          <a:xfrm rot="16200000" flipH="1">
            <a:off x="2107389" y="4250537"/>
            <a:ext cx="4929222" cy="1588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9791" y="1857364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CI</a:t>
            </a:r>
            <a:r>
              <a:rPr lang="zh-CN" altLang="en-US" b="1" dirty="0" smtClean="0">
                <a:solidFill>
                  <a:srgbClr val="C00000"/>
                </a:solidFill>
              </a:rPr>
              <a:t>提交流程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10375" y="185736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CI</a:t>
            </a:r>
            <a:r>
              <a:rPr lang="zh-CN" altLang="en-US" b="1" dirty="0" smtClean="0">
                <a:solidFill>
                  <a:srgbClr val="C00000"/>
                </a:solidFill>
              </a:rPr>
              <a:t>日常运维流程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Smiley Face 8"/>
          <p:cNvSpPr/>
          <p:nvPr/>
        </p:nvSpPr>
        <p:spPr>
          <a:xfrm>
            <a:off x="785786" y="2714620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63608" y="23452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测试人员</a:t>
            </a:r>
            <a:endParaRPr lang="zh-CN" alt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28596" y="350043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编写用例</a:t>
            </a:r>
            <a:endParaRPr lang="zh-CN" alt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428596" y="4357694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本地调测</a:t>
            </a:r>
            <a:endParaRPr lang="zh-CN" alt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428596" y="5214950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提交构建</a:t>
            </a:r>
            <a:endParaRPr lang="zh-CN" alt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428596" y="600076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确保成功</a:t>
            </a:r>
            <a:endParaRPr lang="zh-CN" altLang="en-US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2000232" y="2714620"/>
            <a:ext cx="2428892" cy="1071570"/>
          </a:xfrm>
          <a:prstGeom prst="wedgeRoundRectCallout">
            <a:avLst>
              <a:gd name="adj1" fmla="val -61537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、按照用例规范编写用例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、考虑</a:t>
            </a:r>
            <a:r>
              <a:rPr lang="en-US" altLang="zh-CN" sz="1400" dirty="0" smtClean="0"/>
              <a:t>Standalone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Cluster</a:t>
            </a:r>
            <a:r>
              <a:rPr lang="zh-CN" altLang="en-US" sz="1400" dirty="0" smtClean="0"/>
              <a:t>等运行场景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、交叉检视用例</a:t>
            </a:r>
            <a:endParaRPr lang="en-US" altLang="zh-CN" sz="1400" dirty="0" smtClean="0"/>
          </a:p>
        </p:txBody>
      </p:sp>
      <p:sp>
        <p:nvSpPr>
          <p:cNvPr id="17" name="Rounded Rectangular Callout 16"/>
          <p:cNvSpPr/>
          <p:nvPr/>
        </p:nvSpPr>
        <p:spPr>
          <a:xfrm>
            <a:off x="2000232" y="4071942"/>
            <a:ext cx="2428892" cy="642942"/>
          </a:xfrm>
          <a:prstGeom prst="wedgeRoundRectCallout">
            <a:avLst>
              <a:gd name="adj1" fmla="val -61537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使用</a:t>
            </a:r>
            <a:r>
              <a:rPr lang="en-US" altLang="zh-CN" sz="1400" dirty="0" smtClean="0"/>
              <a:t>runTest</a:t>
            </a:r>
            <a:r>
              <a:rPr lang="zh-CN" altLang="en-US" sz="1400" dirty="0" smtClean="0"/>
              <a:t>进行本地多种场景调测，确保用例通过</a:t>
            </a:r>
            <a:endParaRPr lang="en-US" altLang="zh-CN" sz="1400" dirty="0" smtClean="0"/>
          </a:p>
        </p:txBody>
      </p:sp>
      <p:sp>
        <p:nvSpPr>
          <p:cNvPr id="18" name="Rounded Rectangular Callout 17"/>
          <p:cNvSpPr/>
          <p:nvPr/>
        </p:nvSpPr>
        <p:spPr>
          <a:xfrm>
            <a:off x="2000232" y="5000636"/>
            <a:ext cx="2428892" cy="642942"/>
          </a:xfrm>
          <a:prstGeom prst="wedgeRoundRectCallout">
            <a:avLst>
              <a:gd name="adj1" fmla="val -62039"/>
              <a:gd name="adj2" fmla="val 1955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提交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，并手动构建各种测式工程</a:t>
            </a:r>
            <a:endParaRPr lang="en-US" altLang="zh-CN" sz="1400" dirty="0" smtClean="0"/>
          </a:p>
        </p:txBody>
      </p:sp>
      <p:sp>
        <p:nvSpPr>
          <p:cNvPr id="19" name="Rounded Rectangular Callout 18"/>
          <p:cNvSpPr/>
          <p:nvPr/>
        </p:nvSpPr>
        <p:spPr>
          <a:xfrm>
            <a:off x="2000232" y="5929330"/>
            <a:ext cx="2428892" cy="642942"/>
          </a:xfrm>
          <a:prstGeom prst="wedgeRoundRectCallout">
            <a:avLst>
              <a:gd name="adj1" fmla="val -62039"/>
              <a:gd name="adj2" fmla="val 865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分析用例结果，确保用例全部通过</a:t>
            </a:r>
            <a:endParaRPr lang="en-US" altLang="zh-CN" sz="1400" dirty="0" smtClean="0"/>
          </a:p>
        </p:txBody>
      </p:sp>
      <p:sp>
        <p:nvSpPr>
          <p:cNvPr id="20" name="Down Arrow 19"/>
          <p:cNvSpPr/>
          <p:nvPr/>
        </p:nvSpPr>
        <p:spPr>
          <a:xfrm>
            <a:off x="857224" y="328612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own Arrow 20"/>
          <p:cNvSpPr/>
          <p:nvPr/>
        </p:nvSpPr>
        <p:spPr>
          <a:xfrm>
            <a:off x="857224" y="4071942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Down Arrow 21"/>
          <p:cNvSpPr/>
          <p:nvPr/>
        </p:nvSpPr>
        <p:spPr>
          <a:xfrm>
            <a:off x="857224" y="4929198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Down Arrow 22"/>
          <p:cNvSpPr/>
          <p:nvPr/>
        </p:nvSpPr>
        <p:spPr>
          <a:xfrm>
            <a:off x="857224" y="578645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Smiley Face 23"/>
          <p:cNvSpPr/>
          <p:nvPr/>
        </p:nvSpPr>
        <p:spPr>
          <a:xfrm>
            <a:off x="7916319" y="2726762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643834" y="235743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CI</a:t>
            </a:r>
            <a:r>
              <a:rPr lang="zh-CN" altLang="en-US" dirty="0" smtClean="0"/>
              <a:t>责任人</a:t>
            </a:r>
            <a:endParaRPr lang="zh-CN" alt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7500958" y="350043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过滤</a:t>
            </a:r>
            <a:r>
              <a:rPr lang="en-US" altLang="zh-CN" sz="1600" dirty="0" smtClean="0"/>
              <a:t>CI</a:t>
            </a:r>
            <a:r>
              <a:rPr lang="zh-CN" altLang="en-US" sz="1600" dirty="0" smtClean="0"/>
              <a:t>问题</a:t>
            </a:r>
            <a:endParaRPr lang="zh-CN" altLang="en-US" sz="1600" dirty="0"/>
          </a:p>
        </p:txBody>
      </p:sp>
      <p:sp>
        <p:nvSpPr>
          <p:cNvPr id="27" name="Rounded Rectangle 26"/>
          <p:cNvSpPr/>
          <p:nvPr/>
        </p:nvSpPr>
        <p:spPr>
          <a:xfrm>
            <a:off x="7500958" y="4357694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催促用例责任人</a:t>
            </a:r>
            <a:endParaRPr lang="zh-CN" alt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7500958" y="5214950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催促开发责任人</a:t>
            </a:r>
            <a:endParaRPr lang="zh-CN" altLang="en-US" sz="1600" dirty="0"/>
          </a:p>
        </p:txBody>
      </p:sp>
      <p:sp>
        <p:nvSpPr>
          <p:cNvPr id="29" name="Rounded Rectangle 28"/>
          <p:cNvSpPr/>
          <p:nvPr/>
        </p:nvSpPr>
        <p:spPr>
          <a:xfrm>
            <a:off x="7500958" y="600076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确保成功</a:t>
            </a:r>
            <a:endParaRPr lang="zh-CN" altLang="en-US" sz="1600" dirty="0"/>
          </a:p>
        </p:txBody>
      </p:sp>
      <p:sp>
        <p:nvSpPr>
          <p:cNvPr id="30" name="Down Arrow 29"/>
          <p:cNvSpPr/>
          <p:nvPr/>
        </p:nvSpPr>
        <p:spPr>
          <a:xfrm>
            <a:off x="7964598" y="328612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Down Arrow 30"/>
          <p:cNvSpPr/>
          <p:nvPr/>
        </p:nvSpPr>
        <p:spPr>
          <a:xfrm>
            <a:off x="7964598" y="4071942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Down Arrow 31"/>
          <p:cNvSpPr/>
          <p:nvPr/>
        </p:nvSpPr>
        <p:spPr>
          <a:xfrm>
            <a:off x="7964598" y="4929198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Down Arrow 32"/>
          <p:cNvSpPr/>
          <p:nvPr/>
        </p:nvSpPr>
        <p:spPr>
          <a:xfrm>
            <a:off x="7964598" y="578645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ounded Rectangular Callout 33"/>
          <p:cNvSpPr/>
          <p:nvPr/>
        </p:nvSpPr>
        <p:spPr>
          <a:xfrm>
            <a:off x="4786314" y="2714620"/>
            <a:ext cx="2428892" cy="1071570"/>
          </a:xfrm>
          <a:prstGeom prst="wedgeRoundRectCallout">
            <a:avLst>
              <a:gd name="adj1" fmla="val 60941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责任人为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本周例会主持人</a:t>
            </a:r>
            <a:r>
              <a:rPr lang="zh-CN" altLang="en-US" sz="1400" dirty="0" smtClean="0"/>
              <a:t>和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龙阳</a:t>
            </a:r>
            <a:endParaRPr lang="en-US" altLang="zh-CN" sz="1400" b="1" dirty="0" smtClean="0">
              <a:solidFill>
                <a:srgbClr val="C00000"/>
              </a:solidFill>
            </a:endParaRPr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、分析是否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本身问题或用例问题</a:t>
            </a:r>
            <a:endParaRPr lang="en-US" altLang="zh-CN" sz="1400" dirty="0" smtClean="0"/>
          </a:p>
        </p:txBody>
      </p:sp>
      <p:sp>
        <p:nvSpPr>
          <p:cNvPr id="35" name="Rounded Rectangular Callout 34"/>
          <p:cNvSpPr/>
          <p:nvPr/>
        </p:nvSpPr>
        <p:spPr>
          <a:xfrm>
            <a:off x="4786314" y="4000504"/>
            <a:ext cx="2428892" cy="785818"/>
          </a:xfrm>
          <a:prstGeom prst="wedgeRoundRectCallout">
            <a:avLst>
              <a:gd name="adj1" fmla="val 61443"/>
              <a:gd name="adj2" fmla="val 4231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测试用例书写人员</a:t>
            </a:r>
            <a:endParaRPr lang="en-US" altLang="zh-CN" sz="1400" dirty="0" smtClean="0"/>
          </a:p>
          <a:p>
            <a:r>
              <a:rPr lang="zh-CN" altLang="en-US" sz="1400" dirty="0" smtClean="0"/>
              <a:t>分析为用例问题或版本问题</a:t>
            </a:r>
            <a:endParaRPr lang="en-US" altLang="zh-CN" sz="1400" dirty="0" smtClean="0"/>
          </a:p>
          <a:p>
            <a:r>
              <a:rPr lang="en-US" altLang="zh-CN" sz="1400" dirty="0" smtClean="0"/>
              <a:t>[ </a:t>
            </a:r>
            <a:r>
              <a:rPr lang="zh-CN" altLang="en-US" sz="1400" dirty="0" smtClean="0"/>
              <a:t>用</a:t>
            </a:r>
            <a:r>
              <a:rPr lang="zh-CN" altLang="en-US" sz="1400" dirty="0" smtClean="0"/>
              <a:t>例总负责人：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胡晓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均 </a:t>
            </a:r>
            <a:r>
              <a:rPr lang="en-US" altLang="zh-CN" sz="1400" dirty="0" smtClean="0"/>
              <a:t>]</a:t>
            </a:r>
          </a:p>
        </p:txBody>
      </p:sp>
      <p:sp>
        <p:nvSpPr>
          <p:cNvPr id="36" name="Rounded Rectangular Callout 35"/>
          <p:cNvSpPr/>
          <p:nvPr/>
        </p:nvSpPr>
        <p:spPr>
          <a:xfrm>
            <a:off x="4786314" y="5000636"/>
            <a:ext cx="2428892" cy="785818"/>
          </a:xfrm>
          <a:prstGeom prst="wedgeRoundRectCallout">
            <a:avLst>
              <a:gd name="adj1" fmla="val 60439"/>
              <a:gd name="adj2" fmla="val 1955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对应该功能模块负责人</a:t>
            </a:r>
            <a:endParaRPr lang="en-US" altLang="zh-CN" sz="1400" dirty="0" smtClean="0"/>
          </a:p>
          <a:p>
            <a:r>
              <a:rPr lang="zh-CN" altLang="en-US" sz="1400" dirty="0" smtClean="0"/>
              <a:t>分析导致用例不过的原因</a:t>
            </a:r>
            <a:endParaRPr lang="en-US" altLang="zh-CN" sz="1400" dirty="0" smtClean="0"/>
          </a:p>
          <a:p>
            <a:r>
              <a:rPr lang="en-US" altLang="zh-CN" sz="1400" dirty="0" smtClean="0"/>
              <a:t>[ </a:t>
            </a:r>
            <a:r>
              <a:rPr lang="zh-CN" altLang="en-US" sz="1400" dirty="0" smtClean="0"/>
              <a:t>开发总负责人：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许建辉 </a:t>
            </a:r>
            <a:r>
              <a:rPr lang="en-US" altLang="zh-CN" sz="1400" dirty="0" smtClean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37" name="Rounded Rectangular Callout 36"/>
          <p:cNvSpPr/>
          <p:nvPr/>
        </p:nvSpPr>
        <p:spPr>
          <a:xfrm>
            <a:off x="4786314" y="5929330"/>
            <a:ext cx="2428892" cy="642942"/>
          </a:xfrm>
          <a:prstGeom prst="wedgeRoundRectCallout">
            <a:avLst>
              <a:gd name="adj1" fmla="val 61442"/>
              <a:gd name="adj2" fmla="val -83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用例责任人确保用例全部通过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Story</a:t>
            </a:r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miley Face 4"/>
          <p:cNvSpPr/>
          <p:nvPr/>
        </p:nvSpPr>
        <p:spPr>
          <a:xfrm>
            <a:off x="1249426" y="1928802"/>
            <a:ext cx="500066" cy="500066"/>
          </a:xfrm>
          <a:prstGeom prst="smileyFac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820930" y="19880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开发人员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71472" y="2643182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71472" y="3429000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设计讨论会</a:t>
            </a:r>
            <a:endParaRPr lang="zh-CN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786578" y="4357694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测试设计会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22938" y="2000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测试人员</a:t>
            </a:r>
            <a:endParaRPr lang="zh-CN" alt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6786578" y="3643314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测试设计</a:t>
            </a:r>
            <a:endParaRPr lang="zh-CN" alt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571472" y="4214818"/>
            <a:ext cx="1928826" cy="92869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开发</a:t>
            </a:r>
            <a:endParaRPr lang="zh-CN" alt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6786578" y="5072074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用例开发</a:t>
            </a:r>
            <a:endParaRPr lang="zh-CN" alt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571472" y="5357826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验收</a:t>
            </a:r>
            <a:endParaRPr lang="zh-CN" alt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6786578" y="5786454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571472" y="6072206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关闭</a:t>
            </a:r>
            <a:endParaRPr lang="zh-CN" altLang="en-US" dirty="0"/>
          </a:p>
        </p:txBody>
      </p:sp>
      <p:sp>
        <p:nvSpPr>
          <p:cNvPr id="19" name="Down Arrow 18"/>
          <p:cNvSpPr/>
          <p:nvPr/>
        </p:nvSpPr>
        <p:spPr>
          <a:xfrm>
            <a:off x="1320864" y="2500306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Down Arrow 19"/>
          <p:cNvSpPr/>
          <p:nvPr/>
        </p:nvSpPr>
        <p:spPr>
          <a:xfrm>
            <a:off x="1320864" y="3214686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own Arrow 20"/>
          <p:cNvSpPr/>
          <p:nvPr/>
        </p:nvSpPr>
        <p:spPr>
          <a:xfrm>
            <a:off x="1320864" y="4000504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 rot="16200000" flipH="1">
            <a:off x="2107389" y="4250537"/>
            <a:ext cx="4929222" cy="1588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own Arrow 25"/>
          <p:cNvSpPr/>
          <p:nvPr/>
        </p:nvSpPr>
        <p:spPr>
          <a:xfrm rot="16200000">
            <a:off x="4446630" y="3482932"/>
            <a:ext cx="393616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Down Arrow 26"/>
          <p:cNvSpPr/>
          <p:nvPr/>
        </p:nvSpPr>
        <p:spPr>
          <a:xfrm>
            <a:off x="1320864" y="5214950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Down Arrow 27"/>
          <p:cNvSpPr/>
          <p:nvPr/>
        </p:nvSpPr>
        <p:spPr>
          <a:xfrm>
            <a:off x="7572396" y="421481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Down Arrow 28"/>
          <p:cNvSpPr/>
          <p:nvPr/>
        </p:nvSpPr>
        <p:spPr>
          <a:xfrm>
            <a:off x="7572396" y="492919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Down Arrow 29"/>
          <p:cNvSpPr/>
          <p:nvPr/>
        </p:nvSpPr>
        <p:spPr>
          <a:xfrm>
            <a:off x="7607408" y="564357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Down Arrow 30"/>
          <p:cNvSpPr/>
          <p:nvPr/>
        </p:nvSpPr>
        <p:spPr>
          <a:xfrm rot="5400000">
            <a:off x="4303754" y="5840386"/>
            <a:ext cx="393616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Down Arrow 31"/>
          <p:cNvSpPr/>
          <p:nvPr/>
        </p:nvSpPr>
        <p:spPr>
          <a:xfrm>
            <a:off x="1320864" y="5929330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ounded Rectangular Callout 32"/>
          <p:cNvSpPr/>
          <p:nvPr/>
        </p:nvSpPr>
        <p:spPr>
          <a:xfrm>
            <a:off x="2714612" y="2428868"/>
            <a:ext cx="1785950" cy="785818"/>
          </a:xfrm>
          <a:prstGeom prst="wedgeRoundRectCallout">
            <a:avLst>
              <a:gd name="adj1" fmla="val -62219"/>
              <a:gd name="adj2" fmla="val 7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按照模板细化设计，输出</a:t>
            </a:r>
            <a:r>
              <a:rPr lang="en-US" altLang="zh-CN" sz="1400" dirty="0" smtClean="0"/>
              <a:t>《Story</a:t>
            </a:r>
            <a:r>
              <a:rPr lang="zh-CN" altLang="en-US" sz="1400" dirty="0" smtClean="0"/>
              <a:t>设计文档</a:t>
            </a:r>
            <a:r>
              <a:rPr lang="en-US" altLang="zh-CN" sz="1400" dirty="0" smtClean="0"/>
              <a:t>》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2714612" y="3429000"/>
            <a:ext cx="1571636" cy="714380"/>
          </a:xfrm>
          <a:prstGeom prst="wedgeRoundRectCallout">
            <a:avLst>
              <a:gd name="adj1" fmla="val -62902"/>
              <a:gd name="adj2" fmla="val -1233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开发经理，测试经理，开发人员，测试人员参与</a:t>
            </a:r>
            <a:endParaRPr lang="en-US" altLang="zh-CN" sz="1400" dirty="0" smtClean="0"/>
          </a:p>
        </p:txBody>
      </p:sp>
      <p:sp>
        <p:nvSpPr>
          <p:cNvPr id="35" name="Rounded Rectangular Callout 34"/>
          <p:cNvSpPr/>
          <p:nvPr/>
        </p:nvSpPr>
        <p:spPr>
          <a:xfrm>
            <a:off x="5000628" y="2786058"/>
            <a:ext cx="1857388" cy="857256"/>
          </a:xfrm>
          <a:prstGeom prst="wedgeRoundRectCallout">
            <a:avLst>
              <a:gd name="adj1" fmla="val 44927"/>
              <a:gd name="adj2" fmla="val 7612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按照模板细化用例设计，输出</a:t>
            </a:r>
            <a:r>
              <a:rPr lang="en-US" altLang="zh-CN" sz="1400" dirty="0" smtClean="0"/>
              <a:t>《Story</a:t>
            </a:r>
            <a:r>
              <a:rPr lang="zh-CN" altLang="en-US" sz="1400" dirty="0" smtClean="0"/>
              <a:t>测试设计文档</a:t>
            </a:r>
            <a:r>
              <a:rPr lang="en-US" altLang="zh-CN" sz="1400" dirty="0" smtClean="0"/>
              <a:t>》</a:t>
            </a:r>
          </a:p>
        </p:txBody>
      </p:sp>
      <p:sp>
        <p:nvSpPr>
          <p:cNvPr id="36" name="Rounded Rectangular Callout 35"/>
          <p:cNvSpPr/>
          <p:nvPr/>
        </p:nvSpPr>
        <p:spPr>
          <a:xfrm>
            <a:off x="4786314" y="4071942"/>
            <a:ext cx="1714512" cy="714380"/>
          </a:xfrm>
          <a:prstGeom prst="wedgeRoundRectCallout">
            <a:avLst>
              <a:gd name="adj1" fmla="val 66908"/>
              <a:gd name="adj2" fmla="val 2179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开发经理，测试经理，开发人员，测试人员参与</a:t>
            </a:r>
            <a:endParaRPr lang="en-US" altLang="zh-CN" sz="1400" dirty="0" smtClean="0"/>
          </a:p>
        </p:txBody>
      </p:sp>
      <p:sp>
        <p:nvSpPr>
          <p:cNvPr id="37" name="Rounded Rectangular Callout 36"/>
          <p:cNvSpPr/>
          <p:nvPr/>
        </p:nvSpPr>
        <p:spPr>
          <a:xfrm>
            <a:off x="2714612" y="4929198"/>
            <a:ext cx="1643074" cy="642942"/>
          </a:xfrm>
          <a:prstGeom prst="wedgeRoundRectCallout">
            <a:avLst>
              <a:gd name="adj1" fmla="val -64200"/>
              <a:gd name="adj2" fmla="val 5232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Checklist</a:t>
            </a:r>
            <a:r>
              <a:rPr lang="zh-CN" altLang="en-US" sz="1400" dirty="0" smtClean="0"/>
              <a:t>完成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、验收用例通过</a:t>
            </a:r>
            <a:endParaRPr lang="en-US" altLang="zh-CN" sz="1400" dirty="0" smtClean="0"/>
          </a:p>
        </p:txBody>
      </p:sp>
      <p:sp>
        <p:nvSpPr>
          <p:cNvPr id="38" name="Down Arrow 37"/>
          <p:cNvSpPr/>
          <p:nvPr/>
        </p:nvSpPr>
        <p:spPr>
          <a:xfrm rot="16200000">
            <a:off x="4375192" y="5518208"/>
            <a:ext cx="393616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Rounded Rectangular Callout 38"/>
          <p:cNvSpPr/>
          <p:nvPr/>
        </p:nvSpPr>
        <p:spPr>
          <a:xfrm>
            <a:off x="4929190" y="4929198"/>
            <a:ext cx="1643074" cy="785818"/>
          </a:xfrm>
          <a:prstGeom prst="wedgeRoundRectCallout">
            <a:avLst>
              <a:gd name="adj1" fmla="val 61944"/>
              <a:gd name="adj2" fmla="val 578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验收用例和测试用例，验收用例先开发</a:t>
            </a:r>
            <a:endParaRPr lang="en-US" altLang="zh-CN" sz="1400" dirty="0" smtClean="0"/>
          </a:p>
        </p:txBody>
      </p:sp>
      <p:sp>
        <p:nvSpPr>
          <p:cNvPr id="40" name="Rounded Rectangular Callout 39"/>
          <p:cNvSpPr/>
          <p:nvPr/>
        </p:nvSpPr>
        <p:spPr>
          <a:xfrm>
            <a:off x="4929190" y="6000768"/>
            <a:ext cx="1643074" cy="428628"/>
          </a:xfrm>
          <a:prstGeom prst="wedgeRoundRectCallout">
            <a:avLst>
              <a:gd name="adj1" fmla="val 63428"/>
              <a:gd name="adj2" fmla="val -16974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用例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自动化</a:t>
            </a:r>
            <a:endParaRPr lang="en-US" altLang="zh-CN" sz="1400" dirty="0" smtClean="0"/>
          </a:p>
        </p:txBody>
      </p:sp>
      <p:sp>
        <p:nvSpPr>
          <p:cNvPr id="42" name="Smiley Face 41"/>
          <p:cNvSpPr/>
          <p:nvPr/>
        </p:nvSpPr>
        <p:spPr>
          <a:xfrm>
            <a:off x="7429520" y="1928802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7977</TotalTime>
  <Words>732</Words>
  <Application>Microsoft Office PowerPoint</Application>
  <PresentationFormat>On-screen Show (4:3)</PresentationFormat>
  <Paragraphs>87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SequoiaDB</vt:lpstr>
      <vt:lpstr>2014Q3项目制度流程宣传</vt:lpstr>
      <vt:lpstr>例会制度</vt:lpstr>
      <vt:lpstr>JIRA单流程规范 （http://jira:8080）</vt:lpstr>
      <vt:lpstr>CI流程规范  （http://192.168.20.200:8080）</vt:lpstr>
      <vt:lpstr>Story开发流程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279</cp:revision>
  <dcterms:created xsi:type="dcterms:W3CDTF">2013-11-01T02:43:08Z</dcterms:created>
  <dcterms:modified xsi:type="dcterms:W3CDTF">2014-07-15T05:05:15Z</dcterms:modified>
</cp:coreProperties>
</file>