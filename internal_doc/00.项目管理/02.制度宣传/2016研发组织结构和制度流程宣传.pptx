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8" r:id="rId3"/>
    <p:sldId id="269" r:id="rId4"/>
    <p:sldId id="270" r:id="rId5"/>
    <p:sldId id="271" r:id="rId6"/>
    <p:sldId id="273" r:id="rId7"/>
    <p:sldId id="274" r:id="rId8"/>
    <p:sldId id="276" r:id="rId9"/>
    <p:sldId id="277" r:id="rId10"/>
    <p:sldId id="279" r:id="rId11"/>
    <p:sldId id="284" r:id="rId12"/>
    <p:sldId id="280" r:id="rId13"/>
    <p:sldId id="281" r:id="rId14"/>
    <p:sldId id="282" r:id="rId15"/>
    <p:sldId id="283" r:id="rId16"/>
    <p:sldId id="286" r:id="rId17"/>
    <p:sldId id="285" r:id="rId18"/>
    <p:sldId id="275" r:id="rId19"/>
    <p:sldId id="267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66"/>
    <a:srgbClr val="3399FF"/>
    <a:srgbClr val="00FF99"/>
    <a:srgbClr val="13C0D7"/>
    <a:srgbClr val="E161FF"/>
    <a:srgbClr val="C0BD2D"/>
    <a:srgbClr val="3DAD78"/>
    <a:srgbClr val="0066FF"/>
    <a:srgbClr val="993366"/>
    <a:srgbClr val="CC00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87" autoAdjust="0"/>
    <p:restoredTop sz="93208" autoAdjust="0"/>
  </p:normalViewPr>
  <p:slideViewPr>
    <p:cSldViewPr>
      <p:cViewPr varScale="1">
        <p:scale>
          <a:sx n="120" d="100"/>
          <a:sy n="120" d="100"/>
        </p:scale>
        <p:origin x="-13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-3666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2289E-693E-47B8-BB40-77D4C037E413}" type="datetimeFigureOut">
              <a:rPr lang="zh-CN" altLang="en-US" smtClean="0"/>
              <a:pPr/>
              <a:t>2018/10/9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B6241-DC1B-43F4-AED7-BA4CFE33295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E46FB-0C22-4315-8E08-4C5C8B3D1168}" type="datetimeFigureOut">
              <a:rPr lang="zh-CN" altLang="en-US" smtClean="0"/>
              <a:pPr/>
              <a:t>2018/10/9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D305-2F38-4124-B22A-2A7AC7C037B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pmr.sequoiadb.com/8090" TargetMode="External"/><Relationship Id="rId7" Type="http://schemas.openxmlformats.org/officeDocument/2006/relationships/hyperlink" Target="http://192.168.20.11/sequoiadb/trunk" TargetMode="External"/><Relationship Id="rId2" Type="http://schemas.openxmlformats.org/officeDocument/2006/relationships/hyperlink" Target="http://pmr.sequoiadb.com/818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192.168.30.185:8080/" TargetMode="External"/><Relationship Id="rId5" Type="http://schemas.openxmlformats.org/officeDocument/2006/relationships/hyperlink" Target="http://192.168.10.249:8080/" TargetMode="External"/><Relationship Id="rId4" Type="http://schemas.openxmlformats.org/officeDocument/2006/relationships/hyperlink" Target="http://jira:8080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2016</a:t>
            </a:r>
            <a:r>
              <a:rPr lang="zh-CN" altLang="en-US" dirty="0" smtClean="0"/>
              <a:t>研发组织结构和制度流程宣传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按规范做事，一次把事情做对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研发组织结构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857620" y="2928140"/>
            <a:ext cx="1643074" cy="357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研发管理部</a:t>
            </a:r>
            <a:endParaRPr lang="zh-CN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571604" y="3928272"/>
            <a:ext cx="1643074" cy="357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开发部</a:t>
            </a:r>
            <a:endParaRPr lang="zh-CN" alt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000760" y="3928272"/>
            <a:ext cx="1643074" cy="357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测试部</a:t>
            </a:r>
            <a:endParaRPr lang="zh-CN" alt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000100" y="4856172"/>
            <a:ext cx="428628" cy="16438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chemeClr val="tx1"/>
                </a:solidFill>
              </a:rPr>
              <a:t>DB</a:t>
            </a:r>
            <a:r>
              <a:rPr lang="zh-CN" altLang="en-US" sz="1500" dirty="0" smtClean="0">
                <a:solidFill>
                  <a:schemeClr val="tx1"/>
                </a:solidFill>
              </a:rPr>
              <a:t>开发团队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785918" y="4856172"/>
            <a:ext cx="428628" cy="16438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chemeClr val="tx1"/>
                </a:solidFill>
              </a:rPr>
              <a:t>SQL</a:t>
            </a:r>
            <a:r>
              <a:rPr lang="zh-CN" altLang="en-US" sz="1500" dirty="0" smtClean="0">
                <a:solidFill>
                  <a:schemeClr val="tx1"/>
                </a:solidFill>
              </a:rPr>
              <a:t>开发团队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71736" y="4856172"/>
            <a:ext cx="428628" cy="16438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chemeClr val="tx1"/>
                </a:solidFill>
              </a:rPr>
              <a:t>维护支撑团队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57554" y="4856172"/>
            <a:ext cx="428628" cy="164386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chemeClr val="tx1"/>
                </a:solidFill>
              </a:rPr>
              <a:t>资料负责人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4" name="Left Brace 13"/>
          <p:cNvSpPr/>
          <p:nvPr/>
        </p:nvSpPr>
        <p:spPr>
          <a:xfrm rot="5400000">
            <a:off x="4393405" y="1320785"/>
            <a:ext cx="500066" cy="4572032"/>
          </a:xfrm>
          <a:prstGeom prst="leftBrace">
            <a:avLst>
              <a:gd name="adj1" fmla="val 8333"/>
              <a:gd name="adj2" fmla="val 50348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1214414" y="4570420"/>
            <a:ext cx="2357454" cy="7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2214546" y="4427544"/>
            <a:ext cx="285752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 flipH="1" flipV="1">
            <a:off x="1070744" y="4712502"/>
            <a:ext cx="285752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 flipH="1" flipV="1">
            <a:off x="1856561" y="4712502"/>
            <a:ext cx="285752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 flipH="1" flipV="1">
            <a:off x="2643968" y="4712502"/>
            <a:ext cx="285752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 flipH="1" flipV="1">
            <a:off x="3428198" y="4712502"/>
            <a:ext cx="285752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786446" y="4856966"/>
            <a:ext cx="428628" cy="164386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dirty="0" smtClean="0">
                <a:solidFill>
                  <a:schemeClr val="tx1"/>
                </a:solidFill>
              </a:rPr>
              <a:t>CI</a:t>
            </a:r>
            <a:r>
              <a:rPr lang="zh-CN" altLang="en-US" sz="1500" dirty="0" smtClean="0">
                <a:solidFill>
                  <a:schemeClr val="tx1"/>
                </a:solidFill>
              </a:rPr>
              <a:t>负责人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358082" y="4856966"/>
            <a:ext cx="428628" cy="16438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chemeClr val="tx1"/>
                </a:solidFill>
              </a:rPr>
              <a:t>产品测试团队</a:t>
            </a:r>
            <a:endParaRPr lang="zh-CN" altLang="en-US" sz="15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6000760" y="4572008"/>
            <a:ext cx="1571636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5400000" flipH="1" flipV="1">
            <a:off x="6643702" y="4427544"/>
            <a:ext cx="285752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 flipH="1" flipV="1">
            <a:off x="5857090" y="4713296"/>
            <a:ext cx="285752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 flipH="1" flipV="1">
            <a:off x="7430314" y="4713296"/>
            <a:ext cx="285752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143504" y="2357430"/>
            <a:ext cx="1643074" cy="357190"/>
          </a:xfrm>
          <a:prstGeom prst="roundRect">
            <a:avLst/>
          </a:prstGeom>
          <a:solidFill>
            <a:srgbClr val="33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产品经理</a:t>
            </a:r>
            <a:endParaRPr lang="zh-CN" altLang="en-US" dirty="0"/>
          </a:p>
        </p:txBody>
      </p:sp>
      <p:cxnSp>
        <p:nvCxnSpPr>
          <p:cNvPr id="40" name="Straight Connector 39"/>
          <p:cNvCxnSpPr/>
          <p:nvPr/>
        </p:nvCxnSpPr>
        <p:spPr>
          <a:xfrm rot="5400000" flipH="1" flipV="1">
            <a:off x="4249735" y="2535231"/>
            <a:ext cx="785818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86578" y="2357430"/>
            <a:ext cx="1071570" cy="35719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王涛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500694" y="2928934"/>
            <a:ext cx="1571636" cy="35719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许建辉、李建华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214678" y="3929066"/>
            <a:ext cx="1071570" cy="35719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许建辉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643834" y="3929066"/>
            <a:ext cx="1071570" cy="35719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李建华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857620" y="1785926"/>
            <a:ext cx="1643074" cy="357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总裁办</a:t>
            </a:r>
            <a:endParaRPr lang="zh-CN" altLang="en-US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4643438" y="2570156"/>
            <a:ext cx="500066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500694" y="1785926"/>
            <a:ext cx="1571636" cy="35719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唐迅、王涛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研发人员分组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785926"/>
          <a:ext cx="8229599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404"/>
                <a:gridCol w="1571636"/>
                <a:gridCol w="2714644"/>
                <a:gridCol w="282891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部门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团队或角色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人员</a:t>
                      </a:r>
                      <a:r>
                        <a:rPr lang="zh-CN" altLang="en-US" sz="1200" dirty="0" smtClean="0"/>
                        <a:t>（标红为小团队技术负责人）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职责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rowSpan="5">
                  <a:txBody>
                    <a:bodyPr/>
                    <a:lstStyle/>
                    <a:p>
                      <a:r>
                        <a:rPr lang="zh-CN" altLang="en-US" sz="1400" dirty="0" smtClean="0"/>
                        <a:t>开发部</a:t>
                      </a:r>
                      <a:r>
                        <a:rPr lang="en-US" altLang="zh-CN" sz="1400" dirty="0" smtClean="0"/>
                        <a:t>(9/13)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</a:t>
                      </a:r>
                      <a:r>
                        <a:rPr lang="zh-CN" altLang="en-US" sz="1400" dirty="0" smtClean="0"/>
                        <a:t>开发团队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 smtClean="0">
                          <a:solidFill>
                            <a:srgbClr val="C00000"/>
                          </a:solidFill>
                        </a:rPr>
                        <a:t>杨上德</a:t>
                      </a:r>
                      <a:r>
                        <a:rPr lang="zh-CN" altLang="en-US" sz="1400" dirty="0" smtClean="0"/>
                        <a:t>、吴易达、刘圳、谭钊波、何嘉文、黄伟纲、待补</a:t>
                      </a:r>
                      <a:r>
                        <a:rPr lang="en-US" altLang="zh-CN" sz="1400" dirty="0" smtClean="0"/>
                        <a:t>A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SequoiaDB &amp; OM</a:t>
                      </a:r>
                      <a:r>
                        <a:rPr lang="zh-CN" altLang="en-US" sz="1400" dirty="0" smtClean="0"/>
                        <a:t>新功能开发，性能优化，模块重构和问题解决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SQL</a:t>
                      </a:r>
                      <a:r>
                        <a:rPr lang="zh-CN" altLang="en-US" sz="1400" dirty="0" smtClean="0"/>
                        <a:t>开发团队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 smtClean="0">
                          <a:solidFill>
                            <a:srgbClr val="C00000"/>
                          </a:solidFill>
                        </a:rPr>
                        <a:t>林友滨</a:t>
                      </a:r>
                      <a:r>
                        <a:rPr lang="zh-CN" altLang="en-US" sz="1400" dirty="0" smtClean="0"/>
                        <a:t>、李伟超</a:t>
                      </a:r>
                      <a:r>
                        <a:rPr lang="en-US" altLang="zh-CN" sz="1400" dirty="0" smtClean="0"/>
                        <a:t>(0.5)</a:t>
                      </a:r>
                      <a:r>
                        <a:rPr lang="zh-CN" altLang="en-US" sz="1400" dirty="0" smtClean="0"/>
                        <a:t>、武赟</a:t>
                      </a:r>
                      <a:r>
                        <a:rPr lang="en-US" altLang="zh-CN" sz="1400" dirty="0" smtClean="0"/>
                        <a:t>(0.5)</a:t>
                      </a:r>
                      <a:r>
                        <a:rPr lang="zh-CN" altLang="en-US" sz="1400" dirty="0" smtClean="0"/>
                        <a:t>、陈楚材，待补</a:t>
                      </a:r>
                      <a:r>
                        <a:rPr lang="en-US" altLang="zh-CN" sz="1400" dirty="0" smtClean="0"/>
                        <a:t>B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SequoiaSQL</a:t>
                      </a:r>
                      <a:r>
                        <a:rPr lang="zh-CN" altLang="en-US" sz="1400" dirty="0" smtClean="0"/>
                        <a:t>（</a:t>
                      </a:r>
                      <a:r>
                        <a:rPr lang="en-US" altLang="zh-CN" sz="1400" dirty="0" smtClean="0"/>
                        <a:t>Base PG &amp; Base Hawq</a:t>
                      </a:r>
                      <a:r>
                        <a:rPr lang="zh-CN" altLang="en-US" sz="1400" dirty="0" smtClean="0"/>
                        <a:t>）功能开发，性能优化和问题解决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维护支撑团队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 smtClean="0">
                          <a:solidFill>
                            <a:srgbClr val="C00000"/>
                          </a:solidFill>
                        </a:rPr>
                        <a:t>李伟超</a:t>
                      </a:r>
                      <a:r>
                        <a:rPr lang="en-US" altLang="zh-CN" sz="1400" dirty="0" smtClean="0"/>
                        <a:t>(0.5)</a:t>
                      </a:r>
                      <a:r>
                        <a:rPr lang="zh-CN" altLang="en-US" sz="1400" dirty="0" smtClean="0"/>
                        <a:t>，待补</a:t>
                      </a:r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支持线上客户、实施团队的问题定位和技术咨询，并将问题交付开发团队修改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接口</a:t>
                      </a:r>
                      <a:r>
                        <a:rPr lang="en-US" altLang="zh-CN" sz="1400" dirty="0" smtClean="0"/>
                        <a:t>&amp;</a:t>
                      </a:r>
                      <a:r>
                        <a:rPr lang="zh-CN" altLang="en-US" sz="1400" dirty="0" smtClean="0"/>
                        <a:t>资料负责人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刘圳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资料体系的设计、规范和流程制订，审核提交资料和接口有效性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版本负责人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许建辉、吴易达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规划版本需求、制订版本计划和流程，并按时交付版本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r>
                        <a:rPr lang="zh-CN" altLang="en-US" sz="1400" dirty="0" smtClean="0"/>
                        <a:t>测试部</a:t>
                      </a:r>
                      <a:r>
                        <a:rPr lang="en-US" altLang="zh-CN" sz="1400" dirty="0" smtClean="0"/>
                        <a:t>(7/9)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产品测试团队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 smtClean="0">
                          <a:solidFill>
                            <a:srgbClr val="C00000"/>
                          </a:solidFill>
                        </a:rPr>
                        <a:t>吴艳</a:t>
                      </a:r>
                      <a:r>
                        <a:rPr lang="zh-CN" altLang="en-US" sz="1400" dirty="0" smtClean="0"/>
                        <a:t>、黄晓妮、邓强中、李</a:t>
                      </a:r>
                      <a:r>
                        <a:rPr lang="zh-CN" altLang="en-US" sz="1400" smtClean="0"/>
                        <a:t>春浩、待补</a:t>
                      </a:r>
                      <a:r>
                        <a:rPr lang="en-US" altLang="zh-CN" sz="1400" smtClean="0"/>
                        <a:t>D</a:t>
                      </a:r>
                      <a:r>
                        <a:rPr lang="zh-CN" altLang="en-US" sz="1400" smtClean="0"/>
                        <a:t>，待补</a:t>
                      </a:r>
                      <a:r>
                        <a:rPr lang="en-US" altLang="zh-CN" sz="1400" smtClean="0"/>
                        <a:t>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产品功能测试、可靠性测试、易用性测试、</a:t>
                      </a:r>
                      <a:r>
                        <a:rPr lang="en-US" altLang="zh-CN" sz="1400" dirty="0" smtClean="0"/>
                        <a:t>OM</a:t>
                      </a:r>
                      <a:r>
                        <a:rPr lang="zh-CN" altLang="en-US" sz="1400" dirty="0" smtClean="0"/>
                        <a:t>和资料测试等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CI</a:t>
                      </a:r>
                      <a:r>
                        <a:rPr lang="zh-CN" altLang="en-US" sz="1400" dirty="0" smtClean="0"/>
                        <a:t>负责人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余婷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CI</a:t>
                      </a:r>
                      <a:r>
                        <a:rPr lang="zh-CN" altLang="en-US" sz="1400" dirty="0" smtClean="0"/>
                        <a:t>工程制定、优化和维护；</a:t>
                      </a:r>
                      <a:r>
                        <a:rPr lang="en-US" altLang="zh-CN" sz="1400" dirty="0" smtClean="0"/>
                        <a:t>CI</a:t>
                      </a:r>
                      <a:r>
                        <a:rPr lang="zh-CN" altLang="en-US" sz="1400" dirty="0" smtClean="0"/>
                        <a:t>流程制订和监控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性能负责人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王文净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版本性能测试构建；性能对比测试构建；</a:t>
                      </a:r>
                      <a:r>
                        <a:rPr lang="en-US" altLang="zh-CN" sz="1400" dirty="0" smtClean="0"/>
                        <a:t>POC</a:t>
                      </a:r>
                      <a:r>
                        <a:rPr lang="zh-CN" altLang="en-US" sz="1400" dirty="0" smtClean="0"/>
                        <a:t>性能测试支撑；性能分析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外部问题分类</a:t>
            </a:r>
            <a:endParaRPr lang="zh-CN" alt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857364"/>
          <a:ext cx="8229600" cy="435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594"/>
                <a:gridCol w="3643338"/>
                <a:gridCol w="1500198"/>
                <a:gridCol w="161447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问题分类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描述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复杂级别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技术级别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数据可靠性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数据</a:t>
                      </a:r>
                      <a:r>
                        <a:rPr lang="en-US" altLang="zh-CN" sz="1400" dirty="0" smtClean="0"/>
                        <a:t>/</a:t>
                      </a:r>
                      <a:r>
                        <a:rPr lang="zh-CN" altLang="en-US" sz="1400" dirty="0" smtClean="0"/>
                        <a:t>日志丢失、不一致、损坏，全量同步，无法提供数据业务等业务数据类相关故障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一级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节点可靠性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进程异常，无法启动，节点资源泄漏或占用率高，心跳异常，消息路由分发异常等影响节点正常运行的故障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一级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读写缓慢，延时高或抖动，资源利率用低，</a:t>
                      </a:r>
                      <a:r>
                        <a:rPr lang="en-US" altLang="zh-CN" sz="1400" dirty="0" smtClean="0"/>
                        <a:t>IO</a:t>
                      </a:r>
                      <a:r>
                        <a:rPr lang="zh-CN" altLang="en-US" sz="1400" dirty="0" smtClean="0"/>
                        <a:t>高，访问计划不合理等影响</a:t>
                      </a:r>
                      <a:r>
                        <a:rPr lang="en-US" altLang="zh-CN" sz="1400" dirty="0" smtClean="0"/>
                        <a:t>IOPS</a:t>
                      </a:r>
                      <a:r>
                        <a:rPr lang="zh-CN" altLang="en-US" sz="1400" dirty="0" smtClean="0"/>
                        <a:t>、</a:t>
                      </a:r>
                      <a:r>
                        <a:rPr lang="en-US" altLang="zh-CN" sz="1400" dirty="0" smtClean="0"/>
                        <a:t>MBPS</a:t>
                      </a:r>
                      <a:r>
                        <a:rPr lang="zh-CN" altLang="en-US" sz="1400" dirty="0" smtClean="0"/>
                        <a:t>或时延相关的问题及方案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二级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功能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功能的正常和异常分支缺陷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二级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可维护性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日志、快照、跟踪、调试等用于查看系统运行时状态（正常和异常）相关的方案及问题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三级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易用性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用户使用相关的资料、接口、</a:t>
                      </a:r>
                      <a:r>
                        <a:rPr lang="en-US" altLang="zh-CN" sz="1400" dirty="0" smtClean="0"/>
                        <a:t>UI</a:t>
                      </a:r>
                      <a:r>
                        <a:rPr lang="zh-CN" altLang="en-US" sz="1400" dirty="0" smtClean="0"/>
                        <a:t>等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中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三级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产品咨询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对产品功能需求及使用相关的资询和操作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接口人</a:t>
                      </a:r>
                      <a:endParaRPr lang="zh-CN" altLang="en-US" sz="1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其它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上述之外的其它问题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/>
                        <a:t>三级</a:t>
                      </a:r>
                      <a:endParaRPr lang="zh-CN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研发人员矩阵</a:t>
            </a:r>
            <a:endParaRPr lang="zh-CN" alt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457200" y="1714488"/>
          <a:ext cx="8229600" cy="47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214"/>
                <a:gridCol w="2357454"/>
                <a:gridCol w="857256"/>
                <a:gridCol w="214314"/>
                <a:gridCol w="714380"/>
                <a:gridCol w="2500330"/>
                <a:gridCol w="82865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人员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负责模块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技术级别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人员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负责模块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技术级别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许建辉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系统架构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一级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李建华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一级</a:t>
                      </a:r>
                      <a:endParaRPr lang="zh-CN" altLang="en-US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林友滨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smtClean="0"/>
                        <a:t>MTH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AGGR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OPT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QGM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SQL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PG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OM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二级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吴艳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杨上德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smtClean="0"/>
                        <a:t>DMS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IXM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DPS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MTH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NET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二级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黄晓妮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李伟超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smtClean="0"/>
                        <a:t>CAT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COORD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CLS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SSQL-Hawq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二级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王文净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吴易达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smtClean="0"/>
                        <a:t>DMS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CAT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CLS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RTN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二级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邓强中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刘圳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smtClean="0"/>
                        <a:t>AUTH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BAR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COORD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RTN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FAP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Python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三级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李春浩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谭钊波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smtClean="0"/>
                        <a:t>SDB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SPT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SPD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PD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MON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OMA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C#/Java/C/C++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三级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余婷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何嘉文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smtClean="0"/>
                        <a:t>MIG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WEB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OM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BSON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PHP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GO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三级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黄伟纲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smtClean="0"/>
                        <a:t>WEB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Perl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NodeJS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三级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陈楚材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smtClean="0"/>
                        <a:t>TOOL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PG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b="0" dirty="0" smtClean="0"/>
                        <a:t>武赟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 smtClean="0"/>
                        <a:t>CLS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QGM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OPT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SSQL</a:t>
                      </a:r>
                      <a:r>
                        <a:rPr lang="zh-CN" altLang="en-US" sz="1200" b="0" dirty="0" smtClean="0"/>
                        <a:t>、</a:t>
                      </a:r>
                      <a:r>
                        <a:rPr lang="en-US" altLang="zh-CN" sz="1200" b="0" dirty="0" smtClean="0"/>
                        <a:t>NET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 smtClean="0"/>
                        <a:t>一级</a:t>
                      </a:r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外部问题处理机制</a:t>
            </a:r>
            <a:endParaRPr lang="zh-CN" alt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571472" y="2000240"/>
            <a:ext cx="4293546" cy="4071966"/>
            <a:chOff x="571472" y="2000240"/>
            <a:chExt cx="4293546" cy="4071966"/>
          </a:xfrm>
        </p:grpSpPr>
        <p:sp>
          <p:nvSpPr>
            <p:cNvPr id="4" name="Rounded Rectangle 3"/>
            <p:cNvSpPr/>
            <p:nvPr/>
          </p:nvSpPr>
          <p:spPr>
            <a:xfrm>
              <a:off x="571472" y="2000240"/>
              <a:ext cx="3722041" cy="642942"/>
            </a:xfrm>
            <a:prstGeom prst="round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客户、销前问题</a:t>
              </a:r>
              <a:endParaRPr lang="zh-CN" altLang="en-US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71472" y="3143248"/>
              <a:ext cx="3722041" cy="642942"/>
            </a:xfrm>
            <a:prstGeom prst="round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接口人</a:t>
              </a:r>
              <a:endParaRPr lang="zh-CN" altLang="en-US" dirty="0"/>
            </a:p>
          </p:txBody>
        </p:sp>
        <p:sp>
          <p:nvSpPr>
            <p:cNvPr id="9" name="Up-Down Arrow 8"/>
            <p:cNvSpPr/>
            <p:nvPr/>
          </p:nvSpPr>
          <p:spPr>
            <a:xfrm>
              <a:off x="2293250" y="2714620"/>
              <a:ext cx="214314" cy="357190"/>
            </a:xfrm>
            <a:prstGeom prst="upDownArrow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78738" y="4286256"/>
              <a:ext cx="3786214" cy="642942"/>
            </a:xfrm>
            <a:prstGeom prst="round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对应技术级别和模块人员</a:t>
              </a:r>
              <a:endParaRPr lang="zh-CN" altLang="en-US" dirty="0"/>
            </a:p>
          </p:txBody>
        </p:sp>
        <p:sp>
          <p:nvSpPr>
            <p:cNvPr id="11" name="Up-Down Arrow 10"/>
            <p:cNvSpPr/>
            <p:nvPr/>
          </p:nvSpPr>
          <p:spPr>
            <a:xfrm>
              <a:off x="2293250" y="3857628"/>
              <a:ext cx="214314" cy="357190"/>
            </a:xfrm>
            <a:prstGeom prst="upDownArrow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78738" y="5429264"/>
              <a:ext cx="3786214" cy="642942"/>
            </a:xfrm>
            <a:prstGeom prst="round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上级</a:t>
              </a:r>
              <a:r>
                <a:rPr lang="en-US" altLang="zh-CN" dirty="0" smtClean="0"/>
                <a:t>/</a:t>
              </a:r>
              <a:r>
                <a:rPr lang="zh-CN" altLang="en-US" dirty="0" smtClean="0"/>
                <a:t>下级技术级别和模块人员</a:t>
              </a:r>
              <a:endParaRPr lang="zh-CN" altLang="en-US" dirty="0"/>
            </a:p>
          </p:txBody>
        </p:sp>
        <p:sp>
          <p:nvSpPr>
            <p:cNvPr id="14" name="Up-Down Arrow 13"/>
            <p:cNvSpPr/>
            <p:nvPr/>
          </p:nvSpPr>
          <p:spPr>
            <a:xfrm>
              <a:off x="2293250" y="5000636"/>
              <a:ext cx="214314" cy="357190"/>
            </a:xfrm>
            <a:prstGeom prst="upDownArrow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07564" y="5000636"/>
              <a:ext cx="11865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smtClean="0"/>
                <a:t>3</a:t>
              </a:r>
              <a:r>
                <a:rPr lang="zh-CN" altLang="en-US" sz="1200" dirty="0" smtClean="0"/>
                <a:t>、问题升降级</a:t>
              </a:r>
              <a:endParaRPr lang="zh-CN" altLang="en-US" sz="12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07564" y="2723373"/>
              <a:ext cx="14287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1</a:t>
              </a:r>
              <a:r>
                <a:rPr lang="zh-CN" altLang="en-US" sz="1200" dirty="0" smtClean="0"/>
                <a:t>、提交</a:t>
              </a:r>
              <a:r>
                <a:rPr lang="en-US" altLang="zh-CN" sz="1200" dirty="0" smtClean="0"/>
                <a:t>PMR</a:t>
              </a:r>
              <a:endParaRPr lang="zh-CN" altLang="en-US" sz="12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07564" y="3866381"/>
              <a:ext cx="23574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/>
                <a:t>2</a:t>
              </a:r>
              <a:r>
                <a:rPr lang="zh-CN" altLang="en-US" sz="1200" dirty="0" smtClean="0"/>
                <a:t>、创建</a:t>
              </a:r>
              <a:r>
                <a:rPr lang="en-US" altLang="zh-CN" sz="1200" dirty="0" smtClean="0"/>
                <a:t>JIRA</a:t>
              </a:r>
              <a:r>
                <a:rPr lang="zh-CN" altLang="en-US" sz="1200" dirty="0" smtClean="0"/>
                <a:t>，问题分类分发</a:t>
              </a:r>
              <a:endParaRPr lang="zh-CN" altLang="en-US" sz="1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572000" y="2000240"/>
            <a:ext cx="428628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流程要求：</a:t>
            </a:r>
            <a:endParaRPr lang="en-US" altLang="zh-CN" dirty="0" smtClean="0"/>
          </a:p>
          <a:p>
            <a:pPr>
              <a:buFont typeface="Wingdings" pitchFamily="2" charset="2"/>
              <a:buChar char="ü"/>
            </a:pPr>
            <a:r>
              <a:rPr lang="en-US" altLang="zh-CN" sz="1400" dirty="0" smtClean="0"/>
              <a:t>   </a:t>
            </a:r>
            <a:r>
              <a:rPr lang="zh-CN" altLang="en-US" sz="1400" dirty="0" smtClean="0"/>
              <a:t>外部问题必须通过</a:t>
            </a:r>
            <a:r>
              <a:rPr lang="en-US" altLang="zh-CN" sz="1400" dirty="0" smtClean="0"/>
              <a:t>PMR</a:t>
            </a:r>
            <a:r>
              <a:rPr lang="zh-CN" altLang="en-US" sz="1400" dirty="0" smtClean="0"/>
              <a:t>提交或后续由接口人补充提交</a:t>
            </a:r>
            <a:endParaRPr lang="en-US" altLang="zh-CN" sz="1400" dirty="0" smtClean="0"/>
          </a:p>
          <a:p>
            <a:pPr>
              <a:buFont typeface="Wingdings" pitchFamily="2" charset="2"/>
              <a:buChar char="ü"/>
            </a:pPr>
            <a:r>
              <a:rPr lang="en-US" altLang="zh-CN" sz="1400" dirty="0" smtClean="0"/>
              <a:t>    </a:t>
            </a:r>
            <a:r>
              <a:rPr lang="zh-CN" altLang="en-US" sz="1400" dirty="0" smtClean="0"/>
              <a:t>接口人需要对该问题创建内部</a:t>
            </a:r>
            <a:r>
              <a:rPr lang="en-US" altLang="zh-CN" sz="1400" dirty="0" smtClean="0"/>
              <a:t>JIRA</a:t>
            </a:r>
            <a:r>
              <a:rPr lang="zh-CN" altLang="en-US" sz="1400" dirty="0" smtClean="0"/>
              <a:t>单，并根据问题分类、模块和级别协调人力（争议时由开发部经理协调）</a:t>
            </a:r>
            <a:endParaRPr lang="en-US" altLang="zh-CN" sz="1400" dirty="0" smtClean="0"/>
          </a:p>
          <a:p>
            <a:pPr>
              <a:buFont typeface="Wingdings" pitchFamily="2" charset="2"/>
              <a:buChar char="ü"/>
            </a:pPr>
            <a:r>
              <a:rPr lang="en-US" altLang="zh-CN" sz="1400" dirty="0" smtClean="0"/>
              <a:t>    </a:t>
            </a:r>
            <a:r>
              <a:rPr lang="zh-CN" altLang="en-US" sz="1400" dirty="0" smtClean="0"/>
              <a:t>开发人员对问题进行处理，在如下原因时可以申请升级：</a:t>
            </a:r>
            <a:endParaRPr lang="en-US" altLang="zh-CN" sz="1400" dirty="0" smtClean="0"/>
          </a:p>
          <a:p>
            <a:pPr lvl="1">
              <a:buFont typeface="Wingdings" pitchFamily="2" charset="2"/>
              <a:buChar char="ü"/>
            </a:pPr>
            <a:r>
              <a:rPr lang="en-US" altLang="zh-CN" sz="1400" dirty="0" smtClean="0"/>
              <a:t>  </a:t>
            </a:r>
            <a:r>
              <a:rPr lang="zh-CN" altLang="en-US" sz="1200" dirty="0" smtClean="0"/>
              <a:t>问题时间紧急，投入一定时间后无任何思路</a:t>
            </a:r>
            <a:endParaRPr lang="en-US" altLang="zh-CN" sz="1200" dirty="0" smtClean="0"/>
          </a:p>
          <a:p>
            <a:pPr lvl="1">
              <a:buFont typeface="Wingdings" pitchFamily="2" charset="2"/>
              <a:buChar char="ü"/>
            </a:pPr>
            <a:r>
              <a:rPr lang="en-US" altLang="zh-CN" sz="1200" dirty="0" smtClean="0"/>
              <a:t>   </a:t>
            </a:r>
            <a:r>
              <a:rPr lang="zh-CN" altLang="en-US" sz="1200" dirty="0" smtClean="0"/>
              <a:t>问题难度太大，经过多方讨论后仍无法解决</a:t>
            </a:r>
            <a:endParaRPr lang="en-US" altLang="zh-CN" sz="1200" dirty="0" smtClean="0"/>
          </a:p>
          <a:p>
            <a:r>
              <a:rPr lang="zh-CN" altLang="en-US" sz="1400" dirty="0" smtClean="0"/>
              <a:t>如下原因时可以申请降级：</a:t>
            </a:r>
            <a:endParaRPr lang="en-US" altLang="zh-CN" sz="1400" dirty="0" smtClean="0"/>
          </a:p>
          <a:p>
            <a:pPr lvl="1">
              <a:buFont typeface="Wingdings" pitchFamily="2" charset="2"/>
              <a:buChar char="ü"/>
            </a:pPr>
            <a:r>
              <a:rPr lang="en-US" altLang="zh-CN" sz="1200" dirty="0" smtClean="0"/>
              <a:t>  </a:t>
            </a:r>
            <a:r>
              <a:rPr lang="zh-CN" altLang="en-US" sz="1200" dirty="0" smtClean="0"/>
              <a:t>当前其它任务处理紧急，并且能给出清淅问题指导思路</a:t>
            </a:r>
            <a:endParaRPr lang="en-US" altLang="zh-CN" sz="1200" dirty="0" smtClean="0"/>
          </a:p>
          <a:p>
            <a:pPr lvl="1">
              <a:buFont typeface="Wingdings" pitchFamily="2" charset="2"/>
              <a:buChar char="ü"/>
            </a:pPr>
            <a:r>
              <a:rPr lang="en-US" altLang="zh-CN" sz="1200" dirty="0" smtClean="0"/>
              <a:t>   </a:t>
            </a:r>
            <a:r>
              <a:rPr lang="zh-CN" altLang="en-US" sz="1200" dirty="0" smtClean="0"/>
              <a:t>评估当前问题级别难度偏低</a:t>
            </a:r>
            <a:endParaRPr lang="en-US" altLang="zh-CN" sz="1200" dirty="0" smtClean="0"/>
          </a:p>
          <a:p>
            <a:endParaRPr lang="en-US" altLang="zh-CN" sz="1400" dirty="0" smtClean="0"/>
          </a:p>
          <a:p>
            <a:r>
              <a:rPr lang="zh-CN" altLang="en-US" sz="1400" dirty="0" smtClean="0"/>
              <a:t>注意：</a:t>
            </a:r>
            <a:endParaRPr lang="en-US" altLang="zh-CN" sz="14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1400" dirty="0" smtClean="0"/>
              <a:t>   对升级降级出现争议时，由开发部经理协调</a:t>
            </a:r>
            <a:endParaRPr lang="en-US" altLang="zh-CN" sz="14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1400" dirty="0" smtClean="0"/>
              <a:t>   </a:t>
            </a:r>
            <a:r>
              <a:rPr lang="zh-CN" altLang="en-US" sz="1400" dirty="0" smtClean="0"/>
              <a:t>解决问题</a:t>
            </a:r>
            <a:r>
              <a:rPr lang="en-US" altLang="zh-CN" sz="1400" dirty="0" smtClean="0"/>
              <a:t>3</a:t>
            </a:r>
            <a:r>
              <a:rPr lang="zh-CN" altLang="en-US" sz="1400" dirty="0" smtClean="0"/>
              <a:t>天无进展时，必须发起“</a:t>
            </a:r>
            <a:r>
              <a:rPr lang="zh-CN" altLang="en-US" sz="1400" b="1" dirty="0" smtClean="0">
                <a:solidFill>
                  <a:schemeClr val="accent1"/>
                </a:solidFill>
              </a:rPr>
              <a:t>问题讨论会</a:t>
            </a:r>
            <a:r>
              <a:rPr lang="zh-CN" altLang="en-US" sz="1400" dirty="0" smtClean="0"/>
              <a:t>”，与上级、本级开发人员共同讨论问题进展及思路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内部问题处理机制</a:t>
            </a:r>
            <a:endParaRPr lang="zh-CN" altLang="en-US" dirty="0"/>
          </a:p>
        </p:txBody>
      </p:sp>
      <p:sp>
        <p:nvSpPr>
          <p:cNvPr id="4" name="Smiley Face 3"/>
          <p:cNvSpPr/>
          <p:nvPr/>
        </p:nvSpPr>
        <p:spPr>
          <a:xfrm>
            <a:off x="1357290" y="1928802"/>
            <a:ext cx="322178" cy="357190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14282" y="19288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测试人员</a:t>
            </a:r>
            <a:endParaRPr lang="zh-CN" altLang="en-US" dirty="0"/>
          </a:p>
        </p:txBody>
      </p:sp>
      <p:sp>
        <p:nvSpPr>
          <p:cNvPr id="6" name="Smiley Face 5"/>
          <p:cNvSpPr/>
          <p:nvPr/>
        </p:nvSpPr>
        <p:spPr>
          <a:xfrm>
            <a:off x="1893782" y="1928802"/>
            <a:ext cx="322178" cy="357190"/>
          </a:xfrm>
          <a:prstGeom prst="smileyFac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250972" y="19288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开发人员</a:t>
            </a:r>
            <a:endParaRPr lang="zh-CN" alt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14348" y="2714620"/>
            <a:ext cx="2143140" cy="42862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提交</a:t>
            </a:r>
            <a:r>
              <a:rPr lang="en-US" altLang="zh-CN" dirty="0" smtClean="0"/>
              <a:t>JIRA</a:t>
            </a:r>
            <a:r>
              <a:rPr lang="zh-CN" altLang="en-US" dirty="0" smtClean="0"/>
              <a:t>单</a:t>
            </a:r>
            <a:endParaRPr lang="zh-CN" alt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714348" y="6143644"/>
            <a:ext cx="2143140" cy="42862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开发人员定位问题</a:t>
            </a:r>
            <a:endParaRPr lang="zh-CN" altLang="en-US" dirty="0"/>
          </a:p>
        </p:txBody>
      </p:sp>
      <p:sp>
        <p:nvSpPr>
          <p:cNvPr id="17" name="Down Arrow 16"/>
          <p:cNvSpPr/>
          <p:nvPr/>
        </p:nvSpPr>
        <p:spPr>
          <a:xfrm>
            <a:off x="1571604" y="2285992"/>
            <a:ext cx="428628" cy="357190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3000364" y="2714620"/>
            <a:ext cx="2071702" cy="285752"/>
          </a:xfrm>
          <a:prstGeom prst="wedgeRoundRectCallout">
            <a:avLst>
              <a:gd name="adj1" fmla="val -55662"/>
              <a:gd name="adj2" fmla="val 1096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 smtClean="0"/>
              <a:t>遵守</a:t>
            </a:r>
            <a:r>
              <a:rPr lang="en-US" altLang="zh-CN" sz="1200" b="1" dirty="0" smtClean="0">
                <a:solidFill>
                  <a:srgbClr val="C00000"/>
                </a:solidFill>
              </a:rPr>
              <a:t>《 </a:t>
            </a:r>
            <a:r>
              <a:rPr lang="en-US" altLang="zh-CN" sz="1200" b="1" dirty="0" err="1" smtClean="0">
                <a:solidFill>
                  <a:srgbClr val="C00000"/>
                </a:solidFill>
              </a:rPr>
              <a:t>jira</a:t>
            </a:r>
            <a:r>
              <a:rPr lang="zh-CN" altLang="en-US" sz="1200" b="1" dirty="0" smtClean="0">
                <a:solidFill>
                  <a:srgbClr val="C00000"/>
                </a:solidFill>
              </a:rPr>
              <a:t>问题单模板</a:t>
            </a:r>
            <a:r>
              <a:rPr lang="en-US" altLang="zh-CN" sz="1200" b="1" dirty="0" smtClean="0">
                <a:solidFill>
                  <a:srgbClr val="C00000"/>
                </a:solidFill>
              </a:rPr>
              <a:t>.</a:t>
            </a:r>
            <a:r>
              <a:rPr lang="en-US" altLang="zh-CN" sz="1200" b="1" dirty="0" err="1" smtClean="0">
                <a:solidFill>
                  <a:srgbClr val="C00000"/>
                </a:solidFill>
              </a:rPr>
              <a:t>docx</a:t>
            </a:r>
            <a:r>
              <a:rPr lang="en-US" altLang="zh-CN" sz="1200" b="1" dirty="0" smtClean="0">
                <a:solidFill>
                  <a:srgbClr val="C00000"/>
                </a:solidFill>
              </a:rPr>
              <a:t>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ounded Rectangle 23"/>
          <p:cNvSpPr/>
          <p:nvPr/>
        </p:nvSpPr>
        <p:spPr>
          <a:xfrm>
            <a:off x="714348" y="3857628"/>
            <a:ext cx="2143140" cy="42862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测试经理审核</a:t>
            </a:r>
            <a:endParaRPr lang="zh-CN" alt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714348" y="5000636"/>
            <a:ext cx="2143140" cy="42862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开发经理分发</a:t>
            </a:r>
            <a:endParaRPr lang="zh-CN" alt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6286512" y="6143644"/>
            <a:ext cx="2143140" cy="42862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开发经理审核</a:t>
            </a:r>
            <a:endParaRPr lang="zh-CN" alt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6286512" y="5000636"/>
            <a:ext cx="2143140" cy="42862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测试经理分发</a:t>
            </a:r>
            <a:endParaRPr lang="zh-CN" altLang="en-US" dirty="0"/>
          </a:p>
        </p:txBody>
      </p:sp>
      <p:sp>
        <p:nvSpPr>
          <p:cNvPr id="28" name="Rounded Rectangle 27"/>
          <p:cNvSpPr/>
          <p:nvPr/>
        </p:nvSpPr>
        <p:spPr>
          <a:xfrm>
            <a:off x="6286512" y="3857628"/>
            <a:ext cx="2143140" cy="42862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测试人员验证</a:t>
            </a:r>
            <a:endParaRPr lang="zh-CN" altLang="en-US" dirty="0"/>
          </a:p>
        </p:txBody>
      </p:sp>
      <p:sp>
        <p:nvSpPr>
          <p:cNvPr id="29" name="Rounded Rectangle 28"/>
          <p:cNvSpPr/>
          <p:nvPr/>
        </p:nvSpPr>
        <p:spPr>
          <a:xfrm>
            <a:off x="6286512" y="2714620"/>
            <a:ext cx="2143140" cy="42862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测试经理确认</a:t>
            </a:r>
            <a:endParaRPr lang="zh-CN" altLang="en-US" dirty="0"/>
          </a:p>
        </p:txBody>
      </p:sp>
      <p:sp>
        <p:nvSpPr>
          <p:cNvPr id="30" name="Down Arrow 29"/>
          <p:cNvSpPr/>
          <p:nvPr/>
        </p:nvSpPr>
        <p:spPr>
          <a:xfrm>
            <a:off x="1571604" y="3214686"/>
            <a:ext cx="428628" cy="57150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1" name="Down Arrow 30"/>
          <p:cNvSpPr/>
          <p:nvPr/>
        </p:nvSpPr>
        <p:spPr>
          <a:xfrm>
            <a:off x="1571604" y="4357694"/>
            <a:ext cx="428628" cy="57150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32" name="Down Arrow 31"/>
          <p:cNvSpPr/>
          <p:nvPr/>
        </p:nvSpPr>
        <p:spPr>
          <a:xfrm>
            <a:off x="1571604" y="5500702"/>
            <a:ext cx="428628" cy="57150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34" name="Right Arrow 33"/>
          <p:cNvSpPr/>
          <p:nvPr/>
        </p:nvSpPr>
        <p:spPr>
          <a:xfrm>
            <a:off x="3428992" y="6215082"/>
            <a:ext cx="2500330" cy="42862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35" name="Up Arrow 34"/>
          <p:cNvSpPr/>
          <p:nvPr/>
        </p:nvSpPr>
        <p:spPr>
          <a:xfrm>
            <a:off x="7143768" y="5500702"/>
            <a:ext cx="500066" cy="571504"/>
          </a:xfrm>
          <a:prstGeom prst="up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6</a:t>
            </a:r>
            <a:endParaRPr lang="zh-CN" altLang="en-US" dirty="0"/>
          </a:p>
        </p:txBody>
      </p:sp>
      <p:sp>
        <p:nvSpPr>
          <p:cNvPr id="36" name="Up Arrow 35"/>
          <p:cNvSpPr/>
          <p:nvPr/>
        </p:nvSpPr>
        <p:spPr>
          <a:xfrm>
            <a:off x="7143768" y="4357694"/>
            <a:ext cx="500066" cy="571504"/>
          </a:xfrm>
          <a:prstGeom prst="up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37" name="Up Arrow 36"/>
          <p:cNvSpPr/>
          <p:nvPr/>
        </p:nvSpPr>
        <p:spPr>
          <a:xfrm>
            <a:off x="7143768" y="3214686"/>
            <a:ext cx="500066" cy="571504"/>
          </a:xfrm>
          <a:prstGeom prst="up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8</a:t>
            </a:r>
            <a:endParaRPr lang="zh-CN" altLang="en-US" dirty="0"/>
          </a:p>
        </p:txBody>
      </p:sp>
      <p:sp>
        <p:nvSpPr>
          <p:cNvPr id="39" name="Bent-Up Arrow 38"/>
          <p:cNvSpPr/>
          <p:nvPr/>
        </p:nvSpPr>
        <p:spPr>
          <a:xfrm rot="16200000">
            <a:off x="5179222" y="321446"/>
            <a:ext cx="714379" cy="3929092"/>
          </a:xfrm>
          <a:prstGeom prst="bentUpArrow">
            <a:avLst>
              <a:gd name="adj1" fmla="val 30565"/>
              <a:gd name="adj2" fmla="val 25795"/>
              <a:gd name="adj3" fmla="val 22694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923919" y="194743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</a:rPr>
              <a:t>确认关闭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41" name="Rounded Rectangular Callout 40"/>
          <p:cNvSpPr/>
          <p:nvPr/>
        </p:nvSpPr>
        <p:spPr>
          <a:xfrm>
            <a:off x="3000364" y="3071810"/>
            <a:ext cx="2071702" cy="714380"/>
          </a:xfrm>
          <a:prstGeom prst="wedgeRoundRectCallout">
            <a:avLst>
              <a:gd name="adj1" fmla="val -61419"/>
              <a:gd name="adj2" fmla="val 54932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 smtClean="0"/>
              <a:t>审核要求：</a:t>
            </a:r>
            <a:endParaRPr lang="en-US" altLang="zh-CN" sz="1200" dirty="0" smtClean="0"/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 smtClean="0"/>
              <a:t>确认是否为问题</a:t>
            </a:r>
            <a:endParaRPr lang="en-US" altLang="zh-CN" sz="1200" dirty="0" smtClean="0"/>
          </a:p>
          <a:p>
            <a:pPr marL="228600" indent="-228600">
              <a:buFont typeface="+mj-lt"/>
              <a:buAutoNum type="arabicPeriod"/>
            </a:pPr>
            <a:r>
              <a:rPr lang="zh-CN" altLang="en-US" sz="1200" dirty="0" smtClean="0"/>
              <a:t>确认标题、描述、影响版本、信息是否完整</a:t>
            </a:r>
            <a:endParaRPr lang="en-US" altLang="zh-CN" sz="1200" dirty="0" smtClean="0"/>
          </a:p>
        </p:txBody>
      </p:sp>
      <p:sp>
        <p:nvSpPr>
          <p:cNvPr id="43" name="Rounded Rectangular Callout 42"/>
          <p:cNvSpPr/>
          <p:nvPr/>
        </p:nvSpPr>
        <p:spPr>
          <a:xfrm>
            <a:off x="3000364" y="4000504"/>
            <a:ext cx="2071702" cy="500066"/>
          </a:xfrm>
          <a:prstGeom prst="wedgeRoundRectCallout">
            <a:avLst>
              <a:gd name="adj1" fmla="val -88669"/>
              <a:gd name="adj2" fmla="val 140159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 smtClean="0"/>
              <a:t>确认问题是否存在，根据人员矩阵进行问题分发</a:t>
            </a:r>
            <a:endParaRPr lang="en-US" altLang="zh-CN" sz="1200" dirty="0" smtClean="0"/>
          </a:p>
        </p:txBody>
      </p:sp>
      <p:sp>
        <p:nvSpPr>
          <p:cNvPr id="44" name="Rounded Rectangular Callout 43"/>
          <p:cNvSpPr/>
          <p:nvPr/>
        </p:nvSpPr>
        <p:spPr>
          <a:xfrm>
            <a:off x="3000364" y="4786322"/>
            <a:ext cx="2071702" cy="1357322"/>
          </a:xfrm>
          <a:prstGeom prst="wedgeRoundRectCallout">
            <a:avLst>
              <a:gd name="adj1" fmla="val -90901"/>
              <a:gd name="adj2" fmla="val 4991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 smtClean="0"/>
              <a:t>写明问题真实详细原因</a:t>
            </a:r>
            <a:endParaRPr lang="en-US" altLang="zh-CN" sz="1200" dirty="0" smtClean="0"/>
          </a:p>
          <a:p>
            <a:r>
              <a:rPr lang="zh-CN" altLang="en-US" sz="1200" dirty="0" smtClean="0"/>
              <a:t>写明问题详细修改方案和代码</a:t>
            </a:r>
            <a:endParaRPr lang="en-US" altLang="zh-CN" sz="1200" dirty="0" smtClean="0"/>
          </a:p>
          <a:p>
            <a:r>
              <a:rPr lang="zh-CN" altLang="en-US" sz="1200" dirty="0" smtClean="0"/>
              <a:t>写明重现步骤、验证结论、测试用例执行情况</a:t>
            </a:r>
            <a:endParaRPr lang="en-US" altLang="zh-CN" sz="1200" dirty="0" smtClean="0"/>
          </a:p>
          <a:p>
            <a:r>
              <a:rPr lang="zh-CN" altLang="en-US" sz="1200" dirty="0" smtClean="0"/>
              <a:t>写明问题模块、</a:t>
            </a:r>
            <a:r>
              <a:rPr lang="en-US" altLang="zh-CN" sz="1200" dirty="0" smtClean="0"/>
              <a:t>SVN</a:t>
            </a:r>
            <a:r>
              <a:rPr lang="zh-CN" altLang="en-US" sz="1200" dirty="0" smtClean="0"/>
              <a:t>号</a:t>
            </a:r>
            <a:endParaRPr lang="en-US" altLang="zh-CN" sz="1200" dirty="0" smtClean="0"/>
          </a:p>
          <a:p>
            <a:r>
              <a:rPr lang="zh-CN" altLang="en-US" sz="1200" dirty="0" smtClean="0"/>
              <a:t>自检</a:t>
            </a:r>
            <a:r>
              <a:rPr lang="en-US" altLang="zh-CN" sz="1200" dirty="0" err="1" smtClean="0"/>
              <a:t>CheckList</a:t>
            </a:r>
            <a:r>
              <a:rPr lang="zh-CN" altLang="en-US" sz="1200" dirty="0" smtClean="0"/>
              <a:t>（见</a:t>
            </a:r>
            <a:r>
              <a:rPr lang="en-US" altLang="zh-CN" sz="1200" dirty="0" err="1" smtClean="0"/>
              <a:t>Jira</a:t>
            </a:r>
            <a:r>
              <a:rPr lang="zh-CN" altLang="en-US" sz="1200" dirty="0" smtClean="0"/>
              <a:t>规范）</a:t>
            </a:r>
            <a:endParaRPr lang="en-US" altLang="zh-CN" sz="1200" dirty="0" smtClean="0"/>
          </a:p>
        </p:txBody>
      </p:sp>
      <p:sp>
        <p:nvSpPr>
          <p:cNvPr id="45" name="Rounded Rectangular Callout 44"/>
          <p:cNvSpPr/>
          <p:nvPr/>
        </p:nvSpPr>
        <p:spPr>
          <a:xfrm>
            <a:off x="5214942" y="5500702"/>
            <a:ext cx="1857388" cy="571504"/>
          </a:xfrm>
          <a:prstGeom prst="wedgeRoundRectCallout">
            <a:avLst>
              <a:gd name="adj1" fmla="val 58698"/>
              <a:gd name="adj2" fmla="val 5588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 smtClean="0"/>
              <a:t>审核修改有效性</a:t>
            </a:r>
            <a:endParaRPr lang="en-US" altLang="zh-CN" sz="1200" dirty="0" smtClean="0"/>
          </a:p>
          <a:p>
            <a:r>
              <a:rPr lang="zh-CN" altLang="en-US" sz="1200" dirty="0" smtClean="0"/>
              <a:t>指派检视人员</a:t>
            </a:r>
            <a:endParaRPr lang="en-US" altLang="zh-CN" sz="1200" dirty="0" smtClean="0"/>
          </a:p>
          <a:p>
            <a:r>
              <a:rPr lang="zh-CN" altLang="en-US" sz="1200" dirty="0" smtClean="0"/>
              <a:t>标明修复版本</a:t>
            </a:r>
            <a:endParaRPr lang="en-US" altLang="zh-CN" sz="1200" dirty="0" smtClean="0"/>
          </a:p>
        </p:txBody>
      </p:sp>
      <p:sp>
        <p:nvSpPr>
          <p:cNvPr id="47" name="Rounded Rectangular Callout 46"/>
          <p:cNvSpPr/>
          <p:nvPr/>
        </p:nvSpPr>
        <p:spPr>
          <a:xfrm>
            <a:off x="5214942" y="3214686"/>
            <a:ext cx="1857388" cy="571504"/>
          </a:xfrm>
          <a:prstGeom prst="wedgeRoundRectCallout">
            <a:avLst>
              <a:gd name="adj1" fmla="val 58698"/>
              <a:gd name="adj2" fmla="val 5588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 smtClean="0"/>
              <a:t>根据重现步骤在新旧版本进行测试，标明测试结果</a:t>
            </a:r>
            <a:endParaRPr lang="en-US" altLang="zh-CN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特性开发流程</a:t>
            </a:r>
            <a:endParaRPr lang="zh-CN" altLang="en-US" dirty="0"/>
          </a:p>
        </p:txBody>
      </p:sp>
      <p:sp>
        <p:nvSpPr>
          <p:cNvPr id="35" name="Rounded Rectangle 34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Smiley Face 35"/>
          <p:cNvSpPr/>
          <p:nvPr/>
        </p:nvSpPr>
        <p:spPr>
          <a:xfrm>
            <a:off x="1249426" y="1928802"/>
            <a:ext cx="500066" cy="500066"/>
          </a:xfrm>
          <a:prstGeom prst="smileyFac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1820930" y="19880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开发人员</a:t>
            </a:r>
            <a:endParaRPr lang="zh-CN" altLang="en-US" dirty="0"/>
          </a:p>
        </p:txBody>
      </p:sp>
      <p:sp>
        <p:nvSpPr>
          <p:cNvPr id="38" name="Rounded Rectangle 37"/>
          <p:cNvSpPr/>
          <p:nvPr/>
        </p:nvSpPr>
        <p:spPr>
          <a:xfrm>
            <a:off x="571472" y="2643182"/>
            <a:ext cx="192882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  <p:sp>
        <p:nvSpPr>
          <p:cNvPr id="39" name="Rounded Rectangle 38"/>
          <p:cNvSpPr/>
          <p:nvPr/>
        </p:nvSpPr>
        <p:spPr>
          <a:xfrm>
            <a:off x="571472" y="3429000"/>
            <a:ext cx="1928826" cy="500066"/>
          </a:xfrm>
          <a:prstGeom prst="roundRect">
            <a:avLst/>
          </a:prstGeom>
          <a:solidFill>
            <a:srgbClr val="E161FF"/>
          </a:solidFill>
          <a:ln>
            <a:solidFill>
              <a:srgbClr val="E16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设计讨论会</a:t>
            </a:r>
            <a:endParaRPr lang="zh-CN" altLang="en-US" dirty="0"/>
          </a:p>
        </p:txBody>
      </p:sp>
      <p:sp>
        <p:nvSpPr>
          <p:cNvPr id="40" name="Rounded Rectangle 39"/>
          <p:cNvSpPr/>
          <p:nvPr/>
        </p:nvSpPr>
        <p:spPr>
          <a:xfrm>
            <a:off x="6786578" y="4357694"/>
            <a:ext cx="192882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测试设计会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6322938" y="20002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测试人员</a:t>
            </a:r>
            <a:endParaRPr lang="zh-CN" altLang="en-US" dirty="0"/>
          </a:p>
        </p:txBody>
      </p:sp>
      <p:sp>
        <p:nvSpPr>
          <p:cNvPr id="42" name="Rounded Rectangle 41"/>
          <p:cNvSpPr/>
          <p:nvPr/>
        </p:nvSpPr>
        <p:spPr>
          <a:xfrm>
            <a:off x="6786578" y="3643314"/>
            <a:ext cx="1928826" cy="500066"/>
          </a:xfrm>
          <a:prstGeom prst="roundRect">
            <a:avLst/>
          </a:prstGeom>
          <a:solidFill>
            <a:srgbClr val="E161FF"/>
          </a:solidFill>
          <a:ln>
            <a:solidFill>
              <a:srgbClr val="E16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测试设计</a:t>
            </a:r>
            <a:endParaRPr lang="zh-CN" altLang="en-US" dirty="0"/>
          </a:p>
        </p:txBody>
      </p:sp>
      <p:sp>
        <p:nvSpPr>
          <p:cNvPr id="43" name="Rounded Rectangle 42"/>
          <p:cNvSpPr/>
          <p:nvPr/>
        </p:nvSpPr>
        <p:spPr>
          <a:xfrm>
            <a:off x="571472" y="4143380"/>
            <a:ext cx="1928826" cy="42862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开发</a:t>
            </a:r>
            <a:endParaRPr lang="zh-CN" altLang="en-US" dirty="0"/>
          </a:p>
        </p:txBody>
      </p:sp>
      <p:sp>
        <p:nvSpPr>
          <p:cNvPr id="44" name="Rounded Rectangle 43"/>
          <p:cNvSpPr/>
          <p:nvPr/>
        </p:nvSpPr>
        <p:spPr>
          <a:xfrm>
            <a:off x="6786578" y="5072074"/>
            <a:ext cx="192882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用例开发</a:t>
            </a:r>
            <a:endParaRPr lang="zh-CN" altLang="en-US" dirty="0"/>
          </a:p>
        </p:txBody>
      </p:sp>
      <p:sp>
        <p:nvSpPr>
          <p:cNvPr id="45" name="Rounded Rectangle 44"/>
          <p:cNvSpPr/>
          <p:nvPr/>
        </p:nvSpPr>
        <p:spPr>
          <a:xfrm>
            <a:off x="571472" y="5429264"/>
            <a:ext cx="1928826" cy="500066"/>
          </a:xfrm>
          <a:prstGeom prst="roundRect">
            <a:avLst/>
          </a:prstGeom>
          <a:solidFill>
            <a:srgbClr val="E161FF"/>
          </a:solidFill>
          <a:ln>
            <a:solidFill>
              <a:srgbClr val="E16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验收</a:t>
            </a:r>
            <a:endParaRPr lang="zh-CN" altLang="en-US" dirty="0"/>
          </a:p>
        </p:txBody>
      </p:sp>
      <p:sp>
        <p:nvSpPr>
          <p:cNvPr id="46" name="Rounded Rectangle 45"/>
          <p:cNvSpPr/>
          <p:nvPr/>
        </p:nvSpPr>
        <p:spPr>
          <a:xfrm>
            <a:off x="6786578" y="5786454"/>
            <a:ext cx="1928826" cy="500066"/>
          </a:xfrm>
          <a:prstGeom prst="roundRect">
            <a:avLst/>
          </a:prstGeom>
          <a:solidFill>
            <a:srgbClr val="E161FF"/>
          </a:solidFill>
          <a:ln>
            <a:solidFill>
              <a:srgbClr val="E16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测试</a:t>
            </a:r>
            <a:endParaRPr lang="zh-CN" altLang="en-US" dirty="0"/>
          </a:p>
        </p:txBody>
      </p:sp>
      <p:sp>
        <p:nvSpPr>
          <p:cNvPr id="47" name="Rounded Rectangle 46"/>
          <p:cNvSpPr/>
          <p:nvPr/>
        </p:nvSpPr>
        <p:spPr>
          <a:xfrm>
            <a:off x="571472" y="6143644"/>
            <a:ext cx="192882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Story</a:t>
            </a:r>
            <a:r>
              <a:rPr lang="zh-CN" altLang="en-US" dirty="0" smtClean="0"/>
              <a:t>关闭</a:t>
            </a:r>
            <a:endParaRPr lang="zh-CN" altLang="en-US" dirty="0"/>
          </a:p>
        </p:txBody>
      </p:sp>
      <p:sp>
        <p:nvSpPr>
          <p:cNvPr id="48" name="Down Arrow 47"/>
          <p:cNvSpPr/>
          <p:nvPr/>
        </p:nvSpPr>
        <p:spPr>
          <a:xfrm>
            <a:off x="1320864" y="2500306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Down Arrow 48"/>
          <p:cNvSpPr/>
          <p:nvPr/>
        </p:nvSpPr>
        <p:spPr>
          <a:xfrm>
            <a:off x="1320864" y="3214686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Down Arrow 49"/>
          <p:cNvSpPr/>
          <p:nvPr/>
        </p:nvSpPr>
        <p:spPr>
          <a:xfrm>
            <a:off x="1320864" y="4000504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Straight Connector 50"/>
          <p:cNvCxnSpPr/>
          <p:nvPr/>
        </p:nvCxnSpPr>
        <p:spPr>
          <a:xfrm rot="16200000" flipH="1">
            <a:off x="2107389" y="4250537"/>
            <a:ext cx="4929222" cy="1588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Down Arrow 51"/>
          <p:cNvSpPr/>
          <p:nvPr/>
        </p:nvSpPr>
        <p:spPr>
          <a:xfrm rot="16200000">
            <a:off x="4446630" y="3482932"/>
            <a:ext cx="393616" cy="57150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Down Arrow 52"/>
          <p:cNvSpPr/>
          <p:nvPr/>
        </p:nvSpPr>
        <p:spPr>
          <a:xfrm>
            <a:off x="1320864" y="5286388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Down Arrow 53"/>
          <p:cNvSpPr/>
          <p:nvPr/>
        </p:nvSpPr>
        <p:spPr>
          <a:xfrm>
            <a:off x="7572396" y="4214818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Down Arrow 54"/>
          <p:cNvSpPr/>
          <p:nvPr/>
        </p:nvSpPr>
        <p:spPr>
          <a:xfrm>
            <a:off x="7572396" y="4929198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Down Arrow 55"/>
          <p:cNvSpPr/>
          <p:nvPr/>
        </p:nvSpPr>
        <p:spPr>
          <a:xfrm>
            <a:off x="7607408" y="5643578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Down Arrow 56"/>
          <p:cNvSpPr/>
          <p:nvPr/>
        </p:nvSpPr>
        <p:spPr>
          <a:xfrm rot="5400000">
            <a:off x="4303754" y="5840386"/>
            <a:ext cx="393616" cy="57150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Down Arrow 57"/>
          <p:cNvSpPr/>
          <p:nvPr/>
        </p:nvSpPr>
        <p:spPr>
          <a:xfrm>
            <a:off x="1320864" y="6000768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ed Rectangular Callout 58"/>
          <p:cNvSpPr/>
          <p:nvPr/>
        </p:nvSpPr>
        <p:spPr>
          <a:xfrm>
            <a:off x="2714612" y="2428868"/>
            <a:ext cx="1785950" cy="785818"/>
          </a:xfrm>
          <a:prstGeom prst="wedgeRoundRectCallout">
            <a:avLst>
              <a:gd name="adj1" fmla="val -62219"/>
              <a:gd name="adj2" fmla="val 75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按照模板细化设计，输出</a:t>
            </a:r>
            <a:r>
              <a:rPr lang="en-US" altLang="zh-CN" sz="1400" dirty="0" smtClean="0"/>
              <a:t>《Story</a:t>
            </a:r>
            <a:r>
              <a:rPr lang="zh-CN" altLang="en-US" sz="1400" dirty="0" smtClean="0"/>
              <a:t>设计文档</a:t>
            </a:r>
            <a:r>
              <a:rPr lang="en-US" altLang="zh-CN" sz="1400" dirty="0" smtClean="0"/>
              <a:t>》</a:t>
            </a:r>
          </a:p>
        </p:txBody>
      </p:sp>
      <p:sp>
        <p:nvSpPr>
          <p:cNvPr id="60" name="Rounded Rectangular Callout 59"/>
          <p:cNvSpPr/>
          <p:nvPr/>
        </p:nvSpPr>
        <p:spPr>
          <a:xfrm>
            <a:off x="2714612" y="3429000"/>
            <a:ext cx="1571636" cy="714380"/>
          </a:xfrm>
          <a:prstGeom prst="wedgeRoundRectCallout">
            <a:avLst>
              <a:gd name="adj1" fmla="val -62902"/>
              <a:gd name="adj2" fmla="val -1233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开发经理，测试经理，开发人员，测试人员参与</a:t>
            </a:r>
            <a:endParaRPr lang="en-US" altLang="zh-CN" sz="1400" dirty="0" smtClean="0"/>
          </a:p>
        </p:txBody>
      </p:sp>
      <p:sp>
        <p:nvSpPr>
          <p:cNvPr id="61" name="Rounded Rectangular Callout 60"/>
          <p:cNvSpPr/>
          <p:nvPr/>
        </p:nvSpPr>
        <p:spPr>
          <a:xfrm>
            <a:off x="5000628" y="2786058"/>
            <a:ext cx="1857388" cy="857256"/>
          </a:xfrm>
          <a:prstGeom prst="wedgeRoundRectCallout">
            <a:avLst>
              <a:gd name="adj1" fmla="val 44927"/>
              <a:gd name="adj2" fmla="val 76125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按照模板细化用例设计，输出</a:t>
            </a:r>
            <a:r>
              <a:rPr lang="en-US" altLang="zh-CN" sz="1400" dirty="0" smtClean="0"/>
              <a:t>《Story</a:t>
            </a:r>
            <a:r>
              <a:rPr lang="zh-CN" altLang="en-US" sz="1400" dirty="0" smtClean="0"/>
              <a:t>测试设计文档</a:t>
            </a:r>
            <a:r>
              <a:rPr lang="en-US" altLang="zh-CN" sz="1400" dirty="0" smtClean="0"/>
              <a:t>》</a:t>
            </a:r>
          </a:p>
        </p:txBody>
      </p:sp>
      <p:sp>
        <p:nvSpPr>
          <p:cNvPr id="62" name="Rounded Rectangular Callout 61"/>
          <p:cNvSpPr/>
          <p:nvPr/>
        </p:nvSpPr>
        <p:spPr>
          <a:xfrm>
            <a:off x="4786314" y="4071942"/>
            <a:ext cx="1714512" cy="714380"/>
          </a:xfrm>
          <a:prstGeom prst="wedgeRoundRectCallout">
            <a:avLst>
              <a:gd name="adj1" fmla="val 66908"/>
              <a:gd name="adj2" fmla="val 2179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开发经理，测试经理，开发人员，测试人员参与</a:t>
            </a:r>
            <a:endParaRPr lang="en-US" altLang="zh-CN" sz="1400" dirty="0" smtClean="0"/>
          </a:p>
        </p:txBody>
      </p:sp>
      <p:sp>
        <p:nvSpPr>
          <p:cNvPr id="63" name="Rounded Rectangular Callout 62"/>
          <p:cNvSpPr/>
          <p:nvPr/>
        </p:nvSpPr>
        <p:spPr>
          <a:xfrm>
            <a:off x="2714612" y="5286388"/>
            <a:ext cx="1643074" cy="642942"/>
          </a:xfrm>
          <a:prstGeom prst="wedgeRoundRectCallout">
            <a:avLst>
              <a:gd name="adj1" fmla="val -60329"/>
              <a:gd name="adj2" fmla="val 16462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Checklist</a:t>
            </a:r>
            <a:r>
              <a:rPr lang="zh-CN" altLang="en-US" sz="1400" dirty="0" smtClean="0"/>
              <a:t>完成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、验收用例通过</a:t>
            </a:r>
            <a:endParaRPr lang="en-US" altLang="zh-CN" sz="1400" dirty="0" smtClean="0"/>
          </a:p>
        </p:txBody>
      </p:sp>
      <p:sp>
        <p:nvSpPr>
          <p:cNvPr id="64" name="Down Arrow 63"/>
          <p:cNvSpPr/>
          <p:nvPr/>
        </p:nvSpPr>
        <p:spPr>
          <a:xfrm rot="16200000">
            <a:off x="4375192" y="5518208"/>
            <a:ext cx="393616" cy="57150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Rounded Rectangular Callout 64"/>
          <p:cNvSpPr/>
          <p:nvPr/>
        </p:nvSpPr>
        <p:spPr>
          <a:xfrm>
            <a:off x="4929190" y="4929198"/>
            <a:ext cx="1643074" cy="785818"/>
          </a:xfrm>
          <a:prstGeom prst="wedgeRoundRectCallout">
            <a:avLst>
              <a:gd name="adj1" fmla="val 61944"/>
              <a:gd name="adj2" fmla="val 5781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验收用例和测试用例，验收用例先开发</a:t>
            </a:r>
            <a:endParaRPr lang="en-US" altLang="zh-CN" sz="1400" dirty="0" smtClean="0"/>
          </a:p>
        </p:txBody>
      </p:sp>
      <p:sp>
        <p:nvSpPr>
          <p:cNvPr id="66" name="Rounded Rectangular Callout 65"/>
          <p:cNvSpPr/>
          <p:nvPr/>
        </p:nvSpPr>
        <p:spPr>
          <a:xfrm>
            <a:off x="4929190" y="6000768"/>
            <a:ext cx="1643074" cy="428628"/>
          </a:xfrm>
          <a:prstGeom prst="wedgeRoundRectCallout">
            <a:avLst>
              <a:gd name="adj1" fmla="val 63428"/>
              <a:gd name="adj2" fmla="val -16974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用例</a:t>
            </a:r>
            <a:r>
              <a:rPr lang="en-US" altLang="zh-CN" sz="1400" dirty="0" smtClean="0"/>
              <a:t>CI</a:t>
            </a:r>
            <a:r>
              <a:rPr lang="zh-CN" altLang="en-US" sz="1400" dirty="0" smtClean="0"/>
              <a:t>自动化</a:t>
            </a:r>
            <a:endParaRPr lang="en-US" altLang="zh-CN" sz="1400" dirty="0" smtClean="0"/>
          </a:p>
        </p:txBody>
      </p:sp>
      <p:sp>
        <p:nvSpPr>
          <p:cNvPr id="67" name="Smiley Face 66"/>
          <p:cNvSpPr/>
          <p:nvPr/>
        </p:nvSpPr>
        <p:spPr>
          <a:xfrm>
            <a:off x="7429520" y="1928802"/>
            <a:ext cx="500066" cy="500066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Rounded Rectangle 68"/>
          <p:cNvSpPr/>
          <p:nvPr/>
        </p:nvSpPr>
        <p:spPr>
          <a:xfrm>
            <a:off x="571472" y="4786322"/>
            <a:ext cx="1928826" cy="42862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代码讲解和检视</a:t>
            </a:r>
            <a:endParaRPr lang="zh-CN" altLang="en-US" dirty="0"/>
          </a:p>
        </p:txBody>
      </p:sp>
      <p:sp>
        <p:nvSpPr>
          <p:cNvPr id="70" name="Down Arrow 69"/>
          <p:cNvSpPr/>
          <p:nvPr/>
        </p:nvSpPr>
        <p:spPr>
          <a:xfrm>
            <a:off x="1320864" y="4643446"/>
            <a:ext cx="393616" cy="142876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Rounded Rectangular Callout 70"/>
          <p:cNvSpPr/>
          <p:nvPr/>
        </p:nvSpPr>
        <p:spPr>
          <a:xfrm>
            <a:off x="2714612" y="4429132"/>
            <a:ext cx="1571636" cy="714380"/>
          </a:xfrm>
          <a:prstGeom prst="wedgeRoundRectCallout">
            <a:avLst>
              <a:gd name="adj1" fmla="val -61890"/>
              <a:gd name="adj2" fmla="val 27732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举行代码讲解会议，开发经理安排人员代码检视</a:t>
            </a:r>
            <a:endParaRPr lang="en-US" altLang="zh-CN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——CI</a:t>
            </a:r>
            <a:r>
              <a:rPr lang="zh-CN" altLang="en-US" dirty="0" smtClean="0"/>
              <a:t>流程和规范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Straight Connector 4"/>
          <p:cNvCxnSpPr>
            <a:stCxn id="4" idx="0"/>
            <a:endCxn id="4" idx="2"/>
          </p:cNvCxnSpPr>
          <p:nvPr/>
        </p:nvCxnSpPr>
        <p:spPr>
          <a:xfrm rot="16200000" flipH="1">
            <a:off x="2107389" y="4250537"/>
            <a:ext cx="4929222" cy="1588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639791" y="1857364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CI</a:t>
            </a:r>
            <a:r>
              <a:rPr lang="zh-CN" altLang="en-US" b="1" dirty="0" smtClean="0">
                <a:solidFill>
                  <a:srgbClr val="C00000"/>
                </a:solidFill>
              </a:rPr>
              <a:t>提交流程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10375" y="1857364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CI</a:t>
            </a:r>
            <a:r>
              <a:rPr lang="zh-CN" altLang="en-US" b="1" dirty="0" smtClean="0">
                <a:solidFill>
                  <a:srgbClr val="C00000"/>
                </a:solidFill>
              </a:rPr>
              <a:t>日常运维流程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8" name="Smiley Face 7"/>
          <p:cNvSpPr/>
          <p:nvPr/>
        </p:nvSpPr>
        <p:spPr>
          <a:xfrm>
            <a:off x="785786" y="2714620"/>
            <a:ext cx="500066" cy="500066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63608" y="23452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测试人员</a:t>
            </a:r>
            <a:endParaRPr lang="zh-CN" alt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28596" y="350043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编写用例</a:t>
            </a:r>
            <a:endParaRPr lang="zh-CN" alt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428596" y="4357694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本地调测</a:t>
            </a:r>
            <a:endParaRPr lang="zh-CN" alt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428596" y="5214950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提交构建</a:t>
            </a:r>
            <a:endParaRPr lang="zh-CN" alt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428596" y="600076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确保成功</a:t>
            </a:r>
            <a:endParaRPr lang="zh-CN" altLang="en-US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2000232" y="2714620"/>
            <a:ext cx="2428892" cy="1143008"/>
          </a:xfrm>
          <a:prstGeom prst="wedgeRoundRectCallout">
            <a:avLst>
              <a:gd name="adj1" fmla="val -61537"/>
              <a:gd name="adj2" fmla="val 4420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、按照</a:t>
            </a:r>
            <a:r>
              <a:rPr lang="en-US" altLang="zh-CN" sz="1400" b="1" dirty="0" smtClean="0">
                <a:solidFill>
                  <a:srgbClr val="C00000"/>
                </a:solidFill>
              </a:rPr>
              <a:t>《JS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测式用例指导书</a:t>
            </a:r>
            <a:r>
              <a:rPr lang="en-US" altLang="zh-CN" sz="1400" b="1" dirty="0" smtClean="0">
                <a:solidFill>
                  <a:srgbClr val="C00000"/>
                </a:solidFill>
              </a:rPr>
              <a:t>》</a:t>
            </a:r>
            <a:r>
              <a:rPr lang="zh-CN" altLang="en-US" sz="1400" dirty="0" smtClean="0"/>
              <a:t>编写用例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、考虑</a:t>
            </a:r>
            <a:r>
              <a:rPr lang="en-US" altLang="zh-CN" sz="1400" dirty="0" smtClean="0"/>
              <a:t>Standalone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Cluster</a:t>
            </a:r>
            <a:r>
              <a:rPr lang="zh-CN" altLang="en-US" sz="1400" dirty="0" smtClean="0"/>
              <a:t>等运行场景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、交叉检视用例</a:t>
            </a:r>
            <a:endParaRPr lang="en-US" altLang="zh-CN" sz="1400" dirty="0" smtClean="0"/>
          </a:p>
        </p:txBody>
      </p:sp>
      <p:sp>
        <p:nvSpPr>
          <p:cNvPr id="15" name="Rounded Rectangular Callout 14"/>
          <p:cNvSpPr/>
          <p:nvPr/>
        </p:nvSpPr>
        <p:spPr>
          <a:xfrm>
            <a:off x="2000232" y="4071942"/>
            <a:ext cx="2428892" cy="642942"/>
          </a:xfrm>
          <a:prstGeom prst="wedgeRoundRectCallout">
            <a:avLst>
              <a:gd name="adj1" fmla="val -61537"/>
              <a:gd name="adj2" fmla="val 4420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使用</a:t>
            </a:r>
            <a:r>
              <a:rPr lang="en-US" altLang="zh-CN" sz="1400" dirty="0" smtClean="0"/>
              <a:t>runTest</a:t>
            </a:r>
            <a:r>
              <a:rPr lang="zh-CN" altLang="en-US" sz="1400" dirty="0" smtClean="0"/>
              <a:t>进行本地多种场景调测，确保用例通过</a:t>
            </a:r>
            <a:endParaRPr lang="en-US" altLang="zh-CN" sz="1400" dirty="0" smtClean="0"/>
          </a:p>
        </p:txBody>
      </p:sp>
      <p:sp>
        <p:nvSpPr>
          <p:cNvPr id="16" name="Rounded Rectangular Callout 15"/>
          <p:cNvSpPr/>
          <p:nvPr/>
        </p:nvSpPr>
        <p:spPr>
          <a:xfrm>
            <a:off x="2000232" y="5000636"/>
            <a:ext cx="2428892" cy="642942"/>
          </a:xfrm>
          <a:prstGeom prst="wedgeRoundRectCallout">
            <a:avLst>
              <a:gd name="adj1" fmla="val -62039"/>
              <a:gd name="adj2" fmla="val 19555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提交</a:t>
            </a:r>
            <a:r>
              <a:rPr lang="en-US" altLang="zh-CN" sz="1400" dirty="0" smtClean="0"/>
              <a:t>CI</a:t>
            </a:r>
            <a:r>
              <a:rPr lang="zh-CN" altLang="en-US" sz="1400" dirty="0" smtClean="0"/>
              <a:t>，并手动构建各种测式工程</a:t>
            </a:r>
            <a:endParaRPr lang="en-US" altLang="zh-CN" sz="1400" dirty="0" smtClean="0"/>
          </a:p>
        </p:txBody>
      </p:sp>
      <p:sp>
        <p:nvSpPr>
          <p:cNvPr id="17" name="Rounded Rectangular Callout 16"/>
          <p:cNvSpPr/>
          <p:nvPr/>
        </p:nvSpPr>
        <p:spPr>
          <a:xfrm>
            <a:off x="2000232" y="5929330"/>
            <a:ext cx="2428892" cy="642942"/>
          </a:xfrm>
          <a:prstGeom prst="wedgeRoundRectCallout">
            <a:avLst>
              <a:gd name="adj1" fmla="val -62039"/>
              <a:gd name="adj2" fmla="val 8651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分析用例结果，确保用例全部通过</a:t>
            </a:r>
            <a:endParaRPr lang="en-US" altLang="zh-CN" sz="1400" dirty="0" smtClean="0"/>
          </a:p>
        </p:txBody>
      </p:sp>
      <p:sp>
        <p:nvSpPr>
          <p:cNvPr id="18" name="Down Arrow 17"/>
          <p:cNvSpPr/>
          <p:nvPr/>
        </p:nvSpPr>
        <p:spPr>
          <a:xfrm>
            <a:off x="857224" y="328612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Down Arrow 18"/>
          <p:cNvSpPr/>
          <p:nvPr/>
        </p:nvSpPr>
        <p:spPr>
          <a:xfrm>
            <a:off x="857224" y="4071942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Down Arrow 19"/>
          <p:cNvSpPr/>
          <p:nvPr/>
        </p:nvSpPr>
        <p:spPr>
          <a:xfrm>
            <a:off x="857224" y="4929198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Down Arrow 20"/>
          <p:cNvSpPr/>
          <p:nvPr/>
        </p:nvSpPr>
        <p:spPr>
          <a:xfrm>
            <a:off x="857224" y="578645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Smiley Face 21"/>
          <p:cNvSpPr/>
          <p:nvPr/>
        </p:nvSpPr>
        <p:spPr>
          <a:xfrm>
            <a:off x="7916319" y="2726762"/>
            <a:ext cx="500066" cy="500066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643834" y="235743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CI</a:t>
            </a:r>
            <a:r>
              <a:rPr lang="zh-CN" altLang="en-US" dirty="0" smtClean="0"/>
              <a:t>责任人</a:t>
            </a:r>
            <a:endParaRPr lang="zh-CN" alt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7500958" y="350043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过滤</a:t>
            </a:r>
            <a:r>
              <a:rPr lang="en-US" altLang="zh-CN" sz="1600" dirty="0" smtClean="0"/>
              <a:t>CI</a:t>
            </a:r>
            <a:r>
              <a:rPr lang="zh-CN" altLang="en-US" sz="1600" dirty="0" smtClean="0"/>
              <a:t>问题</a:t>
            </a:r>
            <a:endParaRPr lang="zh-CN" altLang="en-US" sz="1600" dirty="0"/>
          </a:p>
        </p:txBody>
      </p:sp>
      <p:sp>
        <p:nvSpPr>
          <p:cNvPr id="25" name="Rounded Rectangle 24"/>
          <p:cNvSpPr/>
          <p:nvPr/>
        </p:nvSpPr>
        <p:spPr>
          <a:xfrm>
            <a:off x="7500958" y="4357694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催促用例责任人</a:t>
            </a:r>
            <a:endParaRPr lang="zh-CN" altLang="en-US" sz="1600" dirty="0"/>
          </a:p>
        </p:txBody>
      </p:sp>
      <p:sp>
        <p:nvSpPr>
          <p:cNvPr id="26" name="Rounded Rectangle 25"/>
          <p:cNvSpPr/>
          <p:nvPr/>
        </p:nvSpPr>
        <p:spPr>
          <a:xfrm>
            <a:off x="7500958" y="5214950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催促开发责任人</a:t>
            </a:r>
            <a:endParaRPr lang="zh-CN" altLang="en-US" sz="1600" dirty="0"/>
          </a:p>
        </p:txBody>
      </p:sp>
      <p:sp>
        <p:nvSpPr>
          <p:cNvPr id="27" name="Rounded Rectangle 26"/>
          <p:cNvSpPr/>
          <p:nvPr/>
        </p:nvSpPr>
        <p:spPr>
          <a:xfrm>
            <a:off x="7500958" y="600076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确保成功</a:t>
            </a:r>
            <a:endParaRPr lang="zh-CN" altLang="en-US" sz="1600" dirty="0"/>
          </a:p>
        </p:txBody>
      </p:sp>
      <p:sp>
        <p:nvSpPr>
          <p:cNvPr id="28" name="Down Arrow 27"/>
          <p:cNvSpPr/>
          <p:nvPr/>
        </p:nvSpPr>
        <p:spPr>
          <a:xfrm>
            <a:off x="7964598" y="328612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Down Arrow 28"/>
          <p:cNvSpPr/>
          <p:nvPr/>
        </p:nvSpPr>
        <p:spPr>
          <a:xfrm>
            <a:off x="7964598" y="4071942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Down Arrow 29"/>
          <p:cNvSpPr/>
          <p:nvPr/>
        </p:nvSpPr>
        <p:spPr>
          <a:xfrm>
            <a:off x="7964598" y="4929198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Down Arrow 30"/>
          <p:cNvSpPr/>
          <p:nvPr/>
        </p:nvSpPr>
        <p:spPr>
          <a:xfrm>
            <a:off x="7964598" y="578645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Rounded Rectangular Callout 31"/>
          <p:cNvSpPr/>
          <p:nvPr/>
        </p:nvSpPr>
        <p:spPr>
          <a:xfrm>
            <a:off x="4786314" y="2714620"/>
            <a:ext cx="2428892" cy="1071570"/>
          </a:xfrm>
          <a:prstGeom prst="wedgeRoundRectCallout">
            <a:avLst>
              <a:gd name="adj1" fmla="val 60941"/>
              <a:gd name="adj2" fmla="val 4420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CI</a:t>
            </a:r>
            <a:r>
              <a:rPr lang="zh-CN" altLang="en-US" sz="1400" dirty="0" smtClean="0"/>
              <a:t>责任人为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本周例会主持人</a:t>
            </a:r>
            <a:r>
              <a:rPr lang="zh-CN" altLang="en-US" sz="1400" dirty="0" smtClean="0"/>
              <a:t>和</a:t>
            </a:r>
            <a:r>
              <a:rPr lang="en-US" altLang="zh-CN" sz="1400" b="1" dirty="0" smtClean="0">
                <a:solidFill>
                  <a:srgbClr val="C00000"/>
                </a:solidFill>
              </a:rPr>
              <a:t>CI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负责人</a:t>
            </a:r>
            <a:endParaRPr lang="en-US" altLang="zh-CN" sz="1400" b="1" dirty="0" smtClean="0">
              <a:solidFill>
                <a:srgbClr val="C00000"/>
              </a:solidFill>
            </a:endParaRPr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、分析是否</a:t>
            </a:r>
            <a:r>
              <a:rPr lang="en-US" altLang="zh-CN" sz="1400" dirty="0" smtClean="0"/>
              <a:t>CI</a:t>
            </a:r>
            <a:r>
              <a:rPr lang="zh-CN" altLang="en-US" sz="1400" dirty="0" smtClean="0"/>
              <a:t>本身问题或用例问题</a:t>
            </a:r>
            <a:endParaRPr lang="en-US" altLang="zh-CN" sz="1400" dirty="0" smtClean="0"/>
          </a:p>
        </p:txBody>
      </p:sp>
      <p:sp>
        <p:nvSpPr>
          <p:cNvPr id="33" name="Rounded Rectangular Callout 32"/>
          <p:cNvSpPr/>
          <p:nvPr/>
        </p:nvSpPr>
        <p:spPr>
          <a:xfrm>
            <a:off x="4786314" y="4000504"/>
            <a:ext cx="2428892" cy="785818"/>
          </a:xfrm>
          <a:prstGeom prst="wedgeRoundRectCallout">
            <a:avLst>
              <a:gd name="adj1" fmla="val 61443"/>
              <a:gd name="adj2" fmla="val 42311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测试用例书写人员</a:t>
            </a:r>
            <a:endParaRPr lang="en-US" altLang="zh-CN" sz="1400" dirty="0" smtClean="0"/>
          </a:p>
          <a:p>
            <a:r>
              <a:rPr lang="zh-CN" altLang="en-US" sz="1400" dirty="0" smtClean="0"/>
              <a:t>分析为用例问题或版本问题</a:t>
            </a:r>
            <a:endParaRPr lang="en-US" altLang="zh-CN" sz="1400" dirty="0" smtClean="0"/>
          </a:p>
          <a:p>
            <a:r>
              <a:rPr lang="en-US" altLang="zh-CN" sz="1400" dirty="0" smtClean="0"/>
              <a:t>[ </a:t>
            </a:r>
            <a:r>
              <a:rPr lang="zh-CN" altLang="en-US" sz="1400" dirty="0" smtClean="0"/>
              <a:t>用例总负责人：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测试经理 </a:t>
            </a:r>
            <a:r>
              <a:rPr lang="en-US" altLang="zh-CN" sz="1400" dirty="0" smtClean="0"/>
              <a:t>]</a:t>
            </a:r>
          </a:p>
        </p:txBody>
      </p:sp>
      <p:sp>
        <p:nvSpPr>
          <p:cNvPr id="34" name="Rounded Rectangular Callout 33"/>
          <p:cNvSpPr/>
          <p:nvPr/>
        </p:nvSpPr>
        <p:spPr>
          <a:xfrm>
            <a:off x="4786314" y="5000636"/>
            <a:ext cx="2428892" cy="785818"/>
          </a:xfrm>
          <a:prstGeom prst="wedgeRoundRectCallout">
            <a:avLst>
              <a:gd name="adj1" fmla="val 60439"/>
              <a:gd name="adj2" fmla="val 1955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对应该功能模块负责人</a:t>
            </a:r>
            <a:endParaRPr lang="en-US" altLang="zh-CN" sz="1400" dirty="0" smtClean="0"/>
          </a:p>
          <a:p>
            <a:r>
              <a:rPr lang="zh-CN" altLang="en-US" sz="1400" dirty="0" smtClean="0"/>
              <a:t>分析导致用例不过的原因</a:t>
            </a:r>
            <a:endParaRPr lang="en-US" altLang="zh-CN" sz="1400" dirty="0" smtClean="0"/>
          </a:p>
          <a:p>
            <a:r>
              <a:rPr lang="en-US" altLang="zh-CN" sz="1400" dirty="0" smtClean="0"/>
              <a:t>[ </a:t>
            </a:r>
            <a:r>
              <a:rPr lang="zh-CN" altLang="en-US" sz="1400" dirty="0" smtClean="0"/>
              <a:t>开发总负责人：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开发经理</a:t>
            </a:r>
            <a:r>
              <a:rPr lang="en-US" altLang="zh-CN" sz="1400" dirty="0" smtClean="0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35" name="Rounded Rectangular Callout 34"/>
          <p:cNvSpPr/>
          <p:nvPr/>
        </p:nvSpPr>
        <p:spPr>
          <a:xfrm>
            <a:off x="4786314" y="5929330"/>
            <a:ext cx="2428892" cy="642942"/>
          </a:xfrm>
          <a:prstGeom prst="wedgeRoundRectCallout">
            <a:avLst>
              <a:gd name="adj1" fmla="val 61442"/>
              <a:gd name="adj2" fmla="val -831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用例责任人确保用例全部通过</a:t>
            </a:r>
            <a:endParaRPr lang="en-US" altLang="zh-CN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资料开发提交流程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Smiley Face 7"/>
          <p:cNvSpPr/>
          <p:nvPr/>
        </p:nvSpPr>
        <p:spPr>
          <a:xfrm>
            <a:off x="2393848" y="2369572"/>
            <a:ext cx="500066" cy="500066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071670" y="20002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开发人员</a:t>
            </a:r>
            <a:endParaRPr lang="zh-CN" alt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1357290" y="3155390"/>
            <a:ext cx="264320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设计资料</a:t>
            </a:r>
            <a:endParaRPr lang="zh-CN" alt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1357290" y="4012646"/>
            <a:ext cx="264320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资料设计评审会</a:t>
            </a:r>
            <a:endParaRPr lang="zh-CN" alt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1357290" y="4869902"/>
            <a:ext cx="264320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资料开发</a:t>
            </a:r>
            <a:r>
              <a:rPr lang="en-US" altLang="zh-CN" dirty="0" smtClean="0"/>
              <a:t>+</a:t>
            </a:r>
            <a:r>
              <a:rPr lang="zh-CN" altLang="en-US" dirty="0" smtClean="0"/>
              <a:t>检视</a:t>
            </a:r>
            <a:endParaRPr lang="zh-CN" altLang="en-US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4500562" y="2369572"/>
            <a:ext cx="4214842" cy="773676"/>
          </a:xfrm>
          <a:prstGeom prst="wedgeRoundRectCallout">
            <a:avLst>
              <a:gd name="adj1" fmla="val -61533"/>
              <a:gd name="adj2" fmla="val 60690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、按照</a:t>
            </a:r>
            <a:r>
              <a:rPr lang="en-US" altLang="zh-CN" sz="1400" b="1" dirty="0" smtClean="0">
                <a:solidFill>
                  <a:srgbClr val="C00000"/>
                </a:solidFill>
              </a:rPr>
              <a:t>《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资料设计规范</a:t>
            </a:r>
            <a:r>
              <a:rPr lang="en-US" altLang="zh-CN" sz="1400" b="1" dirty="0" smtClean="0">
                <a:solidFill>
                  <a:srgbClr val="C00000"/>
                </a:solidFill>
              </a:rPr>
              <a:t>》</a:t>
            </a:r>
            <a:r>
              <a:rPr lang="zh-CN" altLang="en-US" sz="1400" dirty="0" smtClean="0"/>
              <a:t>设计资料内容大纲，展现形式（格式、排版等）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、设计主要的对象，接口</a:t>
            </a:r>
            <a:endParaRPr lang="en-US" altLang="zh-CN" sz="1400" dirty="0" smtClean="0"/>
          </a:p>
        </p:txBody>
      </p:sp>
      <p:sp>
        <p:nvSpPr>
          <p:cNvPr id="15" name="Rounded Rectangular Callout 14"/>
          <p:cNvSpPr/>
          <p:nvPr/>
        </p:nvSpPr>
        <p:spPr>
          <a:xfrm>
            <a:off x="4500562" y="3643314"/>
            <a:ext cx="4214842" cy="500066"/>
          </a:xfrm>
          <a:prstGeom prst="wedgeRoundRectCallout">
            <a:avLst>
              <a:gd name="adj1" fmla="val -62071"/>
              <a:gd name="adj2" fmla="val 5745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开发人员、测试人员、资料负责人共同参与</a:t>
            </a:r>
            <a:endParaRPr lang="en-US" altLang="zh-CN" sz="1400" dirty="0" smtClean="0"/>
          </a:p>
        </p:txBody>
      </p:sp>
      <p:sp>
        <p:nvSpPr>
          <p:cNvPr id="16" name="Rounded Rectangular Callout 15"/>
          <p:cNvSpPr/>
          <p:nvPr/>
        </p:nvSpPr>
        <p:spPr>
          <a:xfrm>
            <a:off x="4500562" y="4369836"/>
            <a:ext cx="4214842" cy="1273742"/>
          </a:xfrm>
          <a:prstGeom prst="wedgeRoundRectCallout">
            <a:avLst>
              <a:gd name="adj1" fmla="val -60491"/>
              <a:gd name="adj2" fmla="val -1793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、开发人员根据</a:t>
            </a:r>
            <a:r>
              <a:rPr lang="en-US" altLang="zh-CN" sz="1400" b="1" dirty="0" smtClean="0">
                <a:solidFill>
                  <a:srgbClr val="C00000"/>
                </a:solidFill>
              </a:rPr>
              <a:t>《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资料编写规范</a:t>
            </a:r>
            <a:r>
              <a:rPr lang="en-US" altLang="zh-CN" sz="1400" b="1" dirty="0" smtClean="0">
                <a:solidFill>
                  <a:srgbClr val="C00000"/>
                </a:solidFill>
              </a:rPr>
              <a:t>》</a:t>
            </a:r>
            <a:r>
              <a:rPr lang="zh-CN" altLang="en-US" sz="1400" dirty="0" smtClean="0"/>
              <a:t>编写资料内容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、资料负责人和测试人员每天投入进行资料设计和资料内检视</a:t>
            </a:r>
            <a:endParaRPr lang="en-US" altLang="zh-CN" sz="1400" dirty="0" smtClean="0"/>
          </a:p>
          <a:p>
            <a:r>
              <a:rPr lang="en-US" altLang="zh-CN" sz="1400" dirty="0" smtClean="0"/>
              <a:t>3</a:t>
            </a:r>
            <a:r>
              <a:rPr lang="zh-CN" altLang="en-US" sz="1400" dirty="0" smtClean="0"/>
              <a:t>、开发人员、资料负责人、测试人员每天进行检视会议讨论</a:t>
            </a:r>
            <a:endParaRPr lang="en-US" altLang="zh-CN" sz="1400" dirty="0" smtClean="0"/>
          </a:p>
        </p:txBody>
      </p:sp>
      <p:sp>
        <p:nvSpPr>
          <p:cNvPr id="18" name="Down Arrow 17"/>
          <p:cNvSpPr/>
          <p:nvPr/>
        </p:nvSpPr>
        <p:spPr>
          <a:xfrm>
            <a:off x="2465286" y="2941076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Down Arrow 18"/>
          <p:cNvSpPr/>
          <p:nvPr/>
        </p:nvSpPr>
        <p:spPr>
          <a:xfrm>
            <a:off x="2465286" y="372689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Down Arrow 19"/>
          <p:cNvSpPr/>
          <p:nvPr/>
        </p:nvSpPr>
        <p:spPr>
          <a:xfrm>
            <a:off x="2465286" y="4584150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Down Arrow 20"/>
          <p:cNvSpPr/>
          <p:nvPr/>
        </p:nvSpPr>
        <p:spPr>
          <a:xfrm>
            <a:off x="2465286" y="5441406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ounded Rectangle 35"/>
          <p:cNvSpPr/>
          <p:nvPr/>
        </p:nvSpPr>
        <p:spPr>
          <a:xfrm>
            <a:off x="1357290" y="5715016"/>
            <a:ext cx="2643206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提交资料测试</a:t>
            </a:r>
            <a:endParaRPr lang="zh-CN" altLang="en-US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4500562" y="5857892"/>
            <a:ext cx="4214842" cy="500066"/>
          </a:xfrm>
          <a:prstGeom prst="wedgeRoundRectCallout">
            <a:avLst>
              <a:gd name="adj1" fmla="val -60939"/>
              <a:gd name="adj2" fmla="val -15685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测试人员对资料进行全面测试（资料形式，语言描述，内容正确性，外观美观性等）</a:t>
            </a:r>
            <a:endParaRPr lang="en-US" altLang="zh-CN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版本迭代和发布流程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14282" y="1785926"/>
            <a:ext cx="8715436" cy="4929222"/>
          </a:xfrm>
          <a:prstGeom prst="roundRect">
            <a:avLst>
              <a:gd name="adj" fmla="val 594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Straight Connector 4"/>
          <p:cNvCxnSpPr>
            <a:stCxn id="4" idx="0"/>
            <a:endCxn id="4" idx="2"/>
          </p:cNvCxnSpPr>
          <p:nvPr/>
        </p:nvCxnSpPr>
        <p:spPr>
          <a:xfrm rot="16200000" flipH="1">
            <a:off x="2107389" y="4250537"/>
            <a:ext cx="4929222" cy="1588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639791" y="1857364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solidFill>
                  <a:srgbClr val="C00000"/>
                </a:solidFill>
              </a:rPr>
              <a:t>版本迭代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10375" y="1857364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</a:rPr>
              <a:t>版本发布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8" name="Smiley Face 7"/>
          <p:cNvSpPr/>
          <p:nvPr/>
        </p:nvSpPr>
        <p:spPr>
          <a:xfrm>
            <a:off x="785786" y="2714620"/>
            <a:ext cx="500066" cy="500066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63608" y="23452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开发经理</a:t>
            </a:r>
            <a:endParaRPr lang="zh-CN" alt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28596" y="350043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规划迭代计划</a:t>
            </a:r>
            <a:endParaRPr lang="zh-CN" altLang="en-US" sz="1400" dirty="0"/>
          </a:p>
        </p:txBody>
      </p:sp>
      <p:sp>
        <p:nvSpPr>
          <p:cNvPr id="11" name="Rounded Rectangle 10"/>
          <p:cNvSpPr/>
          <p:nvPr/>
        </p:nvSpPr>
        <p:spPr>
          <a:xfrm>
            <a:off x="428596" y="4357694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迭代会议</a:t>
            </a:r>
            <a:endParaRPr lang="zh-CN" altLang="en-US"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428596" y="5214950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/>
              <a:t>Story</a:t>
            </a:r>
            <a:r>
              <a:rPr lang="zh-CN" altLang="en-US" sz="1200" dirty="0" smtClean="0"/>
              <a:t>开发期</a:t>
            </a:r>
            <a:endParaRPr lang="zh-CN" altLang="en-US" sz="1200" dirty="0"/>
          </a:p>
        </p:txBody>
      </p:sp>
      <p:sp>
        <p:nvSpPr>
          <p:cNvPr id="13" name="Rounded Rectangle 12"/>
          <p:cNvSpPr/>
          <p:nvPr/>
        </p:nvSpPr>
        <p:spPr>
          <a:xfrm>
            <a:off x="428596" y="600076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迭代版本交付测试</a:t>
            </a:r>
            <a:endParaRPr lang="zh-CN" altLang="en-US" sz="1200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2000232" y="2714620"/>
            <a:ext cx="2428892" cy="1000132"/>
          </a:xfrm>
          <a:prstGeom prst="wedgeRoundRectCallout">
            <a:avLst>
              <a:gd name="adj1" fmla="val -61537"/>
              <a:gd name="adj2" fmla="val 4420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、收集客户需求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、收集售前实施需求</a:t>
            </a:r>
            <a:endParaRPr lang="en-US" altLang="zh-CN" sz="1400" dirty="0" smtClean="0"/>
          </a:p>
          <a:p>
            <a:r>
              <a:rPr lang="en-US" altLang="zh-CN" sz="1400" dirty="0" smtClean="0"/>
              <a:t>3</a:t>
            </a:r>
            <a:r>
              <a:rPr lang="zh-CN" altLang="en-US" sz="1400" dirty="0" smtClean="0"/>
              <a:t>、从竞争分析总结需求</a:t>
            </a:r>
            <a:endParaRPr lang="en-US" altLang="zh-CN" sz="1400" dirty="0" smtClean="0"/>
          </a:p>
        </p:txBody>
      </p:sp>
      <p:sp>
        <p:nvSpPr>
          <p:cNvPr id="15" name="Rounded Rectangular Callout 14"/>
          <p:cNvSpPr/>
          <p:nvPr/>
        </p:nvSpPr>
        <p:spPr>
          <a:xfrm>
            <a:off x="2000232" y="4000504"/>
            <a:ext cx="2428892" cy="714380"/>
          </a:xfrm>
          <a:prstGeom prst="wedgeRoundRectCallout">
            <a:avLst>
              <a:gd name="adj1" fmla="val -61537"/>
              <a:gd name="adj2" fmla="val 4420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组织迭代会议，讨论下一迭代开发、测试计划和分员分配</a:t>
            </a:r>
            <a:endParaRPr lang="en-US" altLang="zh-CN" sz="1400" dirty="0" smtClean="0"/>
          </a:p>
        </p:txBody>
      </p:sp>
      <p:sp>
        <p:nvSpPr>
          <p:cNvPr id="17" name="Rounded Rectangular Callout 16"/>
          <p:cNvSpPr/>
          <p:nvPr/>
        </p:nvSpPr>
        <p:spPr>
          <a:xfrm>
            <a:off x="2000232" y="5929330"/>
            <a:ext cx="2428892" cy="642942"/>
          </a:xfrm>
          <a:prstGeom prst="wedgeRoundRectCallout">
            <a:avLst>
              <a:gd name="adj1" fmla="val -62039"/>
              <a:gd name="adj2" fmla="val 8651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测试经理规划迭代版本测试</a:t>
            </a:r>
            <a:endParaRPr lang="en-US" altLang="zh-CN" sz="1400" dirty="0" smtClean="0"/>
          </a:p>
        </p:txBody>
      </p:sp>
      <p:sp>
        <p:nvSpPr>
          <p:cNvPr id="18" name="Down Arrow 17"/>
          <p:cNvSpPr/>
          <p:nvPr/>
        </p:nvSpPr>
        <p:spPr>
          <a:xfrm>
            <a:off x="857224" y="328612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Down Arrow 18"/>
          <p:cNvSpPr/>
          <p:nvPr/>
        </p:nvSpPr>
        <p:spPr>
          <a:xfrm>
            <a:off x="857224" y="4071942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Down Arrow 19"/>
          <p:cNvSpPr/>
          <p:nvPr/>
        </p:nvSpPr>
        <p:spPr>
          <a:xfrm>
            <a:off x="857224" y="4929198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Down Arrow 20"/>
          <p:cNvSpPr/>
          <p:nvPr/>
        </p:nvSpPr>
        <p:spPr>
          <a:xfrm>
            <a:off x="857224" y="578645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Smiley Face 21"/>
          <p:cNvSpPr/>
          <p:nvPr/>
        </p:nvSpPr>
        <p:spPr>
          <a:xfrm>
            <a:off x="7916319" y="2428868"/>
            <a:ext cx="500066" cy="500066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500958" y="205953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版本负责人</a:t>
            </a:r>
            <a:endParaRPr lang="zh-CN" alt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7500958" y="314324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汇总问题和需求（前</a:t>
            </a:r>
            <a:r>
              <a:rPr lang="en-US" altLang="zh-CN" sz="1200" dirty="0" smtClean="0"/>
              <a:t>18</a:t>
            </a:r>
            <a:r>
              <a:rPr lang="zh-CN" altLang="en-US" sz="1200" dirty="0" smtClean="0"/>
              <a:t>天）</a:t>
            </a:r>
            <a:endParaRPr lang="zh-CN" altLang="en-US" sz="1200" dirty="0"/>
          </a:p>
        </p:txBody>
      </p:sp>
      <p:sp>
        <p:nvSpPr>
          <p:cNvPr id="25" name="Rounded Rectangle 24"/>
          <p:cNvSpPr/>
          <p:nvPr/>
        </p:nvSpPr>
        <p:spPr>
          <a:xfrm>
            <a:off x="7500958" y="385762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编译版本包（前</a:t>
            </a:r>
            <a:r>
              <a:rPr lang="en-US" altLang="zh-CN" sz="1200" dirty="0" smtClean="0"/>
              <a:t>16</a:t>
            </a:r>
            <a:r>
              <a:rPr lang="zh-CN" altLang="en-US" sz="1200" dirty="0" smtClean="0"/>
              <a:t>天）</a:t>
            </a:r>
            <a:endParaRPr lang="zh-CN" altLang="en-US" sz="1200" dirty="0"/>
          </a:p>
        </p:txBody>
      </p:sp>
      <p:sp>
        <p:nvSpPr>
          <p:cNvPr id="26" name="Rounded Rectangle 25"/>
          <p:cNvSpPr/>
          <p:nvPr/>
        </p:nvSpPr>
        <p:spPr>
          <a:xfrm>
            <a:off x="7500958" y="457200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启动测试和检测（前</a:t>
            </a:r>
            <a:r>
              <a:rPr lang="en-US" altLang="zh-CN" sz="1200" dirty="0" smtClean="0"/>
              <a:t>14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7500958" y="528638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发布</a:t>
            </a:r>
            <a:endParaRPr lang="zh-CN" altLang="en-US" sz="1200" dirty="0"/>
          </a:p>
        </p:txBody>
      </p:sp>
      <p:sp>
        <p:nvSpPr>
          <p:cNvPr id="28" name="Down Arrow 27"/>
          <p:cNvSpPr/>
          <p:nvPr/>
        </p:nvSpPr>
        <p:spPr>
          <a:xfrm>
            <a:off x="7964598" y="292893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Down Arrow 28"/>
          <p:cNvSpPr/>
          <p:nvPr/>
        </p:nvSpPr>
        <p:spPr>
          <a:xfrm>
            <a:off x="7964598" y="364331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Down Arrow 29"/>
          <p:cNvSpPr/>
          <p:nvPr/>
        </p:nvSpPr>
        <p:spPr>
          <a:xfrm>
            <a:off x="7964598" y="435769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Down Arrow 30"/>
          <p:cNvSpPr/>
          <p:nvPr/>
        </p:nvSpPr>
        <p:spPr>
          <a:xfrm>
            <a:off x="7964598" y="507207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Rounded Rectangular Callout 31"/>
          <p:cNvSpPr/>
          <p:nvPr/>
        </p:nvSpPr>
        <p:spPr>
          <a:xfrm>
            <a:off x="4786314" y="2214554"/>
            <a:ext cx="2428892" cy="1143008"/>
          </a:xfrm>
          <a:prstGeom prst="wedgeRoundRectCallout">
            <a:avLst>
              <a:gd name="adj1" fmla="val 60941"/>
              <a:gd name="adj2" fmla="val 44207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 smtClean="0"/>
              <a:t>1</a:t>
            </a:r>
            <a:r>
              <a:rPr lang="zh-CN" altLang="en-US" sz="1200" dirty="0" smtClean="0"/>
              <a:t>、汇总问题和需求，起草</a:t>
            </a:r>
            <a:r>
              <a:rPr lang="en-US" altLang="zh-CN" sz="1200" dirty="0" smtClean="0"/>
              <a:t>《</a:t>
            </a:r>
            <a:r>
              <a:rPr lang="zh-CN" altLang="en-US" sz="1200" dirty="0" smtClean="0"/>
              <a:t>版本发布说明书</a:t>
            </a:r>
            <a:r>
              <a:rPr lang="en-US" altLang="zh-CN" sz="1200" dirty="0" smtClean="0"/>
              <a:t>》</a:t>
            </a:r>
          </a:p>
          <a:p>
            <a:r>
              <a:rPr lang="en-US" altLang="zh-CN" sz="1200" dirty="0" smtClean="0"/>
              <a:t>2</a:t>
            </a:r>
            <a:r>
              <a:rPr lang="zh-CN" altLang="en-US" sz="1200" dirty="0" smtClean="0"/>
              <a:t>、跟踪和确保问题和需求落实代码，问题测试是否完成</a:t>
            </a:r>
            <a:endParaRPr lang="en-US" altLang="zh-CN" sz="1200" dirty="0" smtClean="0"/>
          </a:p>
          <a:p>
            <a:r>
              <a:rPr lang="en-US" altLang="zh-CN" sz="1200" dirty="0" smtClean="0"/>
              <a:t>3</a:t>
            </a:r>
            <a:r>
              <a:rPr lang="zh-CN" altLang="en-US" sz="1200" dirty="0" smtClean="0"/>
              <a:t>、确保资料是否完成</a:t>
            </a:r>
            <a:endParaRPr lang="en-US" altLang="zh-CN" sz="1200" dirty="0" smtClean="0"/>
          </a:p>
        </p:txBody>
      </p:sp>
      <p:sp>
        <p:nvSpPr>
          <p:cNvPr id="34" name="Rounded Rectangular Callout 33"/>
          <p:cNvSpPr/>
          <p:nvPr/>
        </p:nvSpPr>
        <p:spPr>
          <a:xfrm>
            <a:off x="4786314" y="4500570"/>
            <a:ext cx="2428892" cy="928694"/>
          </a:xfrm>
          <a:prstGeom prst="wedgeRoundRectCallout">
            <a:avLst>
              <a:gd name="adj1" fmla="val 60439"/>
              <a:gd name="adj2" fmla="val -12979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 smtClean="0">
                <a:solidFill>
                  <a:schemeClr val="bg1"/>
                </a:solidFill>
              </a:rPr>
              <a:t>1</a:t>
            </a:r>
            <a:r>
              <a:rPr lang="zh-CN" altLang="en-US" sz="1200" dirty="0" smtClean="0">
                <a:solidFill>
                  <a:schemeClr val="bg1"/>
                </a:solidFill>
              </a:rPr>
              <a:t>、启动测试和开发自验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r>
              <a:rPr lang="en-US" altLang="zh-CN" sz="1200" dirty="0" smtClean="0">
                <a:solidFill>
                  <a:schemeClr val="bg1"/>
                </a:solidFill>
              </a:rPr>
              <a:t>2</a:t>
            </a:r>
            <a:r>
              <a:rPr lang="zh-CN" altLang="en-US" sz="1200" dirty="0" smtClean="0">
                <a:solidFill>
                  <a:schemeClr val="bg1"/>
                </a:solidFill>
              </a:rPr>
              <a:t>、根据</a:t>
            </a:r>
            <a:r>
              <a:rPr lang="en-US" altLang="zh-CN" sz="1200" dirty="0" smtClean="0">
                <a:solidFill>
                  <a:schemeClr val="bg1"/>
                </a:solidFill>
              </a:rPr>
              <a:t>《</a:t>
            </a:r>
            <a:r>
              <a:rPr lang="zh-CN" altLang="en-US" sz="1200" dirty="0" smtClean="0">
                <a:solidFill>
                  <a:schemeClr val="bg1"/>
                </a:solidFill>
              </a:rPr>
              <a:t>版本发布说明书</a:t>
            </a:r>
            <a:r>
              <a:rPr lang="en-US" altLang="zh-CN" sz="1200" dirty="0" smtClean="0">
                <a:solidFill>
                  <a:schemeClr val="bg1"/>
                </a:solidFill>
              </a:rPr>
              <a:t>》</a:t>
            </a:r>
            <a:r>
              <a:rPr lang="zh-CN" altLang="en-US" sz="1200" dirty="0" smtClean="0">
                <a:solidFill>
                  <a:schemeClr val="bg1"/>
                </a:solidFill>
              </a:rPr>
              <a:t>进行各环节确认工作并由责任人签字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r>
              <a:rPr lang="en-US" altLang="zh-CN" sz="1200" dirty="0" smtClean="0">
                <a:solidFill>
                  <a:schemeClr val="bg1"/>
                </a:solidFill>
              </a:rPr>
              <a:t>3</a:t>
            </a:r>
            <a:r>
              <a:rPr lang="zh-CN" altLang="en-US" sz="1200" dirty="0" smtClean="0">
                <a:solidFill>
                  <a:schemeClr val="bg1"/>
                </a:solidFill>
              </a:rPr>
              <a:t>、启动性能和稳定性等测试</a:t>
            </a:r>
            <a:endParaRPr lang="en-US" altLang="zh-CN" sz="1200" dirty="0" smtClean="0">
              <a:solidFill>
                <a:schemeClr val="bg1"/>
              </a:solidFill>
            </a:endParaRPr>
          </a:p>
        </p:txBody>
      </p:sp>
      <p:sp>
        <p:nvSpPr>
          <p:cNvPr id="36" name="Rounded Rectangular Callout 35"/>
          <p:cNvSpPr/>
          <p:nvPr/>
        </p:nvSpPr>
        <p:spPr>
          <a:xfrm>
            <a:off x="4786314" y="3429000"/>
            <a:ext cx="2428892" cy="1000132"/>
          </a:xfrm>
          <a:prstGeom prst="wedgeRoundRectCallout">
            <a:avLst>
              <a:gd name="adj1" fmla="val 59959"/>
              <a:gd name="adj2" fmla="val 2194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 smtClean="0"/>
              <a:t>1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SVN</a:t>
            </a:r>
            <a:r>
              <a:rPr lang="zh-CN" altLang="en-US" sz="1200" dirty="0" smtClean="0"/>
              <a:t>锁库</a:t>
            </a:r>
            <a:endParaRPr lang="en-US" altLang="zh-CN" sz="1200" dirty="0" smtClean="0"/>
          </a:p>
          <a:p>
            <a:r>
              <a:rPr lang="en-US" altLang="zh-CN" sz="1200" dirty="0" smtClean="0"/>
              <a:t>2</a:t>
            </a:r>
            <a:r>
              <a:rPr lang="zh-CN" altLang="en-US" sz="1200" dirty="0" smtClean="0"/>
              <a:t>、打版本</a:t>
            </a:r>
            <a:r>
              <a:rPr lang="en-US" altLang="zh-CN" sz="1200" dirty="0" smtClean="0"/>
              <a:t>Tag</a:t>
            </a:r>
          </a:p>
          <a:p>
            <a:r>
              <a:rPr lang="en-US" altLang="zh-CN" sz="1200" dirty="0" smtClean="0"/>
              <a:t>3</a:t>
            </a:r>
            <a:r>
              <a:rPr lang="zh-CN" altLang="en-US" sz="1200" dirty="0" smtClean="0"/>
              <a:t>、触发</a:t>
            </a:r>
            <a:r>
              <a:rPr lang="en-US" altLang="zh-CN" sz="1200" dirty="0" smtClean="0"/>
              <a:t>CI</a:t>
            </a:r>
            <a:r>
              <a:rPr lang="zh-CN" altLang="en-US" sz="1200" dirty="0" smtClean="0"/>
              <a:t>编译版本包和测试，检察版本包和资料完整性</a:t>
            </a:r>
            <a:endParaRPr lang="en-US" altLang="zh-CN" sz="1200" dirty="0" smtClean="0"/>
          </a:p>
          <a:p>
            <a:r>
              <a:rPr lang="en-US" altLang="zh-CN" sz="1200" dirty="0" smtClean="0"/>
              <a:t>4</a:t>
            </a:r>
            <a:r>
              <a:rPr lang="zh-CN" altLang="en-US" sz="1200" dirty="0" smtClean="0"/>
              <a:t>、完善</a:t>
            </a:r>
            <a:r>
              <a:rPr lang="en-US" altLang="zh-CN" sz="1200" dirty="0" smtClean="0"/>
              <a:t>《</a:t>
            </a:r>
            <a:r>
              <a:rPr lang="zh-CN" altLang="en-US" sz="1200" dirty="0" smtClean="0"/>
              <a:t>版本发布说明书</a:t>
            </a:r>
            <a:r>
              <a:rPr lang="en-US" altLang="zh-CN" sz="1200" dirty="0" smtClean="0"/>
              <a:t>》</a:t>
            </a:r>
          </a:p>
        </p:txBody>
      </p:sp>
      <p:sp>
        <p:nvSpPr>
          <p:cNvPr id="37" name="Rounded Rectangular Callout 36"/>
          <p:cNvSpPr/>
          <p:nvPr/>
        </p:nvSpPr>
        <p:spPr>
          <a:xfrm>
            <a:off x="4786314" y="5500702"/>
            <a:ext cx="2428892" cy="500066"/>
          </a:xfrm>
          <a:prstGeom prst="wedgeRoundRectCallout">
            <a:avLst>
              <a:gd name="adj1" fmla="val 60766"/>
              <a:gd name="adj2" fmla="val -40270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 smtClean="0">
                <a:solidFill>
                  <a:schemeClr val="bg1"/>
                </a:solidFill>
              </a:rPr>
              <a:t>根据各环节检验数据（包括问题单确认）确认版本是否发布？</a:t>
            </a:r>
            <a:endParaRPr lang="en-US" altLang="zh-CN" sz="1200" dirty="0" smtClean="0">
              <a:solidFill>
                <a:schemeClr val="bg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500958" y="6000768"/>
            <a:ext cx="1285884" cy="5000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版本回顾会议</a:t>
            </a:r>
            <a:endParaRPr lang="zh-CN" altLang="en-US" sz="1200" dirty="0"/>
          </a:p>
        </p:txBody>
      </p:sp>
      <p:sp>
        <p:nvSpPr>
          <p:cNvPr id="38" name="Down Arrow 37"/>
          <p:cNvSpPr/>
          <p:nvPr/>
        </p:nvSpPr>
        <p:spPr>
          <a:xfrm>
            <a:off x="8001024" y="5786454"/>
            <a:ext cx="393616" cy="214314"/>
          </a:xfrm>
          <a:prstGeom prst="down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Rounded Rectangular Callout 38"/>
          <p:cNvSpPr/>
          <p:nvPr/>
        </p:nvSpPr>
        <p:spPr>
          <a:xfrm>
            <a:off x="4786314" y="6072206"/>
            <a:ext cx="2428892" cy="571504"/>
          </a:xfrm>
          <a:prstGeom prst="wedgeRoundRectCallout">
            <a:avLst>
              <a:gd name="adj1" fmla="val 60766"/>
              <a:gd name="adj2" fmla="val -40270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 smtClean="0">
                <a:solidFill>
                  <a:schemeClr val="bg1"/>
                </a:solidFill>
              </a:rPr>
              <a:t>总结版本优秀实践和改进点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r>
              <a:rPr lang="zh-CN" altLang="en-US" sz="1200" dirty="0" smtClean="0">
                <a:solidFill>
                  <a:schemeClr val="bg1"/>
                </a:solidFill>
              </a:rPr>
              <a:t>总结版本优秀特性，代码，用例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r>
              <a:rPr lang="zh-CN" altLang="en-US" sz="1200" dirty="0" smtClean="0">
                <a:solidFill>
                  <a:schemeClr val="bg1"/>
                </a:solidFill>
              </a:rPr>
              <a:t>评选版本优秀员工</a:t>
            </a:r>
            <a:endParaRPr lang="en-US" altLang="zh-CN" sz="12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沟通和管理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2143116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项目例会</a:t>
            </a:r>
            <a:endParaRPr lang="zh-CN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642910" y="3071810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版本迭代会议</a:t>
            </a:r>
            <a:endParaRPr lang="zh-CN" alt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42910" y="3929066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每日站立会议</a:t>
            </a:r>
            <a:endParaRPr lang="zh-CN" alt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42910" y="4857760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变更控制评审会</a:t>
            </a:r>
            <a:endParaRPr lang="zh-CN" alt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642910" y="5715016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周报</a:t>
            </a:r>
            <a:r>
              <a:rPr lang="en-US" altLang="zh-CN" dirty="0" smtClean="0"/>
              <a:t>/</a:t>
            </a:r>
            <a:r>
              <a:rPr lang="zh-CN" altLang="en-US" dirty="0" smtClean="0"/>
              <a:t>月报</a:t>
            </a:r>
            <a:endParaRPr lang="zh-CN" alt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4643438" y="1714488"/>
            <a:ext cx="4214842" cy="1214446"/>
          </a:xfrm>
          <a:prstGeom prst="wedgeRoundRectCallout">
            <a:avLst>
              <a:gd name="adj1" fmla="val -63014"/>
              <a:gd name="adj2" fmla="val 3660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开发和测试分开进行，由要全本参与</a:t>
            </a:r>
            <a:endParaRPr lang="en-US" altLang="zh-CN" sz="1400" dirty="0" smtClean="0"/>
          </a:p>
          <a:p>
            <a:r>
              <a:rPr lang="zh-CN" altLang="en-US" sz="1400" dirty="0" smtClean="0"/>
              <a:t>会议以周为单位，时间由开发测试自定</a:t>
            </a:r>
            <a:endParaRPr lang="en-US" altLang="zh-CN" sz="1400" dirty="0" smtClean="0"/>
          </a:p>
          <a:p>
            <a:r>
              <a:rPr lang="zh-CN" altLang="en-US" sz="1400" dirty="0" smtClean="0"/>
              <a:t>目的：根踪本周任务执行状况，困难，进展以及其它事务</a:t>
            </a:r>
            <a:endParaRPr lang="en-US" altLang="zh-CN" sz="1400" dirty="0" smtClean="0"/>
          </a:p>
          <a:p>
            <a:r>
              <a:rPr lang="zh-CN" altLang="en-US" sz="1400" dirty="0" smtClean="0"/>
              <a:t>会议主持：由开发和测试自定</a:t>
            </a:r>
            <a:endParaRPr lang="en-US" altLang="zh-CN" sz="1400" dirty="0" smtClean="0"/>
          </a:p>
        </p:txBody>
      </p:sp>
      <p:sp>
        <p:nvSpPr>
          <p:cNvPr id="10" name="Rounded Rectangular Callout 9"/>
          <p:cNvSpPr/>
          <p:nvPr/>
        </p:nvSpPr>
        <p:spPr>
          <a:xfrm>
            <a:off x="4643438" y="3000372"/>
            <a:ext cx="4214842" cy="1071570"/>
          </a:xfrm>
          <a:prstGeom prst="wedgeRoundRectCallout">
            <a:avLst>
              <a:gd name="adj1" fmla="val -62825"/>
              <a:gd name="adj2" fmla="val -8265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版本迭代开始之前进行，原则上每个月一次</a:t>
            </a:r>
            <a:endParaRPr lang="en-US" altLang="zh-CN" sz="1400" dirty="0" smtClean="0"/>
          </a:p>
          <a:p>
            <a:r>
              <a:rPr lang="zh-CN" altLang="en-US" sz="1400" dirty="0" smtClean="0"/>
              <a:t>要求开发和测试全体参与</a:t>
            </a:r>
            <a:endParaRPr lang="en-US" altLang="zh-CN" sz="1400" dirty="0" smtClean="0"/>
          </a:p>
          <a:p>
            <a:r>
              <a:rPr lang="zh-CN" altLang="en-US" sz="1400" dirty="0" smtClean="0"/>
              <a:t>目的：规则下一迭代版本的功能需求、开发计划和测试计划</a:t>
            </a:r>
            <a:endParaRPr lang="en-US" altLang="zh-CN" sz="1400" dirty="0" smtClean="0"/>
          </a:p>
          <a:p>
            <a:r>
              <a:rPr lang="zh-CN" altLang="en-US" sz="1400" dirty="0" smtClean="0"/>
              <a:t>会议主持：开发经理</a:t>
            </a:r>
            <a:endParaRPr lang="en-US" altLang="zh-CN" sz="1400" dirty="0" smtClean="0"/>
          </a:p>
        </p:txBody>
      </p:sp>
      <p:sp>
        <p:nvSpPr>
          <p:cNvPr id="11" name="Rounded Rectangular Callout 10"/>
          <p:cNvSpPr/>
          <p:nvPr/>
        </p:nvSpPr>
        <p:spPr>
          <a:xfrm>
            <a:off x="4643438" y="4214818"/>
            <a:ext cx="4214842" cy="571504"/>
          </a:xfrm>
          <a:prstGeom prst="wedgeRoundRectCallout">
            <a:avLst>
              <a:gd name="adj1" fmla="val -62825"/>
              <a:gd name="adj2" fmla="val -44439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开发和测试分开进行，控制在</a:t>
            </a:r>
            <a:r>
              <a:rPr lang="en-US" altLang="zh-CN" sz="1400" dirty="0" smtClean="0"/>
              <a:t>20</a:t>
            </a:r>
            <a:r>
              <a:rPr lang="zh-CN" altLang="en-US" sz="1400" dirty="0" smtClean="0"/>
              <a:t>分钟内，汇报昨天完成的工作以及今天计划完成的工作，反馈困难</a:t>
            </a:r>
            <a:endParaRPr lang="en-US" altLang="zh-CN" sz="1400" dirty="0" smtClean="0"/>
          </a:p>
        </p:txBody>
      </p:sp>
      <p:sp>
        <p:nvSpPr>
          <p:cNvPr id="12" name="Rounded Rectangular Callout 11"/>
          <p:cNvSpPr/>
          <p:nvPr/>
        </p:nvSpPr>
        <p:spPr>
          <a:xfrm>
            <a:off x="4643438" y="4857760"/>
            <a:ext cx="4214842" cy="928694"/>
          </a:xfrm>
          <a:prstGeom prst="wedgeRoundRectCallout">
            <a:avLst>
              <a:gd name="adj1" fmla="val -62825"/>
              <a:gd name="adj2" fmla="val -22879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根据具体需要举行，目的：</a:t>
            </a:r>
            <a:endParaRPr lang="en-US" altLang="zh-CN" sz="1400" dirty="0" smtClean="0"/>
          </a:p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、解决技术冲突仲裁，需求变更仲裁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、解决任务分配冲突仲裁</a:t>
            </a:r>
            <a:endParaRPr lang="en-US" altLang="zh-CN" sz="1400" dirty="0" smtClean="0"/>
          </a:p>
          <a:p>
            <a:r>
              <a:rPr lang="zh-CN" altLang="en-US" sz="1400" dirty="0" smtClean="0"/>
              <a:t>测试</a:t>
            </a:r>
            <a:r>
              <a:rPr lang="en-US" altLang="zh-CN" sz="1400" dirty="0" smtClean="0"/>
              <a:t>/</a:t>
            </a:r>
            <a:r>
              <a:rPr lang="zh-CN" altLang="en-US" sz="1400" dirty="0" smtClean="0"/>
              <a:t>开发相关人员和开发经理</a:t>
            </a:r>
            <a:r>
              <a:rPr lang="en-US" altLang="zh-CN" sz="1400" dirty="0" smtClean="0"/>
              <a:t>/</a:t>
            </a:r>
            <a:r>
              <a:rPr lang="zh-CN" altLang="en-US" sz="1400" dirty="0" smtClean="0"/>
              <a:t>测试经理参与</a:t>
            </a:r>
            <a:endParaRPr lang="en-US" altLang="zh-CN" sz="1400" dirty="0" smtClean="0"/>
          </a:p>
        </p:txBody>
      </p:sp>
      <p:sp>
        <p:nvSpPr>
          <p:cNvPr id="13" name="Rounded Rectangular Callout 12"/>
          <p:cNvSpPr/>
          <p:nvPr/>
        </p:nvSpPr>
        <p:spPr>
          <a:xfrm>
            <a:off x="4643438" y="5857892"/>
            <a:ext cx="4214842" cy="785818"/>
          </a:xfrm>
          <a:prstGeom prst="wedgeRoundRectCallout">
            <a:avLst>
              <a:gd name="adj1" fmla="val -62825"/>
              <a:gd name="adj2" fmla="val -22879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/>
              <a:t>开发和测试人员每个月向开发或测试经理发送工作月报</a:t>
            </a:r>
            <a:endParaRPr lang="en-US" altLang="zh-CN" sz="1400" dirty="0" smtClean="0"/>
          </a:p>
          <a:p>
            <a:r>
              <a:rPr lang="zh-CN" altLang="en-US" sz="1400" dirty="0" smtClean="0"/>
              <a:t>开发经理和测试经理每周向项目经理发送工作周报</a:t>
            </a:r>
            <a:endParaRPr lang="en-US" altLang="zh-CN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团队技能提升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2214554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新员工培养制度</a:t>
            </a:r>
            <a:endParaRPr lang="zh-CN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642910" y="3500438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技术分享会议</a:t>
            </a:r>
            <a:endParaRPr lang="zh-CN" alt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42910" y="4786322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月度</a:t>
            </a:r>
            <a:r>
              <a:rPr lang="en-US" altLang="zh-CN" dirty="0" smtClean="0"/>
              <a:t>One-By-One Review</a:t>
            </a:r>
            <a:endParaRPr lang="zh-CN" altLang="en-US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4643438" y="1714488"/>
            <a:ext cx="4214842" cy="1643074"/>
          </a:xfrm>
          <a:prstGeom prst="wedgeRoundRectCallout">
            <a:avLst>
              <a:gd name="adj1" fmla="val -63014"/>
              <a:gd name="adj2" fmla="val 3660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新员工入职后分配导师，试用期内任务由导师分配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新员工试用期内每周向导师和开发经理</a:t>
            </a:r>
            <a:r>
              <a:rPr lang="en-US" altLang="zh-CN" sz="1400" dirty="0" smtClean="0"/>
              <a:t>/</a:t>
            </a:r>
            <a:r>
              <a:rPr lang="zh-CN" altLang="en-US" sz="1400" dirty="0" smtClean="0"/>
              <a:t>测试经理发送周报（学习和工作内容）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新员工入职进行基本技术和规范学习后，开展为期</a:t>
            </a:r>
            <a:r>
              <a:rPr lang="en-US" altLang="zh-CN" sz="1400" dirty="0" smtClean="0"/>
              <a:t>2</a:t>
            </a:r>
            <a:r>
              <a:rPr lang="zh-CN" altLang="en-US" sz="1400" dirty="0" smtClean="0"/>
              <a:t>星期的实地“项目演练”，演练通过才能安排到相关项目</a:t>
            </a:r>
            <a:endParaRPr lang="en-US" altLang="zh-CN" sz="1400" dirty="0" smtClean="0"/>
          </a:p>
        </p:txBody>
      </p:sp>
      <p:sp>
        <p:nvSpPr>
          <p:cNvPr id="9" name="Rounded Rectangular Callout 8"/>
          <p:cNvSpPr/>
          <p:nvPr/>
        </p:nvSpPr>
        <p:spPr>
          <a:xfrm>
            <a:off x="4643438" y="3500438"/>
            <a:ext cx="4214842" cy="1071570"/>
          </a:xfrm>
          <a:prstGeom prst="wedgeRoundRectCallout">
            <a:avLst>
              <a:gd name="adj1" fmla="val -62825"/>
              <a:gd name="adj2" fmla="val -1780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每</a:t>
            </a:r>
            <a:r>
              <a:rPr lang="en-US" altLang="zh-CN" sz="1400" dirty="0" smtClean="0"/>
              <a:t>2</a:t>
            </a:r>
            <a:r>
              <a:rPr lang="zh-CN" altLang="en-US" sz="1400" dirty="0" smtClean="0"/>
              <a:t>周举行一期（开发和测试分别举行一期）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由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培训经理</a:t>
            </a:r>
            <a:r>
              <a:rPr lang="zh-CN" altLang="en-US" sz="1400" dirty="0" smtClean="0"/>
              <a:t>按月度计划，内容包含但不限于：产品相关技术和设计、产品代码、业界技术、业界产品技术、测试技术、测试用例代码等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分享材料需要归档存放，用于新人学习</a:t>
            </a:r>
            <a:endParaRPr lang="en-US" altLang="zh-CN" sz="1400" dirty="0" smtClean="0"/>
          </a:p>
        </p:txBody>
      </p:sp>
      <p:sp>
        <p:nvSpPr>
          <p:cNvPr id="10" name="Rounded Rectangular Callout 9"/>
          <p:cNvSpPr/>
          <p:nvPr/>
        </p:nvSpPr>
        <p:spPr>
          <a:xfrm>
            <a:off x="4643438" y="4714884"/>
            <a:ext cx="4214842" cy="928694"/>
          </a:xfrm>
          <a:prstGeom prst="wedgeRoundRectCallout">
            <a:avLst>
              <a:gd name="adj1" fmla="val -62825"/>
              <a:gd name="adj2" fmla="val -1780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开发经理或测试经理对开发人员或测试人员进行</a:t>
            </a:r>
            <a:r>
              <a:rPr lang="en-US" altLang="zh-CN" sz="1400" dirty="0" smtClean="0"/>
              <a:t>Review</a:t>
            </a:r>
            <a:r>
              <a:rPr lang="zh-CN" altLang="en-US" sz="1400" dirty="0" smtClean="0"/>
              <a:t>，包括：月度工作评价、改进点、困难反馈、</a:t>
            </a:r>
            <a:r>
              <a:rPr lang="zh-CN" altLang="en-US" sz="1400" smtClean="0"/>
              <a:t>意见反馈</a:t>
            </a:r>
            <a:r>
              <a:rPr lang="zh-CN" altLang="en-US" sz="1400" dirty="0" smtClean="0"/>
              <a:t>等</a:t>
            </a:r>
            <a:endParaRPr lang="en-US" altLang="zh-CN" sz="1400" dirty="0" smtClean="0"/>
          </a:p>
        </p:txBody>
      </p:sp>
      <p:sp>
        <p:nvSpPr>
          <p:cNvPr id="11" name="Rounded Rectangle 10"/>
          <p:cNvSpPr/>
          <p:nvPr/>
        </p:nvSpPr>
        <p:spPr>
          <a:xfrm>
            <a:off x="642910" y="5857892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选举培训经理</a:t>
            </a:r>
            <a:endParaRPr lang="zh-CN" altLang="en-US" dirty="0"/>
          </a:p>
        </p:txBody>
      </p:sp>
      <p:sp>
        <p:nvSpPr>
          <p:cNvPr id="12" name="Rounded Rectangular Callout 11"/>
          <p:cNvSpPr/>
          <p:nvPr/>
        </p:nvSpPr>
        <p:spPr>
          <a:xfrm>
            <a:off x="4643438" y="5715016"/>
            <a:ext cx="4214842" cy="1071570"/>
          </a:xfrm>
          <a:prstGeom prst="wedgeRoundRectCallout">
            <a:avLst>
              <a:gd name="adj1" fmla="val -63580"/>
              <a:gd name="adj2" fmla="val -7532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zh-CN" altLang="en-US" sz="1400" dirty="0" smtClean="0"/>
              <a:t>李伟超</a:t>
            </a:r>
            <a:endParaRPr lang="en-US" altLang="zh-CN" sz="1400" dirty="0" smtClean="0"/>
          </a:p>
          <a:p>
            <a:pPr marL="342900" indent="-342900"/>
            <a:r>
              <a:rPr lang="en-US" altLang="zh-CN" sz="1400" dirty="0" smtClean="0"/>
              <a:t>1</a:t>
            </a:r>
            <a:r>
              <a:rPr lang="zh-CN" altLang="en-US" sz="1400" dirty="0" smtClean="0"/>
              <a:t>、收集培训需求，制订月度提升计划，包括对新员工的提升。</a:t>
            </a:r>
            <a:endParaRPr lang="en-US" altLang="zh-CN" sz="1400" dirty="0" smtClean="0"/>
          </a:p>
          <a:p>
            <a:pPr marL="342900" indent="-342900"/>
            <a:r>
              <a:rPr lang="en-US" altLang="zh-CN" sz="1400" dirty="0" smtClean="0"/>
              <a:t>2</a:t>
            </a:r>
            <a:r>
              <a:rPr lang="zh-CN" altLang="en-US" sz="1400" dirty="0" smtClean="0"/>
              <a:t>、收集培训材料并统筹安排。</a:t>
            </a:r>
            <a:endParaRPr lang="en-US" altLang="zh-CN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团队氛围建设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2214554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双周运动，强身健体</a:t>
            </a:r>
            <a:endParaRPr lang="zh-CN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642910" y="3571876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季度活动，增强团队精神</a:t>
            </a:r>
            <a:endParaRPr lang="zh-CN" alt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42910" y="5857892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选举活动经理</a:t>
            </a:r>
            <a:endParaRPr lang="zh-CN" altLang="en-US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4643438" y="2143116"/>
            <a:ext cx="4214842" cy="1071570"/>
          </a:xfrm>
          <a:prstGeom prst="wedgeRoundRectCallout">
            <a:avLst>
              <a:gd name="adj1" fmla="val -62825"/>
              <a:gd name="adj2" fmla="val -1780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每双周周六下午开展运动，形式：羽毛球、篮球、爬山、乒乓球、徒步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运动后提供每人预算不高于</a:t>
            </a:r>
            <a:r>
              <a:rPr lang="en-US" altLang="zh-CN" sz="1400" dirty="0" smtClean="0"/>
              <a:t>60</a:t>
            </a:r>
            <a:r>
              <a:rPr lang="zh-CN" altLang="en-US" sz="1400" dirty="0" smtClean="0"/>
              <a:t>元标准聚餐，提倡节俭  </a:t>
            </a:r>
            <a:endParaRPr lang="en-US" altLang="zh-CN" sz="1400" dirty="0" smtClean="0"/>
          </a:p>
        </p:txBody>
      </p:sp>
      <p:sp>
        <p:nvSpPr>
          <p:cNvPr id="8" name="Rounded Rectangular Callout 7"/>
          <p:cNvSpPr/>
          <p:nvPr/>
        </p:nvSpPr>
        <p:spPr>
          <a:xfrm>
            <a:off x="4643438" y="3500438"/>
            <a:ext cx="4214842" cy="857256"/>
          </a:xfrm>
          <a:prstGeom prst="wedgeRoundRectCallout">
            <a:avLst>
              <a:gd name="adj1" fmla="val -62825"/>
              <a:gd name="adj2" fmla="val -1780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每季度组织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次集体出游活动，形式：爬山、唱歌、探险等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预算每人不高于</a:t>
            </a:r>
            <a:r>
              <a:rPr lang="en-US" altLang="zh-CN" sz="1400" dirty="0" smtClean="0"/>
              <a:t>200</a:t>
            </a:r>
            <a:r>
              <a:rPr lang="zh-CN" altLang="en-US" sz="1400" dirty="0" smtClean="0"/>
              <a:t>元标准</a:t>
            </a:r>
            <a:endParaRPr lang="en-US" altLang="zh-CN" sz="1400" dirty="0" smtClean="0"/>
          </a:p>
        </p:txBody>
      </p:sp>
      <p:sp>
        <p:nvSpPr>
          <p:cNvPr id="9" name="Rounded Rectangle 8"/>
          <p:cNvSpPr/>
          <p:nvPr/>
        </p:nvSpPr>
        <p:spPr>
          <a:xfrm>
            <a:off x="642910" y="4714884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零食、水果供给</a:t>
            </a:r>
            <a:endParaRPr lang="zh-CN" altLang="en-US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4643438" y="4714884"/>
            <a:ext cx="4214842" cy="857256"/>
          </a:xfrm>
          <a:prstGeom prst="wedgeRoundRectCallout">
            <a:avLst>
              <a:gd name="adj1" fmla="val -62825"/>
              <a:gd name="adj2" fmla="val -1780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办公室定期提供零食、水果作为员工福利，提倡高效工作，健康生活</a:t>
            </a:r>
            <a:endParaRPr lang="en-US" altLang="zh-CN" sz="1400" dirty="0" smtClean="0"/>
          </a:p>
        </p:txBody>
      </p:sp>
      <p:sp>
        <p:nvSpPr>
          <p:cNvPr id="11" name="Rounded Rectangular Callout 10"/>
          <p:cNvSpPr/>
          <p:nvPr/>
        </p:nvSpPr>
        <p:spPr>
          <a:xfrm>
            <a:off x="4643438" y="6000768"/>
            <a:ext cx="4214842" cy="428628"/>
          </a:xfrm>
          <a:prstGeom prst="wedgeRoundRectCallout">
            <a:avLst>
              <a:gd name="adj1" fmla="val -62825"/>
              <a:gd name="adj2" fmla="val -17806"/>
              <a:gd name="adj3" fmla="val 16667"/>
            </a:avLst>
          </a:prstGeom>
          <a:solidFill>
            <a:srgbClr val="13C0D7"/>
          </a:solidFill>
          <a:ln>
            <a:solidFill>
              <a:srgbClr val="13C0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zh-CN" altLang="en-US" sz="1400" dirty="0" smtClean="0"/>
              <a:t>谭钊波</a:t>
            </a:r>
            <a:endParaRPr lang="en-US" altLang="zh-CN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研发制度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奖惩措施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7160" y="1643050"/>
          <a:ext cx="8572557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584"/>
                <a:gridCol w="2428892"/>
                <a:gridCol w="2786081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内容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奖励（由微信红包方式支付）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惩罚（罚款由微信红包方式交由活动经理用于购买零食水果）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提交代码导致编译不过（</a:t>
                      </a:r>
                      <a:r>
                        <a:rPr lang="en-US" altLang="zh-CN" sz="1200" dirty="0" smtClean="0"/>
                        <a:t>CI</a:t>
                      </a:r>
                      <a:r>
                        <a:rPr lang="zh-CN" altLang="en-US" sz="1200" dirty="0" smtClean="0"/>
                        <a:t>和</a:t>
                      </a:r>
                      <a:r>
                        <a:rPr lang="en-US" altLang="zh-CN" sz="1200" dirty="0" smtClean="0"/>
                        <a:t>Windows</a:t>
                      </a:r>
                      <a:r>
                        <a:rPr lang="zh-CN" altLang="en-US" sz="1200" dirty="0" smtClean="0"/>
                        <a:t>）超过</a:t>
                      </a:r>
                      <a:r>
                        <a:rPr lang="en-US" altLang="zh-CN" sz="1200" dirty="0" smtClean="0"/>
                        <a:t>24</a:t>
                      </a:r>
                      <a:r>
                        <a:rPr lang="zh-CN" altLang="en-US" sz="1200" dirty="0" smtClean="0"/>
                        <a:t>小时未解决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责任人处</a:t>
                      </a:r>
                      <a:r>
                        <a:rPr lang="en-US" altLang="zh-CN" sz="1200" dirty="0" smtClean="0"/>
                        <a:t>10</a:t>
                      </a:r>
                      <a:r>
                        <a:rPr lang="zh-CN" altLang="en-US" sz="1200" dirty="0" smtClean="0"/>
                        <a:t>元罚款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天（直到解决）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提交代码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用例导致</a:t>
                      </a:r>
                      <a:r>
                        <a:rPr lang="en-US" altLang="zh-CN" sz="1200" dirty="0" smtClean="0"/>
                        <a:t>CI</a:t>
                      </a:r>
                      <a:r>
                        <a:rPr lang="zh-CN" altLang="en-US" sz="1200" dirty="0" smtClean="0"/>
                        <a:t>用例不过超过</a:t>
                      </a:r>
                      <a:r>
                        <a:rPr lang="en-US" altLang="zh-CN" sz="1200" dirty="0" smtClean="0"/>
                        <a:t>24</a:t>
                      </a:r>
                      <a:r>
                        <a:rPr lang="zh-CN" altLang="en-US" sz="1200" dirty="0" smtClean="0"/>
                        <a:t>小时未解决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责任人处</a:t>
                      </a:r>
                      <a:r>
                        <a:rPr lang="en-US" altLang="zh-CN" sz="1200" dirty="0" smtClean="0"/>
                        <a:t>10</a:t>
                      </a:r>
                      <a:r>
                        <a:rPr lang="zh-CN" altLang="en-US" sz="1200" dirty="0" smtClean="0"/>
                        <a:t>元罚款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天（直到解决）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问题单和</a:t>
                      </a:r>
                      <a:r>
                        <a:rPr lang="en-US" altLang="zh-CN" sz="1200" dirty="0" smtClean="0"/>
                        <a:t>Story</a:t>
                      </a:r>
                      <a:r>
                        <a:rPr lang="zh-CN" altLang="en-US" sz="1200" dirty="0" smtClean="0"/>
                        <a:t>提供虚假</a:t>
                      </a:r>
                      <a:r>
                        <a:rPr lang="en-US" altLang="zh-CN" sz="1200" dirty="0" err="1" smtClean="0"/>
                        <a:t>CheckList</a:t>
                      </a:r>
                      <a:r>
                        <a:rPr lang="zh-CN" altLang="en-US" sz="1200" dirty="0" smtClean="0"/>
                        <a:t>导致问题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责任人处</a:t>
                      </a:r>
                      <a:r>
                        <a:rPr lang="en-US" altLang="zh-CN" sz="1200" dirty="0" smtClean="0"/>
                        <a:t>20</a:t>
                      </a:r>
                      <a:r>
                        <a:rPr lang="zh-CN" altLang="en-US" sz="1200" dirty="0" smtClean="0"/>
                        <a:t>元罚款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次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问题单修改后回归不通过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修改人处</a:t>
                      </a:r>
                      <a:r>
                        <a:rPr lang="en-US" altLang="zh-CN" sz="1200" dirty="0" smtClean="0"/>
                        <a:t>20</a:t>
                      </a:r>
                      <a:r>
                        <a:rPr lang="zh-CN" altLang="en-US" sz="1200" dirty="0" smtClean="0"/>
                        <a:t>元罚款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次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CI</a:t>
                      </a:r>
                      <a:r>
                        <a:rPr lang="zh-CN" altLang="en-US" sz="1200" dirty="0" smtClean="0"/>
                        <a:t>本身发生故障超过</a:t>
                      </a:r>
                      <a:r>
                        <a:rPr lang="en-US" altLang="zh-CN" sz="1200" dirty="0" smtClean="0"/>
                        <a:t>48</a:t>
                      </a:r>
                      <a:r>
                        <a:rPr lang="zh-CN" altLang="en-US" sz="1200" dirty="0" smtClean="0"/>
                        <a:t>小时未解决（包含环境故障）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CI</a:t>
                      </a:r>
                      <a:r>
                        <a:rPr lang="zh-CN" altLang="en-US" sz="1200" dirty="0" smtClean="0"/>
                        <a:t>负责人处</a:t>
                      </a:r>
                      <a:r>
                        <a:rPr lang="en-US" altLang="zh-CN" sz="1200" dirty="0" smtClean="0"/>
                        <a:t>20</a:t>
                      </a:r>
                      <a:r>
                        <a:rPr lang="zh-CN" altLang="en-US" sz="1200" dirty="0" smtClean="0"/>
                        <a:t>元罚款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天（直到解决）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新功能重大测试问题漏测，导致局点功能不可用或故障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开发经理和测试经理每人处</a:t>
                      </a:r>
                      <a:r>
                        <a:rPr lang="en-US" altLang="zh-CN" sz="1200" dirty="0" smtClean="0"/>
                        <a:t>20</a:t>
                      </a:r>
                      <a:r>
                        <a:rPr lang="zh-CN" altLang="en-US" sz="1200" dirty="0" smtClean="0"/>
                        <a:t>元罚款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次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开发或测试任务偏离计划</a:t>
                      </a:r>
                      <a:r>
                        <a:rPr lang="en-US" altLang="zh-CN" sz="1200" dirty="0" smtClean="0"/>
                        <a:t>50%</a:t>
                      </a:r>
                      <a:r>
                        <a:rPr lang="zh-CN" altLang="en-US" sz="1200" dirty="0" smtClean="0"/>
                        <a:t>或以上未反馈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责任人处</a:t>
                      </a:r>
                      <a:r>
                        <a:rPr lang="en-US" altLang="zh-CN" sz="1200" dirty="0" smtClean="0"/>
                        <a:t>20</a:t>
                      </a:r>
                      <a:r>
                        <a:rPr lang="zh-CN" altLang="en-US" sz="1200" dirty="0" smtClean="0"/>
                        <a:t>元罚款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次</a:t>
                      </a:r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主动承担重大问题攻关并举取突破成果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奖励</a:t>
                      </a:r>
                      <a:r>
                        <a:rPr lang="en-US" altLang="zh-CN" sz="1200" dirty="0" smtClean="0"/>
                        <a:t>20</a:t>
                      </a:r>
                      <a:r>
                        <a:rPr lang="zh-CN" altLang="en-US" sz="1200" dirty="0" smtClean="0"/>
                        <a:t>元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次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主动分析并发现代码中隐藏严重级</a:t>
                      </a:r>
                      <a:r>
                        <a:rPr lang="en-US" altLang="zh-CN" sz="1200" dirty="0" smtClean="0"/>
                        <a:t>BUG</a:t>
                      </a:r>
                      <a:r>
                        <a:rPr lang="zh-CN" altLang="en-US" sz="1200" dirty="0" smtClean="0"/>
                        <a:t>（非自身开发代码和负责矩阵）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奖励</a:t>
                      </a:r>
                      <a:r>
                        <a:rPr lang="en-US" altLang="zh-CN" sz="1200" dirty="0" smtClean="0"/>
                        <a:t>20</a:t>
                      </a:r>
                      <a:r>
                        <a:rPr lang="zh-CN" altLang="en-US" sz="1200" dirty="0" smtClean="0"/>
                        <a:t>元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个（每人月上限</a:t>
                      </a:r>
                      <a:r>
                        <a:rPr lang="en-US" altLang="zh-CN" sz="1200" dirty="0" smtClean="0"/>
                        <a:t>100</a:t>
                      </a:r>
                      <a:r>
                        <a:rPr lang="zh-CN" altLang="en-US" sz="1200" dirty="0" smtClean="0"/>
                        <a:t>元）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被评选为优秀设计或代码的开发人员（包含设计文档）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奖励</a:t>
                      </a:r>
                      <a:r>
                        <a:rPr lang="en-US" altLang="zh-CN" sz="1200" dirty="0" smtClean="0"/>
                        <a:t>20</a:t>
                      </a:r>
                      <a:r>
                        <a:rPr lang="zh-CN" altLang="en-US" sz="1200" dirty="0" smtClean="0"/>
                        <a:t>元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次（每人月上限</a:t>
                      </a:r>
                      <a:r>
                        <a:rPr lang="en-US" altLang="zh-CN" sz="1200" dirty="0" smtClean="0"/>
                        <a:t>100</a:t>
                      </a:r>
                      <a:r>
                        <a:rPr lang="zh-CN" altLang="en-US" sz="1200" dirty="0" smtClean="0"/>
                        <a:t>元）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被评选为优秀测试设计或用例实现的测试人员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/>
                        <a:t>奖励</a:t>
                      </a:r>
                      <a:r>
                        <a:rPr lang="en-US" altLang="zh-CN" sz="1200" dirty="0" smtClean="0"/>
                        <a:t>20</a:t>
                      </a:r>
                      <a:r>
                        <a:rPr lang="zh-CN" altLang="en-US" sz="1200" dirty="0" smtClean="0"/>
                        <a:t>元</a:t>
                      </a:r>
                      <a:r>
                        <a:rPr lang="en-US" altLang="zh-CN" sz="1200" dirty="0" smtClean="0"/>
                        <a:t>/</a:t>
                      </a:r>
                      <a:r>
                        <a:rPr lang="zh-CN" altLang="en-US" sz="1200" dirty="0" smtClean="0"/>
                        <a:t>次（每人月上限</a:t>
                      </a:r>
                      <a:r>
                        <a:rPr lang="en-US" altLang="zh-CN" sz="1200" dirty="0" smtClean="0"/>
                        <a:t>100</a:t>
                      </a:r>
                      <a:r>
                        <a:rPr lang="zh-CN" altLang="en-US" sz="1200" dirty="0" smtClean="0"/>
                        <a:t>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行为准则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从点滴做起，养成良好习惯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428596" y="2357430"/>
            <a:ext cx="3929090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开会要积极，会议要专注</a:t>
            </a:r>
            <a:endParaRPr lang="zh-CN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28596" y="3357562"/>
            <a:ext cx="3929090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会前要准备，会议要高效</a:t>
            </a:r>
            <a:endParaRPr lang="zh-CN" alt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28596" y="4357694"/>
            <a:ext cx="3929090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沟通要平和，分岐要讨论</a:t>
            </a:r>
            <a:endParaRPr lang="zh-CN" alt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643438" y="2357430"/>
            <a:ext cx="3929090" cy="500066"/>
          </a:xfrm>
          <a:prstGeom prst="roundRect">
            <a:avLst/>
          </a:prstGeom>
          <a:solidFill>
            <a:srgbClr val="3399FF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不打探工资待遇</a:t>
            </a:r>
            <a:endParaRPr lang="zh-CN" alt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4643438" y="3357562"/>
            <a:ext cx="3929090" cy="500066"/>
          </a:xfrm>
          <a:prstGeom prst="roundRect">
            <a:avLst/>
          </a:prstGeom>
          <a:solidFill>
            <a:srgbClr val="3399FF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不传播小道消息</a:t>
            </a:r>
            <a:endParaRPr lang="zh-CN" alt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4643438" y="4357694"/>
            <a:ext cx="3929090" cy="500066"/>
          </a:xfrm>
          <a:prstGeom prst="roundRect">
            <a:avLst/>
          </a:prstGeom>
          <a:solidFill>
            <a:srgbClr val="3399FF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不扩散负面情绪</a:t>
            </a:r>
            <a:endParaRPr lang="zh-CN" alt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2786050" y="5429264"/>
            <a:ext cx="3429024" cy="500066"/>
          </a:xfrm>
          <a:prstGeom prst="roundRect">
            <a:avLst/>
          </a:prstGeom>
          <a:solidFill>
            <a:srgbClr val="92D050"/>
          </a:solidFill>
          <a:ln>
            <a:solidFill>
              <a:srgbClr val="33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意见及时沟通反馈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我们的目标是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857224" y="2285992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一流的团队</a:t>
            </a:r>
            <a:endParaRPr lang="zh-CN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571736" y="3500438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优秀的产品</a:t>
            </a:r>
            <a:endParaRPr lang="zh-CN" alt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643438" y="4714884"/>
            <a:ext cx="342902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快乐工作、健康生活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外网</a:t>
            </a:r>
            <a:r>
              <a:rPr lang="en-US" altLang="zh-CN" dirty="0" smtClean="0"/>
              <a:t>PMR</a:t>
            </a:r>
            <a:r>
              <a:rPr lang="zh-CN" altLang="en-US" dirty="0" smtClean="0"/>
              <a:t>地址：</a:t>
            </a:r>
            <a:r>
              <a:rPr lang="en-US" altLang="zh-CN" dirty="0" smtClean="0">
                <a:hlinkClick r:id="rId2"/>
              </a:rPr>
              <a:t>http://pmr.sequoiadb.com/8181</a:t>
            </a:r>
            <a:endParaRPr lang="en-US" altLang="zh-CN" dirty="0" smtClean="0"/>
          </a:p>
          <a:p>
            <a:r>
              <a:rPr lang="zh-CN" altLang="en-US" dirty="0" smtClean="0"/>
              <a:t>外网</a:t>
            </a:r>
            <a:r>
              <a:rPr lang="en-US" altLang="zh-CN" dirty="0" smtClean="0"/>
              <a:t>Portal</a:t>
            </a:r>
            <a:r>
              <a:rPr lang="zh-CN" altLang="en-US" dirty="0" smtClean="0"/>
              <a:t>地址：</a:t>
            </a:r>
            <a:r>
              <a:rPr lang="en-US" altLang="zh-CN" dirty="0" smtClean="0">
                <a:hlinkClick r:id="rId3"/>
              </a:rPr>
              <a:t>http://pmr.sequoiadb.com/8090</a:t>
            </a:r>
            <a:endParaRPr lang="en-US" altLang="zh-CN" dirty="0" smtClean="0"/>
          </a:p>
          <a:p>
            <a:r>
              <a:rPr lang="zh-CN" altLang="en-US" dirty="0" smtClean="0"/>
              <a:t>内网</a:t>
            </a:r>
            <a:r>
              <a:rPr lang="en-US" altLang="zh-CN" dirty="0" smtClean="0"/>
              <a:t>JIRA</a:t>
            </a:r>
            <a:r>
              <a:rPr lang="zh-CN" altLang="en-US" dirty="0" smtClean="0"/>
              <a:t>地址：</a:t>
            </a:r>
            <a:r>
              <a:rPr lang="en-US" altLang="zh-CN" dirty="0" smtClean="0"/>
              <a:t> </a:t>
            </a:r>
            <a:r>
              <a:rPr lang="en-US" altLang="zh-CN" dirty="0" smtClean="0">
                <a:hlinkClick r:id="rId4"/>
              </a:rPr>
              <a:t>http://</a:t>
            </a:r>
            <a:r>
              <a:rPr lang="en-US" altLang="zh-CN" dirty="0" smtClean="0">
                <a:hlinkClick r:id="rId4"/>
              </a:rPr>
              <a:t>jira:8080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 </a:t>
            </a:r>
            <a:r>
              <a:rPr lang="en-US" altLang="zh-CN" dirty="0" smtClean="0">
                <a:hlinkClick r:id="rId5"/>
              </a:rPr>
              <a:t>http://</a:t>
            </a:r>
            <a:r>
              <a:rPr lang="en-US" altLang="zh-CN" dirty="0" smtClean="0">
                <a:hlinkClick r:id="rId5"/>
              </a:rPr>
              <a:t>192.168.10.249:8080</a:t>
            </a:r>
            <a:endParaRPr lang="en-US" altLang="zh-CN" dirty="0" smtClean="0"/>
          </a:p>
          <a:p>
            <a:r>
              <a:rPr lang="en-US" altLang="zh-CN" dirty="0" smtClean="0"/>
              <a:t>CI</a:t>
            </a:r>
            <a:r>
              <a:rPr lang="zh-CN" altLang="en-US" dirty="0" smtClean="0"/>
              <a:t>地址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</a:t>
            </a:r>
            <a:r>
              <a:rPr lang="en-US" altLang="zh-CN" dirty="0" smtClean="0">
                <a:hlinkClick r:id="rId6"/>
              </a:rPr>
              <a:t>http://192.168.30.185:8080</a:t>
            </a:r>
            <a:r>
              <a:rPr lang="en-US" altLang="zh-CN" dirty="0" smtClean="0">
                <a:hlinkClick r:id="rId6"/>
              </a:rPr>
              <a:t>/</a:t>
            </a:r>
            <a:endParaRPr lang="en-US" altLang="zh-CN" dirty="0" smtClean="0"/>
          </a:p>
          <a:p>
            <a:r>
              <a:rPr lang="en-US" altLang="zh-CN" dirty="0" smtClean="0"/>
              <a:t>SVN</a:t>
            </a:r>
            <a:r>
              <a:rPr lang="zh-CN" altLang="en-US" dirty="0" smtClean="0"/>
              <a:t>地址：</a:t>
            </a:r>
            <a:r>
              <a:rPr lang="en-US" altLang="zh-CN" dirty="0" smtClean="0">
                <a:hlinkClick r:id="rId7"/>
              </a:rPr>
              <a:t>http://192.168.20.11:/</a:t>
            </a:r>
            <a:r>
              <a:rPr lang="en-US" altLang="zh-CN" dirty="0" smtClean="0">
                <a:hlinkClick r:id="rId7"/>
              </a:rPr>
              <a:t>sequoiadb/trunk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80" y="2571744"/>
            <a:ext cx="7286644" cy="1214422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dirty="0" smtClean="0"/>
              <a:t>Thanks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quoiaDB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SequoiaDB</Template>
  <TotalTime>12968</TotalTime>
  <Words>4037</Words>
  <Application>Microsoft Office PowerPoint</Application>
  <PresentationFormat>On-screen Show (4:3)</PresentationFormat>
  <Paragraphs>377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SequoiaDB</vt:lpstr>
      <vt:lpstr>2016研发组织结构和制度流程宣传</vt:lpstr>
      <vt:lpstr>研发组织结构</vt:lpstr>
      <vt:lpstr>研发人员分组</vt:lpstr>
      <vt:lpstr>研发制度——外部问题分类</vt:lpstr>
      <vt:lpstr>研发制度——研发人员矩阵</vt:lpstr>
      <vt:lpstr>研发制度——外部问题处理机制</vt:lpstr>
      <vt:lpstr>研发制度——内部问题处理机制</vt:lpstr>
      <vt:lpstr>研发制度——特性开发流程</vt:lpstr>
      <vt:lpstr>研发制度——CI流程和规范</vt:lpstr>
      <vt:lpstr>研发制度——资料开发提交流程</vt:lpstr>
      <vt:lpstr>研发制度——版本迭代和发布流程</vt:lpstr>
      <vt:lpstr>研发制度——沟通和管理</vt:lpstr>
      <vt:lpstr>研发制度——团队技能提升</vt:lpstr>
      <vt:lpstr>研发制度——团队氛围建设</vt:lpstr>
      <vt:lpstr>研发制度——奖惩措施</vt:lpstr>
      <vt:lpstr>行为准则——从点滴做起，养成良好习惯</vt:lpstr>
      <vt:lpstr>我们的目标是</vt:lpstr>
      <vt:lpstr>附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SequoiaDB架构总览</dc:title>
  <dc:creator>taoewang</dc:creator>
  <cp:lastModifiedBy>xujianhui</cp:lastModifiedBy>
  <cp:revision>570</cp:revision>
  <dcterms:created xsi:type="dcterms:W3CDTF">2013-11-01T02:43:08Z</dcterms:created>
  <dcterms:modified xsi:type="dcterms:W3CDTF">2018-10-09T05:18:59Z</dcterms:modified>
</cp:coreProperties>
</file>