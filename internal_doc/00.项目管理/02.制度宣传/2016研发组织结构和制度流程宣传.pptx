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68" r:id="rId3"/>
    <p:sldId id="269" r:id="rId4"/>
    <p:sldId id="270" r:id="rId5"/>
    <p:sldId id="271" r:id="rId6"/>
    <p:sldId id="273" r:id="rId7"/>
    <p:sldId id="274" r:id="rId8"/>
    <p:sldId id="276" r:id="rId9"/>
    <p:sldId id="277" r:id="rId10"/>
    <p:sldId id="279" r:id="rId11"/>
    <p:sldId id="284" r:id="rId12"/>
    <p:sldId id="280" r:id="rId13"/>
    <p:sldId id="281" r:id="rId14"/>
    <p:sldId id="282" r:id="rId15"/>
    <p:sldId id="283" r:id="rId16"/>
    <p:sldId id="285" r:id="rId17"/>
    <p:sldId id="275" r:id="rId18"/>
    <p:sldId id="267" r:id="rId1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FF"/>
    <a:srgbClr val="00FF99"/>
    <a:srgbClr val="13C0D7"/>
    <a:srgbClr val="E161FF"/>
    <a:srgbClr val="C0BD2D"/>
    <a:srgbClr val="3DAD78"/>
    <a:srgbClr val="0066FF"/>
    <a:srgbClr val="993366"/>
    <a:srgbClr val="339966"/>
    <a:srgbClr val="CC00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vertBarState="maximized">
    <p:restoredLeft sz="34587" autoAdjust="0"/>
    <p:restoredTop sz="93208" autoAdjust="0"/>
  </p:normalViewPr>
  <p:slideViewPr>
    <p:cSldViewPr>
      <p:cViewPr varScale="1">
        <p:scale>
          <a:sx n="120" d="100"/>
          <a:sy n="120" d="100"/>
        </p:scale>
        <p:origin x="-1380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7" d="100"/>
          <a:sy n="97" d="100"/>
        </p:scale>
        <p:origin x="-3666" y="-96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2289E-693E-47B8-BB40-77D4C037E413}" type="datetimeFigureOut">
              <a:rPr lang="zh-CN" altLang="en-US" smtClean="0"/>
              <a:pPr/>
              <a:t>2016/2/29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B6241-DC1B-43F4-AED7-BA4CFE33295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2016/2/29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pmr.sequoiadb.com/8090" TargetMode="External"/><Relationship Id="rId2" Type="http://schemas.openxmlformats.org/officeDocument/2006/relationships/hyperlink" Target="http://pmr.sequoiadb.com/818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jira:8080/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2016</a:t>
            </a:r>
            <a:r>
              <a:rPr lang="zh-CN" altLang="en-US" dirty="0" smtClean="0"/>
              <a:t>研</a:t>
            </a:r>
            <a:r>
              <a:rPr lang="zh-CN" altLang="en-US" dirty="0" smtClean="0"/>
              <a:t>发</a:t>
            </a:r>
            <a:r>
              <a:rPr lang="zh-CN" altLang="en-US" dirty="0" smtClean="0"/>
              <a:t>组织结构和制度流程宣传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按规范做事，一次把事情做对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研发组织结构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3857620" y="2928140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研发管理部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571604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开发部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000760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测试部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1000100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DB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785918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SQL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1736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维护支撑团队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57554" y="4856172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资料负责人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4" name="Left Brace 13"/>
          <p:cNvSpPr/>
          <p:nvPr/>
        </p:nvSpPr>
        <p:spPr>
          <a:xfrm rot="5400000">
            <a:off x="4393405" y="1320785"/>
            <a:ext cx="500066" cy="4572032"/>
          </a:xfrm>
          <a:prstGeom prst="leftBrace">
            <a:avLst>
              <a:gd name="adj1" fmla="val 8333"/>
              <a:gd name="adj2" fmla="val 50348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214414" y="4570420"/>
            <a:ext cx="2357454" cy="7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rot="5400000" flipH="1" flipV="1">
            <a:off x="2214546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rot="5400000" flipH="1" flipV="1">
            <a:off x="1070744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 flipH="1" flipV="1">
            <a:off x="1856561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 flipH="1" flipV="1">
            <a:off x="264396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 flipH="1" flipV="1">
            <a:off x="342819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86446" y="4856966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CI</a:t>
            </a:r>
            <a:r>
              <a:rPr lang="zh-CN" altLang="en-US" sz="1500" dirty="0" smtClean="0">
                <a:solidFill>
                  <a:schemeClr val="tx1"/>
                </a:solidFill>
              </a:rPr>
              <a:t>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58082" y="4856966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产品测试团队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6000760" y="4572008"/>
            <a:ext cx="1571636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6643702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rot="5400000" flipH="1" flipV="1">
            <a:off x="5857090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rot="5400000" flipH="1" flipV="1">
            <a:off x="7430314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43504" y="2357430"/>
            <a:ext cx="1643074" cy="357190"/>
          </a:xfrm>
          <a:prstGeom prst="roundRect">
            <a:avLst/>
          </a:prstGeom>
          <a:solidFill>
            <a:srgbClr val="3399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产品经理</a:t>
            </a:r>
            <a:endParaRPr lang="zh-CN" alt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5400000" flipH="1" flipV="1">
            <a:off x="4249735" y="2535231"/>
            <a:ext cx="785818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86578" y="2357430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500694" y="2928934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许建辉、李建华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214678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643834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李</a:t>
            </a:r>
            <a:r>
              <a:rPr lang="zh-CN" altLang="en-US" sz="1400" dirty="0" smtClean="0">
                <a:solidFill>
                  <a:schemeClr val="tx1"/>
                </a:solidFill>
              </a:rPr>
              <a:t>建</a:t>
            </a:r>
            <a:r>
              <a:rPr lang="zh-CN" altLang="en-US" sz="1400" dirty="0" smtClean="0">
                <a:solidFill>
                  <a:schemeClr val="tx1"/>
                </a:solidFill>
              </a:rPr>
              <a:t>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57620" y="1785926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总裁办</a:t>
            </a:r>
            <a:endParaRPr lang="zh-CN" altLang="en-US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4643438" y="2570156"/>
            <a:ext cx="500066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500694" y="1785926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唐迅、王涛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研发人员分组</a:t>
            </a:r>
            <a:endParaRPr lang="zh-CN" alt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785926"/>
          <a:ext cx="8229599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404"/>
                <a:gridCol w="1571636"/>
                <a:gridCol w="2714644"/>
                <a:gridCol w="282891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部门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团队或角色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人员</a:t>
                      </a:r>
                      <a:r>
                        <a:rPr lang="zh-CN" altLang="en-US" sz="1200" dirty="0" smtClean="0"/>
                        <a:t>（标红为小团队技术负责人）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职责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 rowSpan="5">
                  <a:txBody>
                    <a:bodyPr/>
                    <a:lstStyle/>
                    <a:p>
                      <a:r>
                        <a:rPr lang="zh-CN" altLang="en-US" sz="1400" dirty="0" smtClean="0"/>
                        <a:t>开发部</a:t>
                      </a:r>
                      <a:r>
                        <a:rPr lang="en-US" altLang="zh-CN" sz="1400" dirty="0" smtClean="0"/>
                        <a:t>(9/13)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DB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杨上德</a:t>
                      </a:r>
                      <a:r>
                        <a:rPr lang="zh-CN" altLang="en-US" sz="1400" dirty="0" smtClean="0"/>
                        <a:t>、吴易达、刘圳、谭钊波、何嘉文、黄伟纲、待补</a:t>
                      </a:r>
                      <a:r>
                        <a:rPr lang="en-US" altLang="zh-CN" sz="1400" dirty="0" smtClean="0"/>
                        <a:t>A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SequoiaDB &amp; OM</a:t>
                      </a:r>
                      <a:r>
                        <a:rPr lang="zh-CN" altLang="en-US" sz="1400" dirty="0" smtClean="0"/>
                        <a:t>新功能开发，性能优化，模块重构和问题解决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SQL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林友滨</a:t>
                      </a:r>
                      <a:r>
                        <a:rPr lang="zh-CN" altLang="en-US" sz="1400" dirty="0" smtClean="0"/>
                        <a:t>、李伟超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、武赟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、陈楚材，待补</a:t>
                      </a:r>
                      <a:r>
                        <a:rPr lang="en-US" altLang="zh-CN" sz="1400" dirty="0" smtClean="0"/>
                        <a:t>B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SequoiaSQL</a:t>
                      </a:r>
                      <a:r>
                        <a:rPr lang="zh-CN" altLang="en-US" sz="1400" dirty="0" smtClean="0"/>
                        <a:t>（</a:t>
                      </a:r>
                      <a:r>
                        <a:rPr lang="en-US" altLang="zh-CN" sz="1400" dirty="0" smtClean="0"/>
                        <a:t>Base PG &amp; Base Hawq</a:t>
                      </a:r>
                      <a:r>
                        <a:rPr lang="zh-CN" altLang="en-US" sz="1400" dirty="0" smtClean="0"/>
                        <a:t>）功能开发，性能优化和问题解决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维护支撑团队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，待补</a:t>
                      </a:r>
                      <a:r>
                        <a:rPr lang="en-US" altLang="zh-CN" sz="1400" dirty="0" smtClean="0"/>
                        <a:t>C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支持线上客户、实施团队的问题定位和技术咨询，并将问题交付开发团队修改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接口</a:t>
                      </a:r>
                      <a:r>
                        <a:rPr lang="en-US" altLang="zh-CN" sz="1400" dirty="0" smtClean="0"/>
                        <a:t>&amp;</a:t>
                      </a:r>
                      <a:r>
                        <a:rPr lang="zh-CN" altLang="en-US" sz="1400" dirty="0" smtClean="0"/>
                        <a:t>资料负责人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刘圳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资料体系的设计、规范和流程制订，审核提交资料和接口有效性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许建辉、吴易达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规划版本需求、制订版本计划和流程，并按时交付版本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zh-CN" altLang="en-US" sz="1400" dirty="0" smtClean="0"/>
                        <a:t>测试部</a:t>
                      </a:r>
                      <a:r>
                        <a:rPr lang="en-US" altLang="zh-CN" sz="1400" dirty="0" smtClean="0"/>
                        <a:t>(7/9)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产品测试团队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吴艳</a:t>
                      </a:r>
                      <a:r>
                        <a:rPr lang="zh-CN" altLang="en-US" sz="1400" dirty="0" smtClean="0"/>
                        <a:t>、黄晓妮、邓强中、李</a:t>
                      </a:r>
                      <a:r>
                        <a:rPr lang="zh-CN" altLang="en-US" sz="1400" smtClean="0"/>
                        <a:t>春浩、待补</a:t>
                      </a:r>
                      <a:r>
                        <a:rPr lang="en-US" altLang="zh-CN" sz="1400" smtClean="0"/>
                        <a:t>D</a:t>
                      </a:r>
                      <a:r>
                        <a:rPr lang="zh-CN" altLang="en-US" sz="1400" smtClean="0"/>
                        <a:t>，待补</a:t>
                      </a:r>
                      <a:r>
                        <a:rPr lang="en-US" altLang="zh-CN" sz="1400" smtClean="0"/>
                        <a:t>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产品功能测试、可靠性测试、易用性测试、</a:t>
                      </a:r>
                      <a:r>
                        <a:rPr lang="en-US" altLang="zh-CN" sz="1400" dirty="0" smtClean="0"/>
                        <a:t>OM</a:t>
                      </a:r>
                      <a:r>
                        <a:rPr lang="zh-CN" altLang="en-US" sz="1400" dirty="0" smtClean="0"/>
                        <a:t>和资料测试等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余婷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工程制定、优化和维护；</a:t>
                      </a:r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流程制订和监控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王文净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版本性能测试构建；性能对比测试构建；</a:t>
                      </a:r>
                      <a:r>
                        <a:rPr lang="en-US" altLang="zh-CN" sz="1400" dirty="0" smtClean="0"/>
                        <a:t>POC</a:t>
                      </a:r>
                      <a:r>
                        <a:rPr lang="zh-CN" altLang="en-US" sz="1400" dirty="0" smtClean="0"/>
                        <a:t>性能测试支撑</a:t>
                      </a:r>
                      <a:endParaRPr lang="zh-CN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外部问题分类</a:t>
            </a:r>
            <a:endParaRPr lang="zh-CN" alt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857364"/>
          <a:ext cx="8229600" cy="435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594"/>
                <a:gridCol w="3643338"/>
                <a:gridCol w="1500198"/>
                <a:gridCol w="161447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问题分类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描述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复杂级别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技术级别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</a:t>
                      </a:r>
                      <a:r>
                        <a:rPr lang="en-US" altLang="zh-CN" sz="1400" dirty="0" smtClean="0"/>
                        <a:t>/</a:t>
                      </a:r>
                      <a:r>
                        <a:rPr lang="zh-CN" altLang="en-US" sz="1400" dirty="0" smtClean="0"/>
                        <a:t>日志丢失、不一致、损坏，全量同步，无法提供数据业务等业务数据类相关故障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节点可靠性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进程异常，无法启动，节点资源泄漏或占用率高，心跳异常，消息路由分发异常等影响节点正常运行的故障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读写缓慢，延时高或抖动，资源利率用低，</a:t>
                      </a:r>
                      <a:r>
                        <a:rPr lang="en-US" altLang="zh-CN" sz="1400" dirty="0" smtClean="0"/>
                        <a:t>IO</a:t>
                      </a:r>
                      <a:r>
                        <a:rPr lang="zh-CN" altLang="en-US" sz="1400" dirty="0" smtClean="0"/>
                        <a:t>高，访问计划不合理等影响</a:t>
                      </a:r>
                      <a:r>
                        <a:rPr lang="en-US" altLang="zh-CN" sz="1400" dirty="0" smtClean="0"/>
                        <a:t>IOPS</a:t>
                      </a:r>
                      <a:r>
                        <a:rPr lang="zh-CN" altLang="en-US" sz="1400" dirty="0" smtClean="0"/>
                        <a:t>、</a:t>
                      </a:r>
                      <a:r>
                        <a:rPr lang="en-US" altLang="zh-CN" sz="1400" dirty="0" smtClean="0"/>
                        <a:t>MBPS</a:t>
                      </a:r>
                      <a:r>
                        <a:rPr lang="zh-CN" altLang="en-US" sz="1400" dirty="0" smtClean="0"/>
                        <a:t>或时延相关的问题及方案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功能的正常和异常分支缺陷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可维护性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日志、快照、跟踪、调试等用于查看系统运行时状态（正常和异常）相关的方案及问题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易用性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用户使用相关的资料、接口、</a:t>
                      </a:r>
                      <a:r>
                        <a:rPr lang="en-US" altLang="zh-CN" sz="1400" dirty="0" smtClean="0"/>
                        <a:t>UI</a:t>
                      </a:r>
                      <a:r>
                        <a:rPr lang="zh-CN" altLang="en-US" sz="1400" dirty="0" smtClean="0"/>
                        <a:t>等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产品咨询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对产品功能需求及使用相关的资询和操作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接口人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其它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上述之外的其它问题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研发人员矩阵</a:t>
            </a:r>
            <a:endParaRPr lang="zh-CN" alt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457200" y="1714488"/>
          <a:ext cx="8229600" cy="479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214"/>
                <a:gridCol w="2357454"/>
                <a:gridCol w="857256"/>
                <a:gridCol w="214314"/>
                <a:gridCol w="714380"/>
                <a:gridCol w="2500330"/>
                <a:gridCol w="828652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许建辉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系统架构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李建华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林友滨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AGGR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杨上德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IXM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DPS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黄晓妮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李伟超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SSQL-Hawq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王文净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吴易达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邓强中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刘圳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AUTH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BAR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FAP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Python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李春浩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谭钊波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SDB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OMA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C#/Java/C/C++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余婷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何嘉文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MIG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BSON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PHP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GO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黄伟纲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Perl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NodeJS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陈楚材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TOOL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武赟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外部问题处理机制</a:t>
            </a:r>
            <a:endParaRPr lang="zh-CN" altLang="en-US" dirty="0"/>
          </a:p>
        </p:txBody>
      </p:sp>
      <p:grpSp>
        <p:nvGrpSpPr>
          <p:cNvPr id="22" name="Group 21"/>
          <p:cNvGrpSpPr/>
          <p:nvPr/>
        </p:nvGrpSpPr>
        <p:grpSpPr>
          <a:xfrm>
            <a:off x="571472" y="2000240"/>
            <a:ext cx="4293546" cy="4071966"/>
            <a:chOff x="571472" y="2000240"/>
            <a:chExt cx="4293546" cy="4071966"/>
          </a:xfrm>
        </p:grpSpPr>
        <p:sp>
          <p:nvSpPr>
            <p:cNvPr id="4" name="Rounded Rectangle 3"/>
            <p:cNvSpPr/>
            <p:nvPr/>
          </p:nvSpPr>
          <p:spPr>
            <a:xfrm>
              <a:off x="571472" y="2000240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客户、销前问题</a:t>
              </a:r>
              <a:endParaRPr lang="zh-CN" altLang="en-US" dirty="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71472" y="3143248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接口人</a:t>
              </a:r>
              <a:endParaRPr lang="zh-CN" altLang="en-US" dirty="0"/>
            </a:p>
          </p:txBody>
        </p:sp>
        <p:sp>
          <p:nvSpPr>
            <p:cNvPr id="9" name="Up-Down Arrow 8"/>
            <p:cNvSpPr/>
            <p:nvPr/>
          </p:nvSpPr>
          <p:spPr>
            <a:xfrm>
              <a:off x="2293250" y="2714620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78738" y="4286256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对应技术级别和模块人员</a:t>
              </a:r>
              <a:endParaRPr lang="zh-CN" altLang="en-US" dirty="0"/>
            </a:p>
          </p:txBody>
        </p:sp>
        <p:sp>
          <p:nvSpPr>
            <p:cNvPr id="11" name="Up-Down Arrow 10"/>
            <p:cNvSpPr/>
            <p:nvPr/>
          </p:nvSpPr>
          <p:spPr>
            <a:xfrm>
              <a:off x="2293250" y="3857628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78738" y="5429264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上级</a:t>
              </a:r>
              <a:r>
                <a:rPr lang="en-US" altLang="zh-CN" dirty="0" smtClean="0"/>
                <a:t>/</a:t>
              </a:r>
              <a:r>
                <a:rPr lang="zh-CN" altLang="en-US" dirty="0" smtClean="0"/>
                <a:t>下级技术级别和模块人员</a:t>
              </a:r>
              <a:endParaRPr lang="zh-CN" altLang="en-US" dirty="0"/>
            </a:p>
          </p:txBody>
        </p:sp>
        <p:sp>
          <p:nvSpPr>
            <p:cNvPr id="14" name="Up-Down Arrow 13"/>
            <p:cNvSpPr/>
            <p:nvPr/>
          </p:nvSpPr>
          <p:spPr>
            <a:xfrm>
              <a:off x="2293250" y="5000636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07564" y="5000636"/>
              <a:ext cx="11865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 smtClean="0"/>
                <a:t>3</a:t>
              </a:r>
              <a:r>
                <a:rPr lang="zh-CN" altLang="en-US" sz="1200" dirty="0" smtClean="0"/>
                <a:t>、问题升降级</a:t>
              </a:r>
              <a:endParaRPr lang="zh-CN" altLang="en-US" sz="1200" dirty="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507564" y="2723373"/>
              <a:ext cx="14287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1</a:t>
              </a:r>
              <a:r>
                <a:rPr lang="zh-CN" altLang="en-US" sz="1200" dirty="0" smtClean="0"/>
                <a:t>、提交</a:t>
              </a:r>
              <a:r>
                <a:rPr lang="en-US" altLang="zh-CN" sz="1200" dirty="0" smtClean="0"/>
                <a:t>PMR</a:t>
              </a:r>
              <a:endParaRPr lang="zh-CN" altLang="en-US" sz="12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07564" y="3866381"/>
              <a:ext cx="23574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2</a:t>
              </a:r>
              <a:r>
                <a:rPr lang="zh-CN" altLang="en-US" sz="1200" dirty="0" smtClean="0"/>
                <a:t>、创建</a:t>
              </a:r>
              <a:r>
                <a:rPr lang="en-US" altLang="zh-CN" sz="1200" dirty="0" smtClean="0"/>
                <a:t>JIRA</a:t>
              </a:r>
              <a:r>
                <a:rPr lang="zh-CN" altLang="en-US" sz="1200" dirty="0" smtClean="0"/>
                <a:t>，</a:t>
              </a:r>
              <a:r>
                <a:rPr lang="zh-CN" altLang="en-US" sz="1200" dirty="0" smtClean="0"/>
                <a:t>问题分类分发</a:t>
              </a:r>
              <a:endParaRPr lang="zh-CN" altLang="en-US" sz="12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4572000" y="2000240"/>
            <a:ext cx="428628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流程要求：</a:t>
            </a:r>
            <a:endParaRPr lang="en-US" altLang="zh-CN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</a:t>
            </a:r>
            <a:r>
              <a:rPr lang="en-US" altLang="zh-CN" sz="1400" dirty="0" smtClean="0"/>
              <a:t>  </a:t>
            </a:r>
            <a:r>
              <a:rPr lang="zh-CN" altLang="en-US" sz="1400" dirty="0" smtClean="0"/>
              <a:t>外部问题必须通过</a:t>
            </a:r>
            <a:r>
              <a:rPr lang="en-US" altLang="zh-CN" sz="1400" dirty="0" smtClean="0"/>
              <a:t>PMR</a:t>
            </a:r>
            <a:r>
              <a:rPr lang="zh-CN" altLang="en-US" sz="1400" dirty="0" smtClean="0"/>
              <a:t>提交或后续由接口人补充提交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接口人需要对该问题创建内部</a:t>
            </a:r>
            <a:r>
              <a:rPr lang="en-US" altLang="zh-CN" sz="1400" dirty="0" smtClean="0"/>
              <a:t>JIRA</a:t>
            </a:r>
            <a:r>
              <a:rPr lang="zh-CN" altLang="en-US" sz="1400" dirty="0" smtClean="0"/>
              <a:t>单，并根据问题分类、模块和级别协调人力（争议时由开发部经理协调）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</a:t>
            </a:r>
            <a:r>
              <a:rPr lang="en-US" altLang="zh-CN" sz="1400" dirty="0" smtClean="0"/>
              <a:t>   </a:t>
            </a:r>
            <a:r>
              <a:rPr lang="zh-CN" altLang="en-US" sz="1400" dirty="0" smtClean="0"/>
              <a:t>开发人员对问题进行处理，在如下原因时可以申请升级：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400" dirty="0" smtClean="0"/>
              <a:t>  </a:t>
            </a:r>
            <a:r>
              <a:rPr lang="zh-CN" altLang="en-US" sz="1200" dirty="0" smtClean="0"/>
              <a:t>问题时间紧急，投入一定时间后无任何思路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</a:t>
            </a:r>
            <a:r>
              <a:rPr lang="en-US" altLang="zh-CN" sz="1200" dirty="0" smtClean="0"/>
              <a:t>  </a:t>
            </a:r>
            <a:r>
              <a:rPr lang="zh-CN" altLang="en-US" sz="1200" dirty="0" smtClean="0"/>
              <a:t>问题难度太大，经过多方讨论后仍无法解决</a:t>
            </a:r>
            <a:endParaRPr lang="en-US" altLang="zh-CN" sz="1200" dirty="0" smtClean="0"/>
          </a:p>
          <a:p>
            <a:r>
              <a:rPr lang="zh-CN" altLang="en-US" sz="1400" dirty="0" smtClean="0"/>
              <a:t>如下原因时可以申请降级：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</a:t>
            </a:r>
            <a:r>
              <a:rPr lang="zh-CN" altLang="en-US" sz="1200" dirty="0" smtClean="0"/>
              <a:t>当前其它任务处理紧急，并且能给出清淅问题指导思路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</a:t>
            </a:r>
            <a:r>
              <a:rPr lang="en-US" altLang="zh-CN" sz="1200" dirty="0" smtClean="0"/>
              <a:t>  </a:t>
            </a:r>
            <a:r>
              <a:rPr lang="zh-CN" altLang="en-US" sz="1200" dirty="0" smtClean="0"/>
              <a:t>评估当前问题级别难度偏低</a:t>
            </a:r>
            <a:endParaRPr lang="en-US" altLang="zh-CN" sz="1200" dirty="0" smtClean="0"/>
          </a:p>
          <a:p>
            <a:endParaRPr lang="en-US" altLang="zh-CN" sz="1400" dirty="0" smtClean="0"/>
          </a:p>
          <a:p>
            <a:r>
              <a:rPr lang="zh-CN" altLang="en-US" sz="1400" dirty="0" smtClean="0"/>
              <a:t>注意：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zh-CN" altLang="en-US" sz="1400" dirty="0" smtClean="0"/>
              <a:t>   对升级降级出现争议时，由开发部经理协调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en-US" altLang="zh-CN" sz="1400" dirty="0" smtClean="0"/>
              <a:t> </a:t>
            </a:r>
            <a:r>
              <a:rPr lang="en-US" altLang="zh-CN" sz="1400" dirty="0" smtClean="0"/>
              <a:t>  </a:t>
            </a:r>
            <a:r>
              <a:rPr lang="zh-CN" altLang="en-US" sz="1400" dirty="0" smtClean="0"/>
              <a:t>解决问题</a:t>
            </a:r>
            <a:r>
              <a:rPr lang="en-US" altLang="zh-CN" sz="1400" dirty="0" smtClean="0"/>
              <a:t>3</a:t>
            </a:r>
            <a:r>
              <a:rPr lang="zh-CN" altLang="en-US" sz="1400" dirty="0" smtClean="0"/>
              <a:t>天无进展时，必须发起“</a:t>
            </a:r>
            <a:r>
              <a:rPr lang="zh-CN" altLang="en-US" sz="1400" b="1" dirty="0" smtClean="0">
                <a:solidFill>
                  <a:schemeClr val="accent1"/>
                </a:solidFill>
              </a:rPr>
              <a:t>问题讨论会</a:t>
            </a:r>
            <a:r>
              <a:rPr lang="zh-CN" altLang="en-US" sz="1400" dirty="0" smtClean="0"/>
              <a:t>”，与上级、本级开发人员共同讨论问题进展及思路</a:t>
            </a:r>
            <a:endParaRPr lang="zh-CN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内部问题处理机制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357290" y="1928802"/>
            <a:ext cx="322178" cy="357190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1428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6" name="Smiley Face 5"/>
          <p:cNvSpPr/>
          <p:nvPr/>
        </p:nvSpPr>
        <p:spPr>
          <a:xfrm>
            <a:off x="1893782" y="1928802"/>
            <a:ext cx="322178" cy="357190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25097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714348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714348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7" name="Down Arrow 16"/>
          <p:cNvSpPr/>
          <p:nvPr/>
        </p:nvSpPr>
        <p:spPr>
          <a:xfrm>
            <a:off x="1571604" y="2285992"/>
            <a:ext cx="428628" cy="357190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20" name="Rounded Rectangular Callout 19"/>
          <p:cNvSpPr/>
          <p:nvPr/>
        </p:nvSpPr>
        <p:spPr>
          <a:xfrm>
            <a:off x="3000364" y="2714620"/>
            <a:ext cx="2071702" cy="285752"/>
          </a:xfrm>
          <a:prstGeom prst="wedgeRoundRectCallout">
            <a:avLst>
              <a:gd name="adj1" fmla="val -55662"/>
              <a:gd name="adj2" fmla="val 1096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遵守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《 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jira</a:t>
            </a:r>
            <a:r>
              <a:rPr lang="zh-CN" altLang="en-US" sz="1200" b="1" dirty="0" smtClean="0">
                <a:solidFill>
                  <a:srgbClr val="C00000"/>
                </a:solidFill>
              </a:rPr>
              <a:t>问题单模板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.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docx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》</a:t>
            </a:r>
            <a:endParaRPr lang="en-US" altLang="zh-CN" sz="1200" b="1" dirty="0" smtClean="0">
              <a:solidFill>
                <a:srgbClr val="C00000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714348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测试经理审核</a:t>
            </a:r>
            <a:endParaRPr lang="zh-CN" altLang="en-US" dirty="0"/>
          </a:p>
        </p:txBody>
      </p:sp>
      <p:sp>
        <p:nvSpPr>
          <p:cNvPr id="25" name="Rounded Rectangle 24"/>
          <p:cNvSpPr/>
          <p:nvPr/>
        </p:nvSpPr>
        <p:spPr>
          <a:xfrm>
            <a:off x="714348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开发经理分发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6286512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开发经理审核</a:t>
            </a:r>
            <a:endParaRPr lang="zh-CN" altLang="en-US" dirty="0"/>
          </a:p>
        </p:txBody>
      </p:sp>
      <p:sp>
        <p:nvSpPr>
          <p:cNvPr id="27" name="Rounded Rectangle 26"/>
          <p:cNvSpPr/>
          <p:nvPr/>
        </p:nvSpPr>
        <p:spPr>
          <a:xfrm>
            <a:off x="6286512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测试经理分发</a:t>
            </a:r>
            <a:endParaRPr lang="zh-CN" altLang="en-US" dirty="0"/>
          </a:p>
        </p:txBody>
      </p:sp>
      <p:sp>
        <p:nvSpPr>
          <p:cNvPr id="28" name="Rounded Rectangle 27"/>
          <p:cNvSpPr/>
          <p:nvPr/>
        </p:nvSpPr>
        <p:spPr>
          <a:xfrm>
            <a:off x="6286512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测试人员验证</a:t>
            </a:r>
            <a:endParaRPr lang="zh-CN" altLang="en-US" dirty="0"/>
          </a:p>
        </p:txBody>
      </p:sp>
      <p:sp>
        <p:nvSpPr>
          <p:cNvPr id="29" name="Rounded Rectangle 28"/>
          <p:cNvSpPr/>
          <p:nvPr/>
        </p:nvSpPr>
        <p:spPr>
          <a:xfrm>
            <a:off x="6286512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测试经理确认</a:t>
            </a:r>
            <a:endParaRPr lang="zh-CN" altLang="en-US" dirty="0"/>
          </a:p>
        </p:txBody>
      </p:sp>
      <p:sp>
        <p:nvSpPr>
          <p:cNvPr id="30" name="Down Arrow 29"/>
          <p:cNvSpPr/>
          <p:nvPr/>
        </p:nvSpPr>
        <p:spPr>
          <a:xfrm>
            <a:off x="1571604" y="3214686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1" name="Down Arrow 30"/>
          <p:cNvSpPr/>
          <p:nvPr/>
        </p:nvSpPr>
        <p:spPr>
          <a:xfrm>
            <a:off x="1571604" y="4357694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32" name="Down Arrow 31"/>
          <p:cNvSpPr/>
          <p:nvPr/>
        </p:nvSpPr>
        <p:spPr>
          <a:xfrm>
            <a:off x="1571604" y="5500702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34" name="Right Arrow 33"/>
          <p:cNvSpPr/>
          <p:nvPr/>
        </p:nvSpPr>
        <p:spPr>
          <a:xfrm>
            <a:off x="3428992" y="6215082"/>
            <a:ext cx="2500330" cy="428628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  <p:sp>
        <p:nvSpPr>
          <p:cNvPr id="35" name="Up Arrow 34"/>
          <p:cNvSpPr/>
          <p:nvPr/>
        </p:nvSpPr>
        <p:spPr>
          <a:xfrm>
            <a:off x="7143768" y="5500702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6</a:t>
            </a:r>
            <a:endParaRPr lang="zh-CN" altLang="en-US" dirty="0"/>
          </a:p>
        </p:txBody>
      </p:sp>
      <p:sp>
        <p:nvSpPr>
          <p:cNvPr id="36" name="Up Arrow 35"/>
          <p:cNvSpPr/>
          <p:nvPr/>
        </p:nvSpPr>
        <p:spPr>
          <a:xfrm>
            <a:off x="7143768" y="4357694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7</a:t>
            </a:r>
            <a:endParaRPr lang="zh-CN" altLang="en-US" dirty="0"/>
          </a:p>
        </p:txBody>
      </p:sp>
      <p:sp>
        <p:nvSpPr>
          <p:cNvPr id="37" name="Up Arrow 36"/>
          <p:cNvSpPr/>
          <p:nvPr/>
        </p:nvSpPr>
        <p:spPr>
          <a:xfrm>
            <a:off x="7143768" y="3214686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8</a:t>
            </a:r>
            <a:endParaRPr lang="zh-CN" altLang="en-US" dirty="0"/>
          </a:p>
        </p:txBody>
      </p:sp>
      <p:sp>
        <p:nvSpPr>
          <p:cNvPr id="39" name="Bent-Up Arrow 38"/>
          <p:cNvSpPr/>
          <p:nvPr/>
        </p:nvSpPr>
        <p:spPr>
          <a:xfrm rot="16200000">
            <a:off x="5179222" y="321446"/>
            <a:ext cx="714379" cy="3929092"/>
          </a:xfrm>
          <a:prstGeom prst="bentUpArrow">
            <a:avLst>
              <a:gd name="adj1" fmla="val 30565"/>
              <a:gd name="adj2" fmla="val 25795"/>
              <a:gd name="adj3" fmla="val 22694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4923919" y="19474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solidFill>
                  <a:schemeClr val="bg1"/>
                </a:solidFill>
              </a:rPr>
              <a:t>确认关闭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Rounded Rectangular Callout 40"/>
          <p:cNvSpPr/>
          <p:nvPr/>
        </p:nvSpPr>
        <p:spPr>
          <a:xfrm>
            <a:off x="3000364" y="3071810"/>
            <a:ext cx="2071702" cy="714380"/>
          </a:xfrm>
          <a:prstGeom prst="wedgeRoundRectCallout">
            <a:avLst>
              <a:gd name="adj1" fmla="val -61419"/>
              <a:gd name="adj2" fmla="val 549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审核要求：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确认是否为问题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确认标题、描述、影响版本、信息是否完整</a:t>
            </a:r>
            <a:endParaRPr lang="en-US" altLang="zh-CN" sz="1200" dirty="0" smtClean="0"/>
          </a:p>
        </p:txBody>
      </p:sp>
      <p:sp>
        <p:nvSpPr>
          <p:cNvPr id="43" name="Rounded Rectangular Callout 42"/>
          <p:cNvSpPr/>
          <p:nvPr/>
        </p:nvSpPr>
        <p:spPr>
          <a:xfrm>
            <a:off x="3000364" y="4000504"/>
            <a:ext cx="2071702" cy="500066"/>
          </a:xfrm>
          <a:prstGeom prst="wedgeRoundRectCallout">
            <a:avLst>
              <a:gd name="adj1" fmla="val -88669"/>
              <a:gd name="adj2" fmla="val 14015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确认问题是否存在，根据分员矩阵进行问题分发</a:t>
            </a:r>
            <a:endParaRPr lang="en-US" altLang="zh-CN" sz="1200" dirty="0" smtClean="0"/>
          </a:p>
        </p:txBody>
      </p:sp>
      <p:sp>
        <p:nvSpPr>
          <p:cNvPr id="44" name="Rounded Rectangular Callout 43"/>
          <p:cNvSpPr/>
          <p:nvPr/>
        </p:nvSpPr>
        <p:spPr>
          <a:xfrm>
            <a:off x="3000364" y="4786322"/>
            <a:ext cx="2071702" cy="1357322"/>
          </a:xfrm>
          <a:prstGeom prst="wedgeRoundRectCallout">
            <a:avLst>
              <a:gd name="adj1" fmla="val -90901"/>
              <a:gd name="adj2" fmla="val 4991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写明问题真实详细原因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写明问题详细修改方案和代码</a:t>
            </a:r>
            <a:endParaRPr lang="en-US" altLang="zh-CN" sz="1200" dirty="0" smtClean="0"/>
          </a:p>
          <a:p>
            <a:r>
              <a:rPr lang="zh-CN" altLang="en-US" sz="1200" dirty="0" smtClean="0"/>
              <a:t>写明重现步骤、验证结论、测试用例执行情况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写明问题模块、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号</a:t>
            </a:r>
            <a:endParaRPr lang="en-US" altLang="zh-CN" sz="1200" dirty="0" smtClean="0"/>
          </a:p>
          <a:p>
            <a:r>
              <a:rPr lang="zh-CN" altLang="en-US" sz="1200" dirty="0" smtClean="0"/>
              <a:t>自检</a:t>
            </a:r>
            <a:r>
              <a:rPr lang="en-US" altLang="zh-CN" sz="1200" dirty="0" err="1" smtClean="0"/>
              <a:t>CheckList</a:t>
            </a:r>
            <a:r>
              <a:rPr lang="zh-CN" altLang="en-US" sz="1200" dirty="0" smtClean="0"/>
              <a:t>（见</a:t>
            </a:r>
            <a:r>
              <a:rPr lang="en-US" altLang="zh-CN" sz="1200" dirty="0" err="1" smtClean="0"/>
              <a:t>Jira</a:t>
            </a:r>
            <a:r>
              <a:rPr lang="zh-CN" altLang="en-US" sz="1200" dirty="0" smtClean="0"/>
              <a:t>规范）</a:t>
            </a:r>
            <a:endParaRPr lang="en-US" altLang="zh-CN" sz="1200" dirty="0" smtClean="0"/>
          </a:p>
        </p:txBody>
      </p:sp>
      <p:sp>
        <p:nvSpPr>
          <p:cNvPr id="45" name="Rounded Rectangular Callout 44"/>
          <p:cNvSpPr/>
          <p:nvPr/>
        </p:nvSpPr>
        <p:spPr>
          <a:xfrm>
            <a:off x="5214942" y="5500702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审核修改有效性</a:t>
            </a:r>
            <a:endParaRPr lang="en-US" altLang="zh-CN" sz="1200" dirty="0" smtClean="0"/>
          </a:p>
          <a:p>
            <a:r>
              <a:rPr lang="zh-CN" altLang="en-US" sz="1200" dirty="0" smtClean="0"/>
              <a:t>指派检视人员</a:t>
            </a:r>
            <a:endParaRPr lang="en-US" altLang="zh-CN" sz="1200" dirty="0" smtClean="0"/>
          </a:p>
          <a:p>
            <a:r>
              <a:rPr lang="zh-CN" altLang="en-US" sz="1200" dirty="0" smtClean="0"/>
              <a:t>标明修复版本</a:t>
            </a:r>
            <a:endParaRPr lang="en-US" altLang="zh-CN" sz="1200" dirty="0" smtClean="0"/>
          </a:p>
        </p:txBody>
      </p:sp>
      <p:sp>
        <p:nvSpPr>
          <p:cNvPr id="47" name="Rounded Rectangular Callout 46"/>
          <p:cNvSpPr/>
          <p:nvPr/>
        </p:nvSpPr>
        <p:spPr>
          <a:xfrm>
            <a:off x="5214942" y="3214686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根据重现步骤在新旧版本进行测试</a:t>
            </a:r>
            <a:r>
              <a:rPr lang="zh-CN" altLang="en-US" sz="1200" dirty="0" smtClean="0"/>
              <a:t>，标明测试结果</a:t>
            </a:r>
            <a:endParaRPr lang="en-US" altLang="zh-CN" sz="1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特性开发流程</a:t>
            </a:r>
            <a:endParaRPr lang="zh-CN" alt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Smiley Face 35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38" name="Rounded Rectangle 37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39" name="Rounded Rectangle 38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40" name="Rounded Rectangle 39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42" name="Rounded Rectangle 4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43" name="Rounded Rectangle 42"/>
          <p:cNvSpPr/>
          <p:nvPr/>
        </p:nvSpPr>
        <p:spPr>
          <a:xfrm>
            <a:off x="571472" y="4143380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44" name="Rounded Rectangle 4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571472" y="542926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46" name="Rounded Rectangle 4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47" name="Rounded Rectangle 46"/>
          <p:cNvSpPr/>
          <p:nvPr/>
        </p:nvSpPr>
        <p:spPr>
          <a:xfrm>
            <a:off x="571472" y="614364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48" name="Down Arrow 47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Down Arrow 48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Down Arrow 49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1" name="Straight Connector 50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Down Arrow 51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Down Arrow 52"/>
          <p:cNvSpPr/>
          <p:nvPr/>
        </p:nvSpPr>
        <p:spPr>
          <a:xfrm>
            <a:off x="1320864" y="528638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Down Arrow 53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Down Arrow 54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Down Arrow 55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Down Arrow 56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Down Arrow 57"/>
          <p:cNvSpPr/>
          <p:nvPr/>
        </p:nvSpPr>
        <p:spPr>
          <a:xfrm>
            <a:off x="1320864" y="600076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Rounded Rectangular Callout 58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</a:t>
            </a:r>
            <a:r>
              <a:rPr lang="zh-CN" altLang="en-US" sz="1400" dirty="0" smtClean="0"/>
              <a:t>发经理，</a:t>
            </a:r>
            <a:r>
              <a:rPr lang="zh-CN" altLang="en-US" sz="1400" dirty="0" smtClean="0"/>
              <a:t>测试经理，开发人员，测试人员参与</a:t>
            </a:r>
            <a:endParaRPr lang="en-US" altLang="zh-CN" sz="1400" dirty="0" smtClean="0"/>
          </a:p>
        </p:txBody>
      </p:sp>
      <p:sp>
        <p:nvSpPr>
          <p:cNvPr id="61" name="Rounded Rectangular Callout 60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2" name="Rounded Rectangular Callout 61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3" name="Rounded Rectangular Callout 62"/>
          <p:cNvSpPr/>
          <p:nvPr/>
        </p:nvSpPr>
        <p:spPr>
          <a:xfrm>
            <a:off x="2714612" y="5286388"/>
            <a:ext cx="1643074" cy="642942"/>
          </a:xfrm>
          <a:prstGeom prst="wedgeRoundRectCallout">
            <a:avLst>
              <a:gd name="adj1" fmla="val -60329"/>
              <a:gd name="adj2" fmla="val 1646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64" name="Down Arrow 63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Rounded Rectangular Callout 64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66" name="Rounded Rectangular Callout 65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67" name="Smiley Face 66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Rounded Rectangle 68"/>
          <p:cNvSpPr/>
          <p:nvPr/>
        </p:nvSpPr>
        <p:spPr>
          <a:xfrm>
            <a:off x="571472" y="4786322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代码讲解和检视</a:t>
            </a:r>
            <a:endParaRPr lang="zh-CN" altLang="en-US" dirty="0"/>
          </a:p>
        </p:txBody>
      </p:sp>
      <p:sp>
        <p:nvSpPr>
          <p:cNvPr id="70" name="Down Arrow 69"/>
          <p:cNvSpPr/>
          <p:nvPr/>
        </p:nvSpPr>
        <p:spPr>
          <a:xfrm>
            <a:off x="1320864" y="464344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Rounded Rectangular Callout 70"/>
          <p:cNvSpPr/>
          <p:nvPr/>
        </p:nvSpPr>
        <p:spPr>
          <a:xfrm>
            <a:off x="2714612" y="4429132"/>
            <a:ext cx="1571636" cy="714380"/>
          </a:xfrm>
          <a:prstGeom prst="wedgeRoundRectCallout">
            <a:avLst>
              <a:gd name="adj1" fmla="val -61890"/>
              <a:gd name="adj2" fmla="val 277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举行代码讲解会议，开发经理安排人员代码检视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——CI</a:t>
            </a:r>
            <a:r>
              <a:rPr lang="zh-CN" altLang="en-US" dirty="0" smtClean="0"/>
              <a:t>流程和规范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143008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</a:t>
            </a:r>
            <a:r>
              <a:rPr lang="zh-CN" altLang="en-US" sz="1400" dirty="0" smtClean="0"/>
              <a:t>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《JS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测式用例指导书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</a:t>
            </a:r>
            <a:r>
              <a:rPr lang="zh-CN" altLang="en-US" sz="1400" dirty="0" smtClean="0"/>
              <a:t>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CI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负责人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3" name="Rounded Rectangular Callout 32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</a:t>
            </a:r>
            <a:r>
              <a:rPr lang="zh-CN" altLang="en-US" sz="1400" dirty="0" smtClean="0"/>
              <a:t>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测试经理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</a:t>
            </a:r>
            <a:r>
              <a:rPr lang="zh-CN" altLang="en-US" sz="1400" dirty="0" smtClean="0"/>
              <a:t>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开发经理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  <a:endParaRPr lang="en-US" altLang="zh-CN" sz="1400" dirty="0" smtClean="0">
              <a:solidFill>
                <a:schemeClr val="bg1"/>
              </a:solidFill>
            </a:endParaRPr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资料开发提交流程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miley Face 7"/>
          <p:cNvSpPr/>
          <p:nvPr/>
        </p:nvSpPr>
        <p:spPr>
          <a:xfrm>
            <a:off x="2393848" y="236957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071670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1357290" y="3155390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设计资料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401264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资料设计评审会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1357290" y="4869902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资料开发</a:t>
            </a:r>
            <a:r>
              <a:rPr lang="en-US" altLang="zh-CN" dirty="0" smtClean="0"/>
              <a:t>+</a:t>
            </a:r>
            <a:r>
              <a:rPr lang="zh-CN" altLang="en-US" dirty="0" smtClean="0"/>
              <a:t>检视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4500562" y="2369572"/>
            <a:ext cx="4214842" cy="773676"/>
          </a:xfrm>
          <a:prstGeom prst="wedgeRoundRectCallout">
            <a:avLst>
              <a:gd name="adj1" fmla="val -61533"/>
              <a:gd name="adj2" fmla="val 6069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</a:t>
            </a:r>
            <a:r>
              <a:rPr lang="zh-CN" altLang="en-US" sz="1400" dirty="0" smtClean="0"/>
              <a:t>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资料设计规范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设计资料内容大纲，展现形式（格式、排版等）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、设计主要的对象，接口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4500562" y="3643314"/>
            <a:ext cx="4214842" cy="500066"/>
          </a:xfrm>
          <a:prstGeom prst="wedgeRoundRectCallout">
            <a:avLst>
              <a:gd name="adj1" fmla="val -62071"/>
              <a:gd name="adj2" fmla="val 5745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开发人员、测试人员、资料负责人共同参与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4500562" y="4369836"/>
            <a:ext cx="4214842" cy="1273742"/>
          </a:xfrm>
          <a:prstGeom prst="wedgeRoundRectCallout">
            <a:avLst>
              <a:gd name="adj1" fmla="val -60491"/>
              <a:gd name="adj2" fmla="val -1793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、开发人员根据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资料编写规范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编写资料内容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、资料负责人和测试人员每天投入进行资料设计和资料内检视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、开发人员、资料负责人、测试人员每天进行检视会议讨论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2465286" y="294107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2465286" y="37268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2465286" y="4584150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2465286" y="544140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1357290" y="571501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提交资料测试</a:t>
            </a:r>
            <a:endParaRPr lang="zh-CN" altLang="en-US" dirty="0"/>
          </a:p>
        </p:txBody>
      </p:sp>
      <p:sp>
        <p:nvSpPr>
          <p:cNvPr id="37" name="Rounded Rectangular Callout 36"/>
          <p:cNvSpPr/>
          <p:nvPr/>
        </p:nvSpPr>
        <p:spPr>
          <a:xfrm>
            <a:off x="4500562" y="5857892"/>
            <a:ext cx="4214842" cy="500066"/>
          </a:xfrm>
          <a:prstGeom prst="wedgeRoundRectCallout">
            <a:avLst>
              <a:gd name="adj1" fmla="val -60939"/>
              <a:gd name="adj2" fmla="val -1568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测试人员对资料进行全面测试（资料形式，语言描述，内容正确性，外观美观性等）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版本迭代和发布流程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版本失代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版本发布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开发经理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规划迭代计划</a:t>
            </a:r>
            <a:endParaRPr lang="zh-CN" alt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迭代会议</a:t>
            </a:r>
            <a:endParaRPr lang="zh-CN" altLang="en-US" sz="1400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Story</a:t>
            </a:r>
            <a:r>
              <a:rPr lang="zh-CN" altLang="en-US" sz="1200" dirty="0" smtClean="0"/>
              <a:t>开发期</a:t>
            </a:r>
            <a:endParaRPr lang="zh-CN" altLang="en-US" sz="1200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迭代版本交付测试</a:t>
            </a:r>
            <a:endParaRPr lang="zh-CN" altLang="en-US" sz="1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00013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zh-CN" altLang="en-US" sz="1400" dirty="0" smtClean="0"/>
              <a:t>收集客户需求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、收集售前实施需求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、从竞争分析总结需求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00504"/>
            <a:ext cx="2428892" cy="71438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组织迭代会议，讨论下一迭代开发、测试计划和分员分配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测试经理规划迭代版本测试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版本负责人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汇总问题和需求（前</a:t>
            </a:r>
            <a:r>
              <a:rPr lang="en-US" altLang="zh-CN" sz="1200" dirty="0" smtClean="0"/>
              <a:t>18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编译版本包（前</a:t>
            </a:r>
            <a:r>
              <a:rPr lang="en-US" altLang="zh-CN" sz="1200" dirty="0" smtClean="0"/>
              <a:t>16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启动测试和检测（前</a:t>
            </a:r>
            <a:r>
              <a:rPr lang="en-US" altLang="zh-CN" sz="1200" dirty="0" smtClean="0"/>
              <a:t>14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发布</a:t>
            </a:r>
            <a:endParaRPr lang="zh-CN" altLang="en-US" sz="12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428868"/>
            <a:ext cx="2428892" cy="1143008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</a:t>
            </a:r>
            <a:r>
              <a:rPr lang="zh-CN" altLang="en-US" sz="1200" dirty="0" smtClean="0"/>
              <a:t>汇总问题和需求，起草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、跟踪和确保问题和需求落实代码，问题测试是否完成</a:t>
            </a:r>
            <a:endParaRPr lang="en-US" altLang="zh-CN" sz="1200" dirty="0" smtClean="0"/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、确保资料是否完成</a:t>
            </a:r>
            <a:endParaRPr lang="en-US" altLang="zh-CN" sz="1200" dirty="0" smtClean="0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4857760"/>
            <a:ext cx="2428892" cy="928694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>
                <a:solidFill>
                  <a:schemeClr val="bg1"/>
                </a:solidFill>
              </a:rPr>
              <a:t>1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、启动测试和开发自验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2</a:t>
            </a:r>
            <a:r>
              <a:rPr lang="zh-CN" altLang="en-US" sz="1200" dirty="0" smtClean="0">
                <a:solidFill>
                  <a:schemeClr val="bg1"/>
                </a:solidFill>
              </a:rPr>
              <a:t>、根据</a:t>
            </a:r>
            <a:r>
              <a:rPr lang="en-US" altLang="zh-CN" sz="1200" dirty="0" smtClean="0">
                <a:solidFill>
                  <a:schemeClr val="bg1"/>
                </a:solidFill>
              </a:rPr>
              <a:t>《</a:t>
            </a:r>
            <a:r>
              <a:rPr lang="zh-CN" altLang="en-US" sz="1200" dirty="0" smtClean="0">
                <a:solidFill>
                  <a:schemeClr val="bg1"/>
                </a:solidFill>
              </a:rPr>
              <a:t>版本发布说明书</a:t>
            </a:r>
            <a:r>
              <a:rPr lang="en-US" altLang="zh-CN" sz="1200" dirty="0" smtClean="0">
                <a:solidFill>
                  <a:schemeClr val="bg1"/>
                </a:solidFill>
              </a:rPr>
              <a:t>》</a:t>
            </a:r>
            <a:r>
              <a:rPr lang="zh-CN" altLang="en-US" sz="1200" dirty="0" smtClean="0">
                <a:solidFill>
                  <a:schemeClr val="bg1"/>
                </a:solidFill>
              </a:rPr>
              <a:t>进行各环节确认工作并由责任人签字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3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、启动性能和稳定性等测试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3714752"/>
            <a:ext cx="2428892" cy="1000132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锁库</a:t>
            </a:r>
            <a:endParaRPr lang="en-US" altLang="zh-CN" sz="1200" dirty="0" smtClean="0"/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、打版本</a:t>
            </a:r>
            <a:r>
              <a:rPr lang="en-US" altLang="zh-CN" sz="1200" dirty="0" smtClean="0"/>
              <a:t>Tag</a:t>
            </a:r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、触发</a:t>
            </a:r>
            <a:r>
              <a:rPr lang="en-US" altLang="zh-CN" sz="1200" dirty="0" smtClean="0"/>
              <a:t>CI</a:t>
            </a:r>
            <a:r>
              <a:rPr lang="zh-CN" altLang="en-US" sz="1200" dirty="0" smtClean="0"/>
              <a:t>编译版本包和测试，检察版本包和资料完整性</a:t>
            </a:r>
            <a:endParaRPr lang="en-US" altLang="zh-CN" sz="1200" dirty="0" smtClean="0"/>
          </a:p>
          <a:p>
            <a:r>
              <a:rPr lang="en-US" altLang="zh-CN" sz="1200" dirty="0" smtClean="0"/>
              <a:t>4</a:t>
            </a:r>
            <a:r>
              <a:rPr lang="zh-CN" altLang="en-US" sz="1200" dirty="0" smtClean="0"/>
              <a:t>、完善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  <a:endParaRPr lang="en-US" altLang="zh-CN" sz="1200" dirty="0" smtClean="0"/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929330"/>
            <a:ext cx="2428892" cy="571504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根据各环节检验数据确认版本是否发布？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沟通和管理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1431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项目例会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07181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版本迭代会议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392906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每日站立会议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642910" y="485776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变更控制评审会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642910" y="57150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周报</a:t>
            </a:r>
            <a:r>
              <a:rPr lang="en-US" altLang="zh-CN" dirty="0" smtClean="0"/>
              <a:t>/</a:t>
            </a:r>
            <a:r>
              <a:rPr lang="zh-CN" altLang="en-US" dirty="0" smtClean="0"/>
              <a:t>月报</a:t>
            </a:r>
            <a:endParaRPr lang="zh-CN" altLang="en-US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1714488"/>
            <a:ext cx="4214842" cy="1214446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开发和测试分开进行，由要全本参与</a:t>
            </a:r>
            <a:endParaRPr lang="en-US" altLang="zh-CN" sz="1400" dirty="0" smtClean="0"/>
          </a:p>
          <a:p>
            <a:r>
              <a:rPr lang="zh-CN" altLang="en-US" sz="1400" dirty="0" smtClean="0"/>
              <a:t>会议以周为单位，时间由开发测试自定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目的：根踪本周任务执行状况，困难，进展以及其它事务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会议主持：由开发和测试自定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3000372"/>
            <a:ext cx="4214842" cy="1071570"/>
          </a:xfrm>
          <a:prstGeom prst="wedgeRoundRectCallout">
            <a:avLst>
              <a:gd name="adj1" fmla="val -62825"/>
              <a:gd name="adj2" fmla="val -826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版本迭代开始之前进行，原则上每个月一次</a:t>
            </a:r>
            <a:endParaRPr lang="en-US" altLang="zh-CN" sz="1400" dirty="0" smtClean="0"/>
          </a:p>
          <a:p>
            <a:r>
              <a:rPr lang="zh-CN" altLang="en-US" sz="1400" dirty="0" smtClean="0"/>
              <a:t>要求开发和测试全体参与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目的：规则下一迭代版本的功能需求、开发计划和测试计划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会议主持：开发经理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4214818"/>
            <a:ext cx="4214842" cy="571504"/>
          </a:xfrm>
          <a:prstGeom prst="wedgeRoundRectCallout">
            <a:avLst>
              <a:gd name="adj1" fmla="val -62825"/>
              <a:gd name="adj2" fmla="val -4443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开发和测试分开进行，控制在</a:t>
            </a:r>
            <a:r>
              <a:rPr lang="en-US" altLang="zh-CN" sz="1400" dirty="0" smtClean="0"/>
              <a:t>20</a:t>
            </a:r>
            <a:r>
              <a:rPr lang="zh-CN" altLang="en-US" sz="1400" dirty="0" smtClean="0"/>
              <a:t>分钟内，汇报昨天完成的工作以及今天计划完成的工作，反馈困难</a:t>
            </a:r>
            <a:endParaRPr lang="en-US" altLang="zh-CN" sz="1400" dirty="0" smtClean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4857760"/>
            <a:ext cx="4214842" cy="928694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根据具体需要举行，目的：</a:t>
            </a:r>
            <a:endParaRPr lang="en-US" altLang="zh-CN" sz="1400" dirty="0" smtClean="0"/>
          </a:p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、解决技术冲突</a:t>
            </a:r>
            <a:r>
              <a:rPr lang="zh-CN" altLang="en-US" sz="1400" dirty="0" smtClean="0"/>
              <a:t>仲</a:t>
            </a:r>
            <a:r>
              <a:rPr lang="zh-CN" altLang="en-US" sz="1400" dirty="0" smtClean="0"/>
              <a:t>裁，需求变更仲裁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、解决任务分配冲突仲裁</a:t>
            </a:r>
            <a:endParaRPr lang="en-US" altLang="zh-CN" sz="1400" dirty="0" smtClean="0"/>
          </a:p>
          <a:p>
            <a:r>
              <a:rPr lang="zh-CN" altLang="en-US" sz="1400" dirty="0" smtClean="0"/>
              <a:t>测试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开发相关人员和开发经理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测试经理参与</a:t>
            </a:r>
            <a:endParaRPr lang="en-US" altLang="zh-CN" sz="1400" dirty="0" smtClean="0"/>
          </a:p>
        </p:txBody>
      </p:sp>
      <p:sp>
        <p:nvSpPr>
          <p:cNvPr id="13" name="Rounded Rectangular Callout 12"/>
          <p:cNvSpPr/>
          <p:nvPr/>
        </p:nvSpPr>
        <p:spPr>
          <a:xfrm>
            <a:off x="4643438" y="5857892"/>
            <a:ext cx="4214842" cy="785818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开发和测试人员每个月向开发或测试经理发送工作月报</a:t>
            </a:r>
            <a:endParaRPr lang="en-US" altLang="zh-CN" sz="1400" dirty="0" smtClean="0"/>
          </a:p>
          <a:p>
            <a:r>
              <a:rPr lang="zh-CN" altLang="en-US" sz="1400" dirty="0" smtClean="0"/>
              <a:t>开发经理和测试经理每周向项目经理发送工作周报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新员工培养制度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技术分享会议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478632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月度</a:t>
            </a:r>
            <a:r>
              <a:rPr lang="en-US" altLang="zh-CN" dirty="0" smtClean="0"/>
              <a:t>One-By-One Review</a:t>
            </a:r>
            <a:endParaRPr lang="zh-CN" altLang="en-US" dirty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1714488"/>
            <a:ext cx="4214842" cy="1643074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新员工入职后分配导师，试用期内任务由导师分配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新员工试用期内每周向导师和开发经理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测试经理发送周报（学习和工作内容）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新员工入职进行基本技术和规范学习后，开展为期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星期的实地“项目演练”，演练通过才能安排过相关项目</a:t>
            </a:r>
            <a:endParaRPr lang="en-US" altLang="zh-CN" sz="1400" dirty="0" smtClean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3500438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周举行一期（开发和测试分别举行</a:t>
            </a:r>
            <a:r>
              <a:rPr lang="zh-CN" altLang="en-US" sz="1400" dirty="0" smtClean="0"/>
              <a:t>一</a:t>
            </a:r>
            <a:r>
              <a:rPr lang="zh-CN" altLang="en-US" sz="1400" dirty="0" smtClean="0"/>
              <a:t>期）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由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培训经理</a:t>
            </a:r>
            <a:r>
              <a:rPr lang="zh-CN" altLang="en-US" sz="1400" dirty="0" smtClean="0"/>
              <a:t>按月度计划，内容包含但不限于：产品相关技术和设计、产品代码、业界技术、业界产品技术、测试技术、测试用例代码等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分享材料需要规档存放，用于新人学习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928694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开发经理或测试经理对开发人员或测试人员进行</a:t>
            </a:r>
            <a:r>
              <a:rPr lang="en-US" altLang="zh-CN" sz="1400" dirty="0" smtClean="0"/>
              <a:t>Review</a:t>
            </a:r>
            <a:r>
              <a:rPr lang="zh-CN" altLang="en-US" sz="1400" dirty="0" smtClean="0"/>
              <a:t>，包括：月度工作评价、改进点、困难反馈、意见返馈等</a:t>
            </a:r>
            <a:endParaRPr lang="en-US" altLang="zh-CN" sz="1400" dirty="0" smtClean="0"/>
          </a:p>
        </p:txBody>
      </p:sp>
      <p:sp>
        <p:nvSpPr>
          <p:cNvPr id="11" name="Rounded Rectangle 10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选举培训经理</a:t>
            </a:r>
            <a:endParaRPr lang="zh-CN" altLang="en-US" dirty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5857892"/>
            <a:ext cx="4214842" cy="642942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团队氛围建设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双周运动，强身健体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7187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季度活动，增强团队精神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选举活动经理</a:t>
            </a:r>
            <a:endParaRPr lang="zh-CN" altLang="en-US" dirty="0"/>
          </a:p>
        </p:txBody>
      </p:sp>
      <p:sp>
        <p:nvSpPr>
          <p:cNvPr id="7" name="Rounded Rectangular Callout 6"/>
          <p:cNvSpPr/>
          <p:nvPr/>
        </p:nvSpPr>
        <p:spPr>
          <a:xfrm>
            <a:off x="4643438" y="2143116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每双周周六下午开展运动，形式：羽毛球、篮球、爬山、乒乓球、徒步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运动后提供每人不高于</a:t>
            </a:r>
            <a:r>
              <a:rPr lang="en-US" altLang="zh-CN" sz="1400" dirty="0" smtClean="0"/>
              <a:t>4</a:t>
            </a:r>
            <a:r>
              <a:rPr lang="en-US" altLang="zh-CN" sz="1400" dirty="0" smtClean="0"/>
              <a:t>0</a:t>
            </a:r>
            <a:r>
              <a:rPr lang="zh-CN" altLang="en-US" sz="1400" dirty="0" smtClean="0"/>
              <a:t>元标准餐聚，提倡节俭  </a:t>
            </a:r>
            <a:endParaRPr lang="en-US" altLang="zh-CN" sz="1400" dirty="0" smtClean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3500438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每季度组织</a:t>
            </a:r>
            <a:r>
              <a:rPr lang="en-US" altLang="zh-CN" sz="1400" dirty="0" smtClean="0"/>
              <a:t>1</a:t>
            </a:r>
            <a:r>
              <a:rPr lang="zh-CN" altLang="en-US" sz="1400" dirty="0" smtClean="0"/>
              <a:t>次集体出游活动，形式：爬山、唱歌、探险等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预算每人不高于</a:t>
            </a:r>
            <a:r>
              <a:rPr lang="en-US" altLang="zh-CN" sz="1400" dirty="0" smtClean="0"/>
              <a:t>200</a:t>
            </a:r>
            <a:r>
              <a:rPr lang="zh-CN" altLang="en-US" sz="1400" dirty="0" smtClean="0"/>
              <a:t>元标准</a:t>
            </a:r>
            <a:endParaRPr lang="en-US" altLang="zh-CN" sz="1400" dirty="0" smtClean="0"/>
          </a:p>
        </p:txBody>
      </p:sp>
      <p:sp>
        <p:nvSpPr>
          <p:cNvPr id="9" name="Rounded Rectangle 8"/>
          <p:cNvSpPr/>
          <p:nvPr/>
        </p:nvSpPr>
        <p:spPr>
          <a:xfrm>
            <a:off x="642910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零食、水果供给</a:t>
            </a:r>
            <a:endParaRPr lang="zh-CN" altLang="en-US" dirty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办公室定期提供零食、水果作为员工福利，提倡高效工作，健康生活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6000768"/>
            <a:ext cx="4214842" cy="428628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奖惩措施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57160" y="1643050"/>
          <a:ext cx="8572557" cy="503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19"/>
                <a:gridCol w="2857519"/>
                <a:gridCol w="2857519"/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内容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奖励（</a:t>
                      </a:r>
                      <a:r>
                        <a:rPr lang="zh-CN" altLang="en-US" sz="1200" dirty="0" smtClean="0"/>
                        <a:t>由微信红包方式支付</a:t>
                      </a:r>
                      <a:r>
                        <a:rPr lang="zh-CN" altLang="en-US" dirty="0" smtClean="0"/>
                        <a:t>）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惩罚（</a:t>
                      </a:r>
                      <a:r>
                        <a:rPr lang="zh-CN" altLang="en-US" sz="1400" dirty="0" smtClean="0"/>
                        <a:t>罚款由微信红包方式交由活动经理用于购买零食水果</a:t>
                      </a:r>
                      <a:r>
                        <a:rPr lang="zh-CN" altLang="en-US" dirty="0" smtClean="0"/>
                        <a:t>）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提交代码导致编译不过（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和</a:t>
                      </a:r>
                      <a:r>
                        <a:rPr lang="en-US" altLang="zh-CN" sz="1200" dirty="0" smtClean="0"/>
                        <a:t>Windows</a:t>
                      </a:r>
                      <a:r>
                        <a:rPr lang="zh-CN" altLang="en-US" sz="1200" dirty="0" smtClean="0"/>
                        <a:t>）超过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用例导致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用例不过超过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问题单和</a:t>
                      </a:r>
                      <a:r>
                        <a:rPr lang="en-US" altLang="zh-CN" sz="1200" dirty="0" smtClean="0"/>
                        <a:t>Story</a:t>
                      </a:r>
                      <a:r>
                        <a:rPr lang="zh-CN" altLang="en-US" sz="1200" dirty="0" smtClean="0"/>
                        <a:t>提供虚假</a:t>
                      </a:r>
                      <a:r>
                        <a:rPr lang="en-US" altLang="zh-CN" sz="1200" dirty="0" err="1" smtClean="0"/>
                        <a:t>CheckList</a:t>
                      </a:r>
                      <a:r>
                        <a:rPr lang="zh-CN" altLang="en-US" sz="1200" dirty="0" smtClean="0"/>
                        <a:t>导致问题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问题单修改后回归不通过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修改人处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本身发生故障超过</a:t>
                      </a:r>
                      <a:r>
                        <a:rPr lang="en-US" altLang="zh-CN" sz="1200" dirty="0" smtClean="0"/>
                        <a:t>48</a:t>
                      </a:r>
                      <a:r>
                        <a:rPr lang="zh-CN" altLang="en-US" sz="1200" dirty="0" smtClean="0"/>
                        <a:t>小时未解决（包含环境故障）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负责人处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新功能重大测试问题漏测，导致局点功能不可用或故障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开发经理和测试经理每人处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主动承担重大问题攻关并举取突破成果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主动分析并发现代码中隐藏严重级</a:t>
                      </a:r>
                      <a:r>
                        <a:rPr lang="en-US" altLang="zh-CN" sz="1200" dirty="0" smtClean="0"/>
                        <a:t>BUG</a:t>
                      </a:r>
                      <a:r>
                        <a:rPr lang="zh-CN" altLang="en-US" sz="1200" dirty="0" smtClean="0"/>
                        <a:t>（非自身开发代码和负责矩阵）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个（每人月上限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被评选为优秀设计或代码的开发人员（包含设计文档）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被评选为优秀测试设计或用例实现的测试人员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我们的目标是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857224" y="22859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一流的团队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71736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优秀的产品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643438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快乐工作、健康生活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附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外网</a:t>
            </a:r>
            <a:r>
              <a:rPr lang="en-US" altLang="zh-CN" dirty="0" smtClean="0"/>
              <a:t>PMR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2"/>
              </a:rPr>
              <a:t>http://pmr.sequoiadb.com/8181</a:t>
            </a:r>
            <a:endParaRPr lang="en-US" altLang="zh-CN" dirty="0" smtClean="0"/>
          </a:p>
          <a:p>
            <a:r>
              <a:rPr lang="zh-CN" altLang="en-US" dirty="0" smtClean="0"/>
              <a:t>外网</a:t>
            </a:r>
            <a:r>
              <a:rPr lang="en-US" altLang="zh-CN" dirty="0" smtClean="0"/>
              <a:t>Portal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3"/>
              </a:rPr>
              <a:t>http://pmr.sequoiadb.com/8090</a:t>
            </a:r>
            <a:endParaRPr lang="en-US" altLang="zh-CN" dirty="0" smtClean="0"/>
          </a:p>
          <a:p>
            <a:r>
              <a:rPr lang="zh-CN" altLang="en-US" dirty="0" smtClean="0"/>
              <a:t>内网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地址：</a:t>
            </a:r>
            <a:r>
              <a:rPr lang="en-US" altLang="zh-CN" dirty="0" smtClean="0"/>
              <a:t> </a:t>
            </a:r>
            <a:r>
              <a:rPr lang="en-US" altLang="zh-CN" dirty="0" smtClean="0">
                <a:hlinkClick r:id="rId4"/>
              </a:rPr>
              <a:t>http://</a:t>
            </a:r>
            <a:r>
              <a:rPr lang="en-US" altLang="zh-CN" dirty="0" smtClean="0">
                <a:hlinkClick r:id="rId4"/>
              </a:rPr>
              <a:t>jira:8080</a:t>
            </a:r>
            <a:endParaRPr lang="en-US" altLang="zh-CN" dirty="0" smtClean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12731</TotalTime>
  <Words>3806</Words>
  <Application>Microsoft Office PowerPoint</Application>
  <PresentationFormat>On-screen Show (4:3)</PresentationFormat>
  <Paragraphs>359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SequoiaDB</vt:lpstr>
      <vt:lpstr>2016研发组织结构和制度流程宣传</vt:lpstr>
      <vt:lpstr>研发组织结构</vt:lpstr>
      <vt:lpstr>研发人员分组</vt:lpstr>
      <vt:lpstr>研发制度——外部问题分类</vt:lpstr>
      <vt:lpstr>研发制度——研发人员矩阵</vt:lpstr>
      <vt:lpstr>研发制度——外部问题处理机制</vt:lpstr>
      <vt:lpstr>研发制度——内部问题处理机制</vt:lpstr>
      <vt:lpstr>研发制度——特性开发流程</vt:lpstr>
      <vt:lpstr>研发制度——CI流程和规范</vt:lpstr>
      <vt:lpstr>研发制度——资料开发提交流程</vt:lpstr>
      <vt:lpstr>研发制度——版本迭代和发布流程</vt:lpstr>
      <vt:lpstr>研发制度——沟通和管理</vt:lpstr>
      <vt:lpstr>研发制度——团队建设</vt:lpstr>
      <vt:lpstr>研发制度——团队氛围建设</vt:lpstr>
      <vt:lpstr>研发制度——奖惩措施</vt:lpstr>
      <vt:lpstr>我们的目标是</vt:lpstr>
      <vt:lpstr>附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551</cp:revision>
  <dcterms:created xsi:type="dcterms:W3CDTF">2013-11-01T02:43:08Z</dcterms:created>
  <dcterms:modified xsi:type="dcterms:W3CDTF">2016-03-03T07:13:52Z</dcterms:modified>
</cp:coreProperties>
</file>