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68" r:id="rId3"/>
    <p:sldId id="269" r:id="rId4"/>
    <p:sldId id="270" r:id="rId5"/>
    <p:sldId id="271" r:id="rId6"/>
    <p:sldId id="272" r:id="rId7"/>
    <p:sldId id="273" r:id="rId8"/>
    <p:sldId id="267" r:id="rId9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CC"/>
    <a:srgbClr val="13C0D7"/>
    <a:srgbClr val="339966"/>
    <a:srgbClr val="993366"/>
    <a:srgbClr val="C0BD2D"/>
    <a:srgbClr val="3DAD78"/>
    <a:srgbClr val="E161FF"/>
    <a:srgbClr val="CC00FF"/>
    <a:srgbClr val="3399FF"/>
    <a:srgbClr val="0066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98" d="100"/>
          <a:sy n="98" d="100"/>
        </p:scale>
        <p:origin x="-117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3E46FB-0C22-4315-8E08-4C5C8B3D1168}" type="datetimeFigureOut">
              <a:rPr lang="zh-CN" altLang="en-US" smtClean="0"/>
              <a:pPr/>
              <a:t>2014/7/15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DED305-2F38-4124-B22A-2A7AC7C037B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857356" y="2571744"/>
            <a:ext cx="7286644" cy="1214422"/>
          </a:xfrm>
        </p:spPr>
        <p:txBody>
          <a:bodyPr>
            <a:normAutofit/>
          </a:bodyPr>
          <a:lstStyle>
            <a:lvl1pPr algn="l">
              <a:defRPr sz="3200" baseline="0">
                <a:solidFill>
                  <a:schemeClr val="bg1"/>
                </a:solidFill>
                <a:latin typeface="HelveticaNeueLT Pro 65 Md" pitchFamily="34" charset="0"/>
                <a:ea typeface="方正兰亭中黑_GBK" pitchFamily="2" charset="-122"/>
              </a:defRPr>
            </a:lvl1pPr>
          </a:lstStyle>
          <a:p>
            <a:r>
              <a:rPr lang="en-US" altLang="zh-CN" smtClean="0"/>
              <a:t>Click to edit Master title style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57356" y="3929066"/>
            <a:ext cx="7286644" cy="642942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CN" smtClean="0"/>
              <a:t>Click to edit Master subtitle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2071678"/>
            <a:ext cx="8229600" cy="4054485"/>
          </a:xfrm>
        </p:spPr>
        <p:txBody>
          <a:bodyPr/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4348" y="4143380"/>
            <a:ext cx="7772400" cy="1362075"/>
          </a:xfrm>
        </p:spPr>
        <p:txBody>
          <a:bodyPr anchor="t">
            <a:normAutofit/>
          </a:bodyPr>
          <a:lstStyle>
            <a:lvl1pPr algn="l">
              <a:defRPr sz="3200" b="1" cap="all">
                <a:solidFill>
                  <a:schemeClr val="bg1"/>
                </a:solidFill>
              </a:defRPr>
            </a:lvl1pPr>
          </a:lstStyle>
          <a:p>
            <a:r>
              <a:rPr lang="en-US" altLang="zh-CN" smtClean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14348" y="2643182"/>
            <a:ext cx="7772400" cy="1500187"/>
          </a:xfrm>
        </p:spPr>
        <p:txBody>
          <a:bodyPr anchor="b">
            <a:normAutofit/>
          </a:bodyPr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2071678"/>
            <a:ext cx="4038600" cy="405448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2071678"/>
            <a:ext cx="4038600" cy="405448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928802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714619"/>
            <a:ext cx="4040188" cy="341154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928802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714619"/>
            <a:ext cx="4041775" cy="341154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Click to edit Master 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71678"/>
            <a:ext cx="5111750" cy="405448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2071678"/>
            <a:ext cx="3008313" cy="405448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</p:txBody>
      </p:sp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457200" y="785794"/>
            <a:ext cx="8229600" cy="1143000"/>
          </a:xfrm>
        </p:spPr>
        <p:txBody>
          <a:bodyPr/>
          <a:lstStyle/>
          <a:p>
            <a:r>
              <a:rPr lang="en-US" altLang="zh-CN" smtClean="0"/>
              <a:t>Click to edit Master 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CN" smtClean="0"/>
              <a:t>Click to edit Master title style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1000108"/>
            <a:ext cx="5486400" cy="372746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zh-CN" smtClean="0"/>
              <a:t>Click icon to add picture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143108" y="4357694"/>
            <a:ext cx="7000892" cy="1214422"/>
          </a:xfrm>
        </p:spPr>
        <p:txBody>
          <a:bodyPr>
            <a:normAutofit/>
          </a:bodyPr>
          <a:lstStyle>
            <a:lvl1pPr algn="l">
              <a:defRPr sz="3200" baseline="0">
                <a:solidFill>
                  <a:schemeClr val="bg1"/>
                </a:solidFill>
                <a:latin typeface="HelveticaNeueLT Pro 65 Md" pitchFamily="34" charset="0"/>
                <a:ea typeface="方正兰亭中黑_GBK" pitchFamily="2" charset="-122"/>
              </a:defRPr>
            </a:lvl1pPr>
          </a:lstStyle>
          <a:p>
            <a:r>
              <a:rPr lang="en-US" altLang="zh-CN" smtClean="0"/>
              <a:t>Click to edit Master 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785794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928802"/>
            <a:ext cx="8229600" cy="41973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dt="0"/>
  <p:txStyles>
    <p:titleStyle>
      <a:lvl1pPr algn="l" defTabSz="914400" rtl="0" eaLnBrk="1" latinLnBrk="0" hangingPunct="1">
        <a:spcBef>
          <a:spcPct val="0"/>
        </a:spcBef>
        <a:buNone/>
        <a:defRPr sz="3200" kern="1200" baseline="0">
          <a:solidFill>
            <a:schemeClr val="tx1"/>
          </a:solidFill>
          <a:latin typeface="HelveticaNeueLT Pro 65 Md" pitchFamily="34" charset="0"/>
          <a:ea typeface="方正兰亭中黑_GBK" pitchFamily="2" charset="-122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 baseline="0">
          <a:solidFill>
            <a:schemeClr val="tx1"/>
          </a:solidFill>
          <a:latin typeface="HelveticaNeueLT Pro 55 Roman" pitchFamily="34" charset="0"/>
          <a:ea typeface="方正兰亭黑_GBK" pitchFamily="2" charset="-12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 baseline="0">
          <a:solidFill>
            <a:schemeClr val="tx1"/>
          </a:solidFill>
          <a:latin typeface="HelveticaNeueLT Pro 55 Roman" pitchFamily="34" charset="0"/>
          <a:ea typeface="方正兰亭黑_GBK" pitchFamily="2" charset="-122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800" kern="1200" baseline="0">
          <a:solidFill>
            <a:schemeClr val="tx1"/>
          </a:solidFill>
          <a:latin typeface="HelveticaNeueLT Pro 55 Roman" pitchFamily="34" charset="0"/>
          <a:ea typeface="方正兰亭黑_GBK" pitchFamily="2" charset="-122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600" kern="1200" baseline="0">
          <a:solidFill>
            <a:schemeClr val="tx1"/>
          </a:solidFill>
          <a:latin typeface="HelveticaNeueLT Pro 55 Roman" pitchFamily="34" charset="0"/>
          <a:ea typeface="方正兰亭黑_GBK" pitchFamily="2" charset="-122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400" kern="1200" baseline="0">
          <a:solidFill>
            <a:schemeClr val="tx1"/>
          </a:solidFill>
          <a:latin typeface="HelveticaNeueLT Pro 55 Roman" pitchFamily="34" charset="0"/>
          <a:ea typeface="方正兰亭黑_GBK" pitchFamily="2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 smtClean="0"/>
              <a:t>SequoiaDB</a:t>
            </a:r>
            <a:r>
              <a:rPr lang="zh-CN" altLang="en-US" dirty="0" smtClean="0"/>
              <a:t> 述语和概念介绍</a:t>
            </a:r>
            <a:endParaRPr lang="zh-CN" alt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 smtClean="0"/>
              <a:t>内部培训资料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模块述语表（一）</a:t>
            </a:r>
            <a:endParaRPr lang="zh-CN" alt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0034" y="2050754"/>
          <a:ext cx="8215372" cy="4348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7322"/>
                <a:gridCol w="2750364"/>
                <a:gridCol w="1464478"/>
                <a:gridCol w="2643208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述语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全称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述语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全称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err="1" smtClean="0"/>
                        <a:t>aggr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kern="1200" dirty="0" smtClean="0">
                          <a:solidFill>
                            <a:srgbClr val="0033CC"/>
                          </a:solidFill>
                          <a:latin typeface="+mn-lt"/>
                          <a:ea typeface="+mn-ea"/>
                          <a:cs typeface="+mn-cs"/>
                        </a:rPr>
                        <a:t>Aggregation</a:t>
                      </a:r>
                      <a:endParaRPr lang="zh-CN" altLang="en-US" dirty="0">
                        <a:solidFill>
                          <a:srgbClr val="0033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dps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kern="1200" dirty="0" smtClean="0">
                          <a:solidFill>
                            <a:srgbClr val="0033CC"/>
                          </a:solidFill>
                          <a:latin typeface="+mn-lt"/>
                          <a:ea typeface="+mn-ea"/>
                          <a:cs typeface="+mn-cs"/>
                        </a:rPr>
                        <a:t>Data protection services</a:t>
                      </a:r>
                      <a:endParaRPr lang="zh-CN" altLang="en-US" dirty="0">
                        <a:solidFill>
                          <a:srgbClr val="0033CC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auth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kern="1200" dirty="0" smtClean="0">
                          <a:solidFill>
                            <a:srgbClr val="0033CC"/>
                          </a:solidFill>
                          <a:latin typeface="+mn-lt"/>
                          <a:ea typeface="+mn-ea"/>
                          <a:cs typeface="+mn-cs"/>
                        </a:rPr>
                        <a:t>Authentication</a:t>
                      </a:r>
                      <a:endParaRPr lang="zh-CN" altLang="en-US" dirty="0">
                        <a:solidFill>
                          <a:srgbClr val="0033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include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kern="1200" dirty="0" smtClean="0">
                          <a:solidFill>
                            <a:srgbClr val="0033CC"/>
                          </a:solidFill>
                          <a:latin typeface="+mn-lt"/>
                          <a:ea typeface="+mn-ea"/>
                          <a:cs typeface="+mn-cs"/>
                        </a:rPr>
                        <a:t>Include</a:t>
                      </a:r>
                      <a:endParaRPr lang="zh-CN" altLang="en-US" dirty="0">
                        <a:solidFill>
                          <a:srgbClr val="0033CC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bar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kern="1200" dirty="0" smtClean="0">
                          <a:solidFill>
                            <a:srgbClr val="0033CC"/>
                          </a:solidFill>
                          <a:latin typeface="+mn-lt"/>
                          <a:ea typeface="+mn-ea"/>
                          <a:cs typeface="+mn-cs"/>
                        </a:rPr>
                        <a:t>Backup and recovery</a:t>
                      </a:r>
                      <a:endParaRPr lang="zh-CN" altLang="en-US" dirty="0">
                        <a:solidFill>
                          <a:srgbClr val="0033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mdocml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kern="1200" dirty="0" err="1" smtClean="0">
                          <a:solidFill>
                            <a:srgbClr val="0033CC"/>
                          </a:solidFill>
                          <a:latin typeface="+mn-lt"/>
                          <a:ea typeface="+mn-ea"/>
                          <a:cs typeface="+mn-cs"/>
                        </a:rPr>
                        <a:t>mdocml</a:t>
                      </a:r>
                      <a:r>
                        <a:rPr lang="en-US" altLang="zh-CN" sz="1800" kern="1200" dirty="0" smtClean="0">
                          <a:solidFill>
                            <a:srgbClr val="0033CC"/>
                          </a:solidFill>
                          <a:latin typeface="+mn-lt"/>
                          <a:ea typeface="+mn-ea"/>
                          <a:cs typeface="+mn-cs"/>
                        </a:rPr>
                        <a:t> -- open source man page generator</a:t>
                      </a:r>
                      <a:endParaRPr lang="zh-CN" altLang="en-US" dirty="0">
                        <a:solidFill>
                          <a:srgbClr val="0033CC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bps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kern="1200" dirty="0" err="1" smtClean="0">
                          <a:solidFill>
                            <a:srgbClr val="0033CC"/>
                          </a:solidFill>
                          <a:latin typeface="+mn-lt"/>
                          <a:ea typeface="+mn-ea"/>
                          <a:cs typeface="+mn-cs"/>
                        </a:rPr>
                        <a:t>Bufferpool</a:t>
                      </a:r>
                      <a:r>
                        <a:rPr lang="en-US" altLang="zh-CN" sz="1800" kern="1200" dirty="0" smtClean="0">
                          <a:solidFill>
                            <a:srgbClr val="0033CC"/>
                          </a:solidFill>
                          <a:latin typeface="+mn-lt"/>
                          <a:ea typeface="+mn-ea"/>
                          <a:cs typeface="+mn-cs"/>
                        </a:rPr>
                        <a:t> service</a:t>
                      </a:r>
                      <a:endParaRPr lang="zh-CN" altLang="en-US" dirty="0">
                        <a:solidFill>
                          <a:srgbClr val="0033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mig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kern="1200" dirty="0" smtClean="0">
                          <a:solidFill>
                            <a:srgbClr val="0033CC"/>
                          </a:solidFill>
                          <a:latin typeface="+mn-lt"/>
                          <a:ea typeface="+mn-ea"/>
                          <a:cs typeface="+mn-cs"/>
                        </a:rPr>
                        <a:t>Migration</a:t>
                      </a:r>
                      <a:endParaRPr lang="zh-CN" altLang="en-US" dirty="0">
                        <a:solidFill>
                          <a:srgbClr val="0033CC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bson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kern="1200" dirty="0" err="1" smtClean="0">
                          <a:solidFill>
                            <a:srgbClr val="0033CC"/>
                          </a:solidFill>
                          <a:latin typeface="+mn-lt"/>
                          <a:ea typeface="+mn-ea"/>
                          <a:cs typeface="+mn-cs"/>
                        </a:rPr>
                        <a:t>Bson</a:t>
                      </a:r>
                      <a:endParaRPr lang="zh-CN" altLang="en-US" dirty="0">
                        <a:solidFill>
                          <a:srgbClr val="0033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mon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kern="1200" dirty="0" smtClean="0">
                          <a:solidFill>
                            <a:srgbClr val="0033CC"/>
                          </a:solidFill>
                          <a:latin typeface="+mn-lt"/>
                          <a:ea typeface="+mn-ea"/>
                          <a:cs typeface="+mn-cs"/>
                        </a:rPr>
                        <a:t>Monitoring</a:t>
                      </a:r>
                      <a:endParaRPr lang="zh-CN" altLang="en-US" dirty="0">
                        <a:solidFill>
                          <a:srgbClr val="0033CC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cat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kern="1200" dirty="0" smtClean="0">
                          <a:solidFill>
                            <a:srgbClr val="0033CC"/>
                          </a:solidFill>
                          <a:latin typeface="+mn-lt"/>
                          <a:ea typeface="+mn-ea"/>
                          <a:cs typeface="+mn-cs"/>
                        </a:rPr>
                        <a:t>Catalog</a:t>
                      </a:r>
                      <a:endParaRPr lang="zh-CN" altLang="en-US" dirty="0">
                        <a:solidFill>
                          <a:srgbClr val="0033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msg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kern="1200" dirty="0" smtClean="0">
                          <a:solidFill>
                            <a:srgbClr val="0033CC"/>
                          </a:solidFill>
                          <a:latin typeface="+mn-lt"/>
                          <a:ea typeface="+mn-ea"/>
                          <a:cs typeface="+mn-cs"/>
                        </a:rPr>
                        <a:t>Messages</a:t>
                      </a:r>
                      <a:endParaRPr lang="zh-CN" altLang="en-US" dirty="0">
                        <a:solidFill>
                          <a:srgbClr val="0033CC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client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kern="1200" dirty="0" smtClean="0">
                          <a:solidFill>
                            <a:srgbClr val="0033CC"/>
                          </a:solidFill>
                          <a:latin typeface="+mn-lt"/>
                          <a:ea typeface="+mn-ea"/>
                          <a:cs typeface="+mn-cs"/>
                        </a:rPr>
                        <a:t>Client</a:t>
                      </a:r>
                      <a:endParaRPr lang="zh-CN" altLang="en-US" dirty="0">
                        <a:solidFill>
                          <a:srgbClr val="0033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mth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kern="1200" dirty="0" smtClean="0">
                          <a:solidFill>
                            <a:srgbClr val="0033CC"/>
                          </a:solidFill>
                          <a:latin typeface="+mn-lt"/>
                          <a:ea typeface="+mn-ea"/>
                          <a:cs typeface="+mn-cs"/>
                        </a:rPr>
                        <a:t>Methods</a:t>
                      </a:r>
                      <a:endParaRPr lang="zh-CN" altLang="en-US" dirty="0">
                        <a:solidFill>
                          <a:srgbClr val="0033CC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cls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kern="1200" dirty="0" smtClean="0">
                          <a:solidFill>
                            <a:srgbClr val="0033CC"/>
                          </a:solidFill>
                          <a:latin typeface="+mn-lt"/>
                          <a:ea typeface="+mn-ea"/>
                          <a:cs typeface="+mn-cs"/>
                        </a:rPr>
                        <a:t>Cluster service</a:t>
                      </a:r>
                      <a:endParaRPr lang="zh-CN" altLang="en-US" dirty="0">
                        <a:solidFill>
                          <a:srgbClr val="0033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net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kern="1200" dirty="0" smtClean="0">
                          <a:solidFill>
                            <a:srgbClr val="0033CC"/>
                          </a:solidFill>
                          <a:latin typeface="+mn-lt"/>
                          <a:ea typeface="+mn-ea"/>
                          <a:cs typeface="+mn-cs"/>
                        </a:rPr>
                        <a:t>Network</a:t>
                      </a:r>
                      <a:endParaRPr lang="zh-CN" altLang="en-US" dirty="0">
                        <a:solidFill>
                          <a:srgbClr val="0033CC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coord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kern="1200" dirty="0" smtClean="0">
                          <a:solidFill>
                            <a:srgbClr val="0033CC"/>
                          </a:solidFill>
                          <a:latin typeface="+mn-lt"/>
                          <a:ea typeface="+mn-ea"/>
                          <a:cs typeface="+mn-cs"/>
                        </a:rPr>
                        <a:t>Coordinator</a:t>
                      </a:r>
                      <a:endParaRPr lang="zh-CN" altLang="en-US" dirty="0">
                        <a:solidFill>
                          <a:srgbClr val="0033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opt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kern="1200" dirty="0" smtClean="0">
                          <a:solidFill>
                            <a:srgbClr val="0033CC"/>
                          </a:solidFill>
                          <a:latin typeface="+mn-lt"/>
                          <a:ea typeface="+mn-ea"/>
                          <a:cs typeface="+mn-cs"/>
                        </a:rPr>
                        <a:t>Optimizer</a:t>
                      </a:r>
                      <a:endParaRPr lang="zh-CN" altLang="en-US" dirty="0">
                        <a:solidFill>
                          <a:srgbClr val="0033CC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dms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kern="1200" dirty="0" smtClean="0">
                          <a:solidFill>
                            <a:srgbClr val="0033CC"/>
                          </a:solidFill>
                          <a:latin typeface="+mn-lt"/>
                          <a:ea typeface="+mn-ea"/>
                          <a:cs typeface="+mn-cs"/>
                        </a:rPr>
                        <a:t>Data management services</a:t>
                      </a:r>
                      <a:endParaRPr lang="zh-CN" altLang="en-US" dirty="0">
                        <a:solidFill>
                          <a:srgbClr val="0033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oss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kern="1200" dirty="0" smtClean="0">
                          <a:solidFill>
                            <a:srgbClr val="0033CC"/>
                          </a:solidFill>
                          <a:latin typeface="+mn-lt"/>
                          <a:ea typeface="+mn-ea"/>
                          <a:cs typeface="+mn-cs"/>
                        </a:rPr>
                        <a:t>Operating system services</a:t>
                      </a:r>
                      <a:endParaRPr lang="zh-CN" altLang="en-US" dirty="0">
                        <a:solidFill>
                          <a:srgbClr val="0033CC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模块述语表</a:t>
            </a:r>
            <a:r>
              <a:rPr lang="zh-CN" altLang="en-US" dirty="0" smtClean="0"/>
              <a:t>（二）</a:t>
            </a:r>
            <a:endParaRPr lang="zh-CN" alt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0034" y="2050754"/>
          <a:ext cx="8215372" cy="387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7322"/>
                <a:gridCol w="2750364"/>
                <a:gridCol w="1464478"/>
                <a:gridCol w="2643208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述语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全称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述语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全称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omagent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kern="1200" dirty="0" smtClean="0">
                          <a:solidFill>
                            <a:srgbClr val="0033CC"/>
                          </a:solidFill>
                          <a:latin typeface="+mn-lt"/>
                          <a:ea typeface="+mn-ea"/>
                          <a:cs typeface="+mn-cs"/>
                        </a:rPr>
                        <a:t>Operation management agent</a:t>
                      </a:r>
                      <a:endParaRPr lang="zh-CN" altLang="en-US" dirty="0">
                        <a:solidFill>
                          <a:srgbClr val="0033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omsvc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kern="1200" dirty="0" smtClean="0">
                          <a:solidFill>
                            <a:srgbClr val="0033CC"/>
                          </a:solidFill>
                          <a:latin typeface="+mn-lt"/>
                          <a:ea typeface="+mn-ea"/>
                          <a:cs typeface="+mn-cs"/>
                        </a:rPr>
                        <a:t>Operation management service</a:t>
                      </a:r>
                      <a:endParaRPr lang="zh-CN" altLang="en-US" dirty="0">
                        <a:solidFill>
                          <a:srgbClr val="0033CC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pcre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kern="1200" dirty="0" smtClean="0">
                          <a:solidFill>
                            <a:srgbClr val="0033CC"/>
                          </a:solidFill>
                          <a:latin typeface="+mn-lt"/>
                          <a:ea typeface="+mn-ea"/>
                          <a:cs typeface="+mn-cs"/>
                        </a:rPr>
                        <a:t>Perl compatible regular expression</a:t>
                      </a:r>
                      <a:endParaRPr lang="zh-CN" altLang="en-US" dirty="0">
                        <a:solidFill>
                          <a:srgbClr val="0033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spt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kern="1200" dirty="0" smtClean="0">
                          <a:solidFill>
                            <a:srgbClr val="0033CC"/>
                          </a:solidFill>
                          <a:latin typeface="+mn-lt"/>
                          <a:ea typeface="+mn-ea"/>
                          <a:cs typeface="+mn-cs"/>
                        </a:rPr>
                        <a:t>Script</a:t>
                      </a:r>
                      <a:endParaRPr lang="zh-CN" altLang="en-US" dirty="0">
                        <a:solidFill>
                          <a:srgbClr val="0033CC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kern="1200" dirty="0" smtClean="0">
                          <a:solidFill>
                            <a:srgbClr val="0033CC"/>
                          </a:solidFill>
                          <a:latin typeface="+mn-lt"/>
                          <a:ea typeface="+mn-ea"/>
                          <a:cs typeface="+mn-cs"/>
                        </a:rPr>
                        <a:t>Problem determination</a:t>
                      </a:r>
                      <a:endParaRPr lang="zh-CN" altLang="en-US" dirty="0">
                        <a:solidFill>
                          <a:srgbClr val="0033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tools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kern="1200" dirty="0" smtClean="0">
                          <a:solidFill>
                            <a:srgbClr val="0033CC"/>
                          </a:solidFill>
                          <a:latin typeface="+mn-lt"/>
                          <a:ea typeface="+mn-ea"/>
                          <a:cs typeface="+mn-cs"/>
                        </a:rPr>
                        <a:t>Tools</a:t>
                      </a:r>
                      <a:endParaRPr lang="zh-CN" altLang="en-US" dirty="0">
                        <a:solidFill>
                          <a:srgbClr val="0033CC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qgm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kern="1200" dirty="0" smtClean="0">
                          <a:solidFill>
                            <a:srgbClr val="0033CC"/>
                          </a:solidFill>
                          <a:latin typeface="+mn-lt"/>
                          <a:ea typeface="+mn-ea"/>
                          <a:cs typeface="+mn-cs"/>
                        </a:rPr>
                        <a:t>Query graph management</a:t>
                      </a:r>
                      <a:endParaRPr lang="zh-CN" altLang="en-US" dirty="0">
                        <a:solidFill>
                          <a:srgbClr val="0033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util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kern="1200" dirty="0" smtClean="0">
                          <a:solidFill>
                            <a:srgbClr val="0033CC"/>
                          </a:solidFill>
                          <a:latin typeface="+mn-lt"/>
                          <a:ea typeface="+mn-ea"/>
                          <a:cs typeface="+mn-cs"/>
                        </a:rPr>
                        <a:t>Utility</a:t>
                      </a:r>
                      <a:endParaRPr lang="zh-CN" altLang="en-US" dirty="0">
                        <a:solidFill>
                          <a:srgbClr val="0033CC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rest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kern="1200" dirty="0" smtClean="0">
                          <a:solidFill>
                            <a:srgbClr val="0033CC"/>
                          </a:solidFill>
                          <a:latin typeface="+mn-lt"/>
                          <a:ea typeface="+mn-ea"/>
                          <a:cs typeface="+mn-cs"/>
                        </a:rPr>
                        <a:t>REST</a:t>
                      </a:r>
                      <a:endParaRPr lang="zh-CN" altLang="en-US" dirty="0">
                        <a:solidFill>
                          <a:srgbClr val="0033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 smtClean="0"/>
                        <a:t>pmd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0033CC"/>
                          </a:solidFill>
                        </a:rPr>
                        <a:t>Process</a:t>
                      </a:r>
                      <a:r>
                        <a:rPr lang="en-US" altLang="zh-CN" baseline="0" dirty="0" smtClean="0">
                          <a:solidFill>
                            <a:srgbClr val="0033CC"/>
                          </a:solidFill>
                        </a:rPr>
                        <a:t> Model</a:t>
                      </a:r>
                      <a:endParaRPr lang="zh-CN" altLang="en-US" dirty="0">
                        <a:solidFill>
                          <a:srgbClr val="0033CC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rtn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kern="1200" dirty="0" smtClean="0">
                          <a:solidFill>
                            <a:srgbClr val="0033CC"/>
                          </a:solidFill>
                          <a:latin typeface="+mn-lt"/>
                          <a:ea typeface="+mn-ea"/>
                          <a:cs typeface="+mn-cs"/>
                        </a:rPr>
                        <a:t>runtime</a:t>
                      </a:r>
                      <a:endParaRPr lang="zh-CN" altLang="en-US" dirty="0">
                        <a:solidFill>
                          <a:srgbClr val="0033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cm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0033CC"/>
                          </a:solidFill>
                        </a:rPr>
                        <a:t>Cluster Manager</a:t>
                      </a:r>
                      <a:endParaRPr lang="zh-CN" altLang="en-US" dirty="0">
                        <a:solidFill>
                          <a:srgbClr val="0033CC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snappy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kern="1200" dirty="0" smtClean="0">
                          <a:solidFill>
                            <a:srgbClr val="0033CC"/>
                          </a:solidFill>
                          <a:latin typeface="+mn-lt"/>
                          <a:ea typeface="+mn-ea"/>
                          <a:cs typeface="+mn-cs"/>
                        </a:rPr>
                        <a:t>snappy</a:t>
                      </a:r>
                      <a:endParaRPr lang="zh-CN" altLang="en-US" dirty="0">
                        <a:solidFill>
                          <a:srgbClr val="0033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err="1" smtClean="0"/>
                        <a:t>ixm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0033CC"/>
                          </a:solidFill>
                        </a:rPr>
                        <a:t>Index Manager</a:t>
                      </a:r>
                      <a:endParaRPr lang="zh-CN" altLang="en-US" dirty="0">
                        <a:solidFill>
                          <a:srgbClr val="0033CC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spd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kern="1200" dirty="0" smtClean="0">
                          <a:solidFill>
                            <a:srgbClr val="0033CC"/>
                          </a:solidFill>
                          <a:latin typeface="+mn-lt"/>
                          <a:ea typeface="+mn-ea"/>
                          <a:cs typeface="+mn-cs"/>
                        </a:rPr>
                        <a:t>Secondary process daemon</a:t>
                      </a:r>
                      <a:endParaRPr lang="zh-CN" altLang="en-US" dirty="0">
                        <a:solidFill>
                          <a:srgbClr val="0033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0033CC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开发述语表（一）</a:t>
            </a:r>
            <a:endParaRPr lang="zh-CN" alt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0034" y="2050754"/>
          <a:ext cx="8215372" cy="407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7322"/>
                <a:gridCol w="2750364"/>
                <a:gridCol w="1464478"/>
                <a:gridCol w="2643208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述语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全称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述语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全称</a:t>
                      </a:r>
                      <a:endParaRPr lang="zh-CN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err="1" smtClean="0"/>
                        <a:t>edu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0033CC"/>
                          </a:solidFill>
                        </a:rPr>
                        <a:t>Engine </a:t>
                      </a:r>
                      <a:r>
                        <a:rPr lang="en-US" altLang="zh-CN" dirty="0" err="1" smtClean="0">
                          <a:solidFill>
                            <a:srgbClr val="0033CC"/>
                          </a:solidFill>
                        </a:rPr>
                        <a:t>Dispatchable</a:t>
                      </a:r>
                      <a:r>
                        <a:rPr lang="en-US" altLang="zh-CN" dirty="0" smtClean="0">
                          <a:solidFill>
                            <a:srgbClr val="0033CC"/>
                          </a:solidFill>
                        </a:rPr>
                        <a:t> Unit</a:t>
                      </a:r>
                      <a:endParaRPr lang="zh-CN" altLang="en-US" dirty="0">
                        <a:solidFill>
                          <a:srgbClr val="0033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0033CC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err="1" smtClean="0"/>
                        <a:t>repl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0033CC"/>
                          </a:solidFill>
                        </a:rPr>
                        <a:t>Replication</a:t>
                      </a:r>
                      <a:endParaRPr lang="zh-CN" altLang="en-US" dirty="0">
                        <a:solidFill>
                          <a:srgbClr val="0033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0033CC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shard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>
                          <a:solidFill>
                            <a:srgbClr val="0033CC"/>
                          </a:solidFill>
                        </a:rPr>
                        <a:t>Shard</a:t>
                      </a:r>
                      <a:endParaRPr lang="zh-CN" altLang="en-US" dirty="0">
                        <a:solidFill>
                          <a:srgbClr val="0033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0033CC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0033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0033CC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0033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0033CC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0033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0033CC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0033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0033CC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0033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0033CC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0033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0033CC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0033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rgbClr val="0033CC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产品概念</a:t>
            </a:r>
            <a:r>
              <a:rPr lang="en-US" altLang="zh-CN" dirty="0" smtClean="0"/>
              <a:t>——</a:t>
            </a:r>
            <a:r>
              <a:rPr lang="zh-CN" altLang="en-US" dirty="0" smtClean="0"/>
              <a:t>集群</a:t>
            </a:r>
            <a:endParaRPr lang="zh-CN" altLang="en-US" dirty="0"/>
          </a:p>
        </p:txBody>
      </p:sp>
      <p:sp>
        <p:nvSpPr>
          <p:cNvPr id="4" name="Flowchart: Magnetic Disk 3"/>
          <p:cNvSpPr/>
          <p:nvPr/>
        </p:nvSpPr>
        <p:spPr>
          <a:xfrm>
            <a:off x="4000496" y="2357430"/>
            <a:ext cx="714380" cy="857256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Node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5" name="Flowchart: Magnetic Disk 4"/>
          <p:cNvSpPr/>
          <p:nvPr/>
        </p:nvSpPr>
        <p:spPr>
          <a:xfrm>
            <a:off x="4000496" y="3500438"/>
            <a:ext cx="714380" cy="857256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Flowchart: Magnetic Disk 5"/>
          <p:cNvSpPr/>
          <p:nvPr/>
        </p:nvSpPr>
        <p:spPr>
          <a:xfrm>
            <a:off x="4000496" y="4572008"/>
            <a:ext cx="714380" cy="857256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643306" y="2000240"/>
            <a:ext cx="1357322" cy="385765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929058" y="1643050"/>
            <a:ext cx="460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smtClean="0"/>
              <a:t>RG</a:t>
            </a:r>
            <a:endParaRPr lang="zh-CN" altLang="en-US" b="1" dirty="0"/>
          </a:p>
        </p:txBody>
      </p:sp>
      <p:sp>
        <p:nvSpPr>
          <p:cNvPr id="9" name="Flowchart: Magnetic Disk 8"/>
          <p:cNvSpPr/>
          <p:nvPr/>
        </p:nvSpPr>
        <p:spPr>
          <a:xfrm>
            <a:off x="5643570" y="2357430"/>
            <a:ext cx="714380" cy="857256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Node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0" name="Flowchart: Magnetic Disk 9"/>
          <p:cNvSpPr/>
          <p:nvPr/>
        </p:nvSpPr>
        <p:spPr>
          <a:xfrm>
            <a:off x="5643570" y="3500438"/>
            <a:ext cx="714380" cy="857256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" name="Flowchart: Magnetic Disk 10"/>
          <p:cNvSpPr/>
          <p:nvPr/>
        </p:nvSpPr>
        <p:spPr>
          <a:xfrm>
            <a:off x="5643570" y="4572008"/>
            <a:ext cx="714380" cy="857256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286380" y="2000240"/>
            <a:ext cx="1357322" cy="385765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572132" y="1643050"/>
            <a:ext cx="460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smtClean="0"/>
              <a:t>RG</a:t>
            </a:r>
            <a:endParaRPr lang="zh-CN" altLang="en-US" b="1" dirty="0"/>
          </a:p>
        </p:txBody>
      </p:sp>
      <p:sp>
        <p:nvSpPr>
          <p:cNvPr id="14" name="Flowchart: Magnetic Disk 13"/>
          <p:cNvSpPr/>
          <p:nvPr/>
        </p:nvSpPr>
        <p:spPr>
          <a:xfrm>
            <a:off x="7500958" y="2357430"/>
            <a:ext cx="714380" cy="857256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Node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5" name="Flowchart: Magnetic Disk 14"/>
          <p:cNvSpPr/>
          <p:nvPr/>
        </p:nvSpPr>
        <p:spPr>
          <a:xfrm>
            <a:off x="7500958" y="3500438"/>
            <a:ext cx="714380" cy="857256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6" name="Flowchart: Magnetic Disk 15"/>
          <p:cNvSpPr/>
          <p:nvPr/>
        </p:nvSpPr>
        <p:spPr>
          <a:xfrm>
            <a:off x="7500958" y="4572008"/>
            <a:ext cx="714380" cy="857256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7143768" y="2000240"/>
            <a:ext cx="1357322" cy="385765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429520" y="1643050"/>
            <a:ext cx="460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smtClean="0"/>
              <a:t>RG</a:t>
            </a:r>
            <a:endParaRPr lang="zh-CN" altLang="en-US" b="1" dirty="0"/>
          </a:p>
        </p:txBody>
      </p:sp>
      <p:sp>
        <p:nvSpPr>
          <p:cNvPr id="19" name="TextBox 18"/>
          <p:cNvSpPr txBox="1"/>
          <p:nvPr/>
        </p:nvSpPr>
        <p:spPr>
          <a:xfrm>
            <a:off x="6632089" y="3714752"/>
            <a:ext cx="5116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smtClean="0"/>
              <a:t>……</a:t>
            </a:r>
            <a:endParaRPr lang="zh-CN" altLang="en-US" b="1" dirty="0"/>
          </a:p>
        </p:txBody>
      </p:sp>
      <p:sp>
        <p:nvSpPr>
          <p:cNvPr id="20" name="Rounded Rectangle 19"/>
          <p:cNvSpPr/>
          <p:nvPr/>
        </p:nvSpPr>
        <p:spPr>
          <a:xfrm>
            <a:off x="1643042" y="2285992"/>
            <a:ext cx="7000924" cy="1000132"/>
          </a:xfrm>
          <a:prstGeom prst="roundRect">
            <a:avLst/>
          </a:prstGeom>
          <a:noFill/>
          <a:ln>
            <a:solidFill>
              <a:srgbClr val="B826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1" name="Flowchart: Magnetic Disk 20"/>
          <p:cNvSpPr/>
          <p:nvPr/>
        </p:nvSpPr>
        <p:spPr>
          <a:xfrm>
            <a:off x="2357422" y="2357430"/>
            <a:ext cx="714380" cy="857256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Node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2" name="Flowchart: Magnetic Disk 21"/>
          <p:cNvSpPr/>
          <p:nvPr/>
        </p:nvSpPr>
        <p:spPr>
          <a:xfrm>
            <a:off x="2357422" y="3500438"/>
            <a:ext cx="714380" cy="857256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3" name="Flowchart: Magnetic Disk 22"/>
          <p:cNvSpPr/>
          <p:nvPr/>
        </p:nvSpPr>
        <p:spPr>
          <a:xfrm>
            <a:off x="2357422" y="4572008"/>
            <a:ext cx="714380" cy="857256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2000232" y="2000240"/>
            <a:ext cx="1357322" cy="385765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130680" y="1643050"/>
            <a:ext cx="12268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smtClean="0"/>
              <a:t>Catalog RG</a:t>
            </a:r>
            <a:endParaRPr lang="zh-CN" altLang="en-US" b="1" dirty="0"/>
          </a:p>
        </p:txBody>
      </p:sp>
      <p:sp>
        <p:nvSpPr>
          <p:cNvPr id="26" name="Rounded Rectangle 25"/>
          <p:cNvSpPr/>
          <p:nvPr/>
        </p:nvSpPr>
        <p:spPr>
          <a:xfrm>
            <a:off x="1643042" y="3429000"/>
            <a:ext cx="7000924" cy="1000132"/>
          </a:xfrm>
          <a:prstGeom prst="roundRect">
            <a:avLst/>
          </a:prstGeom>
          <a:noFill/>
          <a:ln>
            <a:solidFill>
              <a:srgbClr val="B826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1643042" y="4500570"/>
            <a:ext cx="7000924" cy="1000132"/>
          </a:xfrm>
          <a:prstGeom prst="roundRect">
            <a:avLst/>
          </a:prstGeom>
          <a:noFill/>
          <a:ln>
            <a:solidFill>
              <a:srgbClr val="B8265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00788" y="2559602"/>
            <a:ext cx="9845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smtClean="0"/>
              <a:t>Instance</a:t>
            </a:r>
            <a:endParaRPr lang="zh-CN" altLang="en-US" b="1" dirty="0"/>
          </a:p>
        </p:txBody>
      </p:sp>
      <p:sp>
        <p:nvSpPr>
          <p:cNvPr id="29" name="TextBox 28"/>
          <p:cNvSpPr txBox="1"/>
          <p:nvPr/>
        </p:nvSpPr>
        <p:spPr>
          <a:xfrm>
            <a:off x="714348" y="3702610"/>
            <a:ext cx="9845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smtClean="0"/>
              <a:t>Instance</a:t>
            </a:r>
            <a:endParaRPr lang="zh-CN" altLang="en-US" b="1" dirty="0"/>
          </a:p>
        </p:txBody>
      </p:sp>
      <p:sp>
        <p:nvSpPr>
          <p:cNvPr id="30" name="TextBox 29"/>
          <p:cNvSpPr txBox="1"/>
          <p:nvPr/>
        </p:nvSpPr>
        <p:spPr>
          <a:xfrm>
            <a:off x="714348" y="4774180"/>
            <a:ext cx="9845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smtClean="0"/>
              <a:t>Instance</a:t>
            </a:r>
            <a:endParaRPr lang="zh-CN" altLang="en-US" b="1" dirty="0"/>
          </a:p>
        </p:txBody>
      </p:sp>
      <p:sp>
        <p:nvSpPr>
          <p:cNvPr id="31" name="Left Brace 30"/>
          <p:cNvSpPr/>
          <p:nvPr/>
        </p:nvSpPr>
        <p:spPr>
          <a:xfrm rot="16200000">
            <a:off x="5000628" y="4643446"/>
            <a:ext cx="357190" cy="3071834"/>
          </a:xfrm>
          <a:prstGeom prst="lef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TextBox 31"/>
          <p:cNvSpPr txBox="1"/>
          <p:nvPr/>
        </p:nvSpPr>
        <p:spPr>
          <a:xfrm>
            <a:off x="4708699" y="6286520"/>
            <a:ext cx="9348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 smtClean="0"/>
              <a:t>Domain</a:t>
            </a:r>
            <a:endParaRPr lang="zh-CN" altLang="en-US" b="1" dirty="0"/>
          </a:p>
        </p:txBody>
      </p:sp>
      <p:sp>
        <p:nvSpPr>
          <p:cNvPr id="33" name="TextBox 32"/>
          <p:cNvSpPr txBox="1"/>
          <p:nvPr/>
        </p:nvSpPr>
        <p:spPr>
          <a:xfrm>
            <a:off x="426776" y="6274378"/>
            <a:ext cx="31450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RG: Replica Group / </a:t>
            </a:r>
            <a:r>
              <a:rPr lang="en-US" altLang="zh-CN" dirty="0" err="1" smtClean="0"/>
              <a:t>ReplGroup</a:t>
            </a:r>
            <a:endParaRPr lang="zh-CN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产品概念</a:t>
            </a:r>
            <a:r>
              <a:rPr lang="en-US" altLang="zh-CN" dirty="0" smtClean="0"/>
              <a:t>——</a:t>
            </a:r>
            <a:r>
              <a:rPr lang="zh-CN" altLang="en-US" dirty="0" smtClean="0"/>
              <a:t>水平分区</a:t>
            </a:r>
            <a:endParaRPr lang="zh-CN" altLang="en-US" dirty="0"/>
          </a:p>
        </p:txBody>
      </p:sp>
      <p:sp>
        <p:nvSpPr>
          <p:cNvPr id="4" name="Rounded Rectangle 3"/>
          <p:cNvSpPr/>
          <p:nvPr/>
        </p:nvSpPr>
        <p:spPr>
          <a:xfrm>
            <a:off x="714348" y="2357430"/>
            <a:ext cx="3000396" cy="1928826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285852" y="2000240"/>
            <a:ext cx="16738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CollectionSpace</a:t>
            </a:r>
            <a:endParaRPr lang="zh-CN" altLang="en-US" dirty="0"/>
          </a:p>
        </p:txBody>
      </p:sp>
      <p:grpSp>
        <p:nvGrpSpPr>
          <p:cNvPr id="6" name="Group 5"/>
          <p:cNvGrpSpPr/>
          <p:nvPr/>
        </p:nvGrpSpPr>
        <p:grpSpPr>
          <a:xfrm>
            <a:off x="1071538" y="2571744"/>
            <a:ext cx="2286016" cy="369332"/>
            <a:chOff x="1643042" y="2000240"/>
            <a:chExt cx="2286016" cy="369332"/>
          </a:xfrm>
        </p:grpSpPr>
        <p:sp>
          <p:nvSpPr>
            <p:cNvPr id="7" name="Rectangle 6"/>
            <p:cNvSpPr/>
            <p:nvPr/>
          </p:nvSpPr>
          <p:spPr>
            <a:xfrm>
              <a:off x="1643042" y="2000240"/>
              <a:ext cx="2286016" cy="357190"/>
            </a:xfrm>
            <a:prstGeom prst="rect">
              <a:avLst/>
            </a:prstGeom>
            <a:noFill/>
            <a:ln>
              <a:solidFill>
                <a:srgbClr val="B8265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2000232" y="2000240"/>
              <a:ext cx="14510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/>
                <a:t>Collection    1</a:t>
              </a:r>
              <a:endParaRPr lang="zh-CN" altLang="en-US" dirty="0"/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1071538" y="2928934"/>
            <a:ext cx="2286016" cy="369332"/>
            <a:chOff x="1643042" y="2000240"/>
            <a:chExt cx="2286016" cy="369332"/>
          </a:xfrm>
        </p:grpSpPr>
        <p:sp>
          <p:nvSpPr>
            <p:cNvPr id="10" name="Rectangle 9"/>
            <p:cNvSpPr/>
            <p:nvPr/>
          </p:nvSpPr>
          <p:spPr>
            <a:xfrm>
              <a:off x="1643042" y="2000240"/>
              <a:ext cx="2286016" cy="357190"/>
            </a:xfrm>
            <a:prstGeom prst="rect">
              <a:avLst/>
            </a:prstGeom>
            <a:noFill/>
            <a:ln>
              <a:solidFill>
                <a:srgbClr val="B8265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2000232" y="2000240"/>
              <a:ext cx="14510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/>
                <a:t>Collection    2</a:t>
              </a:r>
              <a:endParaRPr lang="zh-CN" altLang="en-US" dirty="0"/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1071538" y="3774048"/>
            <a:ext cx="2286016" cy="369332"/>
            <a:chOff x="1643042" y="2000240"/>
            <a:chExt cx="2286016" cy="369332"/>
          </a:xfrm>
        </p:grpSpPr>
        <p:sp>
          <p:nvSpPr>
            <p:cNvPr id="13" name="Rectangle 12"/>
            <p:cNvSpPr/>
            <p:nvPr/>
          </p:nvSpPr>
          <p:spPr>
            <a:xfrm>
              <a:off x="1643042" y="2000240"/>
              <a:ext cx="2286016" cy="357190"/>
            </a:xfrm>
            <a:prstGeom prst="rect">
              <a:avLst/>
            </a:prstGeom>
            <a:noFill/>
            <a:ln>
              <a:solidFill>
                <a:srgbClr val="B8265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2000232" y="2000240"/>
              <a:ext cx="18020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/>
                <a:t>Collection    4096</a:t>
              </a:r>
              <a:endParaRPr lang="zh-CN" altLang="en-US" dirty="0"/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1967195" y="3305024"/>
            <a:ext cx="461665" cy="409728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altLang="zh-CN" dirty="0" smtClean="0"/>
              <a:t>……</a:t>
            </a:r>
            <a:endParaRPr lang="zh-CN" altLang="en-US" dirty="0"/>
          </a:p>
        </p:txBody>
      </p:sp>
      <p:grpSp>
        <p:nvGrpSpPr>
          <p:cNvPr id="16" name="Group 15"/>
          <p:cNvGrpSpPr/>
          <p:nvPr/>
        </p:nvGrpSpPr>
        <p:grpSpPr>
          <a:xfrm>
            <a:off x="4714876" y="3786190"/>
            <a:ext cx="1214446" cy="369332"/>
            <a:chOff x="4714876" y="3643314"/>
            <a:chExt cx="1214446" cy="369332"/>
          </a:xfrm>
        </p:grpSpPr>
        <p:sp>
          <p:nvSpPr>
            <p:cNvPr id="17" name="Rectangle 16"/>
            <p:cNvSpPr/>
            <p:nvPr/>
          </p:nvSpPr>
          <p:spPr>
            <a:xfrm>
              <a:off x="4714876" y="3643314"/>
              <a:ext cx="1214446" cy="357190"/>
            </a:xfrm>
            <a:prstGeom prst="rect">
              <a:avLst/>
            </a:prstGeom>
            <a:noFill/>
            <a:ln>
              <a:solidFill>
                <a:srgbClr val="B8265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4771697" y="3643314"/>
              <a:ext cx="9924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/>
                <a:t>Partition</a:t>
              </a:r>
              <a:endParaRPr lang="zh-CN" altLang="en-US" dirty="0"/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5929322" y="3786190"/>
            <a:ext cx="1214446" cy="369332"/>
            <a:chOff x="4714876" y="3643314"/>
            <a:chExt cx="1214446" cy="369332"/>
          </a:xfrm>
        </p:grpSpPr>
        <p:sp>
          <p:nvSpPr>
            <p:cNvPr id="20" name="Rectangle 19"/>
            <p:cNvSpPr/>
            <p:nvPr/>
          </p:nvSpPr>
          <p:spPr>
            <a:xfrm>
              <a:off x="4714876" y="3643314"/>
              <a:ext cx="1214446" cy="357190"/>
            </a:xfrm>
            <a:prstGeom prst="rect">
              <a:avLst/>
            </a:prstGeom>
            <a:noFill/>
            <a:ln>
              <a:solidFill>
                <a:srgbClr val="B8265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4771697" y="3643314"/>
              <a:ext cx="9924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/>
                <a:t>Partition</a:t>
              </a:r>
              <a:endParaRPr lang="zh-CN" altLang="en-US" dirty="0"/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7143768" y="3786190"/>
            <a:ext cx="1214446" cy="369332"/>
            <a:chOff x="4714876" y="3643314"/>
            <a:chExt cx="1214446" cy="369332"/>
          </a:xfrm>
        </p:grpSpPr>
        <p:sp>
          <p:nvSpPr>
            <p:cNvPr id="23" name="Rectangle 22"/>
            <p:cNvSpPr/>
            <p:nvPr/>
          </p:nvSpPr>
          <p:spPr>
            <a:xfrm>
              <a:off x="4714876" y="3643314"/>
              <a:ext cx="1214446" cy="357190"/>
            </a:xfrm>
            <a:prstGeom prst="rect">
              <a:avLst/>
            </a:prstGeom>
            <a:noFill/>
            <a:ln>
              <a:solidFill>
                <a:srgbClr val="B8265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4771697" y="3643314"/>
              <a:ext cx="9924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/>
                <a:t>Partition</a:t>
              </a:r>
              <a:endParaRPr lang="zh-CN" altLang="en-US" dirty="0"/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4214810" y="4643446"/>
            <a:ext cx="1214446" cy="1428760"/>
            <a:chOff x="4214810" y="4071942"/>
            <a:chExt cx="1214446" cy="1428760"/>
          </a:xfrm>
        </p:grpSpPr>
        <p:sp>
          <p:nvSpPr>
            <p:cNvPr id="26" name="Flowchart: Magnetic Disk 25"/>
            <p:cNvSpPr/>
            <p:nvPr/>
          </p:nvSpPr>
          <p:spPr>
            <a:xfrm>
              <a:off x="4572000" y="4286256"/>
              <a:ext cx="500066" cy="642942"/>
            </a:xfrm>
            <a:prstGeom prst="flowChartMagneticDisk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7" name="Oval 26"/>
            <p:cNvSpPr/>
            <p:nvPr/>
          </p:nvSpPr>
          <p:spPr>
            <a:xfrm>
              <a:off x="4214810" y="4071942"/>
              <a:ext cx="1214446" cy="142876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4618609" y="5000636"/>
              <a:ext cx="45345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/>
                <a:t>RG</a:t>
              </a:r>
              <a:endParaRPr lang="zh-CN" altLang="en-US" dirty="0"/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5715008" y="4572008"/>
            <a:ext cx="1214446" cy="1428760"/>
            <a:chOff x="4214810" y="4071942"/>
            <a:chExt cx="1214446" cy="1428760"/>
          </a:xfrm>
        </p:grpSpPr>
        <p:sp>
          <p:nvSpPr>
            <p:cNvPr id="30" name="Flowchart: Magnetic Disk 29"/>
            <p:cNvSpPr/>
            <p:nvPr/>
          </p:nvSpPr>
          <p:spPr>
            <a:xfrm>
              <a:off x="4572000" y="4286256"/>
              <a:ext cx="500066" cy="642942"/>
            </a:xfrm>
            <a:prstGeom prst="flowChartMagneticDisk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1" name="Oval 30"/>
            <p:cNvSpPr/>
            <p:nvPr/>
          </p:nvSpPr>
          <p:spPr>
            <a:xfrm>
              <a:off x="4214810" y="4071942"/>
              <a:ext cx="1214446" cy="142876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4618609" y="5000636"/>
              <a:ext cx="45345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/>
                <a:t>RG</a:t>
              </a:r>
              <a:endParaRPr lang="zh-CN" altLang="en-US" dirty="0"/>
            </a:p>
          </p:txBody>
        </p:sp>
      </p:grpSp>
      <p:grpSp>
        <p:nvGrpSpPr>
          <p:cNvPr id="33" name="Group 32"/>
          <p:cNvGrpSpPr/>
          <p:nvPr/>
        </p:nvGrpSpPr>
        <p:grpSpPr>
          <a:xfrm>
            <a:off x="7215206" y="4572008"/>
            <a:ext cx="1214446" cy="1428760"/>
            <a:chOff x="4214810" y="4071942"/>
            <a:chExt cx="1214446" cy="1428760"/>
          </a:xfrm>
        </p:grpSpPr>
        <p:sp>
          <p:nvSpPr>
            <p:cNvPr id="34" name="Flowchart: Magnetic Disk 33"/>
            <p:cNvSpPr/>
            <p:nvPr/>
          </p:nvSpPr>
          <p:spPr>
            <a:xfrm>
              <a:off x="4572000" y="4286256"/>
              <a:ext cx="500066" cy="642942"/>
            </a:xfrm>
            <a:prstGeom prst="flowChartMagneticDisk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5" name="Oval 34"/>
            <p:cNvSpPr/>
            <p:nvPr/>
          </p:nvSpPr>
          <p:spPr>
            <a:xfrm>
              <a:off x="4214810" y="4071942"/>
              <a:ext cx="1214446" cy="142876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4618609" y="5000636"/>
              <a:ext cx="45345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/>
                <a:t>RG</a:t>
              </a:r>
              <a:endParaRPr lang="zh-CN" altLang="en-US" dirty="0"/>
            </a:p>
          </p:txBody>
        </p:sp>
      </p:grpSp>
      <p:sp>
        <p:nvSpPr>
          <p:cNvPr id="37" name="Down Arrow 36"/>
          <p:cNvSpPr/>
          <p:nvPr/>
        </p:nvSpPr>
        <p:spPr>
          <a:xfrm rot="1752538">
            <a:off x="5075813" y="4149201"/>
            <a:ext cx="378426" cy="58177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8" name="Down Arrow 37"/>
          <p:cNvSpPr/>
          <p:nvPr/>
        </p:nvSpPr>
        <p:spPr>
          <a:xfrm>
            <a:off x="6261527" y="4143380"/>
            <a:ext cx="378426" cy="42862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9" name="Down Arrow 38"/>
          <p:cNvSpPr/>
          <p:nvPr/>
        </p:nvSpPr>
        <p:spPr>
          <a:xfrm rot="19305523">
            <a:off x="7475989" y="4143938"/>
            <a:ext cx="378426" cy="42054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4000496" y="4429132"/>
            <a:ext cx="4786346" cy="207170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929322" y="6072206"/>
            <a:ext cx="918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Domain</a:t>
            </a:r>
            <a:endParaRPr lang="zh-CN" altLang="en-US" dirty="0"/>
          </a:p>
        </p:txBody>
      </p:sp>
      <p:sp>
        <p:nvSpPr>
          <p:cNvPr id="42" name="Right Arrow 41"/>
          <p:cNvSpPr/>
          <p:nvPr/>
        </p:nvSpPr>
        <p:spPr>
          <a:xfrm>
            <a:off x="3428992" y="3786190"/>
            <a:ext cx="1214446" cy="285752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3714744" y="3500438"/>
            <a:ext cx="595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Split</a:t>
            </a:r>
            <a:endParaRPr lang="zh-CN" altLang="en-US" dirty="0"/>
          </a:p>
        </p:txBody>
      </p:sp>
      <p:sp>
        <p:nvSpPr>
          <p:cNvPr id="44" name="Left Brace 43"/>
          <p:cNvSpPr/>
          <p:nvPr/>
        </p:nvSpPr>
        <p:spPr>
          <a:xfrm rot="5400000">
            <a:off x="6465107" y="1678769"/>
            <a:ext cx="214314" cy="3714776"/>
          </a:xfrm>
          <a:prstGeom prst="leftBrace">
            <a:avLst/>
          </a:prstGeom>
          <a:ln w="22225">
            <a:solidFill>
              <a:srgbClr val="B8265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TextBox 44"/>
          <p:cNvSpPr txBox="1"/>
          <p:nvPr/>
        </p:nvSpPr>
        <p:spPr>
          <a:xfrm>
            <a:off x="4929190" y="2714620"/>
            <a:ext cx="31854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水平分区：横向分区，或称为</a:t>
            </a:r>
            <a:endParaRPr lang="en-US" altLang="zh-CN" dirty="0" smtClean="0"/>
          </a:p>
          <a:p>
            <a:r>
              <a:rPr lang="zh-CN" altLang="en-US" dirty="0" smtClean="0"/>
              <a:t>数据库分区</a:t>
            </a:r>
            <a:endParaRPr lang="zh-CN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产品概念</a:t>
            </a:r>
            <a:r>
              <a:rPr lang="en-US" altLang="zh-CN" dirty="0" smtClean="0"/>
              <a:t>——</a:t>
            </a:r>
            <a:r>
              <a:rPr lang="zh-CN" altLang="en-US" dirty="0" smtClean="0"/>
              <a:t>垂直分区</a:t>
            </a:r>
            <a:endParaRPr lang="zh-CN" altLang="en-US" dirty="0"/>
          </a:p>
        </p:txBody>
      </p:sp>
      <p:sp>
        <p:nvSpPr>
          <p:cNvPr id="4" name="Rounded Rectangle 3"/>
          <p:cNvSpPr/>
          <p:nvPr/>
        </p:nvSpPr>
        <p:spPr>
          <a:xfrm>
            <a:off x="428596" y="2285992"/>
            <a:ext cx="3000396" cy="1928826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00100" y="1928802"/>
            <a:ext cx="17908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CollectionSpace1</a:t>
            </a:r>
            <a:endParaRPr lang="zh-CN" altLang="en-US" dirty="0"/>
          </a:p>
        </p:txBody>
      </p:sp>
      <p:grpSp>
        <p:nvGrpSpPr>
          <p:cNvPr id="6" name="Group 5"/>
          <p:cNvGrpSpPr/>
          <p:nvPr/>
        </p:nvGrpSpPr>
        <p:grpSpPr>
          <a:xfrm>
            <a:off x="785786" y="2500306"/>
            <a:ext cx="2286016" cy="369332"/>
            <a:chOff x="1643042" y="2000240"/>
            <a:chExt cx="2286016" cy="369332"/>
          </a:xfrm>
        </p:grpSpPr>
        <p:sp>
          <p:nvSpPr>
            <p:cNvPr id="7" name="Rectangle 6"/>
            <p:cNvSpPr/>
            <p:nvPr/>
          </p:nvSpPr>
          <p:spPr>
            <a:xfrm>
              <a:off x="1643042" y="2000240"/>
              <a:ext cx="2286016" cy="357190"/>
            </a:xfrm>
            <a:prstGeom prst="rect">
              <a:avLst/>
            </a:prstGeom>
            <a:noFill/>
            <a:ln>
              <a:solidFill>
                <a:srgbClr val="B8265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2000232" y="2000240"/>
              <a:ext cx="14510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/>
                <a:t>Collection    1</a:t>
              </a:r>
              <a:endParaRPr lang="zh-CN" altLang="en-US" dirty="0"/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785786" y="2857496"/>
            <a:ext cx="2286016" cy="369332"/>
            <a:chOff x="1643042" y="2000240"/>
            <a:chExt cx="2286016" cy="369332"/>
          </a:xfrm>
        </p:grpSpPr>
        <p:sp>
          <p:nvSpPr>
            <p:cNvPr id="10" name="Rectangle 9"/>
            <p:cNvSpPr/>
            <p:nvPr/>
          </p:nvSpPr>
          <p:spPr>
            <a:xfrm>
              <a:off x="1643042" y="2000240"/>
              <a:ext cx="2286016" cy="357190"/>
            </a:xfrm>
            <a:prstGeom prst="rect">
              <a:avLst/>
            </a:prstGeom>
            <a:noFill/>
            <a:ln>
              <a:solidFill>
                <a:srgbClr val="B8265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2000232" y="2000240"/>
              <a:ext cx="14510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/>
                <a:t>Collection    2</a:t>
              </a:r>
              <a:endParaRPr lang="zh-CN" altLang="en-US" dirty="0"/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785786" y="3702610"/>
            <a:ext cx="2286016" cy="369332"/>
            <a:chOff x="1643042" y="2000240"/>
            <a:chExt cx="2286016" cy="369332"/>
          </a:xfrm>
        </p:grpSpPr>
        <p:sp>
          <p:nvSpPr>
            <p:cNvPr id="13" name="Rectangle 12"/>
            <p:cNvSpPr/>
            <p:nvPr/>
          </p:nvSpPr>
          <p:spPr>
            <a:xfrm>
              <a:off x="1643042" y="2000240"/>
              <a:ext cx="2286016" cy="357190"/>
            </a:xfrm>
            <a:prstGeom prst="rect">
              <a:avLst/>
            </a:prstGeom>
            <a:noFill/>
            <a:ln>
              <a:solidFill>
                <a:srgbClr val="B8265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2000232" y="2000240"/>
              <a:ext cx="18020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/>
                <a:t>Collection    4096</a:t>
              </a:r>
              <a:endParaRPr lang="zh-CN" altLang="en-US" dirty="0"/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1681443" y="3233586"/>
            <a:ext cx="461665" cy="409728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altLang="zh-CN" dirty="0" smtClean="0"/>
              <a:t>……</a:t>
            </a:r>
            <a:endParaRPr lang="zh-CN" altLang="en-US" dirty="0"/>
          </a:p>
        </p:txBody>
      </p:sp>
      <p:grpSp>
        <p:nvGrpSpPr>
          <p:cNvPr id="16" name="Group 15"/>
          <p:cNvGrpSpPr/>
          <p:nvPr/>
        </p:nvGrpSpPr>
        <p:grpSpPr>
          <a:xfrm>
            <a:off x="4429124" y="3714752"/>
            <a:ext cx="1214446" cy="369332"/>
            <a:chOff x="4714876" y="3643314"/>
            <a:chExt cx="1214446" cy="369332"/>
          </a:xfrm>
        </p:grpSpPr>
        <p:sp>
          <p:nvSpPr>
            <p:cNvPr id="17" name="Rectangle 16"/>
            <p:cNvSpPr/>
            <p:nvPr/>
          </p:nvSpPr>
          <p:spPr>
            <a:xfrm>
              <a:off x="4714876" y="3643314"/>
              <a:ext cx="1214446" cy="357190"/>
            </a:xfrm>
            <a:prstGeom prst="rect">
              <a:avLst/>
            </a:prstGeom>
            <a:noFill/>
            <a:ln>
              <a:solidFill>
                <a:srgbClr val="B8265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4771697" y="3643314"/>
              <a:ext cx="9924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/>
                <a:t>Partition</a:t>
              </a:r>
              <a:endParaRPr lang="zh-CN" altLang="en-US" dirty="0"/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5643570" y="3714752"/>
            <a:ext cx="1214446" cy="369332"/>
            <a:chOff x="4714876" y="3643314"/>
            <a:chExt cx="1214446" cy="369332"/>
          </a:xfrm>
        </p:grpSpPr>
        <p:sp>
          <p:nvSpPr>
            <p:cNvPr id="20" name="Rectangle 19"/>
            <p:cNvSpPr/>
            <p:nvPr/>
          </p:nvSpPr>
          <p:spPr>
            <a:xfrm>
              <a:off x="4714876" y="3643314"/>
              <a:ext cx="1214446" cy="357190"/>
            </a:xfrm>
            <a:prstGeom prst="rect">
              <a:avLst/>
            </a:prstGeom>
            <a:noFill/>
            <a:ln>
              <a:solidFill>
                <a:srgbClr val="B8265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4771697" y="3643314"/>
              <a:ext cx="9924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/>
                <a:t>Partition</a:t>
              </a:r>
              <a:endParaRPr lang="zh-CN" altLang="en-US" dirty="0"/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6858016" y="3714752"/>
            <a:ext cx="1214446" cy="369332"/>
            <a:chOff x="4714876" y="3643314"/>
            <a:chExt cx="1214446" cy="369332"/>
          </a:xfrm>
        </p:grpSpPr>
        <p:sp>
          <p:nvSpPr>
            <p:cNvPr id="23" name="Rectangle 22"/>
            <p:cNvSpPr/>
            <p:nvPr/>
          </p:nvSpPr>
          <p:spPr>
            <a:xfrm>
              <a:off x="4714876" y="3643314"/>
              <a:ext cx="1214446" cy="357190"/>
            </a:xfrm>
            <a:prstGeom prst="rect">
              <a:avLst/>
            </a:prstGeom>
            <a:noFill/>
            <a:ln>
              <a:solidFill>
                <a:srgbClr val="B8265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4771697" y="3643314"/>
              <a:ext cx="9924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/>
                <a:t>Partition</a:t>
              </a:r>
              <a:endParaRPr lang="zh-CN" altLang="en-US" dirty="0"/>
            </a:p>
          </p:txBody>
        </p:sp>
      </p:grpSp>
      <p:sp>
        <p:nvSpPr>
          <p:cNvPr id="25" name="Down Arrow 24"/>
          <p:cNvSpPr/>
          <p:nvPr/>
        </p:nvSpPr>
        <p:spPr>
          <a:xfrm rot="1752538">
            <a:off x="4657822" y="4043306"/>
            <a:ext cx="378426" cy="112374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6" name="Down Arrow 25"/>
          <p:cNvSpPr/>
          <p:nvPr/>
        </p:nvSpPr>
        <p:spPr>
          <a:xfrm rot="2228552">
            <a:off x="5251016" y="3828438"/>
            <a:ext cx="378426" cy="282928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7" name="Down Arrow 26"/>
          <p:cNvSpPr/>
          <p:nvPr/>
        </p:nvSpPr>
        <p:spPr>
          <a:xfrm rot="19305523">
            <a:off x="7477145" y="3973033"/>
            <a:ext cx="378426" cy="134759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8" name="Right Arrow 27"/>
          <p:cNvSpPr/>
          <p:nvPr/>
        </p:nvSpPr>
        <p:spPr>
          <a:xfrm>
            <a:off x="3143240" y="3714752"/>
            <a:ext cx="1214446" cy="285752"/>
          </a:xfrm>
          <a:prstGeom prst="rightArrow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428992" y="3429000"/>
            <a:ext cx="595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Split</a:t>
            </a:r>
            <a:endParaRPr lang="zh-CN" altLang="en-US" dirty="0"/>
          </a:p>
        </p:txBody>
      </p:sp>
      <p:sp>
        <p:nvSpPr>
          <p:cNvPr id="30" name="Left Brace 29"/>
          <p:cNvSpPr/>
          <p:nvPr/>
        </p:nvSpPr>
        <p:spPr>
          <a:xfrm rot="5400000">
            <a:off x="6179355" y="1607331"/>
            <a:ext cx="214314" cy="3714776"/>
          </a:xfrm>
          <a:prstGeom prst="leftBrace">
            <a:avLst/>
          </a:prstGeom>
          <a:ln w="22225">
            <a:solidFill>
              <a:srgbClr val="B8265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TextBox 30"/>
          <p:cNvSpPr txBox="1"/>
          <p:nvPr/>
        </p:nvSpPr>
        <p:spPr>
          <a:xfrm>
            <a:off x="4643438" y="2643182"/>
            <a:ext cx="31854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垂直分区：纵向分区，或称为</a:t>
            </a:r>
            <a:endParaRPr lang="en-US" altLang="zh-CN" dirty="0" smtClean="0"/>
          </a:p>
          <a:p>
            <a:r>
              <a:rPr lang="zh-CN" altLang="en-US" dirty="0" smtClean="0"/>
              <a:t>集合分区</a:t>
            </a:r>
            <a:endParaRPr lang="zh-CN" altLang="en-US" dirty="0"/>
          </a:p>
        </p:txBody>
      </p:sp>
      <p:sp>
        <p:nvSpPr>
          <p:cNvPr id="32" name="Rounded Rectangle 31"/>
          <p:cNvSpPr/>
          <p:nvPr/>
        </p:nvSpPr>
        <p:spPr>
          <a:xfrm>
            <a:off x="2357422" y="4786322"/>
            <a:ext cx="3000396" cy="1928826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928926" y="4429132"/>
            <a:ext cx="17908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CollectionSpace2</a:t>
            </a:r>
            <a:endParaRPr lang="zh-CN" altLang="en-US" dirty="0"/>
          </a:p>
        </p:txBody>
      </p:sp>
      <p:grpSp>
        <p:nvGrpSpPr>
          <p:cNvPr id="34" name="Group 33"/>
          <p:cNvGrpSpPr/>
          <p:nvPr/>
        </p:nvGrpSpPr>
        <p:grpSpPr>
          <a:xfrm>
            <a:off x="2714612" y="5000636"/>
            <a:ext cx="2286016" cy="369332"/>
            <a:chOff x="1643042" y="2000240"/>
            <a:chExt cx="2286016" cy="369332"/>
          </a:xfrm>
        </p:grpSpPr>
        <p:sp>
          <p:nvSpPr>
            <p:cNvPr id="35" name="Rectangle 34"/>
            <p:cNvSpPr/>
            <p:nvPr/>
          </p:nvSpPr>
          <p:spPr>
            <a:xfrm>
              <a:off x="1643042" y="2000240"/>
              <a:ext cx="2286016" cy="357190"/>
            </a:xfrm>
            <a:prstGeom prst="rect">
              <a:avLst/>
            </a:prstGeom>
            <a:noFill/>
            <a:ln>
              <a:solidFill>
                <a:srgbClr val="B8265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2000232" y="2000240"/>
              <a:ext cx="14510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/>
                <a:t>Collection    1</a:t>
              </a:r>
              <a:endParaRPr lang="zh-CN" altLang="en-US" dirty="0"/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2714612" y="5357826"/>
            <a:ext cx="2286016" cy="369332"/>
            <a:chOff x="1643042" y="2000240"/>
            <a:chExt cx="2286016" cy="369332"/>
          </a:xfrm>
        </p:grpSpPr>
        <p:sp>
          <p:nvSpPr>
            <p:cNvPr id="38" name="Rectangle 37"/>
            <p:cNvSpPr/>
            <p:nvPr/>
          </p:nvSpPr>
          <p:spPr>
            <a:xfrm>
              <a:off x="1643042" y="2000240"/>
              <a:ext cx="2286016" cy="357190"/>
            </a:xfrm>
            <a:prstGeom prst="rect">
              <a:avLst/>
            </a:prstGeom>
            <a:noFill/>
            <a:ln>
              <a:solidFill>
                <a:srgbClr val="B8265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2000232" y="2000240"/>
              <a:ext cx="14510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/>
                <a:t>Collection    2</a:t>
              </a:r>
              <a:endParaRPr lang="zh-CN" altLang="en-US" dirty="0"/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2714612" y="6202940"/>
            <a:ext cx="2286016" cy="369332"/>
            <a:chOff x="1643042" y="2000240"/>
            <a:chExt cx="2286016" cy="369332"/>
          </a:xfrm>
        </p:grpSpPr>
        <p:sp>
          <p:nvSpPr>
            <p:cNvPr id="41" name="Rectangle 40"/>
            <p:cNvSpPr/>
            <p:nvPr/>
          </p:nvSpPr>
          <p:spPr>
            <a:xfrm>
              <a:off x="1643042" y="2000240"/>
              <a:ext cx="2286016" cy="357190"/>
            </a:xfrm>
            <a:prstGeom prst="rect">
              <a:avLst/>
            </a:prstGeom>
            <a:noFill/>
            <a:ln>
              <a:solidFill>
                <a:srgbClr val="B8265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2000232" y="2000240"/>
              <a:ext cx="18020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/>
                <a:t>Collection    4096</a:t>
              </a:r>
              <a:endParaRPr lang="zh-CN" altLang="en-US" dirty="0"/>
            </a:p>
          </p:txBody>
        </p:sp>
      </p:grpSp>
      <p:sp>
        <p:nvSpPr>
          <p:cNvPr id="43" name="TextBox 42"/>
          <p:cNvSpPr txBox="1"/>
          <p:nvPr/>
        </p:nvSpPr>
        <p:spPr>
          <a:xfrm>
            <a:off x="3610269" y="5733916"/>
            <a:ext cx="461665" cy="409728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altLang="zh-CN" dirty="0" smtClean="0"/>
              <a:t>……</a:t>
            </a:r>
            <a:endParaRPr lang="zh-CN" altLang="en-US" dirty="0"/>
          </a:p>
        </p:txBody>
      </p:sp>
      <p:sp>
        <p:nvSpPr>
          <p:cNvPr id="44" name="Rounded Rectangle 43"/>
          <p:cNvSpPr/>
          <p:nvPr/>
        </p:nvSpPr>
        <p:spPr>
          <a:xfrm>
            <a:off x="5786446" y="4714884"/>
            <a:ext cx="3000396" cy="1928826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357950" y="4357694"/>
            <a:ext cx="17908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CollectionSpace3</a:t>
            </a:r>
            <a:endParaRPr lang="zh-CN" altLang="en-US" dirty="0"/>
          </a:p>
        </p:txBody>
      </p:sp>
      <p:grpSp>
        <p:nvGrpSpPr>
          <p:cNvPr id="46" name="Group 45"/>
          <p:cNvGrpSpPr/>
          <p:nvPr/>
        </p:nvGrpSpPr>
        <p:grpSpPr>
          <a:xfrm>
            <a:off x="6143636" y="4929198"/>
            <a:ext cx="2286016" cy="369332"/>
            <a:chOff x="1643042" y="2000240"/>
            <a:chExt cx="2286016" cy="369332"/>
          </a:xfrm>
        </p:grpSpPr>
        <p:sp>
          <p:nvSpPr>
            <p:cNvPr id="47" name="Rectangle 46"/>
            <p:cNvSpPr/>
            <p:nvPr/>
          </p:nvSpPr>
          <p:spPr>
            <a:xfrm>
              <a:off x="1643042" y="2000240"/>
              <a:ext cx="2286016" cy="357190"/>
            </a:xfrm>
            <a:prstGeom prst="rect">
              <a:avLst/>
            </a:prstGeom>
            <a:noFill/>
            <a:ln>
              <a:solidFill>
                <a:srgbClr val="B8265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2000232" y="2000240"/>
              <a:ext cx="14510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/>
                <a:t>Collection    1</a:t>
              </a:r>
              <a:endParaRPr lang="zh-CN" altLang="en-US" dirty="0"/>
            </a:p>
          </p:txBody>
        </p:sp>
      </p:grpSp>
      <p:grpSp>
        <p:nvGrpSpPr>
          <p:cNvPr id="49" name="Group 48"/>
          <p:cNvGrpSpPr/>
          <p:nvPr/>
        </p:nvGrpSpPr>
        <p:grpSpPr>
          <a:xfrm>
            <a:off x="6143636" y="5286388"/>
            <a:ext cx="2286016" cy="369332"/>
            <a:chOff x="1643042" y="2000240"/>
            <a:chExt cx="2286016" cy="369332"/>
          </a:xfrm>
        </p:grpSpPr>
        <p:sp>
          <p:nvSpPr>
            <p:cNvPr id="50" name="Rectangle 49"/>
            <p:cNvSpPr/>
            <p:nvPr/>
          </p:nvSpPr>
          <p:spPr>
            <a:xfrm>
              <a:off x="1643042" y="2000240"/>
              <a:ext cx="2286016" cy="357190"/>
            </a:xfrm>
            <a:prstGeom prst="rect">
              <a:avLst/>
            </a:prstGeom>
            <a:noFill/>
            <a:ln>
              <a:solidFill>
                <a:srgbClr val="B8265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2000232" y="2000240"/>
              <a:ext cx="14510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/>
                <a:t>Collection    2</a:t>
              </a:r>
              <a:endParaRPr lang="zh-CN" altLang="en-US" dirty="0"/>
            </a:p>
          </p:txBody>
        </p:sp>
      </p:grpSp>
      <p:grpSp>
        <p:nvGrpSpPr>
          <p:cNvPr id="52" name="Group 51"/>
          <p:cNvGrpSpPr/>
          <p:nvPr/>
        </p:nvGrpSpPr>
        <p:grpSpPr>
          <a:xfrm>
            <a:off x="6143636" y="6131502"/>
            <a:ext cx="2286016" cy="369332"/>
            <a:chOff x="1643042" y="2000240"/>
            <a:chExt cx="2286016" cy="369332"/>
          </a:xfrm>
        </p:grpSpPr>
        <p:sp>
          <p:nvSpPr>
            <p:cNvPr id="53" name="Rectangle 52"/>
            <p:cNvSpPr/>
            <p:nvPr/>
          </p:nvSpPr>
          <p:spPr>
            <a:xfrm>
              <a:off x="1643042" y="2000240"/>
              <a:ext cx="2286016" cy="357190"/>
            </a:xfrm>
            <a:prstGeom prst="rect">
              <a:avLst/>
            </a:prstGeom>
            <a:noFill/>
            <a:ln>
              <a:solidFill>
                <a:srgbClr val="B8265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2000232" y="2000240"/>
              <a:ext cx="18020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/>
                <a:t>Collection    4096</a:t>
              </a:r>
              <a:endParaRPr lang="zh-CN" altLang="en-US" dirty="0"/>
            </a:p>
          </p:txBody>
        </p:sp>
      </p:grpSp>
      <p:sp>
        <p:nvSpPr>
          <p:cNvPr id="55" name="TextBox 54"/>
          <p:cNvSpPr txBox="1"/>
          <p:nvPr/>
        </p:nvSpPr>
        <p:spPr>
          <a:xfrm>
            <a:off x="7039293" y="5662478"/>
            <a:ext cx="461665" cy="409728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altLang="zh-CN" dirty="0" smtClean="0"/>
              <a:t>……</a:t>
            </a:r>
            <a:endParaRPr lang="zh-CN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14480" y="2571744"/>
            <a:ext cx="7286644" cy="1214422"/>
          </a:xfrm>
        </p:spPr>
        <p:txBody>
          <a:bodyPr>
            <a:normAutofit/>
          </a:bodyPr>
          <a:lstStyle/>
          <a:p>
            <a:pPr algn="ctr"/>
            <a:r>
              <a:rPr lang="en-US" altLang="zh-CN" sz="4400" dirty="0" smtClean="0"/>
              <a:t>Thanks</a:t>
            </a:r>
            <a:endParaRPr lang="zh-CN" altLang="en-US" sz="4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equoiaDB">
  <a:themeElements>
    <a:clrScheme name="平衡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SequoiaDB</Template>
  <TotalTime>7702</TotalTime>
  <Words>296</Words>
  <Application>Microsoft Office PowerPoint</Application>
  <PresentationFormat>On-screen Show (4:3)</PresentationFormat>
  <Paragraphs>147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SequoiaDB</vt:lpstr>
      <vt:lpstr>SequoiaDB 述语和概念介绍</vt:lpstr>
      <vt:lpstr>模块述语表（一）</vt:lpstr>
      <vt:lpstr>模块述语表（二）</vt:lpstr>
      <vt:lpstr>开发述语表（一）</vt:lpstr>
      <vt:lpstr>产品概念——集群</vt:lpstr>
      <vt:lpstr>产品概念——水平分区</vt:lpstr>
      <vt:lpstr>产品概念——垂直分区</vt:lpstr>
      <vt:lpstr>Thanks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SequoiaDB架构总览</dc:title>
  <dc:creator>taoewang</dc:creator>
  <cp:lastModifiedBy>xujianhui</cp:lastModifiedBy>
  <cp:revision>227</cp:revision>
  <dcterms:created xsi:type="dcterms:W3CDTF">2013-11-01T02:43:08Z</dcterms:created>
  <dcterms:modified xsi:type="dcterms:W3CDTF">2014-07-15T05:56:49Z</dcterms:modified>
</cp:coreProperties>
</file>