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C0D7"/>
    <a:srgbClr val="339966"/>
    <a:srgbClr val="993366"/>
    <a:srgbClr val="C0BD2D"/>
    <a:srgbClr val="3DAD78"/>
    <a:srgbClr val="E161FF"/>
    <a:srgbClr val="CC00FF"/>
    <a:srgbClr val="3399FF"/>
    <a:srgbClr val="0066FF"/>
    <a:srgbClr val="0033CC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500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3E46FB-0C22-4315-8E08-4C5C8B3D1168}" type="datetimeFigureOut">
              <a:rPr lang="zh-CN" altLang="en-US" smtClean="0"/>
              <a:pPr/>
              <a:t>2013/11/29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DED305-2F38-4124-B22A-2A7AC7C037B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857356" y="2571744"/>
            <a:ext cx="7286644" cy="1214422"/>
          </a:xfrm>
        </p:spPr>
        <p:txBody>
          <a:bodyPr>
            <a:normAutofit/>
          </a:bodyPr>
          <a:lstStyle>
            <a:lvl1pPr algn="l">
              <a:defRPr sz="3200" baseline="0">
                <a:solidFill>
                  <a:schemeClr val="bg1"/>
                </a:solidFill>
                <a:latin typeface="HelveticaNeueLT Pro 65 Md" pitchFamily="34" charset="0"/>
                <a:ea typeface="方正兰亭中黑_GBK" pitchFamily="2" charset="-122"/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57356" y="3929066"/>
            <a:ext cx="7286644" cy="642942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smtClean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071678"/>
            <a:ext cx="8229600" cy="4054485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4348" y="4143380"/>
            <a:ext cx="7772400" cy="1362075"/>
          </a:xfrm>
        </p:spPr>
        <p:txBody>
          <a:bodyPr anchor="t">
            <a:normAutofit/>
          </a:bodyPr>
          <a:lstStyle>
            <a:lvl1pPr algn="l">
              <a:defRPr sz="3200" b="1" cap="all">
                <a:solidFill>
                  <a:schemeClr val="bg1"/>
                </a:solidFill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14348" y="2643182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2071678"/>
            <a:ext cx="4038600" cy="405448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071678"/>
            <a:ext cx="4038600" cy="405448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928802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714619"/>
            <a:ext cx="4040188" cy="341154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928802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714619"/>
            <a:ext cx="4041775" cy="341154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71678"/>
            <a:ext cx="5111750" cy="405448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2071678"/>
            <a:ext cx="3008313" cy="405448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229600" cy="1143000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1000108"/>
            <a:ext cx="5486400" cy="372746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 smtClean="0"/>
              <a:t>Click icon to add picture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43108" y="4357694"/>
            <a:ext cx="7000892" cy="1214422"/>
          </a:xfrm>
        </p:spPr>
        <p:txBody>
          <a:bodyPr>
            <a:normAutofit/>
          </a:bodyPr>
          <a:lstStyle>
            <a:lvl1pPr algn="l">
              <a:defRPr sz="3200" baseline="0">
                <a:solidFill>
                  <a:schemeClr val="bg1"/>
                </a:solidFill>
                <a:latin typeface="HelveticaNeueLT Pro 65 Md" pitchFamily="34" charset="0"/>
                <a:ea typeface="方正兰亭中黑_GBK" pitchFamily="2" charset="-122"/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928802"/>
            <a:ext cx="8229600" cy="4197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200" kern="1200" baseline="0">
          <a:solidFill>
            <a:schemeClr val="tx1"/>
          </a:solidFill>
          <a:latin typeface="HelveticaNeueLT Pro 65 Md" pitchFamily="34" charset="0"/>
          <a:ea typeface="方正兰亭中黑_GBK" pitchFamily="2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 smtClean="0"/>
              <a:t>SequoiaDB</a:t>
            </a:r>
            <a:r>
              <a:rPr lang="zh-CN" altLang="en-US" dirty="0" smtClean="0"/>
              <a:t>总体框架</a:t>
            </a:r>
            <a:r>
              <a:rPr lang="zh-CN" altLang="en-US" dirty="0" smtClean="0"/>
              <a:t>介</a:t>
            </a:r>
            <a:r>
              <a:rPr lang="zh-CN" altLang="en-US" dirty="0" smtClean="0"/>
              <a:t>绍</a:t>
            </a:r>
            <a:endParaRPr lang="zh-CN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内部培训资料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总体框架图</a:t>
            </a:r>
            <a:endParaRPr lang="zh-CN" altLang="en-US" dirty="0"/>
          </a:p>
        </p:txBody>
      </p:sp>
      <p:grpSp>
        <p:nvGrpSpPr>
          <p:cNvPr id="43" name="Group 42"/>
          <p:cNvGrpSpPr/>
          <p:nvPr/>
        </p:nvGrpSpPr>
        <p:grpSpPr>
          <a:xfrm>
            <a:off x="928662" y="2428868"/>
            <a:ext cx="7143800" cy="3429024"/>
            <a:chOff x="928662" y="2428868"/>
            <a:chExt cx="7143800" cy="3429024"/>
          </a:xfrm>
        </p:grpSpPr>
        <p:sp>
          <p:nvSpPr>
            <p:cNvPr id="5" name="Rounded Rectangle 4"/>
            <p:cNvSpPr/>
            <p:nvPr/>
          </p:nvSpPr>
          <p:spPr>
            <a:xfrm>
              <a:off x="928662" y="5143512"/>
              <a:ext cx="7072362" cy="714380"/>
            </a:xfrm>
            <a:prstGeom prst="roundRect">
              <a:avLst/>
            </a:prstGeom>
            <a:solidFill>
              <a:srgbClr val="3399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OSS</a:t>
              </a:r>
              <a:endParaRPr lang="zh-CN" altLang="en-US" dirty="0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714480" y="4357694"/>
              <a:ext cx="785818" cy="7143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DMS</a:t>
              </a:r>
              <a:endParaRPr lang="zh-CN" altLang="en-US" dirty="0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643174" y="4357694"/>
              <a:ext cx="714380" cy="7143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IXM</a:t>
              </a:r>
              <a:endParaRPr lang="zh-CN" altLang="en-US" dirty="0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3500430" y="4357694"/>
              <a:ext cx="714380" cy="7143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DPS</a:t>
              </a:r>
              <a:endParaRPr lang="zh-CN" altLang="en-US" dirty="0"/>
            </a:p>
          </p:txBody>
        </p:sp>
        <p:grpSp>
          <p:nvGrpSpPr>
            <p:cNvPr id="23" name="Group 22"/>
            <p:cNvGrpSpPr/>
            <p:nvPr/>
          </p:nvGrpSpPr>
          <p:grpSpPr>
            <a:xfrm>
              <a:off x="1714480" y="3643314"/>
              <a:ext cx="4074222" cy="1428760"/>
              <a:chOff x="1857356" y="3000372"/>
              <a:chExt cx="4500594" cy="1428760"/>
            </a:xfrm>
          </p:grpSpPr>
          <p:sp>
            <p:nvSpPr>
              <p:cNvPr id="21" name="Rounded Rectangle 20"/>
              <p:cNvSpPr/>
              <p:nvPr/>
            </p:nvSpPr>
            <p:spPr>
              <a:xfrm>
                <a:off x="4786314" y="3286124"/>
                <a:ext cx="1571636" cy="1143008"/>
              </a:xfrm>
              <a:prstGeom prst="roundRect">
                <a:avLst/>
              </a:prstGeom>
              <a:solidFill>
                <a:srgbClr val="E161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Rounded Rectangle 19"/>
              <p:cNvSpPr/>
              <p:nvPr/>
            </p:nvSpPr>
            <p:spPr>
              <a:xfrm>
                <a:off x="1857356" y="3000372"/>
                <a:ext cx="4500594" cy="642942"/>
              </a:xfrm>
              <a:prstGeom prst="roundRect">
                <a:avLst/>
              </a:prstGeom>
              <a:solidFill>
                <a:srgbClr val="E161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RTN</a:t>
                </a:r>
                <a:endParaRPr lang="zh-CN" altLang="en-US" dirty="0"/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4797331" y="3429000"/>
                <a:ext cx="1549602" cy="428628"/>
              </a:xfrm>
              <a:prstGeom prst="rect">
                <a:avLst/>
              </a:prstGeom>
              <a:solidFill>
                <a:srgbClr val="E16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4" name="Rounded Rectangle 23"/>
            <p:cNvSpPr/>
            <p:nvPr/>
          </p:nvSpPr>
          <p:spPr>
            <a:xfrm>
              <a:off x="4643438" y="4572008"/>
              <a:ext cx="785818" cy="428628"/>
            </a:xfrm>
            <a:prstGeom prst="roundRect">
              <a:avLst/>
            </a:prstGeom>
            <a:solidFill>
              <a:srgbClr val="3DAD78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MON</a:t>
              </a:r>
              <a:endParaRPr lang="zh-CN" altLang="en-US" dirty="0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928662" y="3643314"/>
              <a:ext cx="714380" cy="1428760"/>
            </a:xfrm>
            <a:prstGeom prst="roundRect">
              <a:avLst/>
            </a:prstGeom>
            <a:solidFill>
              <a:srgbClr val="3DAD78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BAR</a:t>
              </a:r>
              <a:endParaRPr lang="zh-CN" altLang="en-US" dirty="0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4643438" y="4143380"/>
              <a:ext cx="785818" cy="428628"/>
            </a:xfrm>
            <a:prstGeom prst="roundRect">
              <a:avLst/>
            </a:prstGeom>
            <a:solidFill>
              <a:srgbClr val="3DAD78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BPS</a:t>
              </a:r>
              <a:endParaRPr lang="zh-CN" altLang="en-US" dirty="0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4643438" y="3714752"/>
              <a:ext cx="785818" cy="428628"/>
            </a:xfrm>
            <a:prstGeom prst="roundRect">
              <a:avLst/>
            </a:prstGeom>
            <a:solidFill>
              <a:srgbClr val="3DAD78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MIG</a:t>
              </a:r>
              <a:endParaRPr lang="zh-CN" altLang="en-US" dirty="0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7286644" y="4357694"/>
              <a:ext cx="711372" cy="571504"/>
            </a:xfrm>
            <a:prstGeom prst="roundRect">
              <a:avLst/>
            </a:prstGeom>
            <a:solidFill>
              <a:srgbClr val="C0BD2D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PD</a:t>
              </a:r>
              <a:endParaRPr lang="zh-CN" altLang="en-US" dirty="0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5500694" y="4143380"/>
              <a:ext cx="785818" cy="428628"/>
            </a:xfrm>
            <a:prstGeom prst="roundRect">
              <a:avLst/>
            </a:prstGeom>
            <a:solidFill>
              <a:srgbClr val="3DAD78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MTH</a:t>
              </a:r>
              <a:endParaRPr lang="zh-CN" altLang="en-US" dirty="0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5500694" y="4572008"/>
              <a:ext cx="785818" cy="428628"/>
            </a:xfrm>
            <a:prstGeom prst="roundRect">
              <a:avLst/>
            </a:prstGeom>
            <a:solidFill>
              <a:srgbClr val="3DAD78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OPT</a:t>
              </a:r>
              <a:endParaRPr lang="zh-CN" altLang="en-US" dirty="0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5500694" y="3714752"/>
              <a:ext cx="785818" cy="428628"/>
            </a:xfrm>
            <a:prstGeom prst="roundRect">
              <a:avLst/>
            </a:prstGeom>
            <a:solidFill>
              <a:srgbClr val="3DAD78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PCRE</a:t>
              </a:r>
              <a:endParaRPr lang="zh-CN" altLang="en-US" dirty="0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4500562" y="3643314"/>
              <a:ext cx="2668021" cy="1428760"/>
            </a:xfrm>
            <a:prstGeom prst="rect">
              <a:avLst/>
            </a:prstGeom>
            <a:noFill/>
            <a:ln w="12700"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1714480" y="2428868"/>
              <a:ext cx="3143272" cy="1143008"/>
            </a:xfrm>
            <a:prstGeom prst="roundRect">
              <a:avLst/>
            </a:prstGeom>
            <a:solidFill>
              <a:srgbClr val="13C0D7"/>
            </a:solidFill>
            <a:ln>
              <a:solidFill>
                <a:srgbClr val="9933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CLS</a:t>
              </a:r>
              <a:endParaRPr lang="zh-CN" altLang="en-US" dirty="0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1857356" y="2500306"/>
              <a:ext cx="840712" cy="428628"/>
            </a:xfrm>
            <a:prstGeom prst="roundRect">
              <a:avLst/>
            </a:prstGeom>
            <a:solidFill>
              <a:srgbClr val="3DAD78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 smtClean="0"/>
                <a:t>Repl</a:t>
              </a:r>
              <a:endParaRPr lang="zh-CN" altLang="en-US" dirty="0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1857356" y="3071810"/>
              <a:ext cx="840712" cy="428628"/>
            </a:xfrm>
            <a:prstGeom prst="roundRect">
              <a:avLst/>
            </a:prstGeom>
            <a:solidFill>
              <a:srgbClr val="3DAD78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Shard</a:t>
              </a:r>
              <a:endParaRPr lang="zh-CN" altLang="en-US" dirty="0"/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3786182" y="2500306"/>
              <a:ext cx="840712" cy="428628"/>
            </a:xfrm>
            <a:prstGeom prst="roundRect">
              <a:avLst/>
            </a:prstGeom>
            <a:solidFill>
              <a:srgbClr val="3DAD78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CAT</a:t>
              </a:r>
              <a:endParaRPr lang="zh-CN" altLang="en-US" dirty="0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3786182" y="3071810"/>
              <a:ext cx="840712" cy="428628"/>
            </a:xfrm>
            <a:prstGeom prst="roundRect">
              <a:avLst/>
            </a:prstGeom>
            <a:solidFill>
              <a:srgbClr val="3DAD78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 smtClean="0"/>
                <a:t>Coord</a:t>
              </a:r>
              <a:endParaRPr lang="zh-CN" altLang="en-US" dirty="0"/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5000628" y="2428868"/>
              <a:ext cx="3071834" cy="114300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PMD</a:t>
              </a:r>
              <a:endParaRPr lang="zh-CN" altLang="en-US" dirty="0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7289652" y="2786058"/>
              <a:ext cx="711372" cy="1500198"/>
            </a:xfrm>
            <a:prstGeom prst="roundRect">
              <a:avLst/>
            </a:prstGeom>
            <a:solidFill>
              <a:srgbClr val="C0BD2D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NET</a:t>
              </a:r>
              <a:endParaRPr lang="zh-CN" altLang="en-US" dirty="0"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6374494" y="4143380"/>
              <a:ext cx="769274" cy="428628"/>
            </a:xfrm>
            <a:prstGeom prst="roundRect">
              <a:avLst/>
            </a:prstGeom>
            <a:solidFill>
              <a:srgbClr val="3DAD78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AGGR</a:t>
              </a:r>
              <a:endParaRPr lang="zh-CN" altLang="en-US" dirty="0"/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6374494" y="4572008"/>
              <a:ext cx="769274" cy="428628"/>
            </a:xfrm>
            <a:prstGeom prst="roundRect">
              <a:avLst/>
            </a:prstGeom>
            <a:solidFill>
              <a:srgbClr val="3DAD78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QGM</a:t>
              </a:r>
              <a:endParaRPr lang="zh-CN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模块介绍（一）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OSS</a:t>
            </a:r>
          </a:p>
          <a:p>
            <a:pPr lvl="1"/>
            <a:r>
              <a:rPr lang="zh-CN" altLang="en-US" dirty="0" smtClean="0"/>
              <a:t>封装操作系统</a:t>
            </a:r>
            <a:r>
              <a:rPr lang="en-US" altLang="zh-CN" dirty="0" smtClean="0"/>
              <a:t>API</a:t>
            </a:r>
          </a:p>
          <a:p>
            <a:pPr lvl="1"/>
            <a:r>
              <a:rPr lang="zh-CN" altLang="en-US" dirty="0" smtClean="0"/>
              <a:t>提供基本功能（函数、类）</a:t>
            </a:r>
            <a:endParaRPr lang="en-US" altLang="zh-CN" dirty="0" smtClean="0"/>
          </a:p>
          <a:p>
            <a:r>
              <a:rPr lang="en-US" altLang="zh-CN" dirty="0" smtClean="0"/>
              <a:t>DMS</a:t>
            </a:r>
          </a:p>
          <a:p>
            <a:pPr lvl="1"/>
            <a:r>
              <a:rPr lang="zh-CN" altLang="en-US" dirty="0" smtClean="0"/>
              <a:t>存取数据库数据（数据文件</a:t>
            </a:r>
            <a:r>
              <a:rPr lang="en-US" altLang="zh-CN" dirty="0" smtClean="0"/>
              <a:t>.data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存取数据库索引（索引文件</a:t>
            </a:r>
            <a:r>
              <a:rPr lang="en-US" altLang="zh-CN" dirty="0" smtClean="0"/>
              <a:t>.</a:t>
            </a:r>
            <a:r>
              <a:rPr lang="en-US" altLang="zh-CN" dirty="0" err="1" smtClean="0"/>
              <a:t>idx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en-US" altLang="zh-CN" dirty="0" smtClean="0"/>
              <a:t>IXM</a:t>
            </a:r>
          </a:p>
          <a:p>
            <a:pPr lvl="1"/>
            <a:r>
              <a:rPr lang="zh-CN" altLang="en-US" dirty="0" smtClean="0"/>
              <a:t>索引树管理</a:t>
            </a:r>
            <a:endParaRPr lang="en-US" altLang="zh-CN" dirty="0" smtClean="0"/>
          </a:p>
          <a:p>
            <a:r>
              <a:rPr lang="en-US" altLang="zh-CN" dirty="0" smtClean="0"/>
              <a:t>DPS</a:t>
            </a:r>
          </a:p>
          <a:p>
            <a:pPr lvl="1"/>
            <a:r>
              <a:rPr lang="zh-CN" altLang="en-US" dirty="0" smtClean="0"/>
              <a:t>存取数据库的同步日志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模块介绍（二）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RTN</a:t>
            </a:r>
          </a:p>
          <a:p>
            <a:pPr lvl="1"/>
            <a:r>
              <a:rPr lang="zh-CN" altLang="en-US" dirty="0" smtClean="0"/>
              <a:t>本地数据库操作封装层</a:t>
            </a:r>
            <a:endParaRPr lang="en-US" altLang="zh-CN" dirty="0" smtClean="0"/>
          </a:p>
          <a:p>
            <a:r>
              <a:rPr lang="en-US" altLang="zh-CN" dirty="0" smtClean="0"/>
              <a:t>PMD</a:t>
            </a:r>
          </a:p>
          <a:p>
            <a:pPr lvl="1"/>
            <a:r>
              <a:rPr lang="zh-CN" altLang="en-US" dirty="0" smtClean="0"/>
              <a:t>数据库启动、运行、停止管理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配置管理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线程管理</a:t>
            </a:r>
            <a:endParaRPr lang="en-US" altLang="zh-CN" dirty="0" smtClean="0"/>
          </a:p>
          <a:p>
            <a:r>
              <a:rPr lang="en-US" altLang="zh-CN" dirty="0" smtClean="0"/>
              <a:t>CLS</a:t>
            </a:r>
          </a:p>
          <a:p>
            <a:pPr lvl="1"/>
            <a:r>
              <a:rPr lang="zh-CN" altLang="en-US" dirty="0" smtClean="0"/>
              <a:t>集群业务处理</a:t>
            </a:r>
            <a:endParaRPr lang="en-US" altLang="zh-CN" dirty="0" smtClean="0"/>
          </a:p>
          <a:p>
            <a:r>
              <a:rPr lang="en-US" altLang="zh-CN" dirty="0" smtClean="0"/>
              <a:t>BAR</a:t>
            </a:r>
          </a:p>
          <a:p>
            <a:pPr lvl="1"/>
            <a:r>
              <a:rPr lang="zh-CN" altLang="en-US" dirty="0" smtClean="0"/>
              <a:t>数据备份、数据恢复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数据库启动流程（</a:t>
            </a:r>
            <a:r>
              <a:rPr lang="en-US" altLang="zh-CN" dirty="0" smtClean="0"/>
              <a:t>Standalone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4" name="Flowchart: Connector 3"/>
          <p:cNvSpPr/>
          <p:nvPr/>
        </p:nvSpPr>
        <p:spPr>
          <a:xfrm>
            <a:off x="4214810" y="1714488"/>
            <a:ext cx="214314" cy="21431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ounded Rectangle 4"/>
          <p:cNvSpPr/>
          <p:nvPr/>
        </p:nvSpPr>
        <p:spPr>
          <a:xfrm>
            <a:off x="3643306" y="2214554"/>
            <a:ext cx="1357322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加载和检验配置信息</a:t>
            </a:r>
            <a:endParaRPr lang="zh-CN" altLang="en-US" sz="1400" dirty="0"/>
          </a:p>
        </p:txBody>
      </p:sp>
      <p:cxnSp>
        <p:nvCxnSpPr>
          <p:cNvPr id="7" name="Straight Arrow Connector 6"/>
          <p:cNvCxnSpPr>
            <a:stCxn id="4" idx="4"/>
            <a:endCxn id="5" idx="0"/>
          </p:cNvCxnSpPr>
          <p:nvPr/>
        </p:nvCxnSpPr>
        <p:spPr>
          <a:xfrm rot="5400000">
            <a:off x="4179091" y="2071678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643306" y="2857496"/>
            <a:ext cx="1357322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加载</a:t>
            </a:r>
            <a:r>
              <a:rPr lang="en-US" altLang="zh-CN" sz="1400" dirty="0" smtClean="0"/>
              <a:t>CS</a:t>
            </a:r>
            <a:r>
              <a:rPr lang="zh-CN" altLang="en-US" sz="1400" dirty="0" smtClean="0"/>
              <a:t>、日志</a:t>
            </a:r>
            <a:endParaRPr lang="zh-CN" altLang="en-US" sz="1400" dirty="0"/>
          </a:p>
        </p:txBody>
      </p:sp>
      <p:cxnSp>
        <p:nvCxnSpPr>
          <p:cNvPr id="12" name="Straight Arrow Connector 11"/>
          <p:cNvCxnSpPr>
            <a:stCxn id="5" idx="2"/>
            <a:endCxn id="9" idx="0"/>
          </p:cNvCxnSpPr>
          <p:nvPr/>
        </p:nvCxnSpPr>
        <p:spPr>
          <a:xfrm rot="5400000">
            <a:off x="4250529" y="2786058"/>
            <a:ext cx="14287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9" idx="2"/>
          </p:cNvCxnSpPr>
          <p:nvPr/>
        </p:nvCxnSpPr>
        <p:spPr>
          <a:xfrm rot="5400000">
            <a:off x="4250529" y="3429000"/>
            <a:ext cx="14287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lowchart: Decision 14"/>
          <p:cNvSpPr/>
          <p:nvPr/>
        </p:nvSpPr>
        <p:spPr>
          <a:xfrm>
            <a:off x="3428992" y="3500438"/>
            <a:ext cx="1785950" cy="500066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是否故障重启</a:t>
            </a:r>
            <a:endParaRPr lang="zh-CN" altLang="en-US" sz="1400" dirty="0"/>
          </a:p>
        </p:txBody>
      </p:sp>
      <p:sp>
        <p:nvSpPr>
          <p:cNvPr id="16" name="Rounded Rectangle 15"/>
          <p:cNvSpPr/>
          <p:nvPr/>
        </p:nvSpPr>
        <p:spPr>
          <a:xfrm>
            <a:off x="5572132" y="3500438"/>
            <a:ext cx="1357322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重组</a:t>
            </a:r>
            <a:endParaRPr lang="zh-CN" altLang="en-US" sz="1400" dirty="0"/>
          </a:p>
        </p:txBody>
      </p:sp>
      <p:cxnSp>
        <p:nvCxnSpPr>
          <p:cNvPr id="18" name="Straight Arrow Connector 17"/>
          <p:cNvCxnSpPr>
            <a:stCxn id="15" idx="3"/>
            <a:endCxn id="16" idx="1"/>
          </p:cNvCxnSpPr>
          <p:nvPr/>
        </p:nvCxnSpPr>
        <p:spPr>
          <a:xfrm>
            <a:off x="5214942" y="3750471"/>
            <a:ext cx="35719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643306" y="4357694"/>
            <a:ext cx="1357322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启动各模块线程</a:t>
            </a:r>
            <a:endParaRPr lang="zh-CN" altLang="en-US" sz="1400" dirty="0"/>
          </a:p>
        </p:txBody>
      </p:sp>
      <p:sp>
        <p:nvSpPr>
          <p:cNvPr id="20" name="Rounded Rectangle 19"/>
          <p:cNvSpPr/>
          <p:nvPr/>
        </p:nvSpPr>
        <p:spPr>
          <a:xfrm>
            <a:off x="3643306" y="5072074"/>
            <a:ext cx="1357322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启动</a:t>
            </a:r>
            <a:r>
              <a:rPr lang="en-US" altLang="zh-CN" sz="1400" dirty="0" smtClean="0"/>
              <a:t>TCP/REST</a:t>
            </a:r>
            <a:r>
              <a:rPr lang="zh-CN" altLang="en-US" sz="1400" dirty="0" smtClean="0"/>
              <a:t>服务</a:t>
            </a:r>
            <a:endParaRPr lang="zh-CN" altLang="en-US" sz="1400" dirty="0"/>
          </a:p>
        </p:txBody>
      </p:sp>
      <p:cxnSp>
        <p:nvCxnSpPr>
          <p:cNvPr id="22" name="Straight Arrow Connector 21"/>
          <p:cNvCxnSpPr>
            <a:stCxn id="15" idx="2"/>
            <a:endCxn id="19" idx="0"/>
          </p:cNvCxnSpPr>
          <p:nvPr/>
        </p:nvCxnSpPr>
        <p:spPr>
          <a:xfrm rot="5400000">
            <a:off x="4143372" y="4179099"/>
            <a:ext cx="35719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9" idx="2"/>
            <a:endCxn id="20" idx="0"/>
          </p:cNvCxnSpPr>
          <p:nvPr/>
        </p:nvCxnSpPr>
        <p:spPr>
          <a:xfrm rot="5400000">
            <a:off x="4214810" y="4964917"/>
            <a:ext cx="21431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hape 25"/>
          <p:cNvCxnSpPr>
            <a:stCxn id="16" idx="2"/>
            <a:endCxn id="19" idx="3"/>
          </p:cNvCxnSpPr>
          <p:nvPr/>
        </p:nvCxnSpPr>
        <p:spPr>
          <a:xfrm rot="5400000">
            <a:off x="5322100" y="3679033"/>
            <a:ext cx="607223" cy="1250165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lowchart: Decision 27"/>
          <p:cNvSpPr/>
          <p:nvPr/>
        </p:nvSpPr>
        <p:spPr>
          <a:xfrm>
            <a:off x="3428992" y="5786454"/>
            <a:ext cx="1785950" cy="500066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检测数据库故障</a:t>
            </a:r>
            <a:endParaRPr lang="zh-CN" altLang="en-US" sz="1400" dirty="0"/>
          </a:p>
        </p:txBody>
      </p:sp>
      <p:cxnSp>
        <p:nvCxnSpPr>
          <p:cNvPr id="32" name="Straight Arrow Connector 31"/>
          <p:cNvCxnSpPr>
            <a:stCxn id="20" idx="2"/>
            <a:endCxn id="28" idx="0"/>
          </p:cNvCxnSpPr>
          <p:nvPr/>
        </p:nvCxnSpPr>
        <p:spPr>
          <a:xfrm rot="5400000">
            <a:off x="4214810" y="5679297"/>
            <a:ext cx="21431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/>
          <p:cNvCxnSpPr>
            <a:stCxn id="28" idx="3"/>
          </p:cNvCxnSpPr>
          <p:nvPr/>
        </p:nvCxnSpPr>
        <p:spPr>
          <a:xfrm flipH="1" flipV="1">
            <a:off x="4357686" y="5643578"/>
            <a:ext cx="857256" cy="392909"/>
          </a:xfrm>
          <a:prstGeom prst="bentConnector3">
            <a:avLst>
              <a:gd name="adj1" fmla="val -26666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lowchart: Connector 36"/>
          <p:cNvSpPr/>
          <p:nvPr/>
        </p:nvSpPr>
        <p:spPr>
          <a:xfrm>
            <a:off x="4214810" y="6500834"/>
            <a:ext cx="214314" cy="21431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9" name="Straight Arrow Connector 38"/>
          <p:cNvCxnSpPr>
            <a:stCxn id="28" idx="2"/>
            <a:endCxn id="37" idx="0"/>
          </p:cNvCxnSpPr>
          <p:nvPr/>
        </p:nvCxnSpPr>
        <p:spPr>
          <a:xfrm rot="5400000">
            <a:off x="4214810" y="6393677"/>
            <a:ext cx="21431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数据库启动流程（</a:t>
            </a:r>
            <a:r>
              <a:rPr lang="en-US" altLang="zh-CN" dirty="0" smtClean="0"/>
              <a:t>Cluster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4" name="Flowchart: Connector 3"/>
          <p:cNvSpPr/>
          <p:nvPr/>
        </p:nvSpPr>
        <p:spPr>
          <a:xfrm>
            <a:off x="1928794" y="1714488"/>
            <a:ext cx="214314" cy="21431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ounded Rectangle 4"/>
          <p:cNvSpPr/>
          <p:nvPr/>
        </p:nvSpPr>
        <p:spPr>
          <a:xfrm>
            <a:off x="1357290" y="2071678"/>
            <a:ext cx="1357322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加载和检验配置信息</a:t>
            </a:r>
            <a:endParaRPr lang="zh-CN" altLang="en-US" sz="1400" dirty="0"/>
          </a:p>
        </p:txBody>
      </p:sp>
      <p:cxnSp>
        <p:nvCxnSpPr>
          <p:cNvPr id="6" name="Straight Arrow Connector 5"/>
          <p:cNvCxnSpPr>
            <a:stCxn id="4" idx="4"/>
            <a:endCxn id="5" idx="0"/>
          </p:cNvCxnSpPr>
          <p:nvPr/>
        </p:nvCxnSpPr>
        <p:spPr>
          <a:xfrm rot="5400000">
            <a:off x="1964513" y="2000240"/>
            <a:ext cx="14287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357290" y="2714620"/>
            <a:ext cx="1357322" cy="4286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加载</a:t>
            </a:r>
            <a:r>
              <a:rPr lang="en-US" altLang="zh-CN" sz="1400" dirty="0" smtClean="0"/>
              <a:t>CS</a:t>
            </a:r>
            <a:r>
              <a:rPr lang="zh-CN" altLang="en-US" sz="1400" dirty="0" smtClean="0"/>
              <a:t>，日志</a:t>
            </a:r>
            <a:endParaRPr lang="zh-CN" altLang="en-US" sz="1400" dirty="0"/>
          </a:p>
        </p:txBody>
      </p:sp>
      <p:cxnSp>
        <p:nvCxnSpPr>
          <p:cNvPr id="8" name="Straight Arrow Connector 7"/>
          <p:cNvCxnSpPr>
            <a:stCxn id="5" idx="2"/>
            <a:endCxn id="7" idx="0"/>
          </p:cNvCxnSpPr>
          <p:nvPr/>
        </p:nvCxnSpPr>
        <p:spPr>
          <a:xfrm rot="5400000">
            <a:off x="1964513" y="2643182"/>
            <a:ext cx="14287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lowchart: Decision 9"/>
          <p:cNvSpPr/>
          <p:nvPr/>
        </p:nvSpPr>
        <p:spPr>
          <a:xfrm>
            <a:off x="4786314" y="4071942"/>
            <a:ext cx="2643206" cy="500066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故障重启，且只有一个节点</a:t>
            </a:r>
            <a:endParaRPr lang="zh-CN" altLang="en-US" sz="1400" dirty="0"/>
          </a:p>
        </p:txBody>
      </p:sp>
      <p:sp>
        <p:nvSpPr>
          <p:cNvPr id="11" name="Rounded Rectangle 10"/>
          <p:cNvSpPr/>
          <p:nvPr/>
        </p:nvSpPr>
        <p:spPr>
          <a:xfrm>
            <a:off x="5429256" y="2071678"/>
            <a:ext cx="1357322" cy="4286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开始注册</a:t>
            </a:r>
            <a:endParaRPr lang="zh-CN" altLang="en-US" sz="1400" dirty="0"/>
          </a:p>
        </p:txBody>
      </p:sp>
      <p:sp>
        <p:nvSpPr>
          <p:cNvPr id="14" name="Rounded Rectangle 13"/>
          <p:cNvSpPr/>
          <p:nvPr/>
        </p:nvSpPr>
        <p:spPr>
          <a:xfrm>
            <a:off x="1357290" y="5072074"/>
            <a:ext cx="1357322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启动</a:t>
            </a:r>
            <a:r>
              <a:rPr lang="en-US" altLang="zh-CN" sz="1400" dirty="0" smtClean="0"/>
              <a:t>TCP/REST</a:t>
            </a:r>
            <a:r>
              <a:rPr lang="zh-CN" altLang="en-US" sz="1400" dirty="0" smtClean="0"/>
              <a:t>服务</a:t>
            </a:r>
            <a:endParaRPr lang="zh-CN" altLang="en-US" sz="1400" dirty="0"/>
          </a:p>
        </p:txBody>
      </p:sp>
      <p:sp>
        <p:nvSpPr>
          <p:cNvPr id="18" name="Flowchart: Decision 17"/>
          <p:cNvSpPr/>
          <p:nvPr/>
        </p:nvSpPr>
        <p:spPr>
          <a:xfrm>
            <a:off x="1142976" y="5786454"/>
            <a:ext cx="1785950" cy="500066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检测数据库故障</a:t>
            </a:r>
            <a:endParaRPr lang="zh-CN" altLang="en-US" sz="1400" dirty="0"/>
          </a:p>
        </p:txBody>
      </p:sp>
      <p:cxnSp>
        <p:nvCxnSpPr>
          <p:cNvPr id="19" name="Straight Arrow Connector 18"/>
          <p:cNvCxnSpPr>
            <a:stCxn id="14" idx="2"/>
            <a:endCxn id="18" idx="0"/>
          </p:cNvCxnSpPr>
          <p:nvPr/>
        </p:nvCxnSpPr>
        <p:spPr>
          <a:xfrm rot="5400000">
            <a:off x="1928794" y="5679297"/>
            <a:ext cx="21431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/>
          <p:cNvCxnSpPr>
            <a:stCxn id="18" idx="3"/>
          </p:cNvCxnSpPr>
          <p:nvPr/>
        </p:nvCxnSpPr>
        <p:spPr>
          <a:xfrm flipH="1" flipV="1">
            <a:off x="2071670" y="5643578"/>
            <a:ext cx="857256" cy="392909"/>
          </a:xfrm>
          <a:prstGeom prst="bentConnector3">
            <a:avLst>
              <a:gd name="adj1" fmla="val -26666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lowchart: Connector 20"/>
          <p:cNvSpPr/>
          <p:nvPr/>
        </p:nvSpPr>
        <p:spPr>
          <a:xfrm>
            <a:off x="1928794" y="6429396"/>
            <a:ext cx="214314" cy="21431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Straight Arrow Connector 21"/>
          <p:cNvCxnSpPr>
            <a:stCxn id="18" idx="2"/>
            <a:endCxn id="21" idx="0"/>
          </p:cNvCxnSpPr>
          <p:nvPr/>
        </p:nvCxnSpPr>
        <p:spPr>
          <a:xfrm rot="5400000">
            <a:off x="1964513" y="6357958"/>
            <a:ext cx="14287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7" idx="2"/>
            <a:endCxn id="29" idx="0"/>
          </p:cNvCxnSpPr>
          <p:nvPr/>
        </p:nvCxnSpPr>
        <p:spPr>
          <a:xfrm rot="5400000">
            <a:off x="1964513" y="3214686"/>
            <a:ext cx="14287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357290" y="3286124"/>
            <a:ext cx="1357322" cy="4286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启动</a:t>
            </a:r>
            <a:r>
              <a:rPr lang="en-US" altLang="zh-CN" sz="1400" dirty="0" smtClean="0"/>
              <a:t>CLS</a:t>
            </a:r>
            <a:r>
              <a:rPr lang="zh-CN" altLang="en-US" sz="1400" dirty="0" smtClean="0"/>
              <a:t>模块</a:t>
            </a:r>
            <a:endParaRPr lang="zh-CN" altLang="en-US" sz="1400" dirty="0"/>
          </a:p>
        </p:txBody>
      </p:sp>
      <p:sp>
        <p:nvSpPr>
          <p:cNvPr id="31" name="Rounded Rectangle 30"/>
          <p:cNvSpPr/>
          <p:nvPr/>
        </p:nvSpPr>
        <p:spPr>
          <a:xfrm>
            <a:off x="1357290" y="4429132"/>
            <a:ext cx="1357322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启动</a:t>
            </a:r>
            <a:r>
              <a:rPr lang="en-US" altLang="zh-CN" sz="1400" dirty="0" smtClean="0"/>
              <a:t>CAT/Shard</a:t>
            </a:r>
            <a:r>
              <a:rPr lang="zh-CN" altLang="en-US" sz="1400" dirty="0" smtClean="0"/>
              <a:t>服务</a:t>
            </a:r>
            <a:endParaRPr lang="zh-CN" altLang="en-US" sz="1400" dirty="0"/>
          </a:p>
        </p:txBody>
      </p:sp>
      <p:cxnSp>
        <p:nvCxnSpPr>
          <p:cNvPr id="33" name="Straight Arrow Connector 32"/>
          <p:cNvCxnSpPr>
            <a:stCxn id="29" idx="2"/>
            <a:endCxn id="38" idx="0"/>
          </p:cNvCxnSpPr>
          <p:nvPr/>
        </p:nvCxnSpPr>
        <p:spPr>
          <a:xfrm rot="5400000">
            <a:off x="1964513" y="3786190"/>
            <a:ext cx="14287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31" idx="2"/>
            <a:endCxn id="14" idx="0"/>
          </p:cNvCxnSpPr>
          <p:nvPr/>
        </p:nvCxnSpPr>
        <p:spPr>
          <a:xfrm rot="5400000">
            <a:off x="1964513" y="5000636"/>
            <a:ext cx="14287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ight Arrow 36"/>
          <p:cNvSpPr/>
          <p:nvPr/>
        </p:nvSpPr>
        <p:spPr>
          <a:xfrm>
            <a:off x="2643174" y="3357562"/>
            <a:ext cx="1500198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Rounded Rectangle 37"/>
          <p:cNvSpPr/>
          <p:nvPr/>
        </p:nvSpPr>
        <p:spPr>
          <a:xfrm>
            <a:off x="1357290" y="3857628"/>
            <a:ext cx="1357322" cy="4286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启动其它模块</a:t>
            </a:r>
            <a:endParaRPr lang="zh-CN" altLang="en-US" sz="1400" dirty="0"/>
          </a:p>
        </p:txBody>
      </p:sp>
      <p:cxnSp>
        <p:nvCxnSpPr>
          <p:cNvPr id="42" name="Straight Arrow Connector 41"/>
          <p:cNvCxnSpPr>
            <a:stCxn id="38" idx="2"/>
            <a:endCxn id="31" idx="0"/>
          </p:cNvCxnSpPr>
          <p:nvPr/>
        </p:nvCxnSpPr>
        <p:spPr>
          <a:xfrm rot="5400000">
            <a:off x="1964513" y="4357694"/>
            <a:ext cx="14287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5429256" y="2714620"/>
            <a:ext cx="1357322" cy="4286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下载集群节点信息</a:t>
            </a:r>
            <a:endParaRPr lang="zh-CN" altLang="en-US" sz="1400" dirty="0"/>
          </a:p>
        </p:txBody>
      </p:sp>
      <p:sp>
        <p:nvSpPr>
          <p:cNvPr id="50" name="Left Brace 49"/>
          <p:cNvSpPr/>
          <p:nvPr/>
        </p:nvSpPr>
        <p:spPr>
          <a:xfrm>
            <a:off x="4643438" y="2000240"/>
            <a:ext cx="571504" cy="3500462"/>
          </a:xfrm>
          <a:prstGeom prst="leftBrace">
            <a:avLst>
              <a:gd name="adj1" fmla="val 8333"/>
              <a:gd name="adj2" fmla="val 3647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2" name="Straight Arrow Connector 51"/>
          <p:cNvCxnSpPr>
            <a:stCxn id="11" idx="2"/>
            <a:endCxn id="49" idx="0"/>
          </p:cNvCxnSpPr>
          <p:nvPr/>
        </p:nvCxnSpPr>
        <p:spPr>
          <a:xfrm rot="5400000">
            <a:off x="6000760" y="2607463"/>
            <a:ext cx="21431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5429256" y="3357562"/>
            <a:ext cx="1357322" cy="4286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开始选主</a:t>
            </a:r>
            <a:endParaRPr lang="zh-CN" altLang="en-US" sz="1400" dirty="0"/>
          </a:p>
        </p:txBody>
      </p:sp>
      <p:cxnSp>
        <p:nvCxnSpPr>
          <p:cNvPr id="55" name="Straight Arrow Connector 54"/>
          <p:cNvCxnSpPr>
            <a:stCxn id="49" idx="2"/>
            <a:endCxn id="53" idx="0"/>
          </p:cNvCxnSpPr>
          <p:nvPr/>
        </p:nvCxnSpPr>
        <p:spPr>
          <a:xfrm rot="5400000">
            <a:off x="6000760" y="3250405"/>
            <a:ext cx="21431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3" idx="2"/>
            <a:endCxn id="10" idx="0"/>
          </p:cNvCxnSpPr>
          <p:nvPr/>
        </p:nvCxnSpPr>
        <p:spPr>
          <a:xfrm rot="5400000">
            <a:off x="5965041" y="3929066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7643834" y="4071942"/>
            <a:ext cx="1357322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重组</a:t>
            </a:r>
            <a:endParaRPr lang="zh-CN" altLang="en-US" sz="1400" dirty="0"/>
          </a:p>
        </p:txBody>
      </p:sp>
      <p:cxnSp>
        <p:nvCxnSpPr>
          <p:cNvPr id="61" name="Straight Arrow Connector 60"/>
          <p:cNvCxnSpPr>
            <a:stCxn id="10" idx="3"/>
            <a:endCxn id="59" idx="1"/>
          </p:cNvCxnSpPr>
          <p:nvPr/>
        </p:nvCxnSpPr>
        <p:spPr>
          <a:xfrm>
            <a:off x="7429520" y="4321975"/>
            <a:ext cx="21431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5429256" y="4929198"/>
            <a:ext cx="1357322" cy="4286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启动同步</a:t>
            </a:r>
            <a:endParaRPr lang="zh-CN" altLang="en-US" sz="1400" dirty="0"/>
          </a:p>
        </p:txBody>
      </p:sp>
      <p:cxnSp>
        <p:nvCxnSpPr>
          <p:cNvPr id="68" name="Straight Arrow Connector 67"/>
          <p:cNvCxnSpPr>
            <a:stCxn id="10" idx="2"/>
            <a:endCxn id="66" idx="0"/>
          </p:cNvCxnSpPr>
          <p:nvPr/>
        </p:nvCxnSpPr>
        <p:spPr>
          <a:xfrm rot="5400000">
            <a:off x="5929322" y="4750603"/>
            <a:ext cx="35719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hape 71"/>
          <p:cNvCxnSpPr>
            <a:stCxn id="59" idx="2"/>
            <a:endCxn id="66" idx="3"/>
          </p:cNvCxnSpPr>
          <p:nvPr/>
        </p:nvCxnSpPr>
        <p:spPr>
          <a:xfrm rot="5400000">
            <a:off x="7268785" y="4089802"/>
            <a:ext cx="571504" cy="1535917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会话流程（</a:t>
            </a:r>
            <a:r>
              <a:rPr lang="en-US" altLang="zh-CN" dirty="0" smtClean="0"/>
              <a:t>Standalone)</a:t>
            </a:r>
            <a:endParaRPr lang="zh-CN" altLang="en-US" dirty="0"/>
          </a:p>
        </p:txBody>
      </p:sp>
      <p:sp>
        <p:nvSpPr>
          <p:cNvPr id="4" name="Flowchart: Connector 3"/>
          <p:cNvSpPr/>
          <p:nvPr/>
        </p:nvSpPr>
        <p:spPr>
          <a:xfrm>
            <a:off x="4214810" y="1714488"/>
            <a:ext cx="214314" cy="21431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ounded Rectangle 4"/>
          <p:cNvSpPr/>
          <p:nvPr/>
        </p:nvSpPr>
        <p:spPr>
          <a:xfrm>
            <a:off x="3643306" y="2214554"/>
            <a:ext cx="1357322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TCP/REST</a:t>
            </a:r>
            <a:r>
              <a:rPr lang="zh-CN" altLang="en-US" sz="1400" dirty="0" smtClean="0"/>
              <a:t>接收新连接</a:t>
            </a:r>
            <a:endParaRPr lang="zh-CN" altLang="en-US" sz="1400" dirty="0"/>
          </a:p>
        </p:txBody>
      </p:sp>
      <p:sp>
        <p:nvSpPr>
          <p:cNvPr id="6" name="Flowchart: Decision 5"/>
          <p:cNvSpPr/>
          <p:nvPr/>
        </p:nvSpPr>
        <p:spPr>
          <a:xfrm>
            <a:off x="3428992" y="3714752"/>
            <a:ext cx="1785950" cy="500066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接收会话请求</a:t>
            </a:r>
            <a:endParaRPr lang="zh-CN" altLang="en-US" sz="1400" dirty="0"/>
          </a:p>
        </p:txBody>
      </p:sp>
      <p:sp>
        <p:nvSpPr>
          <p:cNvPr id="7" name="Rounded Rectangle 6"/>
          <p:cNvSpPr/>
          <p:nvPr/>
        </p:nvSpPr>
        <p:spPr>
          <a:xfrm>
            <a:off x="3643306" y="2928934"/>
            <a:ext cx="1357322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启动本地</a:t>
            </a:r>
            <a:r>
              <a:rPr lang="en-US" altLang="zh-CN" sz="1400" dirty="0" smtClean="0"/>
              <a:t>Agent</a:t>
            </a:r>
            <a:endParaRPr lang="zh-CN" altLang="en-US" sz="1400" dirty="0"/>
          </a:p>
        </p:txBody>
      </p:sp>
      <p:cxnSp>
        <p:nvCxnSpPr>
          <p:cNvPr id="9" name="Straight Arrow Connector 8"/>
          <p:cNvCxnSpPr>
            <a:stCxn id="4" idx="4"/>
            <a:endCxn id="5" idx="0"/>
          </p:cNvCxnSpPr>
          <p:nvPr/>
        </p:nvCxnSpPr>
        <p:spPr>
          <a:xfrm rot="5400000">
            <a:off x="4179091" y="2071678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5" idx="2"/>
            <a:endCxn id="7" idx="0"/>
          </p:cNvCxnSpPr>
          <p:nvPr/>
        </p:nvCxnSpPr>
        <p:spPr>
          <a:xfrm rot="5400000">
            <a:off x="4214810" y="2821777"/>
            <a:ext cx="21431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7" idx="2"/>
            <a:endCxn id="6" idx="0"/>
          </p:cNvCxnSpPr>
          <p:nvPr/>
        </p:nvCxnSpPr>
        <p:spPr>
          <a:xfrm rot="5400000">
            <a:off x="4179091" y="3571876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643306" y="4500570"/>
            <a:ext cx="1357322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通过</a:t>
            </a:r>
            <a:r>
              <a:rPr lang="en-US" altLang="zh-CN" sz="1400" dirty="0" smtClean="0"/>
              <a:t>RTN</a:t>
            </a:r>
            <a:r>
              <a:rPr lang="zh-CN" altLang="en-US" sz="1400" dirty="0" smtClean="0"/>
              <a:t>执行操作</a:t>
            </a:r>
            <a:endParaRPr lang="zh-CN" altLang="en-US" sz="1400" dirty="0"/>
          </a:p>
        </p:txBody>
      </p:sp>
      <p:cxnSp>
        <p:nvCxnSpPr>
          <p:cNvPr id="16" name="Straight Arrow Connector 15"/>
          <p:cNvCxnSpPr>
            <a:stCxn id="6" idx="2"/>
            <a:endCxn id="14" idx="0"/>
          </p:cNvCxnSpPr>
          <p:nvPr/>
        </p:nvCxnSpPr>
        <p:spPr>
          <a:xfrm rot="5400000">
            <a:off x="4179091" y="4357694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643306" y="5214950"/>
            <a:ext cx="1357322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返回应答</a:t>
            </a:r>
            <a:endParaRPr lang="zh-CN" altLang="en-US" sz="1400" dirty="0"/>
          </a:p>
        </p:txBody>
      </p:sp>
      <p:cxnSp>
        <p:nvCxnSpPr>
          <p:cNvPr id="19" name="Straight Arrow Connector 18"/>
          <p:cNvCxnSpPr>
            <a:stCxn id="14" idx="2"/>
            <a:endCxn id="17" idx="0"/>
          </p:cNvCxnSpPr>
          <p:nvPr/>
        </p:nvCxnSpPr>
        <p:spPr>
          <a:xfrm rot="5400000">
            <a:off x="4214810" y="5107793"/>
            <a:ext cx="21431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/>
          <p:cNvCxnSpPr>
            <a:stCxn id="17" idx="1"/>
            <a:endCxn id="6" idx="1"/>
          </p:cNvCxnSpPr>
          <p:nvPr/>
        </p:nvCxnSpPr>
        <p:spPr>
          <a:xfrm rot="10800000">
            <a:off x="3428992" y="3964785"/>
            <a:ext cx="214314" cy="1500198"/>
          </a:xfrm>
          <a:prstGeom prst="bentConnector3">
            <a:avLst>
              <a:gd name="adj1" fmla="val 206666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lowchart: Connector 21"/>
          <p:cNvSpPr/>
          <p:nvPr/>
        </p:nvSpPr>
        <p:spPr>
          <a:xfrm>
            <a:off x="4214810" y="5929330"/>
            <a:ext cx="214314" cy="21431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Elbow Connector 23"/>
          <p:cNvCxnSpPr>
            <a:stCxn id="6" idx="3"/>
            <a:endCxn id="22" idx="6"/>
          </p:cNvCxnSpPr>
          <p:nvPr/>
        </p:nvCxnSpPr>
        <p:spPr>
          <a:xfrm flipH="1">
            <a:off x="4429124" y="3964785"/>
            <a:ext cx="785818" cy="2071702"/>
          </a:xfrm>
          <a:prstGeom prst="bentConnector3">
            <a:avLst>
              <a:gd name="adj1" fmla="val -29091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会话流程（</a:t>
            </a:r>
            <a:r>
              <a:rPr lang="en-US" altLang="zh-CN" dirty="0" smtClean="0"/>
              <a:t>Cluster-Data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4" name="Flowchart: Connector 3"/>
          <p:cNvSpPr/>
          <p:nvPr/>
        </p:nvSpPr>
        <p:spPr>
          <a:xfrm>
            <a:off x="1500166" y="1857364"/>
            <a:ext cx="214314" cy="21431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ounded Rectangle 4"/>
          <p:cNvSpPr/>
          <p:nvPr/>
        </p:nvSpPr>
        <p:spPr>
          <a:xfrm>
            <a:off x="928662" y="2357430"/>
            <a:ext cx="1357322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Shard</a:t>
            </a:r>
            <a:r>
              <a:rPr lang="zh-CN" altLang="en-US" sz="1400" dirty="0" smtClean="0"/>
              <a:t>接收会话请求</a:t>
            </a:r>
            <a:endParaRPr lang="zh-CN" altLang="en-US" sz="1400" dirty="0"/>
          </a:p>
        </p:txBody>
      </p:sp>
      <p:sp>
        <p:nvSpPr>
          <p:cNvPr id="6" name="Flowchart: Decision 5"/>
          <p:cNvSpPr/>
          <p:nvPr/>
        </p:nvSpPr>
        <p:spPr>
          <a:xfrm>
            <a:off x="714348" y="3071810"/>
            <a:ext cx="1785950" cy="500066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会话已存在？</a:t>
            </a:r>
            <a:endParaRPr lang="zh-CN" altLang="en-US" sz="1400" dirty="0"/>
          </a:p>
        </p:txBody>
      </p:sp>
      <p:cxnSp>
        <p:nvCxnSpPr>
          <p:cNvPr id="8" name="Straight Arrow Connector 7"/>
          <p:cNvCxnSpPr>
            <a:stCxn id="4" idx="4"/>
            <a:endCxn id="5" idx="0"/>
          </p:cNvCxnSpPr>
          <p:nvPr/>
        </p:nvCxnSpPr>
        <p:spPr>
          <a:xfrm rot="5400000">
            <a:off x="1464447" y="2214554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86050" y="3071810"/>
            <a:ext cx="1357322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创建新会话</a:t>
            </a:r>
            <a:endParaRPr lang="zh-CN" altLang="en-US" sz="1400" dirty="0"/>
          </a:p>
        </p:txBody>
      </p:sp>
      <p:cxnSp>
        <p:nvCxnSpPr>
          <p:cNvPr id="11" name="Straight Arrow Connector 10"/>
          <p:cNvCxnSpPr>
            <a:stCxn id="6" idx="3"/>
            <a:endCxn id="9" idx="1"/>
          </p:cNvCxnSpPr>
          <p:nvPr/>
        </p:nvCxnSpPr>
        <p:spPr>
          <a:xfrm>
            <a:off x="2500298" y="3321843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5" idx="2"/>
            <a:endCxn id="6" idx="0"/>
          </p:cNvCxnSpPr>
          <p:nvPr/>
        </p:nvCxnSpPr>
        <p:spPr>
          <a:xfrm rot="5400000">
            <a:off x="1500166" y="2964653"/>
            <a:ext cx="21431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28662" y="3929066"/>
            <a:ext cx="1357322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提交请求至会话</a:t>
            </a:r>
            <a:endParaRPr lang="zh-CN" altLang="en-US" sz="1400" dirty="0"/>
          </a:p>
        </p:txBody>
      </p:sp>
      <p:cxnSp>
        <p:nvCxnSpPr>
          <p:cNvPr id="16" name="Straight Arrow Connector 15"/>
          <p:cNvCxnSpPr>
            <a:stCxn id="6" idx="2"/>
            <a:endCxn id="14" idx="0"/>
          </p:cNvCxnSpPr>
          <p:nvPr/>
        </p:nvCxnSpPr>
        <p:spPr>
          <a:xfrm rot="5400000">
            <a:off x="1428728" y="3750471"/>
            <a:ext cx="35719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hape 17"/>
          <p:cNvCxnSpPr>
            <a:stCxn id="9" idx="2"/>
            <a:endCxn id="14" idx="3"/>
          </p:cNvCxnSpPr>
          <p:nvPr/>
        </p:nvCxnSpPr>
        <p:spPr>
          <a:xfrm rot="5400000">
            <a:off x="2571737" y="3286124"/>
            <a:ext cx="607223" cy="1178727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28662" y="4714884"/>
            <a:ext cx="1357322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校验主节点、</a:t>
            </a:r>
            <a:r>
              <a:rPr lang="en-US" altLang="zh-CN" sz="1400" dirty="0" smtClean="0"/>
              <a:t>catalog</a:t>
            </a:r>
            <a:r>
              <a:rPr lang="zh-CN" altLang="en-US" sz="1400" dirty="0" smtClean="0"/>
              <a:t>信息</a:t>
            </a:r>
            <a:endParaRPr lang="zh-CN" altLang="en-US" sz="1400" dirty="0"/>
          </a:p>
        </p:txBody>
      </p:sp>
      <p:cxnSp>
        <p:nvCxnSpPr>
          <p:cNvPr id="22" name="Straight Arrow Connector 21"/>
          <p:cNvCxnSpPr>
            <a:stCxn id="14" idx="2"/>
            <a:endCxn id="20" idx="0"/>
          </p:cNvCxnSpPr>
          <p:nvPr/>
        </p:nvCxnSpPr>
        <p:spPr>
          <a:xfrm rot="5400000">
            <a:off x="1464447" y="4572008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28662" y="5500702"/>
            <a:ext cx="1357322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调用</a:t>
            </a:r>
            <a:r>
              <a:rPr lang="en-US" altLang="zh-CN" sz="1400" dirty="0" smtClean="0"/>
              <a:t>RTN</a:t>
            </a:r>
            <a:r>
              <a:rPr lang="zh-CN" altLang="en-US" sz="1400" dirty="0" smtClean="0"/>
              <a:t>本地操</a:t>
            </a:r>
            <a:endParaRPr lang="zh-CN" altLang="en-US" sz="1400" dirty="0"/>
          </a:p>
        </p:txBody>
      </p:sp>
      <p:cxnSp>
        <p:nvCxnSpPr>
          <p:cNvPr id="25" name="Straight Arrow Connector 24"/>
          <p:cNvCxnSpPr>
            <a:stCxn id="20" idx="2"/>
            <a:endCxn id="23" idx="0"/>
          </p:cNvCxnSpPr>
          <p:nvPr/>
        </p:nvCxnSpPr>
        <p:spPr>
          <a:xfrm rot="5400000">
            <a:off x="1464447" y="5357826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857884" y="2285992"/>
            <a:ext cx="1357322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通知副本同步</a:t>
            </a:r>
            <a:endParaRPr lang="zh-CN" altLang="en-US" sz="1400" dirty="0"/>
          </a:p>
        </p:txBody>
      </p:sp>
      <p:cxnSp>
        <p:nvCxnSpPr>
          <p:cNvPr id="29" name="Shape 28"/>
          <p:cNvCxnSpPr>
            <a:stCxn id="23" idx="3"/>
            <a:endCxn id="27" idx="0"/>
          </p:cNvCxnSpPr>
          <p:nvPr/>
        </p:nvCxnSpPr>
        <p:spPr>
          <a:xfrm flipV="1">
            <a:off x="2285984" y="2285992"/>
            <a:ext cx="4250561" cy="3464743"/>
          </a:xfrm>
          <a:prstGeom prst="bentConnector4">
            <a:avLst>
              <a:gd name="adj1" fmla="val 54458"/>
              <a:gd name="adj2" fmla="val 106598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27" idx="2"/>
          </p:cNvCxnSpPr>
          <p:nvPr/>
        </p:nvCxnSpPr>
        <p:spPr>
          <a:xfrm rot="5400000">
            <a:off x="6393669" y="2928934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857884" y="3857628"/>
            <a:ext cx="1357322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返回应答</a:t>
            </a:r>
            <a:endParaRPr lang="zh-CN" altLang="en-US" sz="1400" dirty="0"/>
          </a:p>
        </p:txBody>
      </p:sp>
      <p:sp>
        <p:nvSpPr>
          <p:cNvPr id="36" name="Rounded Rectangle 35"/>
          <p:cNvSpPr/>
          <p:nvPr/>
        </p:nvSpPr>
        <p:spPr>
          <a:xfrm>
            <a:off x="5857884" y="3071810"/>
            <a:ext cx="1357322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等待副本同步</a:t>
            </a:r>
            <a:endParaRPr lang="zh-CN" altLang="en-US" sz="1400" dirty="0"/>
          </a:p>
        </p:txBody>
      </p:sp>
      <p:cxnSp>
        <p:nvCxnSpPr>
          <p:cNvPr id="38" name="Straight Arrow Connector 37"/>
          <p:cNvCxnSpPr>
            <a:stCxn id="36" idx="2"/>
            <a:endCxn id="35" idx="0"/>
          </p:cNvCxnSpPr>
          <p:nvPr/>
        </p:nvCxnSpPr>
        <p:spPr>
          <a:xfrm rot="5400000">
            <a:off x="6393669" y="3714752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lowchart: Connector 38"/>
          <p:cNvSpPr/>
          <p:nvPr/>
        </p:nvSpPr>
        <p:spPr>
          <a:xfrm>
            <a:off x="6429388" y="4643446"/>
            <a:ext cx="214314" cy="21431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1" name="Straight Arrow Connector 40"/>
          <p:cNvCxnSpPr>
            <a:stCxn id="35" idx="2"/>
            <a:endCxn id="39" idx="0"/>
          </p:cNvCxnSpPr>
          <p:nvPr/>
        </p:nvCxnSpPr>
        <p:spPr>
          <a:xfrm rot="5400000">
            <a:off x="6393669" y="4500570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测试关注点（一）</a:t>
            </a:r>
            <a:endParaRPr lang="zh-CN" alt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2071678"/>
            <a:ext cx="8229600" cy="4054485"/>
          </a:xfrm>
        </p:spPr>
        <p:txBody>
          <a:bodyPr/>
          <a:lstStyle/>
          <a:p>
            <a:r>
              <a:rPr lang="zh-CN" altLang="en-US" dirty="0" smtClean="0"/>
              <a:t>配置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错误的配置参数（路径不存在，路径相同，目录没有权限，端口冲突，端口益出，参数益出边界）</a:t>
            </a:r>
            <a:endParaRPr lang="en-US" altLang="zh-CN" dirty="0" smtClean="0"/>
          </a:p>
          <a:p>
            <a:r>
              <a:rPr lang="zh-CN" altLang="en-US" dirty="0" smtClean="0"/>
              <a:t>会话能力测试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会话极限，数据库会不会崩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异常终止会话，是否存在泄漏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向会话连续发送多个请求，是否会故障（防止被攻击）</a:t>
            </a:r>
            <a:endParaRPr lang="en-US" altLang="zh-CN" dirty="0" smtClean="0"/>
          </a:p>
          <a:p>
            <a:r>
              <a:rPr lang="zh-CN" altLang="en-US" dirty="0" smtClean="0"/>
              <a:t>进程异常测试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断电、强杀、停止，是否能继续工作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同时启动多个相同实例，数据是否损坏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测试关注点（二）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日志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删除全部、部分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损坏文件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修改文件大小参数</a:t>
            </a:r>
            <a:endParaRPr lang="en-US" altLang="zh-CN" dirty="0" smtClean="0"/>
          </a:p>
          <a:p>
            <a:r>
              <a:rPr lang="zh-CN" altLang="en-US" dirty="0" smtClean="0"/>
              <a:t>网络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Catalog</a:t>
            </a:r>
            <a:r>
              <a:rPr lang="zh-CN" altLang="en-US" dirty="0" smtClean="0"/>
              <a:t>与</a:t>
            </a:r>
            <a:r>
              <a:rPr lang="en-US" altLang="zh-CN" dirty="0" smtClean="0"/>
              <a:t>data</a:t>
            </a:r>
            <a:r>
              <a:rPr lang="zh-CN" altLang="en-US" dirty="0" smtClean="0"/>
              <a:t>断网、闪断，丢包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Catalog</a:t>
            </a:r>
            <a:r>
              <a:rPr lang="zh-CN" altLang="en-US" dirty="0" smtClean="0"/>
              <a:t>与</a:t>
            </a:r>
            <a:r>
              <a:rPr lang="en-US" altLang="zh-CN" dirty="0" err="1" smtClean="0"/>
              <a:t>coord</a:t>
            </a:r>
            <a:r>
              <a:rPr lang="zh-CN" altLang="en-US" dirty="0" smtClean="0"/>
              <a:t>断网、闪断、丢包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组内</a:t>
            </a:r>
            <a:r>
              <a:rPr lang="en-US" altLang="zh-CN" dirty="0" smtClean="0"/>
              <a:t>data</a:t>
            </a:r>
            <a:r>
              <a:rPr lang="zh-CN" altLang="en-US" dirty="0" smtClean="0"/>
              <a:t>之间断网、闪断、丢包</a:t>
            </a:r>
            <a:endParaRPr lang="en-US" altLang="zh-CN" dirty="0" smtClean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480" y="2571744"/>
            <a:ext cx="7286644" cy="1214422"/>
          </a:xfrm>
        </p:spPr>
        <p:txBody>
          <a:bodyPr>
            <a:normAutofit/>
          </a:bodyPr>
          <a:lstStyle/>
          <a:p>
            <a:pPr algn="ctr"/>
            <a:r>
              <a:rPr lang="en-US" altLang="zh-CN" sz="4400" dirty="0" smtClean="0"/>
              <a:t>Thanks</a:t>
            </a:r>
            <a:endParaRPr lang="zh-CN" altLang="en-US" sz="4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equoiaDB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SequoiaDB</Template>
  <TotalTime>7676</TotalTime>
  <Words>623</Words>
  <Application>Microsoft Office PowerPoint</Application>
  <PresentationFormat>On-screen Show (4:3)</PresentationFormat>
  <Paragraphs>105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SequoiaDB</vt:lpstr>
      <vt:lpstr>SequoiaDB总体框架介绍</vt:lpstr>
      <vt:lpstr>总体框架图</vt:lpstr>
      <vt:lpstr>模块介绍（一）</vt:lpstr>
      <vt:lpstr>模块介绍（二）</vt:lpstr>
      <vt:lpstr>数据库启动流程（Standalone）</vt:lpstr>
      <vt:lpstr>数据库启动流程（Cluster）</vt:lpstr>
      <vt:lpstr>会话流程（Standalone)</vt:lpstr>
      <vt:lpstr>会话流程（Cluster-Data）</vt:lpstr>
      <vt:lpstr>测试关注点（一）</vt:lpstr>
      <vt:lpstr>测试关注点（二）</vt:lpstr>
      <vt:lpstr>Thanks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SequoiaDB架构总览</dc:title>
  <dc:creator>taoewang</dc:creator>
  <cp:lastModifiedBy>xujianhui</cp:lastModifiedBy>
  <cp:revision>220</cp:revision>
  <dcterms:created xsi:type="dcterms:W3CDTF">2013-11-01T02:43:08Z</dcterms:created>
  <dcterms:modified xsi:type="dcterms:W3CDTF">2013-11-29T08:29:23Z</dcterms:modified>
</cp:coreProperties>
</file>