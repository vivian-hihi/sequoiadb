
<file path=[Content_Types].xml><?xml version="1.0" encoding="utf-8"?>
<Types xmlns="http://schemas.openxmlformats.org/package/2006/content-types">
  <Default Extension="jpe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3"/>
    <p:sldId id="258" r:id="rId4"/>
    <p:sldId id="260" r:id="rId5"/>
    <p:sldId id="261" r:id="rId6"/>
    <p:sldId id="262" r:id="rId7"/>
    <p:sldId id="259" r:id="rId8"/>
    <p:sldId id="263" r:id="rId10"/>
    <p:sldId id="264" r:id="rId11"/>
    <p:sldId id="268" r:id="rId12"/>
    <p:sldId id="266" r:id="rId13"/>
    <p:sldId id="269" r:id="rId14"/>
    <p:sldId id="270" r:id="rId15"/>
    <p:sldId id="271" r:id="rId16"/>
    <p:sldId id="267" r:id="rId17"/>
    <p:sldId id="272" r:id="rId18"/>
    <p:sldId id="257" r:id="rId19"/>
    <p:sldId id="281" r:id="rId20"/>
    <p:sldId id="273" r:id="rId21"/>
    <p:sldId id="282" r:id="rId22"/>
    <p:sldId id="283" r:id="rId23"/>
    <p:sldId id="279" r:id="rId24"/>
    <p:sldId id="280" r:id="rId25"/>
    <p:sldId id="294" r:id="rId26"/>
    <p:sldId id="295" r:id="rId27"/>
    <p:sldId id="284" r:id="rId28"/>
    <p:sldId id="293" r:id="rId29"/>
    <p:sldId id="296" r:id="rId30"/>
    <p:sldId id="297" r:id="rId31"/>
    <p:sldId id="278" r:id="rId32"/>
    <p:sldId id="265" r:id="rId33"/>
    <p:sldId id="285" r:id="rId34"/>
    <p:sldId id="286" r:id="rId35"/>
    <p:sldId id="298" r:id="rId36"/>
    <p:sldId id="300" r:id="rId37"/>
    <p:sldId id="299" r:id="rId38"/>
    <p:sldId id="287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2"/>
    <p:restoredTop sz="83955" autoAdjust="0"/>
  </p:normalViewPr>
  <p:slideViewPr>
    <p:cSldViewPr snapToGrid="0" snapToObjects="1">
      <p:cViewPr varScale="1">
        <p:scale>
          <a:sx n="69" d="100"/>
          <a:sy n="69" d="100"/>
        </p:scale>
        <p:origin x="49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单词缩减与转换分别为：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）缩减为词根形式：</a:t>
            </a:r>
            <a:r>
              <a:rPr lang="en-US" altLang="zh-CN" dirty="0" smtClean="0"/>
              <a:t>car</a:t>
            </a:r>
            <a:r>
              <a:rPr lang="en-US" altLang="zh-CN" baseline="0" dirty="0" smtClean="0"/>
              <a:t>s </a:t>
            </a:r>
            <a:r>
              <a:rPr lang="en-US" altLang="zh-CN" baseline="0" dirty="0" smtClean="0">
                <a:sym typeface="Wingdings" charset="2"/>
              </a:rPr>
              <a:t></a:t>
            </a:r>
            <a:r>
              <a:rPr lang="zh-CN" altLang="en-US" baseline="0" dirty="0" smtClean="0">
                <a:sym typeface="Wingdings" charset="2"/>
              </a:rPr>
              <a:t> </a:t>
            </a:r>
            <a:r>
              <a:rPr lang="en-US" altLang="zh-CN" baseline="0" dirty="0" smtClean="0">
                <a:sym typeface="Wingdings" charset="2"/>
              </a:rPr>
              <a:t>car</a:t>
            </a:r>
            <a:r>
              <a:rPr lang="zh-CN" altLang="en-US" baseline="0" dirty="0" smtClean="0">
                <a:sym typeface="Wingdings" charset="2"/>
              </a:rPr>
              <a:t>，这种称为</a:t>
            </a:r>
            <a:r>
              <a:rPr lang="en-US" altLang="zh-CN" baseline="0" dirty="0" smtClean="0">
                <a:sym typeface="Wingdings" charset="2"/>
              </a:rPr>
              <a:t>stemming</a:t>
            </a:r>
            <a:endParaRPr lang="en-US" altLang="zh-CN" baseline="0" dirty="0" smtClean="0">
              <a:sym typeface="Wingdings" charset="2"/>
            </a:endParaRP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）转变为词根形式：</a:t>
            </a:r>
            <a:r>
              <a:rPr lang="en-US" altLang="zh-CN" dirty="0" smtClean="0"/>
              <a:t>drove</a:t>
            </a:r>
            <a:r>
              <a:rPr lang="en-US" altLang="zh-CN" baseline="0" dirty="0" smtClean="0"/>
              <a:t> </a:t>
            </a:r>
            <a:r>
              <a:rPr lang="en-US" altLang="zh-CN" baseline="0" dirty="0" smtClean="0">
                <a:sym typeface="Wingdings" charset="2"/>
              </a:rPr>
              <a:t> drive</a:t>
            </a:r>
            <a:r>
              <a:rPr lang="zh-CN" altLang="en-US" baseline="0" dirty="0" smtClean="0">
                <a:sym typeface="Wingdings" charset="2"/>
              </a:rPr>
              <a:t>，这种称为</a:t>
            </a:r>
            <a:r>
              <a:rPr lang="en-US" altLang="zh-CN" baseline="0" dirty="0" smtClean="0">
                <a:sym typeface="Wingdings" charset="2"/>
              </a:rPr>
              <a:t>lemmatization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charset="0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charset="0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charset="0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tif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全文检索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什么叫全文检索？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数据的种类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结构化数据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非结构化数据：</a:t>
            </a:r>
            <a:r>
              <a:rPr kumimoji="1" lang="zh-CN" altLang="en-US" b="1" dirty="0" smtClean="0"/>
              <a:t>也叫全文数据，</a:t>
            </a:r>
            <a:r>
              <a:rPr kumimoji="1" lang="zh-CN" altLang="en-US" dirty="0" smtClean="0"/>
              <a:t>不定长、无固定格式，如邮件，</a:t>
            </a:r>
            <a:r>
              <a:rPr kumimoji="1" lang="en-US" altLang="zh-CN" dirty="0" smtClean="0"/>
              <a:t>word</a:t>
            </a:r>
            <a:r>
              <a:rPr kumimoji="1" lang="zh-CN" altLang="en-US" dirty="0" smtClean="0"/>
              <a:t>文档等。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有了数据，常用的一个操作是在数据中进行搜索。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对结构化数据的搜索：如数据库中使用</a:t>
            </a:r>
            <a:r>
              <a:rPr kumimoji="1" lang="en-US" altLang="zh-CN" dirty="0" smtClean="0"/>
              <a:t>SQL</a:t>
            </a:r>
            <a:r>
              <a:rPr kumimoji="1" lang="zh-CN" altLang="en-US" dirty="0" smtClean="0"/>
              <a:t>进行搜索，由于具有一定结构，可通过算法达到好的搜索性能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对非结构化数据的搜索：如</a:t>
            </a:r>
            <a:r>
              <a:rPr kumimoji="1" lang="en-US" altLang="zh-CN" dirty="0" smtClean="0"/>
              <a:t>windows</a:t>
            </a:r>
            <a:r>
              <a:rPr kumimoji="1" lang="zh-CN" altLang="en-US" dirty="0" smtClean="0"/>
              <a:t>下搜索文件内容，</a:t>
            </a:r>
            <a:r>
              <a:rPr kumimoji="1" lang="en-US" altLang="zh-CN" dirty="0" err="1" smtClean="0"/>
              <a:t>linux</a:t>
            </a:r>
            <a:r>
              <a:rPr kumimoji="1" lang="zh-CN" altLang="en-US" dirty="0" smtClean="0"/>
              <a:t>下的</a:t>
            </a:r>
            <a:r>
              <a:rPr kumimoji="1" lang="en-US" altLang="zh-CN" dirty="0" err="1" smtClean="0"/>
              <a:t>grep</a:t>
            </a:r>
            <a:r>
              <a:rPr kumimoji="1" lang="zh-CN" altLang="en-US" dirty="0" smtClean="0"/>
              <a:t>等</a:t>
            </a:r>
            <a:endParaRPr kumimoji="1" lang="en-US" altLang="zh-CN" dirty="0" smtClean="0"/>
          </a:p>
          <a:p>
            <a:pPr marL="457200" lvl="1" indent="0">
              <a:buNone/>
            </a:pPr>
            <a:r>
              <a:rPr kumimoji="1" lang="zh-CN" altLang="en-US" dirty="0" smtClean="0"/>
              <a:t>对于非结构化数据的搜索，一个最基本的思路是顺序扫描（</a:t>
            </a:r>
            <a:r>
              <a:rPr kumimoji="1" lang="en-US" altLang="zh-CN" dirty="0" smtClean="0"/>
              <a:t>Serial Scanning</a:t>
            </a:r>
            <a:r>
              <a:rPr kumimoji="1" lang="zh-CN" altLang="en-US" dirty="0" smtClean="0"/>
              <a:t>），即逐个文件从头到尾扫描。很容易想到的是，对于较大量的文件，搜索会很慢。</a:t>
            </a:r>
            <a:endParaRPr kumimoji="1" lang="en-US" altLang="zh-CN" dirty="0" smtClean="0"/>
          </a:p>
          <a:p>
            <a:pPr marL="457200" lvl="1" indent="0">
              <a:buNone/>
            </a:pPr>
            <a:r>
              <a:rPr kumimoji="1" lang="zh-CN" altLang="en-US" sz="3200" b="1" dirty="0" smtClean="0"/>
              <a:t>如何提高非结构化数据的搜索效率？</a:t>
            </a:r>
            <a:endParaRPr kumimoji="1" lang="en-US" altLang="zh-CN" sz="3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什么叫全文</a:t>
            </a:r>
            <a:r>
              <a:rPr kumimoji="1" lang="zh-CN" altLang="en-US" dirty="0"/>
              <a:t>检索</a:t>
            </a:r>
            <a:r>
              <a:rPr kumimoji="1" lang="zh-CN" altLang="en-US" dirty="0" smtClean="0"/>
              <a:t>？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38097" y="2396116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dirty="0" smtClean="0"/>
              <a:t>先思考一个问题：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pPr marL="0" indent="0" algn="ctr">
              <a:buNone/>
            </a:pPr>
            <a:r>
              <a:rPr kumimoji="1" lang="zh-CN" altLang="en-US" sz="4000" dirty="0" smtClean="0"/>
              <a:t>为什么结构化数据搜索可以很快？</a:t>
            </a:r>
            <a:endParaRPr kumimoji="1"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什么叫全文索引？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67934" y="2617789"/>
            <a:ext cx="8596668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zh-CN" altLang="en-US" sz="8000" dirty="0" smtClean="0"/>
              <a:t>结    构 ！</a:t>
            </a:r>
            <a:endParaRPr kumimoji="1" lang="en-US" altLang="zh-CN" sz="8000" dirty="0" smtClean="0"/>
          </a:p>
          <a:p>
            <a:pPr marL="0" indent="0">
              <a:buNone/>
            </a:pPr>
            <a:endParaRPr kumimoji="1" lang="en-US" altLang="zh-CN" sz="1600" dirty="0" smtClean="0"/>
          </a:p>
          <a:p>
            <a:pPr marL="0" indent="0">
              <a:buNone/>
            </a:pPr>
            <a:endParaRPr kumimoji="1" lang="en-US" altLang="zh-CN" sz="1600" dirty="0"/>
          </a:p>
          <a:p>
            <a:pPr marL="0" indent="0" algn="ctr">
              <a:buNone/>
            </a:pPr>
            <a:r>
              <a:rPr kumimoji="1" lang="zh-CN" altLang="en-US" sz="2000" dirty="0" smtClean="0"/>
              <a:t>有了结构，可以设计高效的搜索算法，达到很高的性能。</a:t>
            </a:r>
            <a:endParaRPr kumimoji="1"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什么叫全文索引？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 smtClean="0"/>
              <a:t>那么很自然地就会想到，能不能将非结构化的数据也弄得有一定的结构呢？</a:t>
            </a:r>
            <a:endParaRPr kumimoji="1" lang="en-US" altLang="zh-CN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 smtClean="0"/>
              <a:t>这种想法，也就构成了全文检索的基本思路：将非结构化数据中的一部分信息提取出来，重新组织，使其变得有一定的结构，然后对此有一定结构的数据进行搜索，从而提高搜索速度。</a:t>
            </a:r>
            <a:endParaRPr kumimoji="1" lang="en-US" altLang="zh-CN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 smtClean="0"/>
              <a:t>这种从非结构化数据中提取出来然后重新组织的信息，称之为</a:t>
            </a:r>
            <a:r>
              <a:rPr kumimoji="1" lang="zh-CN" altLang="en-US" b="1" dirty="0" smtClean="0"/>
              <a:t>索引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 smtClean="0"/>
              <a:t>字典就是一个典型的例子。</a:t>
            </a:r>
            <a:endParaRPr kumimoji="1" lang="en-US" altLang="zh-CN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dirty="0" smtClean="0"/>
              <a:t>这种先建立索引，再对索引进行搜索的过程就叫</a:t>
            </a:r>
            <a:r>
              <a:rPr kumimoji="1" lang="zh-CN" altLang="en-US" b="1" dirty="0" smtClean="0">
                <a:solidFill>
                  <a:srgbClr val="0070C0"/>
                </a:solidFill>
              </a:rPr>
              <a:t>全文检索（</a:t>
            </a:r>
            <a:r>
              <a:rPr kumimoji="1" lang="en-US" altLang="zh-CN" b="1" dirty="0" smtClean="0">
                <a:solidFill>
                  <a:srgbClr val="0070C0"/>
                </a:solidFill>
              </a:rPr>
              <a:t>Full-text Search</a:t>
            </a:r>
            <a:r>
              <a:rPr kumimoji="1" lang="zh-CN" altLang="en-US" b="1" dirty="0" smtClean="0">
                <a:solidFill>
                  <a:srgbClr val="0070C0"/>
                </a:solidFill>
              </a:rPr>
              <a:t>）</a:t>
            </a:r>
            <a:r>
              <a:rPr kumimoji="1" lang="zh-CN" altLang="en-US" b="1" dirty="0" smtClean="0"/>
              <a:t>。</a:t>
            </a:r>
            <a:endParaRPr kumimoji="1"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全文检索的一般过程</a:t>
            </a:r>
            <a:endParaRPr kumimoji="1"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73857" y="2160588"/>
            <a:ext cx="4404324" cy="388143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48245" y="2160905"/>
            <a:ext cx="2735580" cy="9163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altLang="zh-CN" dirty="0"/>
              <a:t>全文检索的两个过程：</a:t>
            </a:r>
            <a:endParaRPr lang="x-none" altLang="zh-CN" dirty="0"/>
          </a:p>
          <a:p>
            <a:pPr marL="285750" indent="-285750">
              <a:buFont typeface="Arial" charset="0"/>
              <a:buChar char="•"/>
            </a:pPr>
            <a:r>
              <a:rPr lang="x-none" altLang="zh-CN" dirty="0"/>
              <a:t>索引创建（Indexing）</a:t>
            </a:r>
            <a:endParaRPr lang="x-none" altLang="zh-CN" dirty="0"/>
          </a:p>
          <a:p>
            <a:pPr marL="285750" indent="-285750">
              <a:buFont typeface="Arial" charset="0"/>
              <a:buChar char="•"/>
            </a:pPr>
            <a:r>
              <a:rPr lang="x-none" altLang="zh-CN" dirty="0"/>
              <a:t>搜索索引（Searching）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全文检索的三个重要问题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索引里究竟存些什么？（</a:t>
            </a:r>
            <a:r>
              <a:rPr lang="en-US" altLang="zh-CN" dirty="0" smtClean="0"/>
              <a:t>Index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如何创建索引？（</a:t>
            </a:r>
            <a:r>
              <a:rPr lang="en-US" altLang="zh-CN" dirty="0" smtClean="0"/>
              <a:t>Indexing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如何对索引进行搜索？（</a:t>
            </a:r>
            <a:r>
              <a:rPr lang="en-US" altLang="zh-CN" dirty="0" smtClean="0"/>
              <a:t>Search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索引里面究竟存些什么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非结构化数据中所存储的信息是每个文件包含哪些字符串，即从文件到字符串的映射。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而我们想搜索的是哪些文件包含已知字符串，即从字符串到文件的映射。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两者恰恰相反。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如果索引能保存从字符串到文件的映射 ，则会大大提高搜索速度。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由于从字符串到文件的映射是文件到字符串映射的反向过程，于是保存这种信息的索引称为</a:t>
            </a:r>
            <a:r>
              <a:rPr lang="zh-CN" altLang="en-US" b="1" dirty="0" smtClean="0"/>
              <a:t>反向索引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索引里面究竟存些什么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zh-CN" altLang="en-US" dirty="0" smtClean="0"/>
              <a:t>反射索引中主要包含两大部分：词典和倒排</a:t>
            </a:r>
            <a:r>
              <a:rPr lang="x-none" altLang="zh-CN" dirty="0" smtClean="0"/>
              <a:t>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一个简单的反向索引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889" y="2697049"/>
            <a:ext cx="7524750" cy="2133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992005" y="2551837"/>
            <a:ext cx="2135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倒排表中是包含词典项的文档链表。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89" y="5118889"/>
            <a:ext cx="7639050" cy="962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92005" y="4953570"/>
            <a:ext cx="213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当有多个搜索条件时，可对链表进行合并。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如何创建索引</a:t>
            </a:r>
            <a:endParaRPr lang="zh-CN" altLang="en-US" dirty="0"/>
          </a:p>
        </p:txBody>
      </p:sp>
      <p:pic>
        <p:nvPicPr>
          <p:cNvPr id="4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38720" y="2115066"/>
            <a:ext cx="5574633" cy="388143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7127" y="1745734"/>
            <a:ext cx="35030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以下是一个创建索引和搜索的基本流程图。</a:t>
            </a:r>
            <a:endParaRPr lang="en-US" altLang="zh-CN" dirty="0" smtClean="0"/>
          </a:p>
          <a:p>
            <a:r>
              <a:rPr lang="zh-CN" altLang="en-US" dirty="0" smtClean="0"/>
              <a:t>可见创建索引需要解决源文件分析、索引创建、索引存储等几个基本问题。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如何创建索引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7334" y="2062487"/>
            <a:ext cx="6367410" cy="1038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686579"/>
            <a:ext cx="6367410" cy="714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5" y="5270150"/>
            <a:ext cx="6367410" cy="628650"/>
          </a:xfrm>
          <a:prstGeom prst="rect">
            <a:avLst/>
          </a:prstGeom>
        </p:spPr>
      </p:pic>
      <p:sp>
        <p:nvSpPr>
          <p:cNvPr id="7" name="右弧形箭头 6"/>
          <p:cNvSpPr/>
          <p:nvPr/>
        </p:nvSpPr>
        <p:spPr>
          <a:xfrm>
            <a:off x="7044745" y="2434107"/>
            <a:ext cx="605306" cy="151970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右弧形箭头 7"/>
          <p:cNvSpPr/>
          <p:nvPr/>
        </p:nvSpPr>
        <p:spPr>
          <a:xfrm>
            <a:off x="7044745" y="4149289"/>
            <a:ext cx="605306" cy="151970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65961" y="2760907"/>
            <a:ext cx="2640169" cy="8661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Tokenizer</a:t>
            </a:r>
            <a:r>
              <a:rPr lang="zh-CN" altLang="en-US" dirty="0" smtClean="0"/>
              <a:t>（分词组件）：分单词、去标点、去停词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7765961" y="4476089"/>
            <a:ext cx="2640169" cy="8661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Linguistic Processor</a:t>
            </a:r>
            <a:r>
              <a:rPr lang="zh-CN" altLang="en-US" dirty="0" smtClean="0"/>
              <a:t>（语言处理组件）：转小写、单词缩减与转换</a:t>
            </a:r>
            <a:endParaRPr lang="zh-CN" altLang="en-US" dirty="0"/>
          </a:p>
        </p:txBody>
      </p:sp>
      <p:sp>
        <p:nvSpPr>
          <p:cNvPr id="16" name="圆角矩形 15"/>
          <p:cNvSpPr/>
          <p:nvPr/>
        </p:nvSpPr>
        <p:spPr>
          <a:xfrm>
            <a:off x="2198493" y="1681115"/>
            <a:ext cx="3325091" cy="2908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要索引的原文件（</a:t>
            </a:r>
            <a:r>
              <a:rPr lang="en-US" altLang="zh-CN"/>
              <a:t>Document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3013721" y="3288300"/>
            <a:ext cx="1694634" cy="2908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词元（</a:t>
            </a:r>
            <a:r>
              <a:rPr lang="en-US" altLang="zh-CN" dirty="0" smtClean="0"/>
              <a:t>Token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8" name="圆角矩形 17"/>
          <p:cNvSpPr/>
          <p:nvPr/>
        </p:nvSpPr>
        <p:spPr>
          <a:xfrm>
            <a:off x="3089923" y="4896171"/>
            <a:ext cx="1542234" cy="2908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词（</a:t>
            </a:r>
            <a:r>
              <a:rPr lang="en-US" altLang="zh-CN" dirty="0" smtClean="0"/>
              <a:t>Term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9" name="下箭头 18"/>
          <p:cNvSpPr/>
          <p:nvPr/>
        </p:nvSpPr>
        <p:spPr>
          <a:xfrm>
            <a:off x="5846618" y="6096000"/>
            <a:ext cx="665018" cy="6650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7334" y="2276756"/>
            <a:ext cx="3821025" cy="388143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938" y="1310983"/>
            <a:ext cx="4848225" cy="44291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10518" y="193513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利用得到的词创建一个字典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743724" y="84573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对字典按字母顺序进行排序</a:t>
            </a:r>
            <a:endParaRPr lang="zh-CN" altLang="en-US" dirty="0"/>
          </a:p>
        </p:txBody>
      </p:sp>
      <p:sp>
        <p:nvSpPr>
          <p:cNvPr id="9" name="右箭头 8"/>
          <p:cNvSpPr/>
          <p:nvPr/>
        </p:nvSpPr>
        <p:spPr>
          <a:xfrm>
            <a:off x="4548962" y="3906982"/>
            <a:ext cx="1247976" cy="493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7931727" y="5836023"/>
            <a:ext cx="734291" cy="8866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1704109" y="761991"/>
            <a:ext cx="748146" cy="10390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78328" y="1454005"/>
            <a:ext cx="7458400" cy="507332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76545" y="1052945"/>
            <a:ext cx="3661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得到文档倒排（</a:t>
            </a:r>
            <a:r>
              <a:rPr lang="en-US" altLang="zh-CN" dirty="0" smtClean="0"/>
              <a:t>Posting List</a:t>
            </a:r>
            <a:r>
              <a:rPr lang="zh-CN" altLang="en-US" dirty="0" smtClean="0"/>
              <a:t>）链表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如何对索引进行搜索</a:t>
            </a:r>
            <a:endParaRPr lang="zh-CN" altLang="en-US" dirty="0"/>
          </a:p>
        </p:txBody>
      </p:sp>
      <p:pic>
        <p:nvPicPr>
          <p:cNvPr id="8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81260" y="1930400"/>
            <a:ext cx="5574633" cy="388143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25237" y="2202873"/>
            <a:ext cx="2687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右图中的蓝色线所连接起来的就是搜索的基本步骤。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如何对索引进行搜索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758795"/>
            <a:ext cx="5884525" cy="4863677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b="1" dirty="0" smtClean="0"/>
              <a:t>Step 1</a:t>
            </a:r>
            <a:r>
              <a:rPr lang="zh-CN" altLang="en-US" b="1" dirty="0" smtClean="0"/>
              <a:t>：用户输入查询语句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如：</a:t>
            </a:r>
            <a:r>
              <a:rPr lang="en-US" altLang="zh-CN" dirty="0" smtClean="0"/>
              <a:t>lucence </a:t>
            </a:r>
            <a:r>
              <a:rPr lang="en-US" altLang="zh-CN" dirty="0"/>
              <a:t>AND learned NOT </a:t>
            </a:r>
            <a:r>
              <a:rPr lang="en-US" altLang="zh-CN" dirty="0" smtClean="0"/>
              <a:t>Hadoop</a:t>
            </a:r>
            <a:endParaRPr lang="en-US" altLang="zh-CN" dirty="0" smtClean="0"/>
          </a:p>
          <a:p>
            <a:r>
              <a:rPr lang="en-US" altLang="zh-CN" b="1" dirty="0" smtClean="0"/>
              <a:t>Step 2: </a:t>
            </a:r>
            <a:r>
              <a:rPr lang="zh-CN" altLang="en-US" b="1" dirty="0" smtClean="0"/>
              <a:t>查询语句处理</a:t>
            </a:r>
            <a:endParaRPr lang="en-US" altLang="zh-CN" b="1" dirty="0" smtClean="0"/>
          </a:p>
          <a:p>
            <a:pPr lvl="1"/>
            <a:r>
              <a:rPr lang="zh-CN" altLang="en-US" dirty="0" smtClean="0"/>
              <a:t>词法分析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主要用来识别单词和关键字，关键字如</a:t>
            </a:r>
            <a:r>
              <a:rPr lang="en-US" altLang="zh-CN" dirty="0" smtClean="0"/>
              <a:t>ANT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NOT</a:t>
            </a:r>
            <a:r>
              <a:rPr lang="zh-CN" altLang="en-US" dirty="0" smtClean="0"/>
              <a:t>等。出现不合法的关键字则要报错。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语法分析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根据查询语句的语法规则形成一棵语法树。不符合语法规则则报错。</a:t>
            </a:r>
            <a:endParaRPr lang="en-US" altLang="zh-CN" dirty="0"/>
          </a:p>
          <a:p>
            <a:pPr lvl="1"/>
            <a:r>
              <a:rPr lang="zh-CN" altLang="en-US" dirty="0" smtClean="0"/>
              <a:t>语言处理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与创建索引几乎相同，包含单词的转换等</a:t>
            </a:r>
            <a:endParaRPr lang="en-US" altLang="zh-CN" dirty="0" smtClean="0"/>
          </a:p>
          <a:p>
            <a:r>
              <a:rPr lang="en-US" altLang="zh-CN" dirty="0" smtClean="0"/>
              <a:t>Step 3: </a:t>
            </a:r>
            <a:r>
              <a:rPr lang="zh-CN" altLang="en-US" dirty="0" smtClean="0"/>
              <a:t>搜索索引，得到符合语法树的文档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先分别找出符合各条件的文档链表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按语法树对文档链表进行合并</a:t>
            </a:r>
            <a:endParaRPr lang="en-US" altLang="zh-CN" dirty="0" smtClean="0"/>
          </a:p>
          <a:p>
            <a:r>
              <a:rPr lang="en-US" altLang="zh-CN" dirty="0" smtClean="0"/>
              <a:t>Step 4: </a:t>
            </a:r>
            <a:r>
              <a:rPr lang="zh-CN" altLang="en-US" dirty="0" smtClean="0"/>
              <a:t>根据得到的文档和查询语句的相关性，对结果进行排序。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通过权重计算，相关性打分等来处理。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5926" y="1675670"/>
            <a:ext cx="4310638" cy="21066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926" y="4080152"/>
            <a:ext cx="4379055" cy="2057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Lucene</a:t>
            </a:r>
            <a:r>
              <a:rPr kumimoji="1" lang="zh-CN" altLang="en-US" dirty="0" smtClean="0"/>
              <a:t>是什么？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Lucene</a:t>
            </a:r>
            <a:r>
              <a:rPr kumimoji="1" lang="zh-CN" altLang="en-US" dirty="0" smtClean="0"/>
              <a:t>是一个</a:t>
            </a:r>
            <a:r>
              <a:rPr kumimoji="1" lang="zh-CN" altLang="en-US" b="1" dirty="0" smtClean="0"/>
              <a:t>高效的</a:t>
            </a:r>
            <a:r>
              <a:rPr kumimoji="1" lang="zh-CN" altLang="en-US" dirty="0" smtClean="0"/>
              <a:t>、</a:t>
            </a:r>
            <a:r>
              <a:rPr kumimoji="1" lang="zh-CN" altLang="en-US" b="1" dirty="0" smtClean="0"/>
              <a:t>基于</a:t>
            </a:r>
            <a:r>
              <a:rPr kumimoji="1" lang="en-US" altLang="zh-CN" b="1" dirty="0" smtClean="0"/>
              <a:t>Java</a:t>
            </a:r>
            <a:r>
              <a:rPr kumimoji="1" lang="zh-CN" altLang="en-US" dirty="0" smtClean="0"/>
              <a:t>的</a:t>
            </a:r>
            <a:r>
              <a:rPr kumimoji="1" lang="zh-CN" altLang="en-US" b="1" dirty="0" smtClean="0">
                <a:solidFill>
                  <a:srgbClr val="FF0000"/>
                </a:solidFill>
              </a:rPr>
              <a:t>全文检索库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Lucene的总体架构</a:t>
            </a:r>
            <a:endParaRPr lang="x-none" altLang="zh-CN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33420" y="1677670"/>
            <a:ext cx="5421630" cy="47783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zh-CN"/>
              <a:t>Lucene的总体架构</a:t>
            </a:r>
            <a:endParaRPr lang="x-none" altLang="zh-CN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24088" y="1938919"/>
            <a:ext cx="6059695" cy="388143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63595" y="6026728"/>
            <a:ext cx="3180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应用程序和</a:t>
            </a:r>
            <a:r>
              <a:rPr lang="en-US" altLang="zh-CN" dirty="0" err="1" smtClean="0"/>
              <a:t>lucene</a:t>
            </a:r>
            <a:r>
              <a:rPr lang="zh-CN" altLang="en-US" dirty="0" smtClean="0"/>
              <a:t>之间的关系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Lucene的各组件</a:t>
            </a:r>
            <a:endParaRPr lang="x-none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53230" y="1663700"/>
            <a:ext cx="7352665" cy="47650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5640" y="1908175"/>
            <a:ext cx="3567430" cy="47567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charset="0"/>
              <a:buChar char="•"/>
            </a:pPr>
            <a:r>
              <a:rPr lang="x-none" altLang="zh-CN"/>
              <a:t>被索引的文档用Document对象表示。</a:t>
            </a:r>
            <a:endParaRPr lang="x-none" altLang="zh-CN"/>
          </a:p>
          <a:p>
            <a:pPr marL="285750" indent="-285750">
              <a:buFont typeface="Arial" charset="0"/>
              <a:buChar char="•"/>
            </a:pPr>
            <a:r>
              <a:rPr lang="x-none" altLang="zh-CN"/>
              <a:t>IndexWriter通过addDocument将文档添加到索引中，实现创建索引过程。Lucene的索引是应用反向索引。</a:t>
            </a:r>
            <a:endParaRPr lang="x-none" altLang="zh-CN"/>
          </a:p>
          <a:p>
            <a:pPr marL="285750" indent="-285750">
              <a:buFont typeface="Arial" charset="0"/>
              <a:buChar char="•"/>
            </a:pPr>
            <a:r>
              <a:rPr lang="x-none" altLang="zh-CN"/>
              <a:t>当有用户请求时，Query代表用户的查询语句。</a:t>
            </a:r>
            <a:endParaRPr lang="x-none" altLang="zh-CN"/>
          </a:p>
          <a:p>
            <a:pPr marL="285750" indent="-285750">
              <a:buFont typeface="Arial" charset="0"/>
              <a:buChar char="•"/>
            </a:pPr>
            <a:r>
              <a:rPr lang="x-none" altLang="zh-CN"/>
              <a:t>IndexSearcher通过search搜索Lucene Index。</a:t>
            </a:r>
            <a:endParaRPr lang="x-none" altLang="zh-CN"/>
          </a:p>
          <a:p>
            <a:pPr marL="285750" indent="-285750">
              <a:buFont typeface="Arial" charset="0"/>
              <a:buChar char="•"/>
            </a:pPr>
            <a:r>
              <a:rPr lang="x-none" altLang="zh-CN"/>
              <a:t>IndexSearcher计算term weight和score并且将结果返回给用户。返回给用户的文档集合用TopDocsCollector表示。</a:t>
            </a:r>
            <a:endParaRPr lang="x-none" altLang="zh-CN"/>
          </a:p>
          <a:p>
            <a:endParaRPr lang="x-none" altLang="zh-CN"/>
          </a:p>
          <a:p>
            <a:endParaRPr lang="x-none" altLang="zh-CN"/>
          </a:p>
          <a:p>
            <a:endParaRPr lang="x-none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>
                <a:sym typeface="+mn-ea"/>
              </a:rPr>
              <a:t>全文检索流程对应的Lucene实现的包结构</a:t>
            </a:r>
            <a:endParaRPr lang="x-none" altLang="zh-CN"/>
          </a:p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07640" y="1930400"/>
            <a:ext cx="5946140" cy="38804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Lucene API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x-none" altLang="zh-CN"/>
              <a:t>Lucene的API分布在以下几个包中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org.apache.lucene.analysis 主要负责词法分析及语言处理而形成Term，即对文档进行分词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提供抽象的Analyzer API，将从Reader读到的文本转换为TokenStream，完成分析。包含Tokenizer，TokenFilters，analyzers-common中提供了基于分析器的实现，如StopAnalyzer及基于语法的StandardAnalyzer。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org.apache.lucene.codecs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org.apache.lucene.document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提供一些封装需要索引的文档所需要的类，如Document，Field。每个文档最终被封装成了一个Document对象。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org.apache.lucene.index 主要负责索引的创建和更新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提供两个主要的类：IndexWriter和IndexReader，用于对索引数据的访问。</a:t>
            </a:r>
            <a:endParaRPr lang="x-none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>
                <a:sym typeface="+mn-ea"/>
              </a:rPr>
              <a:t>Lucene API</a:t>
            </a:r>
            <a:endParaRPr lang="x-none" altLang="zh-CN"/>
          </a:p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x-none" altLang="zh-CN">
                <a:sym typeface="+mn-ea"/>
              </a:rPr>
              <a:t>org.apache.lucene.QueryParser 主要负责语法分析</a:t>
            </a:r>
            <a:endParaRPr lang="x-none" altLang="zh-CN">
              <a:sym typeface="+mn-ea"/>
            </a:endParaRPr>
          </a:p>
          <a:p>
            <a:pPr marL="0" indent="0">
              <a:buNone/>
            </a:pPr>
            <a:r>
              <a:rPr lang="x-none" altLang="zh-CN">
                <a:sym typeface="+mn-ea"/>
              </a:rPr>
              <a:t>org.apache.lucene.search 主要负责对索引的搜索</a:t>
            </a:r>
            <a:endParaRPr lang="x-none" altLang="zh-CN"/>
          </a:p>
          <a:p>
            <a:pPr marL="0" indent="0">
              <a:buNone/>
            </a:pPr>
            <a:r>
              <a:rPr lang="x-none" altLang="zh-CN">
                <a:sym typeface="+mn-ea"/>
              </a:rPr>
              <a:t>提供用于表示查询的数据结构，将查询转变为TopDocs的IndexSearcher类，一批将查询转化为数据结构的QueryParsers。</a:t>
            </a:r>
            <a:endParaRPr lang="x-none" altLang="zh-CN"/>
          </a:p>
          <a:p>
            <a:pPr marL="0" indent="0">
              <a:buNone/>
            </a:pPr>
            <a:r>
              <a:rPr lang="x-none" altLang="zh-CN">
                <a:sym typeface="+mn-ea"/>
              </a:rPr>
              <a:t>org.apache.lucene.store 主要负责索引的读写</a:t>
            </a:r>
            <a:endParaRPr lang="x-none" altLang="zh-CN"/>
          </a:p>
          <a:p>
            <a:pPr marL="0" indent="0">
              <a:buNone/>
            </a:pPr>
            <a:r>
              <a:rPr lang="x-none" altLang="zh-CN">
                <a:sym typeface="+mn-ea"/>
              </a:rPr>
              <a:t>定义用于存储持久化数据的抽象类Directory。它是一些命名文件的集合，被IndexOutput和IndexInput读写。有多种实现形式，如FSDirectory，RAMDirectory，MMapDirectory等。 </a:t>
            </a:r>
            <a:endParaRPr lang="x-none" altLang="zh-CN"/>
          </a:p>
          <a:p>
            <a:pPr marL="0" indent="0">
              <a:buNone/>
            </a:pPr>
            <a:r>
              <a:rPr lang="x-none" altLang="zh-CN">
                <a:sym typeface="+mn-ea"/>
              </a:rPr>
              <a:t>org.apache.lucene.util</a:t>
            </a:r>
            <a:endParaRPr lang="x-none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Lucene索引的创建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x-none" altLang="zh-CN"/>
              <a:t>索引的创建需要一个目录，即存储索引的目录，可以是基于文件系统的，也可以是基于内存的。</a:t>
            </a:r>
            <a:endParaRPr lang="x-none" altLang="zh-CN"/>
          </a:p>
          <a:p>
            <a:pPr lvl="1"/>
            <a:r>
              <a:rPr lang="x-none" altLang="zh-CN"/>
              <a:t>内存型索引不适用于太大的索引，会造成资源浪费（GC），且易失</a:t>
            </a:r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大的索引推荐物化到磁盘，并使用MMapDirectory（基于mmap读，基于FSDirectory.FSIndexOutput写）</a:t>
            </a:r>
            <a:endParaRPr lang="x-none" altLang="zh-CN"/>
          </a:p>
          <a:p>
            <a:pPr marL="457200" lvl="1" indent="0">
              <a:buNone/>
            </a:pPr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有了索引目录后，可构建IndexWriter，用它来向索引中添加文档。</a:t>
            </a:r>
            <a:endParaRPr lang="x-none" altLang="zh-CN"/>
          </a:p>
          <a:p>
            <a:pPr marL="457200" lvl="1" indent="0">
              <a:buNone/>
            </a:pPr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文档需要构建成Document对象，Document可以是一个HTML页面，一篇文档，一封电子邮件等。它可以包含多个可以被索引的字段（IndexableFields）。</a:t>
            </a:r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Document由用户程序进行构建，因此需要完全负责需要处理的文件到Lucene Document的转换，如word，txt，PDF，Excel等。</a:t>
            </a:r>
            <a:endParaRPr lang="x-none" altLang="zh-CN"/>
          </a:p>
          <a:p>
            <a:pPr marL="457200" lvl="1" indent="0">
              <a:buNone/>
            </a:pPr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这里还要考虑中文分词的问题</a:t>
            </a:r>
            <a:endParaRPr lang="x-none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Lucene索引的检索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zh-CN"/>
              <a:t>进行记法、语法分析及语言处理，然后搜索索引，得到符合语法的文档，再根据相关性对结果进行排序。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	该过程中通过IndexReader读取索引，并创建IndexSearcher对象；通过	QueryParser并使用Analyzer对查询语句进行分析，最后调用Searcher.search方	法进行查询。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	Lucene支持单Field查询，多Field查询，逻辑组合查询，模糊查询，范围查询，	通配符查询等。</a:t>
            </a:r>
            <a:endParaRPr lang="x-none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示例</a:t>
            </a:r>
            <a:endParaRPr lang="x-none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02050" y="1643380"/>
            <a:ext cx="7844790" cy="49999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Lucene索引的更新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zh-CN"/>
              <a:t>Lucene索引的更新是通过索引的删除和新增的组合来实现的。</a:t>
            </a:r>
            <a:endParaRPr lang="x-none" altLang="zh-CN"/>
          </a:p>
          <a:p>
            <a:pPr marL="0" indent="0">
              <a:buNone/>
            </a:pPr>
            <a:r>
              <a:rPr lang="x-none" altLang="zh-CN"/>
              <a:t>	调用IndexWriter的updateDocument方法，它接受两个参数，第一个Term词向	量，用来确定需要删除的文档，第二个为新增的文档，可以是单个，也可以是	多个。</a:t>
            </a:r>
            <a:endParaRPr lang="x-none" altLang="zh-CN"/>
          </a:p>
          <a:p>
            <a:pPr marL="0" indent="0">
              <a:buNone/>
            </a:pPr>
            <a:endParaRPr lang="x-none" altLang="zh-CN"/>
          </a:p>
          <a:p>
            <a:pPr marL="0" indent="0">
              <a:buNone/>
            </a:pPr>
            <a:r>
              <a:rPr lang="x-none" altLang="zh-CN"/>
              <a:t>	writer.updateDocument(new Term("path", file.getPath()), doc);</a:t>
            </a:r>
            <a:endParaRPr lang="x-none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Lucene索引的删除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zh-CN"/>
              <a:t>Lucene索引的删除可以根据Query对象来删除，也可以根据Term来删除，也可以一次删除全部索引。</a:t>
            </a:r>
            <a:endParaRPr lang="x-none" altLang="zh-CN"/>
          </a:p>
          <a:p>
            <a:pPr lvl="1"/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//根据Term删除</a:t>
            </a:r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writer.deleteDocuments(new Term("path", file.getPath()));</a:t>
            </a:r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//删除全部索引</a:t>
            </a:r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writer.deleteAll();</a:t>
            </a:r>
            <a:endParaRPr lang="x-none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索引更新示例</a:t>
            </a:r>
            <a:endParaRPr lang="x-none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23740" y="299085"/>
            <a:ext cx="7218680" cy="63207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基于Lucene开发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285750" indent="-285750"/>
            <a:r>
              <a:rPr lang="x-none" altLang="zh-CN"/>
              <a:t>使用JAVA开发</a:t>
            </a:r>
            <a:endParaRPr lang="x-none" altLang="zh-CN"/>
          </a:p>
          <a:p>
            <a:pPr marL="285750" indent="-285750"/>
            <a:r>
              <a:rPr lang="x-none" altLang="zh-CN"/>
              <a:t>需要自己处理需要索引的原始文档到Document的转换</a:t>
            </a:r>
            <a:endParaRPr lang="x-none" altLang="zh-CN"/>
          </a:p>
          <a:p>
            <a:pPr marL="285750" indent="-285750"/>
            <a:r>
              <a:rPr lang="x-none" altLang="zh-CN"/>
              <a:t>自己控制哪些Field被索引等。</a:t>
            </a:r>
            <a:endParaRPr lang="x-none" altLang="zh-CN"/>
          </a:p>
          <a:p>
            <a:pPr marL="0" indent="0">
              <a:buNone/>
            </a:pPr>
            <a:endParaRPr lang="x-none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altLang="zh-CN"/>
              <a:t>Solr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Solr</a:t>
            </a:r>
            <a:r>
              <a:rPr lang="zh-CN" altLang="en-US" dirty="0" smtClean="0"/>
              <a:t>，前身是</a:t>
            </a:r>
            <a:r>
              <a:rPr lang="en-US" altLang="zh-CN" dirty="0" smtClean="0"/>
              <a:t>Solar</a:t>
            </a:r>
            <a:r>
              <a:rPr lang="zh-CN" altLang="en-US" dirty="0" smtClean="0"/>
              <a:t>，改名后赋予了它一个新的含义：</a:t>
            </a:r>
            <a:r>
              <a:rPr lang="en-US" altLang="zh-CN" dirty="0" smtClean="0"/>
              <a:t>Searching on </a:t>
            </a:r>
            <a:r>
              <a:rPr lang="en-US" altLang="zh-CN" dirty="0" err="1" smtClean="0"/>
              <a:t>lucene</a:t>
            </a:r>
            <a:r>
              <a:rPr lang="en-US" altLang="zh-CN" dirty="0" smtClean="0"/>
              <a:t> w/Replication</a:t>
            </a:r>
            <a:endParaRPr lang="en-US" altLang="zh-CN" dirty="0" smtClean="0"/>
          </a:p>
          <a:p>
            <a:r>
              <a:rPr lang="x-none" altLang="zh-CN" dirty="0"/>
              <a:t>Solr是一个高性能，采用java开发，基于Lucene的全文搜索服务器，同时对其进行了扩展，提供了比Lucene更为丰富的查询语言，同时实现了可配置、可扩展并对查询性能进行了优化，提供了一个完整的功能管理界面，是一款非常优秀的全文搜索引擎。</a:t>
            </a:r>
            <a:endParaRPr lang="x-none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Lucene VS Solr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Many people new to Lucene and Solr will ask the obvious question: Should I use Lucene or Solr?</a:t>
            </a:r>
            <a:endParaRPr lang="zh-CN" altLang="en-US"/>
          </a:p>
          <a:p>
            <a:r>
              <a:rPr lang="zh-CN" altLang="en-US"/>
              <a:t>The answer is simple: if you're asking yourself this question, in 99% of situations, what you want to use is Solr.</a:t>
            </a:r>
            <a:endParaRPr lang="zh-CN" altLang="en-US"/>
          </a:p>
          <a:p>
            <a:r>
              <a:rPr lang="zh-CN" altLang="en-US"/>
              <a:t>A simple way to conceptualize the relationship between Solr and Lucene is that of a car and its engine. You can't drive an engine, but you can drive a car. Similarly, Lucene is a programmatic library which you can't use as-is, whereas Solr is a complete application which you can use out-of-box.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首先Solr是基于Lucene做的，Lucene是一套信息检索工具包，但并不包含搜索引擎系统，它包含了索引结构、读写索引工具、相关性工具、排序等功能，因此在使用Lucene时你仍需要关注搜索引擎系统，例如数据获取、解析、分词等方面的东西。</a:t>
            </a:r>
            <a:endParaRPr lang="zh-CN" altLang="en-US"/>
          </a:p>
          <a:p>
            <a:r>
              <a:rPr lang="zh-CN" altLang="en-US"/>
              <a:t>而Solr的目标是打造一款企业级的搜索引擎系统，因此它更接近于我们认识到的搜索引擎系统，它是一个搜索引擎服务，通过各种API可以让你的应用使用搜索服务，而不需要将搜索逻辑耦合在应用中。而且Solr可以根据配置文件定义数据解析的方式，更像是一个搜索框架，它也支持主从、热换库等操作。还添加了飘红、facet等搜索引擎常见功能的支持。</a:t>
            </a:r>
            <a:endParaRPr lang="zh-CN" altLang="en-US"/>
          </a:p>
          <a:p>
            <a:r>
              <a:rPr lang="zh-CN" altLang="en-US"/>
              <a:t>因而，Lucene使用上更加灵活，但是你需要自己处理搜素引擎系统架构，以及其他附加附加功能的实现。而Solr帮你做了更多，但是是一个处于高层的框架，Lucene很多新特性不能及时向上透传，所以有时候可能发现需要一个功能，Lucene是支持的，但是Solr上已经看不到相关接口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Solr API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zh-CN"/>
              <a:t>从核心来讲，Solr是一个Web应用程序，但由于它基于开放的协议，因此几乎任何程序都可以使用它。</a:t>
            </a:r>
            <a:endParaRPr lang="x-none" altLang="zh-CN"/>
          </a:p>
          <a:p>
            <a:r>
              <a:rPr lang="x-none" altLang="zh-CN"/>
              <a:t>HTTP协议是客户端程序和Solr之间的基础协议。客户端发出一个请求（如检索或索引文档），Solr响应请求增选应答。</a:t>
            </a:r>
            <a:endParaRPr lang="x-none" altLang="zh-CN"/>
          </a:p>
          <a:p>
            <a:r>
              <a:rPr lang="x-none" altLang="zh-CN"/>
              <a:t>客户端使用Solr的一个基本操作与Solr协作：query，index，delete，commit，optimize。</a:t>
            </a:r>
            <a:endParaRPr lang="x-none" altLang="zh-CN"/>
          </a:p>
          <a:p>
            <a:r>
              <a:rPr lang="x-none" altLang="zh-CN"/>
              <a:t>执行一个检索，是将所有的参数都包含在一个URL中，发送给Solr，Solr解析这个URL，从中取出信息，执行查询并返回结果。</a:t>
            </a:r>
            <a:endParaRPr lang="x-none" altLang="zh-CN"/>
          </a:p>
          <a:p>
            <a:r>
              <a:rPr lang="x-none" altLang="zh-CN"/>
              <a:t>除了基于HTTP连接的API外，Solr还提供了一种嵌入式的Server，可使用Java API。</a:t>
            </a:r>
            <a:endParaRPr lang="x-none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选择Solr应答结果的格式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zh-CN"/>
              <a:t>通过HTTP请求获得应答，一个棘手的问题是和应答的解析。幸运的是Solr提供了方法让我们可选择多种应答</a:t>
            </a:r>
            <a:r>
              <a:rPr lang="x-none" altLang="zh-CN">
                <a:sym typeface="+mn-ea"/>
              </a:rPr>
              <a:t>格式</a:t>
            </a:r>
            <a:r>
              <a:rPr lang="x-none" altLang="zh-CN"/>
              <a:t>，将一些琐碎的细节隐藏了起来。支持的格式包括：</a:t>
            </a:r>
            <a:endParaRPr lang="x-none" altLang="zh-CN"/>
          </a:p>
          <a:p>
            <a:pPr lvl="1"/>
            <a:r>
              <a:rPr lang="x-none" altLang="zh-CN"/>
              <a:t>csv</a:t>
            </a:r>
            <a:endParaRPr lang="x-none" altLang="zh-CN"/>
          </a:p>
          <a:p>
            <a:pPr lvl="1"/>
            <a:r>
              <a:rPr lang="x-none" altLang="zh-CN"/>
              <a:t>json</a:t>
            </a:r>
            <a:endParaRPr lang="x-none" altLang="zh-CN"/>
          </a:p>
          <a:p>
            <a:pPr lvl="1"/>
            <a:r>
              <a:rPr lang="x-none" altLang="zh-CN"/>
              <a:t>python</a:t>
            </a:r>
            <a:endParaRPr lang="x-none" altLang="zh-CN"/>
          </a:p>
          <a:p>
            <a:pPr lvl="1"/>
            <a:r>
              <a:rPr lang="x-none" altLang="zh-CN"/>
              <a:t>xml</a:t>
            </a:r>
            <a:endParaRPr lang="x-none" altLang="zh-CN"/>
          </a:p>
          <a:p>
            <a:pPr lvl="1"/>
            <a:r>
              <a:rPr lang="x-none" altLang="zh-CN"/>
              <a:t>...</a:t>
            </a:r>
            <a:endParaRPr lang="x-none" altLang="zh-CN"/>
          </a:p>
          <a:p>
            <a:pPr marL="457200" lvl="1" indent="0">
              <a:buNone/>
            </a:pPr>
            <a:r>
              <a:rPr lang="x-none" altLang="zh-CN"/>
              <a:t>这样在不同的客户端中，向Solr发送HTTP请求时，带上对就的参数，指明需要的结果类型就可以了。</a:t>
            </a:r>
            <a:endParaRPr lang="x-none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Solr API -- 基于HTTP的API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x-none" altLang="zh-CN"/>
              <a:t>SequoiaDB与Solr对接	</a:t>
            </a:r>
            <a:endParaRPr lang="x-non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x-none" altLang="zh-CN"/>
              <a:t>方案一</a:t>
            </a:r>
            <a:endParaRPr lang="x-none" altLang="zh-CN"/>
          </a:p>
          <a:p>
            <a:pPr lvl="1"/>
            <a:r>
              <a:rPr lang="x-none" altLang="zh-CN"/>
              <a:t>Solr提供了DataImport功能，但只支持RDBMS、XML/HTTP Datasource等，没有支持NoSQL， 用这种方式需要添加一个SequoiaDB的DataImportHandler，工程量比较大，还需要分析是否有问题</a:t>
            </a:r>
            <a:endParaRPr lang="x-none" altLang="zh-CN"/>
          </a:p>
          <a:p>
            <a:pPr lvl="0"/>
            <a:r>
              <a:rPr lang="x-none" altLang="zh-CN"/>
              <a:t>方案二</a:t>
            </a:r>
            <a:endParaRPr lang="x-none" altLang="zh-CN"/>
          </a:p>
          <a:p>
            <a:pPr lvl="1"/>
            <a:r>
              <a:rPr lang="x-none" altLang="zh-CN"/>
              <a:t>使用脚本语言读取SequoiaDB中的数据，并在Solr中建立索引。它的明显问题在于性能和增量数据的问题，且利用性，可维护性差。</a:t>
            </a:r>
            <a:endParaRPr lang="x-none" altLang="zh-CN"/>
          </a:p>
          <a:p>
            <a:pPr lvl="0"/>
            <a:r>
              <a:rPr lang="x-none" altLang="zh-CN"/>
              <a:t>方案三</a:t>
            </a:r>
            <a:endParaRPr lang="x-none" altLang="zh-CN"/>
          </a:p>
          <a:p>
            <a:pPr lvl="1"/>
            <a:r>
              <a:rPr lang="x-none" altLang="zh-CN"/>
              <a:t>网上有人用python开发了Mongo-Connector，利用了mongo的opLog，</a:t>
            </a:r>
            <a:endParaRPr lang="x-none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平面</Template>
  <TotalTime>0</TotalTime>
  <Words>5277</Words>
  <Application>Kingsoft Office WPP</Application>
  <PresentationFormat>宽屏</PresentationFormat>
  <Paragraphs>254</Paragraphs>
  <Slides>36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37" baseType="lpstr">
      <vt:lpstr>平面</vt:lpstr>
      <vt:lpstr>全文检索</vt:lpstr>
      <vt:lpstr>什么叫全文检索？</vt:lpstr>
      <vt:lpstr>什么叫全文检索？</vt:lpstr>
      <vt:lpstr>什么叫全文索引？</vt:lpstr>
      <vt:lpstr>什么叫全文索引？</vt:lpstr>
      <vt:lpstr>全文检索的一般过程</vt:lpstr>
      <vt:lpstr>全文检索的三个重要问题</vt:lpstr>
      <vt:lpstr>索引里面究竟存些什么</vt:lpstr>
      <vt:lpstr>索引里面究竟存些什么</vt:lpstr>
      <vt:lpstr>如何创建索引</vt:lpstr>
      <vt:lpstr>如何创建索引</vt:lpstr>
      <vt:lpstr>PowerPoint 演示文稿</vt:lpstr>
      <vt:lpstr>PowerPoint 演示文稿</vt:lpstr>
      <vt:lpstr>如何对索引进行搜索</vt:lpstr>
      <vt:lpstr>如何对索引进行搜索</vt:lpstr>
      <vt:lpstr>Lucene是什么？</vt:lpstr>
      <vt:lpstr>Lucene的总体架构</vt:lpstr>
      <vt:lpstr>Lucene的总体架构</vt:lpstr>
      <vt:lpstr>Lucene的各组件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示例</vt:lpstr>
      <vt:lpstr>PowerPoint 演示文稿</vt:lpstr>
      <vt:lpstr>PowerPoint 演示文稿</vt:lpstr>
      <vt:lpstr>PowerPoint 演示文稿</vt:lpstr>
      <vt:lpstr>Lucene API	</vt:lpstr>
      <vt:lpstr>PowerPoint 演示文稿</vt:lpstr>
      <vt:lpstr>Lucene VS Solr</vt:lpstr>
      <vt:lpstr>PowerPoint 演示文稿</vt:lpstr>
      <vt:lpstr>PowerPoint 演示文稿</vt:lpstr>
      <vt:lpstr>PowerPoint 演示文稿</vt:lpstr>
      <vt:lpstr>PowerPoint 演示文稿</vt:lpstr>
      <vt:lpstr>SequoiaDB与Solr对接	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杨上德</dc:creator>
  <cp:lastModifiedBy>ysd</cp:lastModifiedBy>
  <cp:revision>174</cp:revision>
  <dcterms:created xsi:type="dcterms:W3CDTF">2016-09-01T07:02:34Z</dcterms:created>
  <dcterms:modified xsi:type="dcterms:W3CDTF">2016-09-01T07:02:34Z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2052-10.1.0.5672</vt:lpwstr>
  </property>
</Properties>
</file>