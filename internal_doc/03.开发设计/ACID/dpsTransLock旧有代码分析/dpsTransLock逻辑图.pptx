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4" r:id="rId9"/>
    <p:sldId id="262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89" autoAdjust="0"/>
  </p:normalViewPr>
  <p:slideViewPr>
    <p:cSldViewPr snapToGrid="0">
      <p:cViewPr varScale="1">
        <p:scale>
          <a:sx n="66" d="100"/>
          <a:sy n="66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E6CCD-911B-465E-A51C-57197317A464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0D89F-EAFE-4D70-87C2-AB4B6817E5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28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smtClean="0"/>
              <a:t>、</a:t>
            </a:r>
            <a:r>
              <a:rPr lang="zh-CN" altLang="en-US" dirty="0" smtClean="0"/>
              <a:t>暂不做级别恢复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0D89F-EAFE-4D70-87C2-AB4B6817E5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155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smtClean="0"/>
              <a:t>、</a:t>
            </a:r>
            <a:r>
              <a:rPr lang="zh-CN" altLang="en-US" dirty="0" smtClean="0"/>
              <a:t>暂不做级别恢复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0D89F-EAFE-4D70-87C2-AB4B6817E5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933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增加对错误码的处理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当已经在等待队列时，不重复</a:t>
            </a:r>
            <a:r>
              <a:rPr lang="zh-CN" altLang="en-US" dirty="0" smtClean="0"/>
              <a:t>添加到等待队列中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抽闲</a:t>
            </a:r>
            <a:r>
              <a:rPr lang="en-US" altLang="zh-CN" dirty="0" smtClean="0"/>
              <a:t>context</a:t>
            </a:r>
            <a:r>
              <a:rPr lang="zh-CN" altLang="en-US" dirty="0" smtClean="0"/>
              <a:t>接口，传入</a:t>
            </a:r>
            <a:r>
              <a:rPr lang="en-US" altLang="zh-CN" dirty="0" smtClean="0"/>
              <a:t>acquire X  </a:t>
            </a:r>
            <a:r>
              <a:rPr lang="zh-CN" altLang="en-US" dirty="0" smtClean="0"/>
              <a:t>由里面去</a:t>
            </a:r>
            <a:r>
              <a:rPr lang="en-US" altLang="zh-CN" dirty="0" smtClean="0"/>
              <a:t>pause()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waitlock</a:t>
            </a:r>
            <a:r>
              <a:rPr lang="zh-CN" altLang="en-US" baseline="0" dirty="0" smtClean="0"/>
              <a:t>， </a:t>
            </a:r>
            <a:r>
              <a:rPr lang="en-US" altLang="zh-CN" baseline="0" smtClean="0"/>
              <a:t>resume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0D89F-EAFE-4D70-87C2-AB4B6817E5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29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当已经在等待队列时，不重复添加到等待队列中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0D89F-EAFE-4D70-87C2-AB4B6817E5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878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暂不处理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0D89F-EAFE-4D70-87C2-AB4B6817E5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14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消除重复代码</a:t>
            </a:r>
            <a:endParaRPr lang="en-US" altLang="zh-CN" dirty="0" smtClean="0"/>
          </a:p>
          <a:p>
            <a:r>
              <a:rPr lang="zh-CN" altLang="en-US" dirty="0" smtClean="0"/>
              <a:t>重构代码</a:t>
            </a:r>
            <a:endParaRPr lang="en-US" altLang="zh-CN" dirty="0" smtClean="0"/>
          </a:p>
          <a:p>
            <a:r>
              <a:rPr lang="zh-CN" altLang="en-US" dirty="0" smtClean="0"/>
              <a:t>增加单元测试用例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0D89F-EAFE-4D70-87C2-AB4B6817E5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60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80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07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33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28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123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08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99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6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2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91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19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F3E78-0D53-41F6-B759-870E34A0A8F3}" type="datetimeFigureOut">
              <a:rPr lang="zh-CN" altLang="en-US" smtClean="0"/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7D3F1-BA9C-43AA-8043-699F342C8E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5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55354" y="2870239"/>
            <a:ext cx="2667117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AcquireX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cl:2, record:2)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76883" y="1909540"/>
            <a:ext cx="2771289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AcquireIS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cl:-1, record:-1)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476883" y="2870238"/>
            <a:ext cx="2771289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AcquireIX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cl:2, record:-1)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476883" y="3830936"/>
            <a:ext cx="2771289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AcquireX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cl:2, record:2)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4963069" y="2870238"/>
            <a:ext cx="1273216" cy="555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 err="1" smtClean="0"/>
          </a:p>
        </p:txBody>
      </p:sp>
      <p:sp>
        <p:nvSpPr>
          <p:cNvPr id="10" name="文本框 9"/>
          <p:cNvSpPr txBox="1"/>
          <p:nvPr/>
        </p:nvSpPr>
        <p:spPr>
          <a:xfrm>
            <a:off x="1854677" y="2002807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线程</a:t>
            </a:r>
            <a:r>
              <a:rPr lang="en-US" altLang="zh-CN" dirty="0" smtClean="0"/>
              <a:t>id(1234)</a:t>
            </a:r>
            <a:r>
              <a:rPr lang="zh-CN" altLang="en-US" dirty="0" smtClean="0"/>
              <a:t>，对记录加写锁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457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4815" y="741226"/>
            <a:ext cx="2667117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AcquireIS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cl:-1, record:-1)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53382" y="2129744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pmdEDUCB</a:t>
            </a:r>
            <a:endParaRPr lang="zh-CN" altLang="en-US" dirty="0" err="1" smtClean="0"/>
          </a:p>
        </p:txBody>
      </p:sp>
      <p:sp>
        <p:nvSpPr>
          <p:cNvPr id="6" name="圆角矩形 5"/>
          <p:cNvSpPr/>
          <p:nvPr/>
        </p:nvSpPr>
        <p:spPr>
          <a:xfrm>
            <a:off x="3072256" y="2101528"/>
            <a:ext cx="2169425" cy="5888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[1,-1,-1]</a:t>
            </a:r>
          </a:p>
        </p:txBody>
      </p:sp>
      <p:cxnSp>
        <p:nvCxnSpPr>
          <p:cNvPr id="8" name="直接连接符 7"/>
          <p:cNvCxnSpPr>
            <a:stCxn id="5" idx="3"/>
            <a:endCxn id="6" idx="1"/>
          </p:cNvCxnSpPr>
          <p:nvPr/>
        </p:nvCxnSpPr>
        <p:spPr>
          <a:xfrm flipV="1">
            <a:off x="2723367" y="2395959"/>
            <a:ext cx="348889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253382" y="2129743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educb</a:t>
            </a:r>
            <a:r>
              <a:rPr lang="en-US" altLang="zh-CN" dirty="0" smtClean="0"/>
              <a:t>(1234)</a:t>
            </a:r>
            <a:endParaRPr lang="zh-CN" altLang="en-US" dirty="0" err="1" smtClean="0"/>
          </a:p>
        </p:txBody>
      </p:sp>
      <p:sp>
        <p:nvSpPr>
          <p:cNvPr id="17" name="矩形 16"/>
          <p:cNvSpPr/>
          <p:nvPr/>
        </p:nvSpPr>
        <p:spPr>
          <a:xfrm>
            <a:off x="1253382" y="4178449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dpsTransLock</a:t>
            </a:r>
            <a:endParaRPr lang="zh-CN" altLang="en-US" dirty="0" err="1" smtClean="0"/>
          </a:p>
        </p:txBody>
      </p:sp>
      <p:sp>
        <p:nvSpPr>
          <p:cNvPr id="20" name="圆角矩形 19"/>
          <p:cNvSpPr/>
          <p:nvPr/>
        </p:nvSpPr>
        <p:spPr>
          <a:xfrm>
            <a:off x="3072256" y="4174095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[1]</a:t>
            </a:r>
          </a:p>
        </p:txBody>
      </p:sp>
      <p:cxnSp>
        <p:nvCxnSpPr>
          <p:cNvPr id="22" name="直接连接符 21"/>
          <p:cNvCxnSpPr>
            <a:stCxn id="17" idx="3"/>
            <a:endCxn id="20" idx="1"/>
          </p:cNvCxnSpPr>
          <p:nvPr/>
        </p:nvCxnSpPr>
        <p:spPr>
          <a:xfrm flipV="1">
            <a:off x="2723367" y="4442484"/>
            <a:ext cx="348889" cy="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7273037" y="4210613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[1234]</a:t>
            </a:r>
          </a:p>
        </p:txBody>
      </p:sp>
      <p:cxnSp>
        <p:nvCxnSpPr>
          <p:cNvPr id="29" name="直接连接符 28"/>
          <p:cNvCxnSpPr>
            <a:stCxn id="20" idx="3"/>
            <a:endCxn id="24" idx="1"/>
          </p:cNvCxnSpPr>
          <p:nvPr/>
        </p:nvCxnSpPr>
        <p:spPr>
          <a:xfrm flipV="1">
            <a:off x="4785310" y="4442481"/>
            <a:ext cx="2487727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5137922" y="4152753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[1,-1,-1]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50" name="圆角矩形 49"/>
          <p:cNvSpPr/>
          <p:nvPr/>
        </p:nvSpPr>
        <p:spPr>
          <a:xfrm>
            <a:off x="5793957" y="1983973"/>
            <a:ext cx="1961081" cy="820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lockType:IS</a:t>
            </a:r>
            <a:endParaRPr lang="en-US" altLang="zh-CN" dirty="0" smtClean="0"/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56" name="直接连接符 55"/>
          <p:cNvCxnSpPr>
            <a:stCxn id="6" idx="3"/>
            <a:endCxn id="50" idx="1"/>
          </p:cNvCxnSpPr>
          <p:nvPr/>
        </p:nvCxnSpPr>
        <p:spPr>
          <a:xfrm flipV="1">
            <a:off x="5241681" y="2394151"/>
            <a:ext cx="552276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/>
        </p:nvSpPr>
        <p:spPr>
          <a:xfrm>
            <a:off x="9179546" y="4195448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lockType:IS</a:t>
            </a:r>
            <a:endParaRPr lang="en-US" altLang="zh-CN" dirty="0" smtClean="0"/>
          </a:p>
        </p:txBody>
      </p:sp>
      <p:cxnSp>
        <p:nvCxnSpPr>
          <p:cNvPr id="67" name="直接连接符 66"/>
          <p:cNvCxnSpPr>
            <a:stCxn id="24" idx="3"/>
            <a:endCxn id="65" idx="1"/>
          </p:cNvCxnSpPr>
          <p:nvPr/>
        </p:nvCxnSpPr>
        <p:spPr>
          <a:xfrm>
            <a:off x="8719873" y="4442481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8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4815" y="743985"/>
            <a:ext cx="2667117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AcquireIX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cl:2, record:-1)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53382" y="2129744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pmdEDUCB</a:t>
            </a:r>
            <a:endParaRPr lang="zh-CN" altLang="en-US" dirty="0" err="1" smtClean="0"/>
          </a:p>
        </p:txBody>
      </p:sp>
      <p:sp>
        <p:nvSpPr>
          <p:cNvPr id="6" name="圆角矩形 5"/>
          <p:cNvSpPr/>
          <p:nvPr/>
        </p:nvSpPr>
        <p:spPr>
          <a:xfrm>
            <a:off x="3083831" y="1615395"/>
            <a:ext cx="2169425" cy="5888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[1,-1,-1]</a:t>
            </a:r>
          </a:p>
        </p:txBody>
      </p:sp>
      <p:cxnSp>
        <p:nvCxnSpPr>
          <p:cNvPr id="7" name="直接连接符 6"/>
          <p:cNvCxnSpPr>
            <a:stCxn id="5" idx="3"/>
            <a:endCxn id="6" idx="1"/>
          </p:cNvCxnSpPr>
          <p:nvPr/>
        </p:nvCxnSpPr>
        <p:spPr>
          <a:xfrm flipV="1">
            <a:off x="2723367" y="1909826"/>
            <a:ext cx="360464" cy="486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253382" y="2129743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educb</a:t>
            </a:r>
            <a:r>
              <a:rPr lang="en-US" altLang="zh-CN" dirty="0" smtClean="0"/>
              <a:t>(1234)</a:t>
            </a:r>
            <a:endParaRPr lang="zh-CN" altLang="en-US" dirty="0" err="1" smtClean="0"/>
          </a:p>
        </p:txBody>
      </p:sp>
      <p:sp>
        <p:nvSpPr>
          <p:cNvPr id="9" name="矩形 8"/>
          <p:cNvSpPr/>
          <p:nvPr/>
        </p:nvSpPr>
        <p:spPr>
          <a:xfrm>
            <a:off x="1253382" y="4178449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dpsTransLock</a:t>
            </a:r>
            <a:endParaRPr lang="zh-CN" altLang="en-US" dirty="0" err="1" smtClean="0"/>
          </a:p>
        </p:txBody>
      </p:sp>
      <p:sp>
        <p:nvSpPr>
          <p:cNvPr id="10" name="圆角矩形 9"/>
          <p:cNvSpPr/>
          <p:nvPr/>
        </p:nvSpPr>
        <p:spPr>
          <a:xfrm>
            <a:off x="3072256" y="3722685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[1]</a:t>
            </a:r>
          </a:p>
        </p:txBody>
      </p:sp>
      <p:cxnSp>
        <p:nvCxnSpPr>
          <p:cNvPr id="11" name="直接连接符 10"/>
          <p:cNvCxnSpPr>
            <a:stCxn id="9" idx="3"/>
            <a:endCxn id="10" idx="1"/>
          </p:cNvCxnSpPr>
          <p:nvPr/>
        </p:nvCxnSpPr>
        <p:spPr>
          <a:xfrm flipV="1">
            <a:off x="2723367" y="3991074"/>
            <a:ext cx="348889" cy="453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7273037" y="3759203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[1234]</a:t>
            </a:r>
          </a:p>
        </p:txBody>
      </p:sp>
      <p:cxnSp>
        <p:nvCxnSpPr>
          <p:cNvPr id="13" name="直接连接符 12"/>
          <p:cNvCxnSpPr>
            <a:stCxn id="10" idx="3"/>
            <a:endCxn id="12" idx="1"/>
          </p:cNvCxnSpPr>
          <p:nvPr/>
        </p:nvCxnSpPr>
        <p:spPr>
          <a:xfrm flipV="1">
            <a:off x="4785310" y="3991071"/>
            <a:ext cx="2487727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5137922" y="3701343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[1,-1,-1]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15" name="圆角矩形 14"/>
          <p:cNvSpPr/>
          <p:nvPr/>
        </p:nvSpPr>
        <p:spPr>
          <a:xfrm>
            <a:off x="5805532" y="1497840"/>
            <a:ext cx="1961081" cy="820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lockType:IS</a:t>
            </a:r>
            <a:endParaRPr lang="en-US" altLang="zh-CN" dirty="0" smtClean="0"/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16" name="直接连接符 15"/>
          <p:cNvCxnSpPr>
            <a:stCxn id="6" idx="3"/>
            <a:endCxn id="15" idx="1"/>
          </p:cNvCxnSpPr>
          <p:nvPr/>
        </p:nvCxnSpPr>
        <p:spPr>
          <a:xfrm flipV="1">
            <a:off x="5253256" y="1908018"/>
            <a:ext cx="552276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9179546" y="3744038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lockType:IS</a:t>
            </a:r>
            <a:endParaRPr lang="en-US" altLang="zh-CN" dirty="0" smtClean="0"/>
          </a:p>
        </p:txBody>
      </p:sp>
      <p:cxnSp>
        <p:nvCxnSpPr>
          <p:cNvPr id="18" name="直接连接符 17"/>
          <p:cNvCxnSpPr>
            <a:stCxn id="12" idx="3"/>
            <a:endCxn id="17" idx="1"/>
          </p:cNvCxnSpPr>
          <p:nvPr/>
        </p:nvCxnSpPr>
        <p:spPr>
          <a:xfrm>
            <a:off x="8719873" y="3991071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3083831" y="2614434"/>
            <a:ext cx="2169425" cy="58886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,-1]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5805532" y="2496879"/>
            <a:ext cx="1961081" cy="8203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</a:t>
            </a:r>
            <a:r>
              <a:rPr lang="en-US" altLang="zh-CN" b="1" dirty="0" err="1" smtClean="0">
                <a:solidFill>
                  <a:srgbClr val="FF0000"/>
                </a:solidFill>
              </a:rPr>
              <a:t>IX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24" name="直接连接符 23"/>
          <p:cNvCxnSpPr>
            <a:stCxn id="22" idx="3"/>
            <a:endCxn id="23" idx="1"/>
          </p:cNvCxnSpPr>
          <p:nvPr/>
        </p:nvCxnSpPr>
        <p:spPr>
          <a:xfrm flipV="1">
            <a:off x="5253256" y="2907057"/>
            <a:ext cx="552276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3"/>
            <a:endCxn id="22" idx="1"/>
          </p:cNvCxnSpPr>
          <p:nvPr/>
        </p:nvCxnSpPr>
        <p:spPr>
          <a:xfrm>
            <a:off x="2723367" y="2395961"/>
            <a:ext cx="360464" cy="512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3083831" y="4627626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[2]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7284612" y="4664144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[1234]</a:t>
            </a:r>
          </a:p>
        </p:txBody>
      </p:sp>
      <p:cxnSp>
        <p:nvCxnSpPr>
          <p:cNvPr id="30" name="直接连接符 29"/>
          <p:cNvCxnSpPr>
            <a:stCxn id="28" idx="3"/>
            <a:endCxn id="29" idx="1"/>
          </p:cNvCxnSpPr>
          <p:nvPr/>
        </p:nvCxnSpPr>
        <p:spPr>
          <a:xfrm flipV="1">
            <a:off x="4796885" y="4896012"/>
            <a:ext cx="2487727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5149497" y="4606284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,-1]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32" name="圆角矩形 31"/>
          <p:cNvSpPr/>
          <p:nvPr/>
        </p:nvSpPr>
        <p:spPr>
          <a:xfrm>
            <a:off x="9191121" y="4648979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</a:t>
            </a:r>
            <a:r>
              <a:rPr lang="en-US" altLang="zh-CN" b="1" dirty="0" err="1" smtClean="0">
                <a:solidFill>
                  <a:srgbClr val="FF0000"/>
                </a:solidFill>
              </a:rPr>
              <a:t>IX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cxnSp>
        <p:nvCxnSpPr>
          <p:cNvPr id="33" name="直接连接符 32"/>
          <p:cNvCxnSpPr>
            <a:stCxn id="29" idx="3"/>
            <a:endCxn id="32" idx="1"/>
          </p:cNvCxnSpPr>
          <p:nvPr/>
        </p:nvCxnSpPr>
        <p:spPr>
          <a:xfrm>
            <a:off x="8731448" y="4896012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9" idx="3"/>
            <a:endCxn id="28" idx="1"/>
          </p:cNvCxnSpPr>
          <p:nvPr/>
        </p:nvCxnSpPr>
        <p:spPr>
          <a:xfrm>
            <a:off x="2723367" y="4444667"/>
            <a:ext cx="360464" cy="451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4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4815" y="424957"/>
            <a:ext cx="2667117" cy="555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dirty="0" err="1" smtClean="0"/>
              <a:t>AcquireX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lockId</a:t>
            </a:r>
            <a:r>
              <a:rPr lang="en-US" altLang="zh-CN" dirty="0" smtClean="0"/>
              <a:t>(cs:1, cl:2, record:2)</a:t>
            </a:r>
            <a:endParaRPr lang="zh-CN" altLang="en-US" dirty="0" smtClean="0"/>
          </a:p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53382" y="2222344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pmdEDUCB</a:t>
            </a:r>
            <a:endParaRPr lang="zh-CN" altLang="en-US" dirty="0" err="1" smtClean="0"/>
          </a:p>
        </p:txBody>
      </p:sp>
      <p:sp>
        <p:nvSpPr>
          <p:cNvPr id="6" name="圆角矩形 5"/>
          <p:cNvSpPr/>
          <p:nvPr/>
        </p:nvSpPr>
        <p:spPr>
          <a:xfrm>
            <a:off x="3083831" y="1163438"/>
            <a:ext cx="2169425" cy="5888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[1,-1,-1]</a:t>
            </a:r>
          </a:p>
        </p:txBody>
      </p:sp>
      <p:cxnSp>
        <p:nvCxnSpPr>
          <p:cNvPr id="7" name="直接连接符 6"/>
          <p:cNvCxnSpPr>
            <a:stCxn id="8" idx="3"/>
            <a:endCxn id="6" idx="1"/>
          </p:cNvCxnSpPr>
          <p:nvPr/>
        </p:nvCxnSpPr>
        <p:spPr>
          <a:xfrm flipV="1">
            <a:off x="2723365" y="1457869"/>
            <a:ext cx="360466" cy="986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253380" y="2178324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educb</a:t>
            </a:r>
            <a:r>
              <a:rPr lang="en-US" altLang="zh-CN" dirty="0" smtClean="0"/>
              <a:t>(1234)</a:t>
            </a:r>
            <a:endParaRPr lang="zh-CN" altLang="en-US" dirty="0" err="1" smtClean="0"/>
          </a:p>
        </p:txBody>
      </p:sp>
      <p:sp>
        <p:nvSpPr>
          <p:cNvPr id="9" name="矩形 8"/>
          <p:cNvSpPr/>
          <p:nvPr/>
        </p:nvSpPr>
        <p:spPr>
          <a:xfrm>
            <a:off x="1253382" y="4791912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dpsTransLock</a:t>
            </a:r>
            <a:endParaRPr lang="zh-CN" altLang="en-US" dirty="0" err="1" smtClean="0"/>
          </a:p>
        </p:txBody>
      </p:sp>
      <p:sp>
        <p:nvSpPr>
          <p:cNvPr id="10" name="圆角矩形 9"/>
          <p:cNvSpPr/>
          <p:nvPr/>
        </p:nvSpPr>
        <p:spPr>
          <a:xfrm>
            <a:off x="3072256" y="4336148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[1]</a:t>
            </a:r>
          </a:p>
        </p:txBody>
      </p:sp>
      <p:cxnSp>
        <p:nvCxnSpPr>
          <p:cNvPr id="11" name="直接连接符 10"/>
          <p:cNvCxnSpPr>
            <a:stCxn id="9" idx="3"/>
            <a:endCxn id="10" idx="1"/>
          </p:cNvCxnSpPr>
          <p:nvPr/>
        </p:nvCxnSpPr>
        <p:spPr>
          <a:xfrm flipV="1">
            <a:off x="2723367" y="4604537"/>
            <a:ext cx="348889" cy="453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7273037" y="4372666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[1234]</a:t>
            </a:r>
          </a:p>
        </p:txBody>
      </p:sp>
      <p:cxnSp>
        <p:nvCxnSpPr>
          <p:cNvPr id="13" name="直接连接符 12"/>
          <p:cNvCxnSpPr>
            <a:stCxn id="10" idx="3"/>
            <a:endCxn id="12" idx="1"/>
          </p:cNvCxnSpPr>
          <p:nvPr/>
        </p:nvCxnSpPr>
        <p:spPr>
          <a:xfrm flipV="1">
            <a:off x="4785310" y="4604534"/>
            <a:ext cx="2487727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5137922" y="4314806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[1,-1,-1]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15" name="圆角矩形 14"/>
          <p:cNvSpPr/>
          <p:nvPr/>
        </p:nvSpPr>
        <p:spPr>
          <a:xfrm>
            <a:off x="5805532" y="1045883"/>
            <a:ext cx="1961081" cy="820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lockType:IS</a:t>
            </a:r>
            <a:endParaRPr lang="en-US" altLang="zh-CN" dirty="0" smtClean="0"/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16" name="直接连接符 15"/>
          <p:cNvCxnSpPr>
            <a:stCxn id="6" idx="3"/>
            <a:endCxn id="15" idx="1"/>
          </p:cNvCxnSpPr>
          <p:nvPr/>
        </p:nvCxnSpPr>
        <p:spPr>
          <a:xfrm flipV="1">
            <a:off x="5253256" y="1456061"/>
            <a:ext cx="552276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9179546" y="4357501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lockType:IS</a:t>
            </a:r>
            <a:endParaRPr lang="en-US" altLang="zh-CN" dirty="0" smtClean="0"/>
          </a:p>
        </p:txBody>
      </p:sp>
      <p:cxnSp>
        <p:nvCxnSpPr>
          <p:cNvPr id="18" name="直接连接符 17"/>
          <p:cNvCxnSpPr>
            <a:stCxn id="12" idx="3"/>
            <a:endCxn id="17" idx="1"/>
          </p:cNvCxnSpPr>
          <p:nvPr/>
        </p:nvCxnSpPr>
        <p:spPr>
          <a:xfrm>
            <a:off x="8719873" y="4604534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3084247" y="2150112"/>
            <a:ext cx="2169425" cy="58886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,-1]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5805948" y="2032557"/>
            <a:ext cx="1961081" cy="8203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</a:t>
            </a:r>
            <a:r>
              <a:rPr lang="en-US" altLang="zh-CN" b="1" dirty="0" err="1" smtClean="0">
                <a:solidFill>
                  <a:srgbClr val="FF0000"/>
                </a:solidFill>
              </a:rPr>
              <a:t>IX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24" name="直接连接符 23"/>
          <p:cNvCxnSpPr>
            <a:stCxn id="22" idx="3"/>
            <a:endCxn id="23" idx="1"/>
          </p:cNvCxnSpPr>
          <p:nvPr/>
        </p:nvCxnSpPr>
        <p:spPr>
          <a:xfrm flipV="1">
            <a:off x="5253672" y="2442735"/>
            <a:ext cx="552276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3"/>
            <a:endCxn id="22" idx="1"/>
          </p:cNvCxnSpPr>
          <p:nvPr/>
        </p:nvCxnSpPr>
        <p:spPr>
          <a:xfrm>
            <a:off x="2723365" y="2444542"/>
            <a:ext cx="36088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3083831" y="5241089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[2]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7284612" y="5277607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[1234]</a:t>
            </a:r>
          </a:p>
        </p:txBody>
      </p:sp>
      <p:cxnSp>
        <p:nvCxnSpPr>
          <p:cNvPr id="30" name="直接连接符 29"/>
          <p:cNvCxnSpPr>
            <a:stCxn id="28" idx="3"/>
            <a:endCxn id="29" idx="1"/>
          </p:cNvCxnSpPr>
          <p:nvPr/>
        </p:nvCxnSpPr>
        <p:spPr>
          <a:xfrm flipV="1">
            <a:off x="4796885" y="5509475"/>
            <a:ext cx="2487727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5149497" y="5219747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,-1]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32" name="圆角矩形 31"/>
          <p:cNvSpPr/>
          <p:nvPr/>
        </p:nvSpPr>
        <p:spPr>
          <a:xfrm>
            <a:off x="9191121" y="5262442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</a:t>
            </a:r>
            <a:r>
              <a:rPr lang="en-US" altLang="zh-CN" b="1" dirty="0" err="1" smtClean="0">
                <a:solidFill>
                  <a:srgbClr val="FF0000"/>
                </a:solidFill>
              </a:rPr>
              <a:t>IX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cxnSp>
        <p:nvCxnSpPr>
          <p:cNvPr id="33" name="直接连接符 32"/>
          <p:cNvCxnSpPr>
            <a:stCxn id="29" idx="3"/>
            <a:endCxn id="32" idx="1"/>
          </p:cNvCxnSpPr>
          <p:nvPr/>
        </p:nvCxnSpPr>
        <p:spPr>
          <a:xfrm>
            <a:off x="8731448" y="5509475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9" idx="3"/>
            <a:endCxn id="28" idx="1"/>
          </p:cNvCxnSpPr>
          <p:nvPr/>
        </p:nvCxnSpPr>
        <p:spPr>
          <a:xfrm>
            <a:off x="2723367" y="5058130"/>
            <a:ext cx="360464" cy="451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3095406" y="3206339"/>
            <a:ext cx="2169425" cy="58886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]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5817107" y="3088784"/>
            <a:ext cx="1961081" cy="8203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</a:t>
            </a:r>
            <a:r>
              <a:rPr lang="en-US" altLang="zh-CN" b="1" dirty="0" err="1" smtClean="0">
                <a:solidFill>
                  <a:srgbClr val="FF0000"/>
                </a:solidFill>
              </a:rPr>
              <a:t>X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37" name="直接连接符 36"/>
          <p:cNvCxnSpPr>
            <a:stCxn id="34" idx="3"/>
            <a:endCxn id="36" idx="1"/>
          </p:cNvCxnSpPr>
          <p:nvPr/>
        </p:nvCxnSpPr>
        <p:spPr>
          <a:xfrm flipV="1">
            <a:off x="5264831" y="3498962"/>
            <a:ext cx="552276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8" idx="3"/>
            <a:endCxn id="34" idx="1"/>
          </p:cNvCxnSpPr>
          <p:nvPr/>
        </p:nvCxnSpPr>
        <p:spPr>
          <a:xfrm>
            <a:off x="2723365" y="2444542"/>
            <a:ext cx="372041" cy="1056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圆角矩形 44"/>
          <p:cNvSpPr/>
          <p:nvPr/>
        </p:nvSpPr>
        <p:spPr>
          <a:xfrm>
            <a:off x="7284612" y="6181079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[1234]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5149497" y="6123219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47" name="圆角矩形 46"/>
          <p:cNvSpPr/>
          <p:nvPr/>
        </p:nvSpPr>
        <p:spPr>
          <a:xfrm>
            <a:off x="9191121" y="6165914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</a:t>
            </a:r>
            <a:r>
              <a:rPr lang="en-US" altLang="zh-CN" b="1" dirty="0" err="1" smtClean="0">
                <a:solidFill>
                  <a:srgbClr val="FF0000"/>
                </a:solidFill>
              </a:rPr>
              <a:t>X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cxnSp>
        <p:nvCxnSpPr>
          <p:cNvPr id="48" name="直接连接符 47"/>
          <p:cNvCxnSpPr>
            <a:stCxn id="45" idx="3"/>
            <a:endCxn id="47" idx="1"/>
          </p:cNvCxnSpPr>
          <p:nvPr/>
        </p:nvCxnSpPr>
        <p:spPr>
          <a:xfrm>
            <a:off x="8731448" y="6412947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28" idx="3"/>
            <a:endCxn id="46" idx="1"/>
          </p:cNvCxnSpPr>
          <p:nvPr/>
        </p:nvCxnSpPr>
        <p:spPr>
          <a:xfrm>
            <a:off x="4796885" y="5509478"/>
            <a:ext cx="352612" cy="903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62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20051" y="1690688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dirty="0" err="1" smtClean="0"/>
              <a:t>cl:IS</a:t>
            </a:r>
            <a:endParaRPr lang="en-US" altLang="zh-CN" dirty="0" smtClean="0"/>
          </a:p>
          <a:p>
            <a:r>
              <a:rPr lang="en-US" altLang="zh-CN" dirty="0" err="1" smtClean="0"/>
              <a:t>record:S</a:t>
            </a:r>
            <a:endParaRPr lang="zh-CN" altLang="en-US" dirty="0" err="1" smtClean="0"/>
          </a:p>
        </p:txBody>
      </p:sp>
      <p:sp>
        <p:nvSpPr>
          <p:cNvPr id="8" name="矩形 7"/>
          <p:cNvSpPr/>
          <p:nvPr/>
        </p:nvSpPr>
        <p:spPr>
          <a:xfrm>
            <a:off x="2720050" y="2683643"/>
            <a:ext cx="1195457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cl:IX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record:S</a:t>
            </a:r>
            <a:r>
              <a:rPr lang="en-US" altLang="zh-CN" b="1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 smtClean="0">
                <a:solidFill>
                  <a:srgbClr val="FF0000"/>
                </a:solidFill>
              </a:rPr>
              <a:t>X</a:t>
            </a:r>
            <a:endParaRPr lang="zh-CN" altLang="en-US" b="1" dirty="0" err="1" smtClean="0">
              <a:solidFill>
                <a:srgbClr val="FF0000"/>
              </a:solidFill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锁</a:t>
            </a:r>
            <a:r>
              <a:rPr lang="zh-CN" altLang="en-US" dirty="0" smtClean="0"/>
              <a:t>升级后</a:t>
            </a:r>
            <a:r>
              <a:rPr lang="zh-CN" altLang="en-US" dirty="0"/>
              <a:t>解锁</a:t>
            </a:r>
          </a:p>
        </p:txBody>
      </p:sp>
      <p:sp>
        <p:nvSpPr>
          <p:cNvPr id="13" name="矩形 12"/>
          <p:cNvSpPr/>
          <p:nvPr/>
        </p:nvSpPr>
        <p:spPr>
          <a:xfrm>
            <a:off x="2720051" y="3676598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cl:IX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dirty="0" err="1"/>
              <a:t>record:S</a:t>
            </a:r>
            <a:endParaRPr lang="zh-CN" altLang="en-US" dirty="0" err="1"/>
          </a:p>
        </p:txBody>
      </p:sp>
      <p:sp>
        <p:nvSpPr>
          <p:cNvPr id="2" name="文本框 1"/>
          <p:cNvSpPr txBox="1"/>
          <p:nvPr/>
        </p:nvSpPr>
        <p:spPr>
          <a:xfrm>
            <a:off x="838200" y="1940073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</a:t>
            </a:r>
            <a:r>
              <a:rPr lang="en-US" altLang="zh-CN" dirty="0" smtClean="0"/>
              <a:t>A</a:t>
            </a:r>
            <a:r>
              <a:rPr lang="zh-CN" altLang="en-US" dirty="0" smtClean="0"/>
              <a:t>加读锁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38200" y="2933028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</a:t>
            </a:r>
            <a:r>
              <a:rPr lang="en-US" altLang="zh-CN" dirty="0" smtClean="0"/>
              <a:t>B</a:t>
            </a:r>
            <a:r>
              <a:rPr lang="zh-CN" altLang="en-US" dirty="0" smtClean="0"/>
              <a:t>加写锁</a:t>
            </a:r>
            <a:endParaRPr lang="en-US" altLang="zh-CN" dirty="0" smtClean="0"/>
          </a:p>
        </p:txBody>
      </p:sp>
      <p:sp>
        <p:nvSpPr>
          <p:cNvPr id="17" name="文本框 16"/>
          <p:cNvSpPr txBox="1"/>
          <p:nvPr/>
        </p:nvSpPr>
        <p:spPr>
          <a:xfrm>
            <a:off x="838200" y="3925983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</a:t>
            </a:r>
            <a:r>
              <a:rPr lang="en-US" altLang="zh-CN" dirty="0" smtClean="0"/>
              <a:t>B</a:t>
            </a:r>
            <a:r>
              <a:rPr lang="zh-CN" altLang="en-US" dirty="0" smtClean="0"/>
              <a:t>解锁</a:t>
            </a:r>
            <a:endParaRPr lang="en-US" altLang="zh-CN" dirty="0" smtClean="0"/>
          </a:p>
        </p:txBody>
      </p:sp>
      <p:sp>
        <p:nvSpPr>
          <p:cNvPr id="19" name="文本框 18"/>
          <p:cNvSpPr txBox="1"/>
          <p:nvPr/>
        </p:nvSpPr>
        <p:spPr>
          <a:xfrm>
            <a:off x="4102484" y="3925983"/>
            <a:ext cx="5206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: cl</a:t>
            </a:r>
            <a:r>
              <a:rPr lang="zh-CN" altLang="en-US" dirty="0" smtClean="0"/>
              <a:t>锁的级别没有恢复为</a:t>
            </a:r>
            <a:r>
              <a:rPr lang="en-US" altLang="zh-CN" dirty="0" smtClean="0"/>
              <a:t>IS</a:t>
            </a:r>
            <a:r>
              <a:rPr lang="zh-CN" altLang="en-US" dirty="0" smtClean="0"/>
              <a:t>，仍然是升级后的</a:t>
            </a:r>
            <a:r>
              <a:rPr lang="en-US" altLang="zh-CN" dirty="0" smtClean="0"/>
              <a:t>IX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18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20051" y="2222328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dirty="0" err="1" smtClean="0"/>
              <a:t>cl:IS</a:t>
            </a:r>
            <a:endParaRPr lang="en-US" altLang="zh-CN" dirty="0" smtClean="0"/>
          </a:p>
          <a:p>
            <a:r>
              <a:rPr lang="en-US" altLang="zh-CN" dirty="0" err="1" smtClean="0"/>
              <a:t>record:S</a:t>
            </a:r>
            <a:endParaRPr lang="zh-CN" altLang="en-US" dirty="0" err="1" smtClean="0"/>
          </a:p>
        </p:txBody>
      </p:sp>
      <p:sp>
        <p:nvSpPr>
          <p:cNvPr id="5" name="文本框 4"/>
          <p:cNvSpPr txBox="1"/>
          <p:nvPr/>
        </p:nvSpPr>
        <p:spPr>
          <a:xfrm>
            <a:off x="2542561" y="164359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educb:1234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752618" y="3090430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dirty="0" err="1" smtClean="0"/>
              <a:t>cl:IS</a:t>
            </a:r>
            <a:endParaRPr lang="en-US" altLang="zh-CN" dirty="0" smtClean="0"/>
          </a:p>
          <a:p>
            <a:r>
              <a:rPr lang="en-US" altLang="zh-CN" dirty="0" err="1" smtClean="0"/>
              <a:t>record:S</a:t>
            </a:r>
            <a:endParaRPr lang="zh-CN" altLang="en-US" dirty="0" err="1" smtClean="0"/>
          </a:p>
        </p:txBody>
      </p:sp>
      <p:sp>
        <p:nvSpPr>
          <p:cNvPr id="7" name="文本框 6"/>
          <p:cNvSpPr txBox="1"/>
          <p:nvPr/>
        </p:nvSpPr>
        <p:spPr>
          <a:xfrm>
            <a:off x="5575128" y="164359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educb:4321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720051" y="3958532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dirty="0" err="1" smtClean="0"/>
              <a:t>cl:IX</a:t>
            </a:r>
            <a:endParaRPr lang="en-US" altLang="zh-CN" dirty="0" smtClean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record:X</a:t>
            </a:r>
            <a:endParaRPr lang="zh-CN" altLang="en-US" b="1" dirty="0" err="1" smtClean="0">
              <a:solidFill>
                <a:srgbClr val="FF0000"/>
              </a:solidFill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 err="1" smtClean="0"/>
              <a:t>TryX</a:t>
            </a:r>
            <a:r>
              <a:rPr lang="zh-CN" altLang="en-US" dirty="0" smtClean="0"/>
              <a:t>升级后回滚问题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703899" y="3958532"/>
            <a:ext cx="69717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、加</a:t>
            </a:r>
            <a:r>
              <a:rPr lang="en-US" altLang="zh-CN" dirty="0" err="1" smtClean="0"/>
              <a:t>cs</a:t>
            </a:r>
            <a:r>
              <a:rPr lang="zh-CN" altLang="en-US" dirty="0" smtClean="0"/>
              <a:t>级别</a:t>
            </a:r>
            <a:r>
              <a:rPr lang="en-US" altLang="zh-CN" dirty="0" smtClean="0"/>
              <a:t>IS</a:t>
            </a:r>
            <a:r>
              <a:rPr lang="zh-CN" altLang="en-US" dirty="0" smtClean="0"/>
              <a:t>锁成功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、加</a:t>
            </a:r>
            <a:r>
              <a:rPr lang="en-US" altLang="zh-CN" dirty="0" smtClean="0"/>
              <a:t>cl</a:t>
            </a:r>
            <a:r>
              <a:rPr lang="zh-CN" altLang="en-US" dirty="0" smtClean="0"/>
              <a:t>级别</a:t>
            </a:r>
            <a:r>
              <a:rPr lang="en-US" altLang="zh-CN" dirty="0" smtClean="0"/>
              <a:t>IX</a:t>
            </a:r>
            <a:r>
              <a:rPr lang="zh-CN" altLang="en-US" dirty="0" smtClean="0"/>
              <a:t>锁成功，因为</a:t>
            </a:r>
            <a:r>
              <a:rPr lang="en-US" altLang="zh-CN" dirty="0" smtClean="0"/>
              <a:t>IS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IX</a:t>
            </a:r>
            <a:r>
              <a:rPr lang="zh-CN" altLang="en-US" dirty="0" smtClean="0"/>
              <a:t>兼容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、加记录</a:t>
            </a:r>
            <a:r>
              <a:rPr lang="en-US" altLang="zh-CN" dirty="0" smtClean="0"/>
              <a:t>X</a:t>
            </a:r>
            <a:r>
              <a:rPr lang="zh-CN" altLang="en-US" dirty="0" smtClean="0"/>
              <a:t>锁失败，与线程</a:t>
            </a:r>
            <a:r>
              <a:rPr lang="en-US" altLang="zh-CN" dirty="0" smtClean="0"/>
              <a:t>4321</a:t>
            </a:r>
            <a:r>
              <a:rPr lang="zh-CN" altLang="en-US" dirty="0" smtClean="0"/>
              <a:t>的读锁冲突，</a:t>
            </a:r>
            <a:r>
              <a:rPr lang="zh-CN" altLang="en-US" b="1" dirty="0" smtClean="0">
                <a:solidFill>
                  <a:srgbClr val="FF0000"/>
                </a:solidFill>
              </a:rPr>
              <a:t>此时触发</a:t>
            </a:r>
            <a:r>
              <a:rPr lang="en-US" altLang="zh-CN" b="1" dirty="0" smtClean="0">
                <a:solidFill>
                  <a:srgbClr val="FF0000"/>
                </a:solidFill>
              </a:rPr>
              <a:t>release</a:t>
            </a:r>
            <a:r>
              <a:rPr lang="zh-CN" altLang="en-US" b="1" dirty="0" smtClean="0">
                <a:solidFill>
                  <a:srgbClr val="FF0000"/>
                </a:solidFill>
              </a:rPr>
              <a:t>流程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03899" y="5808887"/>
            <a:ext cx="5206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: cl</a:t>
            </a:r>
            <a:r>
              <a:rPr lang="zh-CN" altLang="en-US" dirty="0" smtClean="0"/>
              <a:t>锁的级别没有恢复为</a:t>
            </a:r>
            <a:r>
              <a:rPr lang="en-US" altLang="zh-CN" dirty="0" smtClean="0"/>
              <a:t>IS</a:t>
            </a:r>
            <a:r>
              <a:rPr lang="zh-CN" altLang="en-US" dirty="0" smtClean="0"/>
              <a:t>，仍然是升级后的</a:t>
            </a:r>
            <a:r>
              <a:rPr lang="en-US" altLang="zh-CN" dirty="0" smtClean="0"/>
              <a:t>IX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720051" y="5694736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cl:IX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dirty="0" err="1"/>
              <a:t>record:S</a:t>
            </a:r>
            <a:endParaRPr lang="zh-CN" altLang="en-US" dirty="0" err="1"/>
          </a:p>
        </p:txBody>
      </p:sp>
      <p:sp>
        <p:nvSpPr>
          <p:cNvPr id="2" name="文本框 1"/>
          <p:cNvSpPr txBox="1"/>
          <p:nvPr/>
        </p:nvSpPr>
        <p:spPr>
          <a:xfrm>
            <a:off x="838200" y="24717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记录加读锁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38200" y="33398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记录加读锁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38200" y="4097031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记录加写锁</a:t>
            </a:r>
            <a:endParaRPr lang="en-US" altLang="zh-CN" dirty="0" smtClean="0"/>
          </a:p>
          <a:p>
            <a:r>
              <a:rPr lang="zh-CN" altLang="en-US" dirty="0" smtClean="0"/>
              <a:t>实际做升级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38200" y="5944121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Release</a:t>
            </a:r>
            <a:r>
              <a:rPr lang="zh-CN" altLang="en-US" dirty="0" smtClean="0"/>
              <a:t>之后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689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tryOrAppendX</a:t>
            </a:r>
            <a:r>
              <a:rPr lang="zh-CN" altLang="en-US" dirty="0" smtClean="0"/>
              <a:t>接口锁升级返回码问题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26274" y="1828800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在</a:t>
            </a:r>
            <a:r>
              <a:rPr lang="en-US" altLang="zh-CN" sz="1600" dirty="0"/>
              <a:t>_</a:t>
            </a:r>
            <a:r>
              <a:rPr lang="en-US" altLang="zh-CN" sz="1600" dirty="0" err="1"/>
              <a:t>dmsExtScanner</a:t>
            </a:r>
            <a:r>
              <a:rPr lang="en-US" altLang="zh-CN" sz="1600" dirty="0"/>
              <a:t>::_</a:t>
            </a:r>
            <a:r>
              <a:rPr lang="en-US" altLang="zh-CN" sz="1600" dirty="0" err="1" smtClean="0"/>
              <a:t>fetchNext</a:t>
            </a:r>
            <a:r>
              <a:rPr lang="zh-CN" altLang="en-US" sz="1600" dirty="0" smtClean="0"/>
              <a:t>和</a:t>
            </a:r>
            <a:r>
              <a:rPr lang="en-US" altLang="zh-CN" sz="1600" dirty="0"/>
              <a:t>_</a:t>
            </a:r>
            <a:r>
              <a:rPr lang="en-US" altLang="zh-CN" sz="1600" dirty="0" err="1"/>
              <a:t>dmsIXSecScanner</a:t>
            </a:r>
            <a:r>
              <a:rPr lang="en-US" altLang="zh-CN" sz="1600" dirty="0"/>
              <a:t>::advance</a:t>
            </a:r>
            <a:r>
              <a:rPr lang="zh-CN" altLang="en-US" sz="1600" dirty="0" smtClean="0"/>
              <a:t>中使用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1126274" y="2198132"/>
            <a:ext cx="6484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加锁不成功时，将锁加入等待队列中，业务逻辑也进入等待</a:t>
            </a:r>
            <a:endParaRPr lang="en-US" altLang="zh-CN" sz="1600" dirty="0" smtClean="0"/>
          </a:p>
          <a:p>
            <a:r>
              <a:rPr lang="zh-CN" altLang="en-US" sz="1600" dirty="0" smtClean="0"/>
              <a:t>后续配合</a:t>
            </a:r>
            <a:r>
              <a:rPr lang="en-US" altLang="zh-CN" sz="1600" dirty="0" err="1" smtClean="0"/>
              <a:t>waitLock</a:t>
            </a:r>
            <a:r>
              <a:rPr lang="zh-CN" altLang="en-US" sz="1600" dirty="0" smtClean="0"/>
              <a:t>取锁成功后继续执行业务逻辑。避免线程饿死或死锁</a:t>
            </a:r>
            <a:endParaRPr lang="zh-CN" alt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126275" y="3044283"/>
            <a:ext cx="73263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dpsTransLock</a:t>
            </a:r>
            <a:r>
              <a:rPr lang="en-US" altLang="zh-CN" dirty="0"/>
              <a:t>::</a:t>
            </a:r>
            <a:r>
              <a:rPr lang="en-US" altLang="zh-CN" dirty="0" err="1" smtClean="0"/>
              <a:t>tryOrAppendLock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//…</a:t>
            </a:r>
            <a:endParaRPr lang="en-US" altLang="zh-CN" dirty="0"/>
          </a:p>
          <a:p>
            <a:r>
              <a:rPr lang="en-US" altLang="zh-CN" dirty="0" smtClean="0"/>
              <a:t>if </a:t>
            </a:r>
            <a:r>
              <a:rPr lang="en-US" altLang="zh-CN" dirty="0"/>
              <a:t>( </a:t>
            </a:r>
            <a:r>
              <a:rPr lang="en-US" altLang="zh-CN" dirty="0" err="1"/>
              <a:t>pLockInfo</a:t>
            </a:r>
            <a:r>
              <a:rPr lang="en-US" altLang="zh-CN" dirty="0"/>
              <a:t> )</a:t>
            </a:r>
          </a:p>
          <a:p>
            <a:r>
              <a:rPr lang="en-US" altLang="zh-CN" dirty="0" smtClean="0"/>
              <a:t>{</a:t>
            </a:r>
            <a:endParaRPr lang="en-US" altLang="zh-CN" dirty="0"/>
          </a:p>
          <a:p>
            <a:r>
              <a:rPr lang="en-US" altLang="zh-CN" dirty="0" smtClean="0"/>
              <a:t>     </a:t>
            </a:r>
            <a:r>
              <a:rPr lang="en-US" altLang="zh-CN" dirty="0" err="1" smtClean="0"/>
              <a:t>rc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tryUpgradeOrAppendHead</a:t>
            </a:r>
            <a:r>
              <a:rPr lang="en-US" altLang="zh-CN" dirty="0"/>
              <a:t>( </a:t>
            </a:r>
            <a:r>
              <a:rPr lang="en-US" altLang="zh-CN" dirty="0" err="1"/>
              <a:t>eduCB</a:t>
            </a:r>
            <a:r>
              <a:rPr lang="en-US" altLang="zh-CN" dirty="0"/>
              <a:t>, </a:t>
            </a:r>
            <a:r>
              <a:rPr lang="en-US" altLang="zh-CN" dirty="0" err="1"/>
              <a:t>lockId</a:t>
            </a:r>
            <a:r>
              <a:rPr lang="en-US" altLang="zh-CN" dirty="0"/>
              <a:t>, </a:t>
            </a:r>
            <a:r>
              <a:rPr lang="en-US" altLang="zh-CN" dirty="0" err="1"/>
              <a:t>pLockInfo</a:t>
            </a:r>
            <a:r>
              <a:rPr lang="en-US" altLang="zh-CN" dirty="0"/>
              <a:t>, </a:t>
            </a:r>
            <a:r>
              <a:rPr lang="en-US" altLang="zh-CN" dirty="0" err="1"/>
              <a:t>lockType</a:t>
            </a:r>
            <a:r>
              <a:rPr lang="en-US" altLang="zh-CN" dirty="0"/>
              <a:t> );</a:t>
            </a:r>
          </a:p>
          <a:p>
            <a:r>
              <a:rPr lang="en-US" altLang="zh-CN" dirty="0"/>
              <a:t>    </a:t>
            </a:r>
            <a:r>
              <a:rPr lang="en-US" altLang="zh-CN" dirty="0" smtClean="0"/>
              <a:t> </a:t>
            </a:r>
            <a:r>
              <a:rPr lang="en-US" altLang="zh-CN" dirty="0"/>
              <a:t>if ( SDB_OK == </a:t>
            </a:r>
            <a:r>
              <a:rPr lang="en-US" altLang="zh-CN" dirty="0" err="1"/>
              <a:t>rc</a:t>
            </a:r>
            <a:r>
              <a:rPr lang="en-US" altLang="zh-CN" dirty="0"/>
              <a:t> </a:t>
            </a:r>
            <a:r>
              <a:rPr lang="en-US" altLang="zh-CN" dirty="0" smtClean="0"/>
              <a:t>)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smtClean="0"/>
              <a:t> 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  </a:t>
            </a:r>
            <a:r>
              <a:rPr lang="en-US" altLang="zh-CN" dirty="0" smtClean="0"/>
              <a:t>  </a:t>
            </a:r>
            <a:r>
              <a:rPr lang="en-US" altLang="zh-CN" dirty="0" err="1"/>
              <a:t>pLockInfo</a:t>
            </a:r>
            <a:r>
              <a:rPr lang="en-US" altLang="zh-CN" dirty="0"/>
              <a:t>-&gt;</a:t>
            </a:r>
            <a:r>
              <a:rPr lang="en-US" altLang="zh-CN" dirty="0" err="1"/>
              <a:t>incRef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</a:t>
            </a:r>
            <a:r>
              <a:rPr lang="en-US" altLang="zh-CN" dirty="0" smtClean="0"/>
              <a:t> </a:t>
            </a:r>
            <a:r>
              <a:rPr lang="en-US" altLang="zh-CN" dirty="0"/>
              <a:t>}</a:t>
            </a:r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  <p:sp>
        <p:nvSpPr>
          <p:cNvPr id="25" name="圆角矩形标注 24"/>
          <p:cNvSpPr/>
          <p:nvPr/>
        </p:nvSpPr>
        <p:spPr>
          <a:xfrm>
            <a:off x="6735337" y="3012174"/>
            <a:ext cx="5151863" cy="1017549"/>
          </a:xfrm>
          <a:prstGeom prst="wedgeRoundRectCallout">
            <a:avLst>
              <a:gd name="adj1" fmla="val -86948"/>
              <a:gd name="adj2" fmla="val 695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 smtClean="0"/>
              <a:t>返回值为</a:t>
            </a:r>
            <a:r>
              <a:rPr lang="en-US" altLang="zh-CN" sz="1400" dirty="0" smtClean="0"/>
              <a:t>SDB_DPS_TRANS_APPEND_TO_WAIT</a:t>
            </a:r>
            <a:r>
              <a:rPr lang="zh-CN" altLang="en-US" sz="1400" dirty="0" smtClean="0"/>
              <a:t>时，表示已经加入等待队列。而代码中将其当成错误处理，清理掉了上级的</a:t>
            </a:r>
            <a:r>
              <a:rPr lang="en-US" altLang="zh-CN" sz="1400" dirty="0" err="1" smtClean="0"/>
              <a:t>cs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cl</a:t>
            </a:r>
            <a:r>
              <a:rPr lang="zh-CN" altLang="en-US" sz="1400" dirty="0" smtClean="0"/>
              <a:t>锁。此错误码返回给业务处理时，是当成正常进入等待队列处理的。</a:t>
            </a:r>
          </a:p>
        </p:txBody>
      </p:sp>
    </p:spTree>
    <p:extLst>
      <p:ext uri="{BB962C8B-B14F-4D97-AF65-F5344CB8AC3E}">
        <p14:creationId xmlns:p14="http://schemas.microsoft.com/office/powerpoint/2010/main" val="405139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tryOrAppendX</a:t>
            </a:r>
            <a:r>
              <a:rPr lang="zh-CN" altLang="en-US" dirty="0" smtClean="0"/>
              <a:t>接口重复调用问题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8226" y="1906507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dpsTransLock</a:t>
            </a:r>
            <a:endParaRPr lang="zh-CN" altLang="en-US" dirty="0" err="1" smtClean="0"/>
          </a:p>
        </p:txBody>
      </p:sp>
      <p:sp>
        <p:nvSpPr>
          <p:cNvPr id="5" name="圆角矩形 4"/>
          <p:cNvSpPr/>
          <p:nvPr/>
        </p:nvSpPr>
        <p:spPr>
          <a:xfrm>
            <a:off x="2632760" y="1907966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[1]</a:t>
            </a:r>
          </a:p>
        </p:txBody>
      </p:sp>
      <p:cxnSp>
        <p:nvCxnSpPr>
          <p:cNvPr id="6" name="直接连接符 5"/>
          <p:cNvCxnSpPr>
            <a:stCxn id="4" idx="3"/>
            <a:endCxn id="5" idx="1"/>
          </p:cNvCxnSpPr>
          <p:nvPr/>
        </p:nvCxnSpPr>
        <p:spPr>
          <a:xfrm>
            <a:off x="2298211" y="2172725"/>
            <a:ext cx="334549" cy="3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6989658" y="1942315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[4321]</a:t>
            </a:r>
          </a:p>
        </p:txBody>
      </p:sp>
      <p:cxnSp>
        <p:nvCxnSpPr>
          <p:cNvPr id="8" name="直接连接符 7"/>
          <p:cNvCxnSpPr>
            <a:stCxn id="5" idx="3"/>
            <a:endCxn id="7" idx="1"/>
          </p:cNvCxnSpPr>
          <p:nvPr/>
        </p:nvCxnSpPr>
        <p:spPr>
          <a:xfrm flipV="1">
            <a:off x="4345814" y="2174183"/>
            <a:ext cx="2643844" cy="2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854543" y="1884455"/>
            <a:ext cx="1782503" cy="579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[1,2,2]</a:t>
            </a:r>
          </a:p>
          <a:p>
            <a:r>
              <a:rPr lang="en-US" altLang="zh-CN" dirty="0" err="1" smtClean="0"/>
              <a:t>pWaitCB:null</a:t>
            </a:r>
            <a:endParaRPr lang="en-US" altLang="zh-CN" dirty="0" smtClean="0"/>
          </a:p>
        </p:txBody>
      </p:sp>
      <p:sp>
        <p:nvSpPr>
          <p:cNvPr id="10" name="圆角矩形 9"/>
          <p:cNvSpPr/>
          <p:nvPr/>
        </p:nvSpPr>
        <p:spPr>
          <a:xfrm>
            <a:off x="8896167" y="1927150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lockType:X</a:t>
            </a:r>
            <a:endParaRPr lang="en-US" altLang="zh-CN" dirty="0" smtClean="0"/>
          </a:p>
        </p:txBody>
      </p:sp>
      <p:cxnSp>
        <p:nvCxnSpPr>
          <p:cNvPr id="11" name="直接连接符 10"/>
          <p:cNvCxnSpPr>
            <a:stCxn id="7" idx="3"/>
            <a:endCxn id="10" idx="1"/>
          </p:cNvCxnSpPr>
          <p:nvPr/>
        </p:nvCxnSpPr>
        <p:spPr>
          <a:xfrm>
            <a:off x="8436494" y="2174183"/>
            <a:ext cx="459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834259" y="1453965"/>
            <a:ext cx="30332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educb</a:t>
            </a:r>
            <a:r>
              <a:rPr lang="en-US" altLang="zh-CN" dirty="0" smtClean="0"/>
              <a:t>(4321)</a:t>
            </a:r>
            <a:r>
              <a:rPr lang="zh-CN" altLang="en-US" dirty="0"/>
              <a:t> 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lockX</a:t>
            </a:r>
            <a:r>
              <a:rPr lang="en-US" altLang="zh-CN" dirty="0" smtClean="0"/>
              <a:t>(1,2,2)</a:t>
            </a:r>
          </a:p>
        </p:txBody>
      </p:sp>
      <p:sp>
        <p:nvSpPr>
          <p:cNvPr id="30" name="矩形 29"/>
          <p:cNvSpPr/>
          <p:nvPr/>
        </p:nvSpPr>
        <p:spPr>
          <a:xfrm>
            <a:off x="843622" y="2616070"/>
            <a:ext cx="38635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educb</a:t>
            </a:r>
            <a:r>
              <a:rPr lang="en-US" altLang="zh-CN" dirty="0"/>
              <a:t>(1234) </a:t>
            </a:r>
            <a:r>
              <a:rPr lang="en-US" altLang="zh-CN" dirty="0" err="1"/>
              <a:t>tryOrAppendS</a:t>
            </a:r>
            <a:r>
              <a:rPr lang="en-US" altLang="zh-CN" dirty="0"/>
              <a:t>(1,2,2)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838200" y="3926513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pmdEDUCB</a:t>
            </a:r>
            <a:endParaRPr lang="zh-CN" altLang="en-US" dirty="0" err="1" smtClean="0"/>
          </a:p>
        </p:txBody>
      </p:sp>
      <p:sp>
        <p:nvSpPr>
          <p:cNvPr id="32" name="圆角矩形 31"/>
          <p:cNvSpPr/>
          <p:nvPr/>
        </p:nvSpPr>
        <p:spPr>
          <a:xfrm>
            <a:off x="2657074" y="3898297"/>
            <a:ext cx="2169425" cy="58886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[1,2,2]</a:t>
            </a:r>
          </a:p>
        </p:txBody>
      </p:sp>
      <p:cxnSp>
        <p:nvCxnSpPr>
          <p:cNvPr id="33" name="直接连接符 32"/>
          <p:cNvCxnSpPr>
            <a:stCxn id="31" idx="3"/>
            <a:endCxn id="32" idx="1"/>
          </p:cNvCxnSpPr>
          <p:nvPr/>
        </p:nvCxnSpPr>
        <p:spPr>
          <a:xfrm flipV="1">
            <a:off x="2308185" y="4192728"/>
            <a:ext cx="348889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838200" y="3926512"/>
            <a:ext cx="1469985" cy="5324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educb</a:t>
            </a:r>
            <a:r>
              <a:rPr lang="en-US" altLang="zh-CN" dirty="0" smtClean="0"/>
              <a:t>(1234)</a:t>
            </a:r>
            <a:endParaRPr lang="zh-CN" altLang="en-US" dirty="0" err="1" smtClean="0"/>
          </a:p>
        </p:txBody>
      </p:sp>
      <p:sp>
        <p:nvSpPr>
          <p:cNvPr id="35" name="圆角矩形 34"/>
          <p:cNvSpPr/>
          <p:nvPr/>
        </p:nvSpPr>
        <p:spPr>
          <a:xfrm>
            <a:off x="5115459" y="3780742"/>
            <a:ext cx="1961081" cy="8203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lockType:S</a:t>
            </a:r>
            <a:endParaRPr lang="en-US" altLang="zh-CN" dirty="0" smtClean="0"/>
          </a:p>
          <a:p>
            <a:r>
              <a:rPr lang="en-US" altLang="zh-CN" dirty="0" smtClean="0"/>
              <a:t>_</a:t>
            </a:r>
            <a:r>
              <a:rPr lang="en-US" altLang="zh-CN" dirty="0" err="1" smtClean="0"/>
              <a:t>pNextWaitCB:null</a:t>
            </a:r>
            <a:endParaRPr lang="en-US" altLang="zh-CN" dirty="0" smtClean="0"/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36" name="直接连接符 35"/>
          <p:cNvCxnSpPr>
            <a:stCxn id="32" idx="3"/>
            <a:endCxn id="35" idx="1"/>
          </p:cNvCxnSpPr>
          <p:nvPr/>
        </p:nvCxnSpPr>
        <p:spPr>
          <a:xfrm flipV="1">
            <a:off x="4826499" y="4190920"/>
            <a:ext cx="288960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838200" y="3076134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dpsTransLock</a:t>
            </a:r>
            <a:endParaRPr lang="zh-CN" altLang="en-US" dirty="0" err="1" smtClean="0"/>
          </a:p>
        </p:txBody>
      </p:sp>
      <p:sp>
        <p:nvSpPr>
          <p:cNvPr id="39" name="圆角矩形 38"/>
          <p:cNvSpPr/>
          <p:nvPr/>
        </p:nvSpPr>
        <p:spPr>
          <a:xfrm>
            <a:off x="2642734" y="3076134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[1]</a:t>
            </a:r>
          </a:p>
        </p:txBody>
      </p:sp>
      <p:cxnSp>
        <p:nvCxnSpPr>
          <p:cNvPr id="40" name="直接连接符 39"/>
          <p:cNvCxnSpPr>
            <a:stCxn id="38" idx="3"/>
            <a:endCxn id="39" idx="1"/>
          </p:cNvCxnSpPr>
          <p:nvPr/>
        </p:nvCxnSpPr>
        <p:spPr>
          <a:xfrm>
            <a:off x="2308185" y="3342352"/>
            <a:ext cx="334549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7292179" y="3110484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[4321]</a:t>
            </a:r>
          </a:p>
        </p:txBody>
      </p:sp>
      <p:cxnSp>
        <p:nvCxnSpPr>
          <p:cNvPr id="42" name="直接连接符 41"/>
          <p:cNvCxnSpPr>
            <a:stCxn id="43" idx="3"/>
            <a:endCxn id="41" idx="1"/>
          </p:cNvCxnSpPr>
          <p:nvPr/>
        </p:nvCxnSpPr>
        <p:spPr>
          <a:xfrm>
            <a:off x="6958898" y="3340002"/>
            <a:ext cx="333281" cy="2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4655480" y="3047923"/>
            <a:ext cx="2303418" cy="58415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[1,2,2]</a:t>
            </a:r>
          </a:p>
          <a:p>
            <a:r>
              <a:rPr lang="en-US" altLang="zh-CN" dirty="0" err="1" smtClean="0"/>
              <a:t>pWaitCB</a:t>
            </a:r>
            <a:r>
              <a:rPr lang="en-US" altLang="zh-CN" dirty="0"/>
              <a:t>: </a:t>
            </a:r>
            <a:r>
              <a:rPr lang="en-US" altLang="zh-CN" dirty="0" err="1" smtClean="0"/>
              <a:t>educb</a:t>
            </a:r>
            <a:r>
              <a:rPr lang="en-US" altLang="zh-CN" dirty="0" smtClean="0"/>
              <a:t>(1234</a:t>
            </a:r>
            <a:r>
              <a:rPr lang="en-US" altLang="zh-CN" dirty="0"/>
              <a:t>)</a:t>
            </a:r>
            <a:endParaRPr lang="en-US" altLang="zh-CN" dirty="0" smtClean="0"/>
          </a:p>
        </p:txBody>
      </p:sp>
      <p:sp>
        <p:nvSpPr>
          <p:cNvPr id="44" name="圆角矩形 43"/>
          <p:cNvSpPr/>
          <p:nvPr/>
        </p:nvSpPr>
        <p:spPr>
          <a:xfrm>
            <a:off x="9129165" y="3095319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lockType:X</a:t>
            </a:r>
            <a:endParaRPr lang="en-US" altLang="zh-CN" dirty="0" smtClean="0"/>
          </a:p>
        </p:txBody>
      </p:sp>
      <p:cxnSp>
        <p:nvCxnSpPr>
          <p:cNvPr id="45" name="直接连接符 44"/>
          <p:cNvCxnSpPr>
            <a:stCxn id="41" idx="3"/>
            <a:endCxn id="44" idx="1"/>
          </p:cNvCxnSpPr>
          <p:nvPr/>
        </p:nvCxnSpPr>
        <p:spPr>
          <a:xfrm>
            <a:off x="8739015" y="3342352"/>
            <a:ext cx="39015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34" idx="0"/>
          </p:cNvCxnSpPr>
          <p:nvPr/>
        </p:nvCxnSpPr>
        <p:spPr>
          <a:xfrm flipH="1">
            <a:off x="1573193" y="3608569"/>
            <a:ext cx="3291324" cy="31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39" idx="3"/>
            <a:endCxn id="43" idx="1"/>
          </p:cNvCxnSpPr>
          <p:nvPr/>
        </p:nvCxnSpPr>
        <p:spPr>
          <a:xfrm flipV="1">
            <a:off x="4355788" y="3340002"/>
            <a:ext cx="299692" cy="4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851059" y="4653023"/>
            <a:ext cx="47243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educb</a:t>
            </a:r>
            <a:r>
              <a:rPr lang="en-US" altLang="zh-CN" dirty="0" smtClean="0"/>
              <a:t>(1234)</a:t>
            </a:r>
            <a:r>
              <a:rPr lang="zh-CN" altLang="en-US" dirty="0"/>
              <a:t>再次调用</a:t>
            </a:r>
            <a:r>
              <a:rPr lang="en-US" altLang="zh-CN" dirty="0" err="1" smtClean="0"/>
              <a:t>tryOrAppendS</a:t>
            </a:r>
            <a:r>
              <a:rPr lang="en-US" altLang="zh-CN" dirty="0" smtClean="0"/>
              <a:t>(1,2,2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845637" y="5963466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pmdEDUCB</a:t>
            </a:r>
            <a:endParaRPr lang="zh-CN" altLang="en-US" dirty="0" err="1" smtClean="0"/>
          </a:p>
        </p:txBody>
      </p:sp>
      <p:sp>
        <p:nvSpPr>
          <p:cNvPr id="65" name="圆角矩形 64"/>
          <p:cNvSpPr/>
          <p:nvPr/>
        </p:nvSpPr>
        <p:spPr>
          <a:xfrm>
            <a:off x="2664511" y="5935250"/>
            <a:ext cx="2169425" cy="58886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transLockLst</a:t>
            </a:r>
            <a:r>
              <a:rPr lang="en-US" altLang="zh-CN" dirty="0" smtClean="0"/>
              <a:t>[1,2,2]</a:t>
            </a:r>
          </a:p>
        </p:txBody>
      </p:sp>
      <p:cxnSp>
        <p:nvCxnSpPr>
          <p:cNvPr id="66" name="直接连接符 65"/>
          <p:cNvCxnSpPr>
            <a:stCxn id="64" idx="3"/>
            <a:endCxn id="65" idx="1"/>
          </p:cNvCxnSpPr>
          <p:nvPr/>
        </p:nvCxnSpPr>
        <p:spPr>
          <a:xfrm flipV="1">
            <a:off x="2315622" y="6229681"/>
            <a:ext cx="348889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845637" y="5963465"/>
            <a:ext cx="1469985" cy="53243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educb</a:t>
            </a:r>
            <a:r>
              <a:rPr lang="en-US" altLang="zh-CN" dirty="0" smtClean="0"/>
              <a:t>(1234)</a:t>
            </a:r>
            <a:endParaRPr lang="zh-CN" altLang="en-US" dirty="0" err="1" smtClean="0"/>
          </a:p>
        </p:txBody>
      </p:sp>
      <p:sp>
        <p:nvSpPr>
          <p:cNvPr id="68" name="圆角矩形 67"/>
          <p:cNvSpPr/>
          <p:nvPr/>
        </p:nvSpPr>
        <p:spPr>
          <a:xfrm>
            <a:off x="5122896" y="5817695"/>
            <a:ext cx="2905982" cy="8203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lockType:S</a:t>
            </a:r>
            <a:endParaRPr lang="en-US" altLang="zh-CN" dirty="0" smtClean="0"/>
          </a:p>
          <a:p>
            <a:r>
              <a:rPr lang="en-US" altLang="zh-CN" dirty="0" smtClean="0"/>
              <a:t>_</a:t>
            </a:r>
            <a:r>
              <a:rPr lang="en-US" altLang="zh-CN" b="1" dirty="0" err="1" smtClean="0">
                <a:solidFill>
                  <a:srgbClr val="FF0000"/>
                </a:solidFill>
              </a:rPr>
              <a:t>pNextWaitCB:</a:t>
            </a:r>
            <a:r>
              <a:rPr lang="en-US" altLang="zh-CN" b="1" dirty="0" err="1">
                <a:solidFill>
                  <a:srgbClr val="FF0000"/>
                </a:solidFill>
              </a:rPr>
              <a:t>educb</a:t>
            </a:r>
            <a:r>
              <a:rPr lang="en-US" altLang="zh-CN" b="1" dirty="0">
                <a:solidFill>
                  <a:srgbClr val="FF0000"/>
                </a:solidFill>
              </a:rPr>
              <a:t>(1234</a:t>
            </a:r>
            <a:r>
              <a:rPr lang="en-US" altLang="zh-CN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zh-CN" dirty="0" smtClean="0"/>
              <a:t>_pRef:0</a:t>
            </a:r>
          </a:p>
        </p:txBody>
      </p:sp>
      <p:cxnSp>
        <p:nvCxnSpPr>
          <p:cNvPr id="69" name="直接连接符 68"/>
          <p:cNvCxnSpPr>
            <a:stCxn id="65" idx="3"/>
            <a:endCxn id="68" idx="1"/>
          </p:cNvCxnSpPr>
          <p:nvPr/>
        </p:nvCxnSpPr>
        <p:spPr>
          <a:xfrm flipV="1">
            <a:off x="4833936" y="6227873"/>
            <a:ext cx="288960" cy="1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845637" y="5113087"/>
            <a:ext cx="1469985" cy="53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err="1" smtClean="0"/>
              <a:t>dpsTransLock</a:t>
            </a:r>
            <a:endParaRPr lang="zh-CN" altLang="en-US" dirty="0" err="1" smtClean="0"/>
          </a:p>
        </p:txBody>
      </p:sp>
      <p:sp>
        <p:nvSpPr>
          <p:cNvPr id="71" name="圆角矩形 70"/>
          <p:cNvSpPr/>
          <p:nvPr/>
        </p:nvSpPr>
        <p:spPr>
          <a:xfrm>
            <a:off x="2650171" y="5113087"/>
            <a:ext cx="1713054" cy="53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bucketLst</a:t>
            </a:r>
            <a:r>
              <a:rPr lang="en-US" altLang="zh-CN" dirty="0" smtClean="0"/>
              <a:t>[1]</a:t>
            </a:r>
          </a:p>
        </p:txBody>
      </p:sp>
      <p:cxnSp>
        <p:nvCxnSpPr>
          <p:cNvPr id="72" name="直接连接符 71"/>
          <p:cNvCxnSpPr>
            <a:stCxn id="70" idx="3"/>
            <a:endCxn id="71" idx="1"/>
          </p:cNvCxnSpPr>
          <p:nvPr/>
        </p:nvCxnSpPr>
        <p:spPr>
          <a:xfrm>
            <a:off x="2315622" y="5379305"/>
            <a:ext cx="334549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圆角矩形 72"/>
          <p:cNvSpPr/>
          <p:nvPr/>
        </p:nvSpPr>
        <p:spPr>
          <a:xfrm>
            <a:off x="7299616" y="5147437"/>
            <a:ext cx="1446836" cy="4637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runList</a:t>
            </a:r>
            <a:r>
              <a:rPr lang="en-US" altLang="zh-CN" dirty="0" smtClean="0"/>
              <a:t>[4321]</a:t>
            </a:r>
          </a:p>
        </p:txBody>
      </p:sp>
      <p:cxnSp>
        <p:nvCxnSpPr>
          <p:cNvPr id="74" name="直接连接符 73"/>
          <p:cNvCxnSpPr>
            <a:stCxn id="75" idx="3"/>
            <a:endCxn id="73" idx="1"/>
          </p:cNvCxnSpPr>
          <p:nvPr/>
        </p:nvCxnSpPr>
        <p:spPr>
          <a:xfrm>
            <a:off x="6966335" y="5376955"/>
            <a:ext cx="333281" cy="2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圆角矩形 74"/>
          <p:cNvSpPr/>
          <p:nvPr/>
        </p:nvSpPr>
        <p:spPr>
          <a:xfrm>
            <a:off x="4662917" y="5084876"/>
            <a:ext cx="2303418" cy="58415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__</a:t>
            </a:r>
            <a:r>
              <a:rPr lang="en-US" altLang="zh-CN" dirty="0" err="1" smtClean="0"/>
              <a:t>lockLst</a:t>
            </a:r>
            <a:r>
              <a:rPr lang="en-US" altLang="zh-CN" dirty="0" smtClean="0"/>
              <a:t>[1,2,2]</a:t>
            </a:r>
          </a:p>
          <a:p>
            <a:r>
              <a:rPr lang="en-US" altLang="zh-CN" dirty="0" err="1" smtClean="0"/>
              <a:t>pWaitCB</a:t>
            </a:r>
            <a:r>
              <a:rPr lang="en-US" altLang="zh-CN" dirty="0"/>
              <a:t>: </a:t>
            </a:r>
            <a:r>
              <a:rPr lang="en-US" altLang="zh-CN" dirty="0" err="1" smtClean="0"/>
              <a:t>educb</a:t>
            </a:r>
            <a:r>
              <a:rPr lang="en-US" altLang="zh-CN" dirty="0" smtClean="0"/>
              <a:t>(1234</a:t>
            </a:r>
            <a:r>
              <a:rPr lang="en-US" altLang="zh-CN" dirty="0"/>
              <a:t>)</a:t>
            </a:r>
            <a:endParaRPr lang="en-US" altLang="zh-CN" dirty="0" smtClean="0"/>
          </a:p>
        </p:txBody>
      </p:sp>
      <p:sp>
        <p:nvSpPr>
          <p:cNvPr id="76" name="圆角矩形 75"/>
          <p:cNvSpPr/>
          <p:nvPr/>
        </p:nvSpPr>
        <p:spPr>
          <a:xfrm>
            <a:off x="9136602" y="5132272"/>
            <a:ext cx="1446836" cy="49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smtClean="0"/>
              <a:t>_</a:t>
            </a:r>
            <a:r>
              <a:rPr lang="en-US" altLang="zh-CN" dirty="0" err="1" smtClean="0"/>
              <a:t>lockType:X</a:t>
            </a:r>
            <a:endParaRPr lang="en-US" altLang="zh-CN" dirty="0" smtClean="0"/>
          </a:p>
        </p:txBody>
      </p:sp>
      <p:cxnSp>
        <p:nvCxnSpPr>
          <p:cNvPr id="77" name="直接连接符 76"/>
          <p:cNvCxnSpPr>
            <a:stCxn id="73" idx="3"/>
            <a:endCxn id="76" idx="1"/>
          </p:cNvCxnSpPr>
          <p:nvPr/>
        </p:nvCxnSpPr>
        <p:spPr>
          <a:xfrm>
            <a:off x="8746452" y="5379305"/>
            <a:ext cx="39015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67" idx="0"/>
          </p:cNvCxnSpPr>
          <p:nvPr/>
        </p:nvCxnSpPr>
        <p:spPr>
          <a:xfrm flipH="1">
            <a:off x="1580630" y="5645522"/>
            <a:ext cx="3291324" cy="31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1" idx="3"/>
            <a:endCxn id="75" idx="1"/>
          </p:cNvCxnSpPr>
          <p:nvPr/>
        </p:nvCxnSpPr>
        <p:spPr>
          <a:xfrm flipV="1">
            <a:off x="4363225" y="5376955"/>
            <a:ext cx="299692" cy="4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8896167" y="604320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此时等待链表死循环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3" name="右箭头 82"/>
          <p:cNvSpPr/>
          <p:nvPr/>
        </p:nvSpPr>
        <p:spPr>
          <a:xfrm rot="10800000">
            <a:off x="8086597" y="6163629"/>
            <a:ext cx="847493" cy="1392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394397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调用层级不匹配时没有做保护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720051" y="2222328"/>
            <a:ext cx="983848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dirty="0" err="1" smtClean="0"/>
              <a:t>cl:IS</a:t>
            </a:r>
            <a:endParaRPr lang="en-US" altLang="zh-CN" dirty="0" smtClean="0"/>
          </a:p>
          <a:p>
            <a:r>
              <a:rPr lang="en-US" altLang="zh-CN" dirty="0" err="1" smtClean="0"/>
              <a:t>record:S</a:t>
            </a:r>
            <a:endParaRPr lang="zh-CN" altLang="en-US" dirty="0" err="1" smtClean="0"/>
          </a:p>
        </p:txBody>
      </p:sp>
      <p:sp>
        <p:nvSpPr>
          <p:cNvPr id="5" name="文本框 4"/>
          <p:cNvSpPr txBox="1"/>
          <p:nvPr/>
        </p:nvSpPr>
        <p:spPr>
          <a:xfrm>
            <a:off x="2542561" y="164359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educb:1234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38200" y="24717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记录加读锁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720051" y="3746762"/>
            <a:ext cx="983848" cy="6187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cs:IS</a:t>
            </a:r>
            <a:endParaRPr lang="en-US" altLang="zh-CN" dirty="0" smtClean="0"/>
          </a:p>
          <a:p>
            <a:r>
              <a:rPr lang="en-US" altLang="zh-CN" dirty="0" err="1" smtClean="0"/>
              <a:t>cl:S</a:t>
            </a:r>
            <a:endParaRPr lang="en-US" altLang="zh-CN" dirty="0" smtClean="0"/>
          </a:p>
        </p:txBody>
      </p:sp>
      <p:sp>
        <p:nvSpPr>
          <p:cNvPr id="9" name="文本框 8"/>
          <p:cNvSpPr txBox="1"/>
          <p:nvPr/>
        </p:nvSpPr>
        <p:spPr>
          <a:xfrm>
            <a:off x="838200" y="3871455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</a:t>
            </a:r>
            <a:r>
              <a:rPr lang="zh-CN" altLang="en-US" dirty="0" smtClean="0"/>
              <a:t>解锁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720051" y="5021811"/>
            <a:ext cx="983848" cy="837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 smtClean="0"/>
              <a:t>cs:null</a:t>
            </a:r>
            <a:endParaRPr lang="en-US" altLang="zh-CN" dirty="0"/>
          </a:p>
          <a:p>
            <a:r>
              <a:rPr lang="en-US" altLang="zh-CN" dirty="0" err="1" smtClean="0"/>
              <a:t>cl:null</a:t>
            </a:r>
            <a:endParaRPr lang="en-US" altLang="zh-CN" dirty="0"/>
          </a:p>
          <a:p>
            <a:r>
              <a:rPr lang="en-US" altLang="zh-CN" dirty="0" err="1"/>
              <a:t>record:S</a:t>
            </a:r>
            <a:endParaRPr lang="zh-CN" altLang="en-US" dirty="0" err="1"/>
          </a:p>
        </p:txBody>
      </p:sp>
      <p:sp>
        <p:nvSpPr>
          <p:cNvPr id="11" name="文本框 10"/>
          <p:cNvSpPr txBox="1"/>
          <p:nvPr/>
        </p:nvSpPr>
        <p:spPr>
          <a:xfrm>
            <a:off x="838200" y="5256113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</a:t>
            </a:r>
            <a:r>
              <a:rPr lang="zh-CN" altLang="en-US" dirty="0" smtClean="0"/>
              <a:t>解锁后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565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其他问题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4130"/>
          </a:xfrm>
        </p:spPr>
        <p:txBody>
          <a:bodyPr/>
          <a:lstStyle/>
          <a:p>
            <a:r>
              <a:rPr lang="zh-CN" altLang="en-US" dirty="0" smtClean="0"/>
              <a:t>重复代码</a:t>
            </a:r>
            <a:endParaRPr lang="en-US" altLang="zh-CN" dirty="0" smtClean="0"/>
          </a:p>
          <a:p>
            <a:r>
              <a:rPr lang="zh-CN" altLang="en-US" dirty="0" smtClean="0"/>
              <a:t>不具可扩展性，不具可读性，毫无必要的</a:t>
            </a:r>
            <a:r>
              <a:rPr lang="zh-CN" altLang="en-US" dirty="0"/>
              <a:t>代码技巧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46791" y="2786532"/>
            <a:ext cx="70984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判断是否能升级锁</a:t>
            </a:r>
            <a:endParaRPr lang="en-US" altLang="zh-CN" dirty="0" smtClean="0"/>
          </a:p>
          <a:p>
            <a:r>
              <a:rPr lang="en-US" altLang="zh-CN" dirty="0" smtClean="0"/>
              <a:t>if ( (</a:t>
            </a:r>
            <a:r>
              <a:rPr lang="en-US" altLang="zh-CN" dirty="0" err="1" smtClean="0"/>
              <a:t>dstType</a:t>
            </a:r>
            <a:r>
              <a:rPr lang="en-US" altLang="zh-CN" dirty="0" smtClean="0"/>
              <a:t> - </a:t>
            </a:r>
            <a:r>
              <a:rPr lang="en-US" altLang="zh-CN" dirty="0" err="1" smtClean="0"/>
              <a:t>srcType</a:t>
            </a:r>
            <a:r>
              <a:rPr lang="en-US" altLang="zh-CN" dirty="0" smtClean="0"/>
              <a:t> == 1 &amp;&amp; </a:t>
            </a:r>
            <a:r>
              <a:rPr lang="en-US" altLang="zh-CN" dirty="0" err="1" smtClean="0"/>
              <a:t>srcType</a:t>
            </a:r>
            <a:r>
              <a:rPr lang="en-US" altLang="zh-CN" dirty="0" smtClean="0"/>
              <a:t> != DPS_TRANSLOCK_IX ) ||</a:t>
            </a:r>
          </a:p>
          <a:p>
            <a:r>
              <a:rPr lang="en-US" altLang="zh-CN" dirty="0" smtClean="0"/>
              <a:t>           (</a:t>
            </a:r>
            <a:r>
              <a:rPr lang="en-US" altLang="zh-CN" dirty="0" err="1" smtClean="0"/>
              <a:t>dstType</a:t>
            </a:r>
            <a:r>
              <a:rPr lang="en-US" altLang="zh-CN" dirty="0" smtClean="0"/>
              <a:t> - </a:t>
            </a:r>
            <a:r>
              <a:rPr lang="en-US" altLang="zh-CN" dirty="0" err="1" smtClean="0"/>
              <a:t>srcType</a:t>
            </a:r>
            <a:r>
              <a:rPr lang="en-US" altLang="zh-CN" dirty="0" smtClean="0"/>
              <a:t> == 2 &amp;&amp; </a:t>
            </a:r>
            <a:r>
              <a:rPr lang="en-US" altLang="zh-CN" dirty="0" err="1" smtClean="0"/>
              <a:t>dstType</a:t>
            </a:r>
            <a:r>
              <a:rPr lang="en-US" altLang="zh-CN" dirty="0" smtClean="0"/>
              <a:t> != DPS_TRANSLOCK_X ) )</a:t>
            </a:r>
          </a:p>
          <a:p>
            <a:r>
              <a:rPr lang="en-US" altLang="zh-CN" dirty="0" smtClean="0"/>
              <a:t>{</a:t>
            </a:r>
          </a:p>
          <a:p>
            <a:r>
              <a:rPr lang="en-US" altLang="zh-CN" dirty="0" smtClean="0"/>
              <a:t>     return SDB_OK;</a:t>
            </a:r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46791" y="4650056"/>
            <a:ext cx="447911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判断是否能</a:t>
            </a:r>
            <a:r>
              <a:rPr lang="zh-CN" altLang="en-US" dirty="0"/>
              <a:t>兼容</a:t>
            </a:r>
            <a:endParaRPr lang="en-US" altLang="zh-CN" dirty="0" smtClean="0"/>
          </a:p>
          <a:p>
            <a:r>
              <a:rPr lang="en-US" altLang="zh-CN" dirty="0" smtClean="0"/>
              <a:t>if (( first | second ) == DPS_TRANSLOCK_X )</a:t>
            </a:r>
          </a:p>
          <a:p>
            <a:r>
              <a:rPr lang="en-US" altLang="zh-CN" dirty="0" smtClean="0"/>
              <a:t>{</a:t>
            </a:r>
          </a:p>
          <a:p>
            <a:r>
              <a:rPr lang="en-US" altLang="zh-CN" dirty="0" smtClean="0"/>
              <a:t>    return FALSE;</a:t>
            </a:r>
          </a:p>
          <a:p>
            <a:r>
              <a:rPr lang="en-US" altLang="zh-CN" dirty="0" smtClean="0"/>
              <a:t>}</a:t>
            </a:r>
          </a:p>
          <a:p>
            <a:r>
              <a:rPr lang="en-US" altLang="zh-CN" dirty="0" smtClean="0"/>
              <a:t>return TRUE;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36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</TotalTime>
  <Words>792</Words>
  <Application>Microsoft Office PowerPoint</Application>
  <PresentationFormat>宽屏</PresentationFormat>
  <Paragraphs>209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锁升级后解锁</vt:lpstr>
      <vt:lpstr>TryX升级后回滚问题</vt:lpstr>
      <vt:lpstr>tryOrAppendX接口锁升级返回码问题</vt:lpstr>
      <vt:lpstr>tryOrAppendX接口重复调用问题</vt:lpstr>
      <vt:lpstr>调用层级不匹配时没有做保护</vt:lpstr>
      <vt:lpstr>其他问题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linyoubin</dc:creator>
  <cp:lastModifiedBy>linyoubin</cp:lastModifiedBy>
  <cp:revision>160</cp:revision>
  <dcterms:created xsi:type="dcterms:W3CDTF">2018-10-16T09:48:57Z</dcterms:created>
  <dcterms:modified xsi:type="dcterms:W3CDTF">2018-10-19T09:05:05Z</dcterms:modified>
</cp:coreProperties>
</file>