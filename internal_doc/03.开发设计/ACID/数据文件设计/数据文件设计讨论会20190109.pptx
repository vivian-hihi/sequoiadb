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67" r:id="rId4"/>
    <p:sldId id="257" r:id="rId5"/>
    <p:sldId id="263" r:id="rId6"/>
    <p:sldId id="266" r:id="rId7"/>
    <p:sldId id="261" r:id="rId8"/>
    <p:sldId id="277" r:id="rId9"/>
    <p:sldId id="274" r:id="rId10"/>
    <p:sldId id="270" r:id="rId11"/>
    <p:sldId id="265" r:id="rId12"/>
    <p:sldId id="275" r:id="rId13"/>
    <p:sldId id="273" r:id="rId14"/>
    <p:sldId id="278" r:id="rId15"/>
    <p:sldId id="268" r:id="rId16"/>
    <p:sldId id="26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youbin" initials="l" lastIdx="7" clrIdx="0">
    <p:extLst>
      <p:ext uri="{19B8F6BF-5375-455C-9EA6-DF929625EA0E}">
        <p15:presenceInfo xmlns:p15="http://schemas.microsoft.com/office/powerpoint/2012/main" userId="linyoub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53" autoAdjust="0"/>
    <p:restoredTop sz="88515" autoAdjust="0"/>
  </p:normalViewPr>
  <p:slideViewPr>
    <p:cSldViewPr snapToGrid="0">
      <p:cViewPr varScale="1">
        <p:scale>
          <a:sx n="80" d="100"/>
          <a:sy n="80" d="100"/>
        </p:scale>
        <p:origin x="1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1-09T21:35:48.711" idx="2">
    <p:pos x="4272" y="456"/>
    <p:text>元数据的LSN是否需要增加， DDL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1-09T21:57:35.874" idx="3">
    <p:pos x="4157" y="2986"/>
    <p:text>可以省略 page num字段</p:text>
    <p:extLst>
      <p:ext uri="{C676402C-5697-4E1C-873F-D02D1690AC5C}">
        <p15:threadingInfo xmlns:p15="http://schemas.microsoft.com/office/powerpoint/2012/main" timeZoneBias="-480"/>
      </p:ext>
    </p:extLst>
  </p:cm>
  <p:cm authorId="1" dt="2019-01-09T22:04:10.724" idx="4">
    <p:pos x="4378" y="2467"/>
    <p:text>type与EYE_CATCHER合并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1-09T22:16:30.701" idx="5">
    <p:pos x="4469" y="1546"/>
    <p:text>考虑是否有使用场景？</p:text>
    <p:extLst>
      <p:ext uri="{C676402C-5697-4E1C-873F-D02D1690AC5C}">
        <p15:threadingInfo xmlns:p15="http://schemas.microsoft.com/office/powerpoint/2012/main" timeZoneBias="-480"/>
      </p:ext>
    </p:extLst>
  </p:cm>
  <p:cm authorId="1" dt="2019-01-09T22:16:44.974" idx="6">
    <p:pos x="3288" y="1910"/>
    <p:text>record count两字节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1-09T22:45:15.379" idx="7">
    <p:pos x="7243" y="1382"/>
    <p:text>具体算法需要再斟酌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CF9C5-560D-4BE0-8FF5-372197204B47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27AFA-EB4C-4686-97EC-5D83EA90D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282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78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707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337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174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 smtClean="0"/>
              <a:t>根据记录大小分为</a:t>
            </a:r>
            <a:r>
              <a:rPr lang="en-US" altLang="zh-CN" sz="1200" baseline="0" dirty="0" smtClean="0"/>
              <a:t>4</a:t>
            </a:r>
            <a:r>
              <a:rPr lang="zh-CN" altLang="en-US" sz="1200" baseline="0" dirty="0" smtClean="0"/>
              <a:t>个</a:t>
            </a:r>
            <a:r>
              <a:rPr lang="en-US" altLang="zh-CN" sz="1200" baseline="0" dirty="0" smtClean="0"/>
              <a:t>level</a:t>
            </a:r>
            <a:r>
              <a:rPr lang="zh-CN" altLang="en-US" sz="1200" baseline="0" dirty="0" smtClean="0"/>
              <a:t>：</a:t>
            </a:r>
            <a:endParaRPr lang="en-US" altLang="zh-CN" sz="120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(0, 4k)</a:t>
            </a:r>
            <a:r>
              <a:rPr lang="zh-CN" altLang="en-US" sz="1200" baseline="0" dirty="0" smtClean="0"/>
              <a:t>、</a:t>
            </a:r>
            <a:r>
              <a:rPr lang="en-US" altLang="zh-CN" sz="1200" baseline="0" dirty="0" smtClean="0"/>
              <a:t>[4k, 64k)</a:t>
            </a:r>
            <a:r>
              <a:rPr lang="zh-CN" altLang="en-US" sz="1200" baseline="0" dirty="0" smtClean="0"/>
              <a:t>、</a:t>
            </a:r>
            <a:r>
              <a:rPr lang="en-US" altLang="zh-CN" sz="1200" baseline="0" dirty="0" smtClean="0"/>
              <a:t>[64k, 1M)</a:t>
            </a:r>
            <a:r>
              <a:rPr lang="zh-CN" altLang="en-US" sz="1200" baseline="0" dirty="0" smtClean="0"/>
              <a:t>、</a:t>
            </a:r>
            <a:r>
              <a:rPr lang="en-US" altLang="zh-CN" sz="1200" baseline="0" dirty="0" smtClean="0"/>
              <a:t>[1M, 16M )</a:t>
            </a:r>
            <a:endParaRPr lang="zh-CN" altLang="en-US" sz="120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781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Slots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Offset</a:t>
            </a:r>
            <a:r>
              <a:rPr lang="zh-CN" altLang="en-US" dirty="0" smtClean="0"/>
              <a:t>前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位留作状态位，填写数据的状态：</a:t>
            </a:r>
            <a:endParaRPr lang="en-US" altLang="zh-CN" dirty="0" smtClean="0"/>
          </a:p>
          <a:p>
            <a:r>
              <a:rPr lang="en-US" altLang="zh-CN" dirty="0" smtClean="0"/>
              <a:t>0x0</a:t>
            </a:r>
            <a:r>
              <a:rPr lang="en-US" altLang="zh-CN" baseline="0" dirty="0" smtClean="0"/>
              <a:t>  normal</a:t>
            </a:r>
          </a:p>
          <a:p>
            <a:r>
              <a:rPr lang="en-US" altLang="zh-CN" baseline="0" dirty="0" smtClean="0"/>
              <a:t>0x1  deleted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93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File size = page </a:t>
            </a:r>
            <a:r>
              <a:rPr lang="en-US" altLang="zh-CN" dirty="0" err="1" smtClean="0"/>
              <a:t>num</a:t>
            </a:r>
            <a:r>
              <a:rPr lang="en-US" altLang="zh-CN" dirty="0" smtClean="0"/>
              <a:t> * page size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/>
              <a:t>Segment slot number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= File size / segment  size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 smtClean="0"/>
              <a:t>记录等级：</a:t>
            </a:r>
            <a:endParaRPr lang="en-US" altLang="zh-CN" sz="120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(0, 4k)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[4k, 64k)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[64k, 1M)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aseline="0" dirty="0" smtClean="0"/>
              <a:t>[1M, 16M )</a:t>
            </a:r>
            <a:endParaRPr lang="zh-CN" altLang="en-US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557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 smtClean="0"/>
              <a:t>1</a:t>
            </a:r>
            <a:r>
              <a:rPr lang="zh-CN" altLang="en-US" baseline="0" dirty="0" smtClean="0"/>
              <a:t>、</a:t>
            </a:r>
            <a:r>
              <a:rPr lang="en-US" altLang="zh-CN" baseline="0" dirty="0" smtClean="0"/>
              <a:t>extent</a:t>
            </a:r>
            <a:r>
              <a:rPr lang="zh-CN" altLang="en-US" baseline="0" dirty="0" smtClean="0"/>
              <a:t>空闲空间 分等级 例如</a:t>
            </a:r>
            <a:r>
              <a:rPr lang="en-US" altLang="zh-CN" baseline="0" dirty="0" smtClean="0"/>
              <a:t>2</a:t>
            </a:r>
            <a:r>
              <a:rPr lang="zh-CN" altLang="en-US" baseline="0" dirty="0" smtClean="0"/>
              <a:t>位 （</a:t>
            </a:r>
            <a:r>
              <a:rPr lang="en-US" altLang="zh-CN" baseline="0" dirty="0" smtClean="0"/>
              <a:t>4</a:t>
            </a:r>
            <a:r>
              <a:rPr lang="zh-CN" altLang="en-US" baseline="0" dirty="0" smtClean="0"/>
              <a:t>个等级） </a:t>
            </a:r>
            <a:endParaRPr lang="en-US" altLang="zh-CN" baseline="0" dirty="0" smtClean="0"/>
          </a:p>
          <a:p>
            <a:r>
              <a:rPr lang="en-US" altLang="zh-CN" baseline="0" dirty="0" smtClean="0"/>
              <a:t>0 [0, 256b</a:t>
            </a:r>
            <a:r>
              <a:rPr lang="zh-CN" altLang="en-US" baseline="0" dirty="0" smtClean="0"/>
              <a:t>）</a:t>
            </a:r>
            <a:endParaRPr lang="en-US" altLang="zh-CN" baseline="0" dirty="0" smtClean="0"/>
          </a:p>
          <a:p>
            <a:r>
              <a:rPr lang="en-US" altLang="zh-CN" baseline="0" dirty="0" smtClean="0"/>
              <a:t>1 [256, 1k</a:t>
            </a:r>
            <a:r>
              <a:rPr lang="zh-CN" altLang="en-US" baseline="0" dirty="0" smtClean="0"/>
              <a:t>）</a:t>
            </a:r>
            <a:endParaRPr lang="en-US" altLang="zh-CN" baseline="0" dirty="0" smtClean="0"/>
          </a:p>
          <a:p>
            <a:r>
              <a:rPr lang="en-US" altLang="zh-CN" baseline="0" dirty="0" smtClean="0"/>
              <a:t>2 [1k,2k)</a:t>
            </a:r>
          </a:p>
          <a:p>
            <a:r>
              <a:rPr lang="en-US" altLang="zh-CN" baseline="0" dirty="0" smtClean="0"/>
              <a:t>3 [2k,4k]</a:t>
            </a:r>
          </a:p>
          <a:p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2</a:t>
            </a:r>
            <a:r>
              <a:rPr lang="zh-CN" altLang="en-US" baseline="0" dirty="0" smtClean="0"/>
              <a:t>、分配 </a:t>
            </a:r>
            <a:r>
              <a:rPr lang="en-US" altLang="zh-CN" baseline="0" dirty="0" smtClean="0"/>
              <a:t>257</a:t>
            </a:r>
            <a:r>
              <a:rPr lang="zh-CN" altLang="en-US" baseline="0" dirty="0" smtClean="0"/>
              <a:t>字节时， 优先分配到等级</a:t>
            </a:r>
            <a:r>
              <a:rPr lang="en-US" altLang="zh-CN" baseline="0" dirty="0" smtClean="0"/>
              <a:t>2[1k,2k)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3</a:t>
            </a:r>
            <a:r>
              <a:rPr lang="zh-CN" altLang="en-US" baseline="0" dirty="0" smtClean="0"/>
              <a:t>、分配失败时从等级</a:t>
            </a:r>
            <a:r>
              <a:rPr lang="en-US" altLang="zh-CN" baseline="0" dirty="0" smtClean="0"/>
              <a:t>1</a:t>
            </a:r>
            <a:r>
              <a:rPr lang="zh-CN" altLang="en-US" baseline="0" dirty="0" smtClean="0"/>
              <a:t>尝试</a:t>
            </a:r>
            <a:r>
              <a:rPr lang="en-US" altLang="zh-CN" baseline="0" dirty="0" smtClean="0"/>
              <a:t>2</a:t>
            </a:r>
            <a:r>
              <a:rPr lang="zh-CN" altLang="en-US" baseline="0" dirty="0" smtClean="0"/>
              <a:t>次？ </a:t>
            </a: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4</a:t>
            </a:r>
            <a:r>
              <a:rPr lang="zh-CN" altLang="en-US" baseline="0" dirty="0" smtClean="0"/>
              <a:t>、再失败时分配新的</a:t>
            </a:r>
            <a:r>
              <a:rPr lang="en-US" altLang="zh-CN" baseline="0" dirty="0" smtClean="0"/>
              <a:t>extent</a:t>
            </a:r>
            <a:r>
              <a:rPr lang="zh-CN" altLang="en-US" baseline="0" dirty="0" smtClean="0"/>
              <a:t>。</a:t>
            </a:r>
            <a:endParaRPr lang="en-US" altLang="zh-CN" baseline="0" dirty="0" smtClean="0"/>
          </a:p>
          <a:p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499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128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86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7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5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68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1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19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07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11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90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42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38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DBE0D-D193-4915-9F9C-E6864CED25A9}" type="datetimeFigureOut">
              <a:rPr lang="zh-CN" altLang="en-US" smtClean="0"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4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2">
                    <a:lumMod val="75000"/>
                  </a:schemeClr>
                </a:solidFill>
              </a:rPr>
              <a:t>数据文件设计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4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995055"/>
            <a:ext cx="98764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性能：</a:t>
            </a:r>
            <a:endParaRPr lang="en-US" altLang="zh-CN" sz="2400" dirty="0" smtClean="0"/>
          </a:p>
          <a:p>
            <a:r>
              <a:rPr lang="en-US" altLang="zh-CN" sz="2400" dirty="0" smtClean="0"/>
              <a:t>1</a:t>
            </a:r>
            <a:r>
              <a:rPr lang="zh-CN" altLang="en-US" sz="2400" dirty="0" smtClean="0"/>
              <a:t>、细粒度化锁，尽量避免 </a:t>
            </a:r>
            <a:r>
              <a:rPr lang="en-US" altLang="zh-CN" sz="2400" dirty="0" err="1" smtClean="0"/>
              <a:t>mblock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的表级别锁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、去除链表关系，当前</a:t>
            </a:r>
            <a:r>
              <a:rPr lang="zh-CN" altLang="en-US" sz="2400" dirty="0"/>
              <a:t>方案</a:t>
            </a:r>
            <a:r>
              <a:rPr lang="zh-CN" altLang="en-US" sz="2400" dirty="0" smtClean="0"/>
              <a:t>中，</a:t>
            </a:r>
            <a:r>
              <a:rPr lang="en-US" altLang="zh-CN" sz="2400" dirty="0" smtClean="0"/>
              <a:t>cl </a:t>
            </a:r>
            <a:r>
              <a:rPr lang="zh-CN" altLang="en-US" sz="2400" dirty="0" smtClean="0"/>
              <a:t>间 </a:t>
            </a:r>
            <a:r>
              <a:rPr lang="en-US" altLang="zh-CN" sz="2400" dirty="0" smtClean="0"/>
              <a:t>extent </a:t>
            </a:r>
            <a:r>
              <a:rPr lang="zh-CN" altLang="en-US" sz="2400" dirty="0" smtClean="0"/>
              <a:t>链表，以及 </a:t>
            </a:r>
            <a:r>
              <a:rPr lang="en-US" altLang="zh-CN" sz="2400" dirty="0" err="1" smtClean="0"/>
              <a:t>freelist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链表</a:t>
            </a:r>
            <a:endParaRPr lang="en-US" altLang="zh-CN" sz="2400" dirty="0" smtClean="0"/>
          </a:p>
          <a:p>
            <a:r>
              <a:rPr lang="en-US" altLang="zh-CN" sz="2400" dirty="0" smtClean="0"/>
              <a:t>3</a:t>
            </a:r>
            <a:r>
              <a:rPr lang="zh-CN" altLang="en-US" sz="2400" dirty="0" smtClean="0"/>
              <a:t>、节点间的数据文件（</a:t>
            </a:r>
            <a:r>
              <a:rPr lang="en-US" altLang="zh-CN" sz="2400" dirty="0" smtClean="0"/>
              <a:t>data, capped, lob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不包括</a:t>
            </a:r>
            <a:r>
              <a:rPr lang="en-US" altLang="zh-CN" sz="2400" dirty="0" smtClean="0"/>
              <a:t>index</a:t>
            </a:r>
            <a:r>
              <a:rPr lang="zh-CN" altLang="en-US" sz="2400" dirty="0" smtClean="0"/>
              <a:t>）保持完全一致。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zh-CN" altLang="en-US" sz="2400" dirty="0" smtClean="0"/>
              <a:t>（快速同步数据）</a:t>
            </a:r>
            <a:endParaRPr lang="en-US" altLang="zh-CN" sz="2400" dirty="0" smtClean="0"/>
          </a:p>
          <a:p>
            <a:r>
              <a:rPr lang="en-US" altLang="zh-CN" sz="2400" dirty="0" smtClean="0"/>
              <a:t>4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buffer pool</a:t>
            </a:r>
          </a:p>
          <a:p>
            <a:endParaRPr lang="en-US" altLang="zh-CN" sz="2400" dirty="0"/>
          </a:p>
          <a:p>
            <a:r>
              <a:rPr lang="zh-CN" altLang="en-US" sz="2400" dirty="0" smtClean="0"/>
              <a:t>功能：</a:t>
            </a:r>
            <a:endParaRPr lang="en-US" altLang="zh-CN" sz="2400" dirty="0" smtClean="0"/>
          </a:p>
          <a:p>
            <a:r>
              <a:rPr lang="en-US" altLang="zh-CN" sz="2400" dirty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err="1" smtClean="0"/>
              <a:t>mvcc</a:t>
            </a:r>
            <a:r>
              <a:rPr lang="zh-CN" altLang="en-US" sz="2400" dirty="0" smtClean="0"/>
              <a:t>支持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checkpoint</a:t>
            </a:r>
            <a:r>
              <a:rPr lang="zh-CN" altLang="en-US" sz="2400" dirty="0" smtClean="0"/>
              <a:t>支持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7784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</a:t>
            </a:r>
            <a:r>
              <a:rPr lang="zh-CN" altLang="en-US" dirty="0"/>
              <a:t>总体</a:t>
            </a:r>
            <a:r>
              <a:rPr lang="zh-CN" altLang="en-US" dirty="0" smtClean="0"/>
              <a:t>方案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49251" y="1790163"/>
            <a:ext cx="7938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一个</a:t>
            </a:r>
            <a:r>
              <a:rPr lang="en-US" altLang="zh-CN" dirty="0" err="1" smtClean="0"/>
              <a:t>cs</a:t>
            </a:r>
            <a:r>
              <a:rPr lang="zh-CN" altLang="en-US" dirty="0"/>
              <a:t>一</a:t>
            </a:r>
            <a:r>
              <a:rPr lang="zh-CN" altLang="en-US" dirty="0" smtClean="0"/>
              <a:t>个文件，每个</a:t>
            </a:r>
            <a:r>
              <a:rPr lang="en-US" altLang="zh-CN" dirty="0" smtClean="0"/>
              <a:t>segment</a:t>
            </a:r>
            <a:r>
              <a:rPr lang="zh-CN" altLang="en-US" dirty="0" smtClean="0"/>
              <a:t>内的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可以放</a:t>
            </a:r>
            <a:r>
              <a:rPr lang="zh-CN" altLang="en-US" dirty="0" smtClean="0"/>
              <a:t>不同</a:t>
            </a:r>
            <a:r>
              <a:rPr lang="en-US" altLang="zh-CN" dirty="0" smtClean="0"/>
              <a:t>cl</a:t>
            </a:r>
            <a:r>
              <a:rPr lang="zh-CN" altLang="en-US" dirty="0" smtClean="0"/>
              <a:t>的数据。</a:t>
            </a:r>
            <a:endParaRPr lang="en-US" altLang="zh-CN" dirty="0" smtClean="0"/>
          </a:p>
          <a:p>
            <a:r>
              <a:rPr lang="en-US" altLang="zh-CN" dirty="0" smtClean="0"/>
              <a:t>cl</a:t>
            </a:r>
            <a:r>
              <a:rPr lang="zh-CN" altLang="en-US" dirty="0" smtClean="0"/>
              <a:t>与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的关系由专门的</a:t>
            </a:r>
            <a:r>
              <a:rPr lang="en-US" altLang="zh-CN" dirty="0" err="1" smtClean="0"/>
              <a:t>clRelationExtent</a:t>
            </a:r>
            <a:r>
              <a:rPr lang="zh-CN" altLang="en-US" dirty="0" smtClean="0"/>
              <a:t>来维护，动态增长。</a:t>
            </a:r>
            <a:endParaRPr lang="en-US" altLang="zh-CN" dirty="0" smtClean="0"/>
          </a:p>
          <a:p>
            <a:r>
              <a:rPr lang="en-US" altLang="zh-CN" dirty="0" smtClean="0"/>
              <a:t>Insert</a:t>
            </a:r>
            <a:r>
              <a:rPr lang="zh-CN" altLang="en-US" dirty="0" smtClean="0"/>
              <a:t>时查找空闲空间的</a:t>
            </a:r>
            <a:r>
              <a:rPr lang="en-US" altLang="zh-CN" dirty="0" smtClean="0"/>
              <a:t>bitmap</a:t>
            </a:r>
            <a:r>
              <a:rPr lang="zh-CN" altLang="en-US" dirty="0" smtClean="0"/>
              <a:t>由另外的</a:t>
            </a:r>
            <a:r>
              <a:rPr lang="en-US" altLang="zh-CN" dirty="0" smtClean="0"/>
              <a:t>meta</a:t>
            </a:r>
            <a:r>
              <a:rPr lang="zh-CN" altLang="en-US" dirty="0" smtClean="0"/>
              <a:t>文件保存管理，做快速查找用。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22738" y="3760631"/>
            <a:ext cx="1818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|---</a:t>
            </a:r>
            <a:r>
              <a:rPr lang="en-US" altLang="zh-CN" dirty="0" err="1" smtClean="0"/>
              <a:t>datapath</a:t>
            </a:r>
            <a:endParaRPr lang="en-US" altLang="zh-CN" dirty="0" smtClean="0"/>
          </a:p>
          <a:p>
            <a:r>
              <a:rPr lang="en-US" altLang="zh-CN" dirty="0" smtClean="0"/>
              <a:t>  |---csid.1.data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|---csid.1.meta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939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数据文件总体结构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155802"/>
              </p:ext>
            </p:extLst>
          </p:nvPr>
        </p:nvGraphicFramePr>
        <p:xfrm>
          <a:off x="838200" y="2304872"/>
          <a:ext cx="4479402" cy="2918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567">
                  <a:extLst>
                    <a:ext uri="{9D8B030D-6E8A-4147-A177-3AD203B41FA5}">
                      <a16:colId xmlns:a16="http://schemas.microsoft.com/office/drawing/2014/main" val="3954433220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3984323689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1253501711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3873437384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1048809832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2210134178"/>
                    </a:ext>
                  </a:extLst>
                </a:gridCol>
              </a:tblGrid>
              <a:tr h="36428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371293"/>
                  </a:ext>
                </a:extLst>
              </a:tr>
              <a:tr h="167640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702555"/>
                  </a:ext>
                </a:extLst>
              </a:tr>
              <a:tr h="167640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Data Segment Metadata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943715"/>
                  </a:ext>
                </a:extLst>
              </a:tr>
              <a:tr h="167640"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CS Metadata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02736"/>
                  </a:ext>
                </a:extLst>
              </a:tr>
              <a:tr h="576778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page1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page2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19522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92344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05608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60774"/>
              </p:ext>
            </p:extLst>
          </p:nvPr>
        </p:nvGraphicFramePr>
        <p:xfrm>
          <a:off x="6096000" y="2279479"/>
          <a:ext cx="4479402" cy="2911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9402">
                  <a:extLst>
                    <a:ext uri="{9D8B030D-6E8A-4147-A177-3AD203B41FA5}">
                      <a16:colId xmlns:a16="http://schemas.microsoft.com/office/drawing/2014/main" val="3954433220"/>
                    </a:ext>
                  </a:extLst>
                </a:gridCol>
              </a:tblGrid>
              <a:tr h="3642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737129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0255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Data Segment Metadata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15006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CS Metadata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94675"/>
                  </a:ext>
                </a:extLst>
              </a:tr>
              <a:tr h="4925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segment1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19522"/>
                  </a:ext>
                </a:extLst>
              </a:tr>
              <a:tr h="5337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segment2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92344"/>
                  </a:ext>
                </a:extLst>
              </a:tr>
              <a:tr h="5151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00955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071573" y="6165068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Segment size</a:t>
            </a:r>
            <a:r>
              <a:rPr lang="zh-CN" altLang="en-US" dirty="0" smtClean="0"/>
              <a:t>固定</a:t>
            </a:r>
            <a:r>
              <a:rPr lang="en-US" altLang="zh-CN" dirty="0" smtClean="0"/>
              <a:t>128M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48389" y="6165068"/>
            <a:ext cx="4859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Page size</a:t>
            </a:r>
            <a:r>
              <a:rPr lang="zh-CN" altLang="en-US" dirty="0" smtClean="0"/>
              <a:t>范围</a:t>
            </a:r>
            <a:r>
              <a:rPr lang="en-US" altLang="zh-CN" dirty="0" smtClean="0"/>
              <a:t>[4k, 8k, 16k, 32k, 64k, 128k, 256k]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473407" y="5461937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page </a:t>
            </a:r>
            <a:r>
              <a:rPr lang="zh-CN" altLang="en-US" dirty="0" smtClean="0"/>
              <a:t>视图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51672" y="5461937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segment</a:t>
            </a:r>
            <a:r>
              <a:rPr lang="en-US" altLang="zh-CN" dirty="0" smtClean="0"/>
              <a:t> </a:t>
            </a:r>
            <a:r>
              <a:rPr lang="zh-CN" altLang="en-US" dirty="0" smtClean="0"/>
              <a:t>视图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896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13204"/>
          </a:xfrm>
        </p:spPr>
        <p:txBody>
          <a:bodyPr/>
          <a:lstStyle/>
          <a:p>
            <a:r>
              <a:rPr lang="en-US" altLang="zh-CN" dirty="0" smtClean="0"/>
              <a:t>File Header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221610"/>
              </p:ext>
            </p:extLst>
          </p:nvPr>
        </p:nvGraphicFramePr>
        <p:xfrm>
          <a:off x="838200" y="1766682"/>
          <a:ext cx="6342924" cy="4159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584">
                  <a:extLst>
                    <a:ext uri="{9D8B030D-6E8A-4147-A177-3AD203B41FA5}">
                      <a16:colId xmlns:a16="http://schemas.microsoft.com/office/drawing/2014/main" val="3553256097"/>
                    </a:ext>
                  </a:extLst>
                </a:gridCol>
                <a:gridCol w="1369173">
                  <a:extLst>
                    <a:ext uri="{9D8B030D-6E8A-4147-A177-3AD203B41FA5}">
                      <a16:colId xmlns:a16="http://schemas.microsoft.com/office/drawing/2014/main" val="4246112648"/>
                    </a:ext>
                  </a:extLst>
                </a:gridCol>
                <a:gridCol w="1228410">
                  <a:extLst>
                    <a:ext uri="{9D8B030D-6E8A-4147-A177-3AD203B41FA5}">
                      <a16:colId xmlns:a16="http://schemas.microsoft.com/office/drawing/2014/main" val="697613201"/>
                    </a:ext>
                  </a:extLst>
                </a:gridCol>
                <a:gridCol w="2319757">
                  <a:extLst>
                    <a:ext uri="{9D8B030D-6E8A-4147-A177-3AD203B41FA5}">
                      <a16:colId xmlns:a16="http://schemas.microsoft.com/office/drawing/2014/main" val="2551292058"/>
                    </a:ext>
                  </a:extLst>
                </a:gridCol>
              </a:tblGrid>
              <a:tr h="292193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02329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名称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类型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长度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描述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564046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EYE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CATCHER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识别串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978886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version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版本号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019821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</a:t>
                      </a:r>
                      <a:r>
                        <a:rPr lang="en-US" altLang="zh-CN" sz="1600" baseline="0" dirty="0" err="1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CHAR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名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12431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csID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UINT32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284969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UINT16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文件序列号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802394"/>
                  </a:ext>
                </a:extLst>
              </a:tr>
              <a:tr h="1142207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UINT16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文件类型：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data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2. index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3. lob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53178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Create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time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UINT64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创建时间，毫秒数</a:t>
                      </a:r>
                      <a:endParaRPr lang="en-US" altLang="zh-CN" sz="16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930073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reserved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预留字段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默认值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0 )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4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30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Space </a:t>
            </a:r>
            <a:r>
              <a:rPr lang="en-US" altLang="zh-CN" dirty="0"/>
              <a:t>M</a:t>
            </a:r>
            <a:r>
              <a:rPr lang="en-US" altLang="zh-CN" dirty="0" smtClean="0"/>
              <a:t>anagement Extent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575788"/>
              </p:ext>
            </p:extLst>
          </p:nvPr>
        </p:nvGraphicFramePr>
        <p:xfrm>
          <a:off x="838200" y="1725413"/>
          <a:ext cx="6847390" cy="328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461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37549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192193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3206187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5555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版本号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12583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size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92964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当前已分配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430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bitmap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16M</a:t>
                      </a:r>
                      <a:r>
                        <a:rPr lang="en-US" altLang="zh-CN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总共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128M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。每一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位标识是否使用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Reserved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预留字段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28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Segment Metadata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837045"/>
              </p:ext>
            </p:extLst>
          </p:nvPr>
        </p:nvGraphicFramePr>
        <p:xfrm>
          <a:off x="838200" y="1529427"/>
          <a:ext cx="5608900" cy="2367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1979271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5555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 Metadata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版本号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填充位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1413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Reserved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预留字段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当前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SLOT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256K * 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256K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个槽位号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387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830739"/>
              </p:ext>
            </p:extLst>
          </p:nvPr>
        </p:nvGraphicFramePr>
        <p:xfrm>
          <a:off x="838201" y="4023360"/>
          <a:ext cx="6824240" cy="1376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756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511707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SLOT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7101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per extent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每个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占用的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填充位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501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22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CS Metadata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118806"/>
              </p:ext>
            </p:extLst>
          </p:nvPr>
        </p:nvGraphicFramePr>
        <p:xfrm>
          <a:off x="838200" y="1626293"/>
          <a:ext cx="5608900" cy="929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1979271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2007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Collection Metadata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018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Collection slots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4096 * xx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910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838200" y="2951856"/>
          <a:ext cx="10083085" cy="3613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645345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91577"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Collection slots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clName</a:t>
                      </a:r>
                      <a:endParaRPr lang="en-US" altLang="zh-CN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CHAR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表名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clid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UINT64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表唯一</a:t>
                      </a:r>
                      <a:r>
                        <a:rPr lang="en-US" altLang="zh-CN" sz="1400" dirty="0" smtClean="0"/>
                        <a:t>id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idx</a:t>
                      </a:r>
                      <a:endParaRPr lang="zh-CN" altLang="en-US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Slot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中的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idx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状态位（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free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dropped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online reorg etc.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967559"/>
                  </a:ext>
                </a:extLst>
              </a:tr>
              <a:tr h="5036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Records(8)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DataPages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IndexPages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DataFreeSpace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IndexFreeSpace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(8)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LobPages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35175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compressorType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压缩类型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926502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dictExtentID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字典所在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extentID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19122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indexExtent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[64]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 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索引定义所在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，最大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个索引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846790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relationExtent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[4]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</a:t>
                      </a:r>
                      <a:r>
                        <a:rPr lang="zh-CN" alt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aseline="0" dirty="0" smtClean="0"/>
                        <a:t>根据记录大小分为</a:t>
                      </a:r>
                      <a:r>
                        <a:rPr lang="en-US" altLang="zh-CN" sz="1400" baseline="0" dirty="0" smtClean="0"/>
                        <a:t>4</a:t>
                      </a:r>
                      <a:r>
                        <a:rPr lang="zh-CN" altLang="en-US" sz="1400" baseline="0" dirty="0" smtClean="0"/>
                        <a:t>个等级：</a:t>
                      </a:r>
                      <a:r>
                        <a:rPr lang="en-US" altLang="zh-CN" sz="1400" baseline="0" dirty="0" smtClean="0"/>
                        <a:t>(0, 4k)</a:t>
                      </a:r>
                      <a:r>
                        <a:rPr lang="zh-CN" altLang="en-US" sz="1400" baseline="0" dirty="0" smtClean="0"/>
                        <a:t>、</a:t>
                      </a:r>
                      <a:r>
                        <a:rPr lang="en-US" altLang="zh-CN" sz="1400" baseline="0" dirty="0" smtClean="0"/>
                        <a:t>[4k, 64k)</a:t>
                      </a:r>
                      <a:r>
                        <a:rPr lang="zh-CN" altLang="en-US" sz="1400" baseline="0" dirty="0" smtClean="0"/>
                        <a:t>、</a:t>
                      </a:r>
                      <a:r>
                        <a:rPr lang="en-US" altLang="zh-CN" sz="1400" baseline="0" dirty="0" smtClean="0"/>
                        <a:t>[64k, 1M)</a:t>
                      </a:r>
                      <a:r>
                        <a:rPr lang="zh-CN" altLang="en-US" sz="1400" baseline="0" dirty="0" smtClean="0"/>
                        <a:t>、</a:t>
                      </a:r>
                      <a:r>
                        <a:rPr lang="en-US" altLang="zh-CN" sz="1400" baseline="0" dirty="0" smtClean="0"/>
                        <a:t>[1M, 16M )</a:t>
                      </a:r>
                      <a:endParaRPr lang="zh-CN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9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78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cl </a:t>
            </a:r>
            <a:r>
              <a:rPr lang="zh-CN" altLang="en-US" dirty="0" smtClean="0"/>
              <a:t>与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的关系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610026"/>
              </p:ext>
            </p:extLst>
          </p:nvPr>
        </p:nvGraphicFramePr>
        <p:xfrm>
          <a:off x="1726841" y="2114157"/>
          <a:ext cx="3755724" cy="2761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954">
                  <a:extLst>
                    <a:ext uri="{9D8B030D-6E8A-4147-A177-3AD203B41FA5}">
                      <a16:colId xmlns:a16="http://schemas.microsoft.com/office/drawing/2014/main" val="1587746740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2969394237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306593386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1726841658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1944885060"/>
                    </a:ext>
                  </a:extLst>
                </a:gridCol>
                <a:gridCol w="625954">
                  <a:extLst>
                    <a:ext uri="{9D8B030D-6E8A-4147-A177-3AD203B41FA5}">
                      <a16:colId xmlns:a16="http://schemas.microsoft.com/office/drawing/2014/main" val="1595363227"/>
                    </a:ext>
                  </a:extLst>
                </a:gridCol>
              </a:tblGrid>
              <a:tr h="4549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r1_0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r2_0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cl2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r3_1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07438"/>
                  </a:ext>
                </a:extLst>
              </a:tr>
              <a:tr h="4612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r1_1</a:t>
                      </a:r>
                      <a:endParaRPr lang="zh-CN" altLang="en-US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r1_2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092012"/>
                  </a:ext>
                </a:extLst>
              </a:tr>
              <a:tr h="46125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cl3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73971"/>
                  </a:ext>
                </a:extLst>
              </a:tr>
              <a:tr h="46125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22743"/>
                  </a:ext>
                </a:extLst>
              </a:tr>
              <a:tr h="461254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01124"/>
                  </a:ext>
                </a:extLst>
              </a:tr>
              <a:tr h="461254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cl1</a:t>
                      </a:r>
                      <a:endParaRPr lang="zh-CN" alt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294619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873744" y="17525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491929" y="17525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110114" y="17448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728299" y="17448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346484" y="17448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964669" y="174482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229800" y="214669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29800" y="262321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229800" y="305066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12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229800" y="349476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18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229800" y="393885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24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229800" y="438658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30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9399" y="2414014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segment1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2976967" y="5052279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Extent</a:t>
            </a:r>
            <a:r>
              <a:rPr lang="zh-CN" altLang="en-US" dirty="0"/>
              <a:t>视图</a:t>
            </a:r>
          </a:p>
        </p:txBody>
      </p:sp>
      <p:sp>
        <p:nvSpPr>
          <p:cNvPr id="25" name="矩形 24"/>
          <p:cNvSpPr/>
          <p:nvPr/>
        </p:nvSpPr>
        <p:spPr>
          <a:xfrm>
            <a:off x="64096" y="3304820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segment2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64096" y="4190576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segment3</a:t>
            </a:r>
            <a:endParaRPr lang="zh-CN" altLang="en-US" dirty="0"/>
          </a:p>
        </p:txBody>
      </p:sp>
      <p:cxnSp>
        <p:nvCxnSpPr>
          <p:cNvPr id="32" name="曲线连接符 31"/>
          <p:cNvCxnSpPr>
            <a:stCxn id="57" idx="0"/>
            <a:endCxn id="7" idx="2"/>
          </p:cNvCxnSpPr>
          <p:nvPr/>
        </p:nvCxnSpPr>
        <p:spPr>
          <a:xfrm rot="16200000" flipH="1" flipV="1">
            <a:off x="4439765" y="-1004665"/>
            <a:ext cx="713798" cy="5539346"/>
          </a:xfrm>
          <a:prstGeom prst="curvedConnector5">
            <a:avLst>
              <a:gd name="adj1" fmla="val -32026"/>
              <a:gd name="adj2" fmla="val 51639"/>
              <a:gd name="adj3" fmla="val 211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/>
          <p:cNvCxnSpPr>
            <a:stCxn id="58" idx="2"/>
          </p:cNvCxnSpPr>
          <p:nvPr/>
        </p:nvCxnSpPr>
        <p:spPr>
          <a:xfrm rot="5400000">
            <a:off x="5001845" y="-450848"/>
            <a:ext cx="1030772" cy="543761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曲线连接符 43"/>
          <p:cNvCxnSpPr>
            <a:stCxn id="59" idx="2"/>
          </p:cNvCxnSpPr>
          <p:nvPr/>
        </p:nvCxnSpPr>
        <p:spPr>
          <a:xfrm rot="5400000">
            <a:off x="5945587" y="-87621"/>
            <a:ext cx="1117190" cy="4797579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20567"/>
              </p:ext>
            </p:extLst>
          </p:nvPr>
        </p:nvGraphicFramePr>
        <p:xfrm>
          <a:off x="6431745" y="3003197"/>
          <a:ext cx="23038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72">
                  <a:extLst>
                    <a:ext uri="{9D8B030D-6E8A-4147-A177-3AD203B41FA5}">
                      <a16:colId xmlns:a16="http://schemas.microsoft.com/office/drawing/2014/main" val="78531934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775003825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293174619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586070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14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47197"/>
                  </a:ext>
                </a:extLst>
              </a:tr>
            </a:tbl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6498812" y="3798082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relation extent(</a:t>
            </a:r>
            <a:r>
              <a:rPr lang="en-US" altLang="zh-CN" b="1" dirty="0" smtClean="0">
                <a:solidFill>
                  <a:srgbClr val="FF0000"/>
                </a:solidFill>
              </a:rPr>
              <a:t>r1_0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010641"/>
              </p:ext>
            </p:extLst>
          </p:nvPr>
        </p:nvGraphicFramePr>
        <p:xfrm>
          <a:off x="9211435" y="3013928"/>
          <a:ext cx="23038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72">
                  <a:extLst>
                    <a:ext uri="{9D8B030D-6E8A-4147-A177-3AD203B41FA5}">
                      <a16:colId xmlns:a16="http://schemas.microsoft.com/office/drawing/2014/main" val="78531934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775003825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293174619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586070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14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47197"/>
                  </a:ext>
                </a:extLst>
              </a:tr>
            </a:tbl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9315181" y="3796896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relation extent(</a:t>
            </a:r>
            <a:r>
              <a:rPr lang="en-US" altLang="zh-CN" b="1" dirty="0" smtClean="0">
                <a:solidFill>
                  <a:srgbClr val="FF0000"/>
                </a:solidFill>
              </a:rPr>
              <a:t>r1_1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930628"/>
              </p:ext>
            </p:extLst>
          </p:nvPr>
        </p:nvGraphicFramePr>
        <p:xfrm>
          <a:off x="6414393" y="4310599"/>
          <a:ext cx="23038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72">
                  <a:extLst>
                    <a:ext uri="{9D8B030D-6E8A-4147-A177-3AD203B41FA5}">
                      <a16:colId xmlns:a16="http://schemas.microsoft.com/office/drawing/2014/main" val="78531934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775003825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2931746197"/>
                    </a:ext>
                  </a:extLst>
                </a:gridCol>
                <a:gridCol w="575972">
                  <a:extLst>
                    <a:ext uri="{9D8B030D-6E8A-4147-A177-3AD203B41FA5}">
                      <a16:colId xmlns:a16="http://schemas.microsoft.com/office/drawing/2014/main" val="3586070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146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47197"/>
                  </a:ext>
                </a:extLst>
              </a:tr>
            </a:tbl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6485752" y="5043161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relation extent(</a:t>
            </a:r>
            <a:r>
              <a:rPr lang="en-US" altLang="zh-CN" b="1" dirty="0" smtClean="0">
                <a:solidFill>
                  <a:srgbClr val="FF0000"/>
                </a:solidFill>
              </a:rPr>
              <a:t>r1_2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52" name="文本框 51"/>
          <p:cNvSpPr txBox="1"/>
          <p:nvPr/>
        </p:nvSpPr>
        <p:spPr>
          <a:xfrm>
            <a:off x="7125735" y="1744825"/>
            <a:ext cx="265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Level0 leve1 level2 level3</a:t>
            </a:r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1443961" y="5866011"/>
            <a:ext cx="4323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Relation extent: r1_0, r2_0, r3_1, r1_1, r1_2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1443961" y="6347035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Data extent: cl1,cl2,cl3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6564553" y="1408110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cl1</a:t>
            </a:r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7231486" y="140810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level0</a:t>
            </a:r>
            <a:endParaRPr lang="zh-CN" altLang="en-US" sz="1400" dirty="0"/>
          </a:p>
        </p:txBody>
      </p:sp>
      <p:sp>
        <p:nvSpPr>
          <p:cNvPr id="58" name="矩形 57"/>
          <p:cNvSpPr/>
          <p:nvPr/>
        </p:nvSpPr>
        <p:spPr>
          <a:xfrm>
            <a:off x="7901187" y="140810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level1</a:t>
            </a:r>
            <a:endParaRPr lang="zh-CN" altLang="en-US" sz="1400" dirty="0"/>
          </a:p>
        </p:txBody>
      </p:sp>
      <p:sp>
        <p:nvSpPr>
          <p:cNvPr id="59" name="矩形 58"/>
          <p:cNvSpPr/>
          <p:nvPr/>
        </p:nvSpPr>
        <p:spPr>
          <a:xfrm>
            <a:off x="8568120" y="140810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level2</a:t>
            </a:r>
            <a:endParaRPr lang="zh-CN" altLang="en-US" sz="1400" dirty="0"/>
          </a:p>
        </p:txBody>
      </p:sp>
      <p:sp>
        <p:nvSpPr>
          <p:cNvPr id="60" name="矩形 59"/>
          <p:cNvSpPr/>
          <p:nvPr/>
        </p:nvSpPr>
        <p:spPr>
          <a:xfrm>
            <a:off x="9235053" y="140810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level3</a:t>
            </a:r>
            <a:endParaRPr lang="zh-CN" altLang="en-US" sz="1400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2180238" y="2414014"/>
            <a:ext cx="4234155" cy="786386"/>
          </a:xfrm>
          <a:prstGeom prst="straightConnector1">
            <a:avLst/>
          </a:prstGeom>
          <a:ln w="25400" cap="sq">
            <a:prstDash val="solid"/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08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Extent Header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496190"/>
              </p:ext>
            </p:extLst>
          </p:nvPr>
        </p:nvGraphicFramePr>
        <p:xfrm>
          <a:off x="838200" y="1781535"/>
          <a:ext cx="6338104" cy="4306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5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77794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Extent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EYE_CATCHER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version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版本号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  <a:tr h="750845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status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0x00 normal</a:t>
                      </a:r>
                    </a:p>
                    <a:p>
                      <a:r>
                        <a:rPr lang="en-US" altLang="zh-CN" sz="1600" baseline="0" dirty="0" smtClean="0"/>
                        <a:t>0x01 deleted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0x00 data extent</a:t>
                      </a:r>
                    </a:p>
                    <a:p>
                      <a:r>
                        <a:rPr lang="en-US" altLang="zh-CN" sz="1600" baseline="0" dirty="0" smtClean="0"/>
                        <a:t>0x01 relation leaf extent</a:t>
                      </a:r>
                    </a:p>
                    <a:p>
                      <a:r>
                        <a:rPr lang="en-US" altLang="zh-CN" sz="1600" baseline="0" dirty="0" smtClean="0"/>
                        <a:t>0x02 relation parent extent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Page </a:t>
                      </a:r>
                      <a:r>
                        <a:rPr lang="en-US" altLang="zh-CN" sz="1600" dirty="0" err="1" smtClean="0"/>
                        <a:t>num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UINT16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Extent</a:t>
                      </a:r>
                      <a:r>
                        <a:rPr lang="zh-CN" altLang="en-US" sz="1600" baseline="0" dirty="0" smtClean="0"/>
                        <a:t>包含的</a:t>
                      </a:r>
                      <a:r>
                        <a:rPr lang="en-US" altLang="zh-CN" sz="1600" baseline="0" dirty="0" smtClean="0"/>
                        <a:t>page</a:t>
                      </a:r>
                      <a:r>
                        <a:rPr lang="zh-CN" altLang="en-US" sz="1600" baseline="0" dirty="0" smtClean="0"/>
                        <a:t>数量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968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pad1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填充位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80449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checksum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27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257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25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Extent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858232"/>
              </p:ext>
            </p:extLst>
          </p:nvPr>
        </p:nvGraphicFramePr>
        <p:xfrm>
          <a:off x="838200" y="1400535"/>
          <a:ext cx="6338104" cy="5627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5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77794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Data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 Header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Relation </a:t>
                      </a:r>
                      <a:r>
                        <a:rPr lang="en-US" altLang="zh-CN" sz="1600" dirty="0" err="1" smtClean="0"/>
                        <a:t>recordID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UINT64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在关系表中的位置。</a:t>
                      </a:r>
                      <a:r>
                        <a:rPr lang="en-US" altLang="zh-CN" sz="1600" dirty="0" smtClean="0"/>
                        <a:t>relation</a:t>
                      </a:r>
                      <a:r>
                        <a:rPr lang="en-US" altLang="zh-CN" sz="1600" baseline="0" dirty="0" smtClean="0"/>
                        <a:t> extent</a:t>
                      </a:r>
                      <a:r>
                        <a:rPr lang="zh-CN" altLang="en-US" sz="1600" baseline="0" dirty="0" smtClean="0"/>
                        <a:t>的</a:t>
                      </a:r>
                      <a:r>
                        <a:rPr lang="en-US" altLang="zh-CN" sz="1600" baseline="0" dirty="0" smtClean="0"/>
                        <a:t>id</a:t>
                      </a:r>
                      <a:r>
                        <a:rPr lang="zh-CN" altLang="en-US" sz="1600" baseline="0" dirty="0" smtClean="0"/>
                        <a:t>和偏移  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record</a:t>
                      </a:r>
                      <a:r>
                        <a:rPr lang="en-US" altLang="zh-CN" sz="1600" baseline="0" dirty="0" smtClean="0"/>
                        <a:t> count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记录数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71084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u="none" dirty="0" err="1" smtClean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clid</a:t>
                      </a:r>
                      <a:endParaRPr lang="zh-CN" altLang="en-US" sz="1600" u="none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u="none" dirty="0" smtClean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UINT32</a:t>
                      </a:r>
                      <a:endParaRPr lang="zh-CN" altLang="en-US" sz="1600" u="none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u="none" dirty="0" smtClean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</a:t>
                      </a:r>
                      <a:endParaRPr lang="zh-CN" altLang="en-US" sz="1600" u="none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u="none" dirty="0" smtClean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CL</a:t>
                      </a:r>
                      <a:r>
                        <a:rPr lang="zh-CN" altLang="en-US" sz="1600" u="none" dirty="0" smtClean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逻辑</a:t>
                      </a:r>
                      <a:r>
                        <a:rPr lang="en-US" altLang="zh-CN" sz="1600" u="none" dirty="0" smtClean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ID</a:t>
                      </a:r>
                      <a:endParaRPr lang="zh-CN" altLang="en-US" sz="1600" u="none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22445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extentLogicID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60635"/>
                  </a:ext>
                </a:extLst>
              </a:tr>
              <a:tr h="872732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Free space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总的剩余空间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Max free continuous</a:t>
                      </a:r>
                      <a:r>
                        <a:rPr lang="en-US" altLang="zh-CN" sz="1600" baseline="0" dirty="0" smtClean="0"/>
                        <a:t> space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最大连续的剩余空间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reserved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预留位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80449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 </a:t>
                      </a:r>
                      <a:r>
                        <a:rPr lang="en-US" altLang="zh-CN" sz="1600" dirty="0" err="1" smtClean="0"/>
                        <a:t>num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当前已分配</a:t>
                      </a:r>
                      <a:r>
                        <a:rPr lang="en-US" altLang="zh-CN" sz="1600" baseline="0" dirty="0" smtClean="0"/>
                        <a:t>slot</a:t>
                      </a:r>
                      <a:r>
                        <a:rPr lang="zh-CN" altLang="en-US" sz="1600" baseline="0" dirty="0" smtClean="0"/>
                        <a:t>个数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16557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记录</a:t>
                      </a:r>
                      <a:r>
                        <a:rPr lang="en-US" altLang="zh-CN" sz="1600" baseline="0" dirty="0" smtClean="0"/>
                        <a:t>Extent</a:t>
                      </a:r>
                      <a:r>
                        <a:rPr lang="zh-CN" altLang="en-US" sz="1600" baseline="0" dirty="0" smtClean="0"/>
                        <a:t>内偏移地址。有几条记录则记录几个</a:t>
                      </a:r>
                      <a:r>
                        <a:rPr lang="en-US" altLang="zh-CN" sz="1600" baseline="0" dirty="0" smtClean="0"/>
                        <a:t>slot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27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data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数据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25714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39406"/>
              </p:ext>
            </p:extLst>
          </p:nvPr>
        </p:nvGraphicFramePr>
        <p:xfrm>
          <a:off x="7592028" y="2700331"/>
          <a:ext cx="3761772" cy="1729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443">
                  <a:extLst>
                    <a:ext uri="{9D8B030D-6E8A-4147-A177-3AD203B41FA5}">
                      <a16:colId xmlns:a16="http://schemas.microsoft.com/office/drawing/2014/main" val="226489393"/>
                    </a:ext>
                  </a:extLst>
                </a:gridCol>
                <a:gridCol w="940443">
                  <a:extLst>
                    <a:ext uri="{9D8B030D-6E8A-4147-A177-3AD203B41FA5}">
                      <a16:colId xmlns:a16="http://schemas.microsoft.com/office/drawing/2014/main" val="3315947240"/>
                    </a:ext>
                  </a:extLst>
                </a:gridCol>
                <a:gridCol w="1880886">
                  <a:extLst>
                    <a:ext uri="{9D8B030D-6E8A-4147-A177-3AD203B41FA5}">
                      <a16:colId xmlns:a16="http://schemas.microsoft.com/office/drawing/2014/main" val="4175610667"/>
                    </a:ext>
                  </a:extLst>
                </a:gridCol>
              </a:tblGrid>
              <a:tr h="5764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offset1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offset2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0894"/>
                  </a:ext>
                </a:extLst>
              </a:tr>
              <a:tr h="576447">
                <a:tc gridSpan="3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524138"/>
                  </a:ext>
                </a:extLst>
              </a:tr>
              <a:tr h="576447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data2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data1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2222"/>
                  </a:ext>
                </a:extLst>
              </a:tr>
            </a:tbl>
          </a:graphicData>
        </a:graphic>
      </p:graphicFrame>
      <p:cxnSp>
        <p:nvCxnSpPr>
          <p:cNvPr id="11" name="直接箭头连接符 10"/>
          <p:cNvCxnSpPr/>
          <p:nvPr/>
        </p:nvCxnSpPr>
        <p:spPr>
          <a:xfrm>
            <a:off x="8715736" y="3194611"/>
            <a:ext cx="0" cy="7407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8090704" y="3067291"/>
            <a:ext cx="1551007" cy="868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Relation extent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192036"/>
              </p:ext>
            </p:extLst>
          </p:nvPr>
        </p:nvGraphicFramePr>
        <p:xfrm>
          <a:off x="554862" y="1761140"/>
          <a:ext cx="6902006" cy="4803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5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3272378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10169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Relation Extent·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 Header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所在的</a:t>
                      </a:r>
                      <a:r>
                        <a:rPr lang="en-US" altLang="zh-CN" sz="1600" dirty="0" smtClean="0"/>
                        <a:t>cl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07448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recordLevel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该</a:t>
                      </a:r>
                      <a:r>
                        <a:rPr lang="en-US" altLang="zh-CN" sz="1600" dirty="0" smtClean="0"/>
                        <a:t>extent</a:t>
                      </a:r>
                      <a:r>
                        <a:rPr lang="zh-CN" altLang="en-US" sz="1600" dirty="0" smtClean="0"/>
                        <a:t>所在等级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282148"/>
                  </a:ext>
                </a:extLst>
              </a:tr>
              <a:tr h="310169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idx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在</a:t>
                      </a:r>
                      <a:r>
                        <a:rPr lang="en-US" altLang="zh-CN" sz="1600" dirty="0" smtClean="0"/>
                        <a:t>parent</a:t>
                      </a:r>
                      <a:r>
                        <a:rPr lang="zh-CN" altLang="en-US" sz="1600" dirty="0" smtClean="0"/>
                        <a:t>中的下标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35317"/>
                  </a:ext>
                </a:extLst>
              </a:tr>
              <a:tr h="2791523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</a:t>
                      </a:r>
                      <a:r>
                        <a:rPr lang="en-US" altLang="zh-CN" sz="1600" baseline="0" dirty="0" smtClean="0"/>
                        <a:t> slots[N]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N = (64K(extent</a:t>
                      </a:r>
                      <a:r>
                        <a:rPr lang="en-US" altLang="zh-CN" sz="1600" baseline="0" dirty="0" smtClean="0"/>
                        <a:t> length) – 24(</a:t>
                      </a:r>
                      <a:r>
                        <a:rPr lang="en-US" altLang="zh-CN" sz="1600" baseline="0" dirty="0" err="1" smtClean="0"/>
                        <a:t>header+idx+clid+recordLevel</a:t>
                      </a:r>
                      <a:r>
                        <a:rPr lang="en-US" altLang="zh-CN" sz="1600" baseline="0" dirty="0" smtClean="0"/>
                        <a:t>)) / 4(extent id length) - 1 = 16k – 6</a:t>
                      </a:r>
                      <a:r>
                        <a:rPr lang="zh-CN" altLang="en-US" sz="1600" baseline="0" dirty="0" smtClean="0"/>
                        <a:t>。</a:t>
                      </a:r>
                      <a:endParaRPr lang="en-US" altLang="zh-CN" sz="1600" baseline="0" dirty="0" smtClean="0"/>
                    </a:p>
                    <a:p>
                      <a:endParaRPr lang="en-US" altLang="zh-CN" sz="1600" baseline="0" dirty="0" smtClean="0"/>
                    </a:p>
                    <a:p>
                      <a:r>
                        <a:rPr lang="zh-CN" altLang="en-US" sz="1600" baseline="0" dirty="0" smtClean="0"/>
                        <a:t>当为</a:t>
                      </a:r>
                      <a:r>
                        <a:rPr lang="en-US" altLang="zh-CN" sz="1600" baseline="0" dirty="0" smtClean="0"/>
                        <a:t>relation extent leaf</a:t>
                      </a:r>
                      <a:r>
                        <a:rPr lang="zh-CN" altLang="en-US" sz="1600" baseline="0" dirty="0" smtClean="0"/>
                        <a:t>时，最后一个保存的是</a:t>
                      </a:r>
                      <a:r>
                        <a:rPr lang="en-US" altLang="zh-CN" sz="1600" baseline="0" dirty="0" smtClean="0"/>
                        <a:t>relation extent parent</a:t>
                      </a:r>
                      <a:r>
                        <a:rPr lang="zh-CN" altLang="en-US" sz="1600" baseline="0" dirty="0" smtClean="0"/>
                        <a:t>的</a:t>
                      </a:r>
                      <a:r>
                        <a:rPr lang="en-US" altLang="zh-CN" sz="1600" baseline="0" dirty="0" smtClean="0"/>
                        <a:t>extent id</a:t>
                      </a:r>
                      <a:r>
                        <a:rPr lang="zh-CN" altLang="en-US" sz="1600" baseline="0" dirty="0" smtClean="0"/>
                        <a:t>；其他为</a:t>
                      </a:r>
                      <a:r>
                        <a:rPr lang="en-US" altLang="zh-CN" sz="1600" baseline="0" dirty="0" smtClean="0"/>
                        <a:t>data extent id</a:t>
                      </a:r>
                      <a:r>
                        <a:rPr lang="zh-CN" altLang="en-US" sz="1600" baseline="0" dirty="0" smtClean="0"/>
                        <a:t>。</a:t>
                      </a:r>
                      <a:endParaRPr lang="en-US" altLang="zh-CN" sz="1600" baseline="0" dirty="0" smtClean="0"/>
                    </a:p>
                    <a:p>
                      <a:endParaRPr lang="en-US" altLang="zh-CN" sz="1600" baseline="0" dirty="0" smtClean="0"/>
                    </a:p>
                    <a:p>
                      <a:r>
                        <a:rPr lang="zh-CN" altLang="en-US" sz="1600" baseline="0" dirty="0" smtClean="0"/>
                        <a:t>当为</a:t>
                      </a:r>
                      <a:r>
                        <a:rPr lang="en-US" altLang="zh-CN" sz="1600" baseline="0" dirty="0" smtClean="0"/>
                        <a:t>relation extent parent</a:t>
                      </a:r>
                      <a:r>
                        <a:rPr lang="zh-CN" altLang="en-US" sz="1600" baseline="0" dirty="0" smtClean="0"/>
                        <a:t>时，均表示</a:t>
                      </a:r>
                      <a:r>
                        <a:rPr lang="en-US" altLang="zh-CN" sz="1600" baseline="0" dirty="0" smtClean="0"/>
                        <a:t>relation extent leaf</a:t>
                      </a:r>
                      <a:r>
                        <a:rPr lang="zh-CN" altLang="en-US" sz="1600" baseline="0" dirty="0" smtClean="0"/>
                        <a:t>的</a:t>
                      </a:r>
                      <a:r>
                        <a:rPr lang="en-US" altLang="zh-CN" sz="1600" baseline="0" dirty="0" smtClean="0"/>
                        <a:t>extent id</a:t>
                      </a:r>
                      <a:r>
                        <a:rPr lang="zh-CN" altLang="en-US" sz="1600" baseline="0" dirty="0" smtClean="0"/>
                        <a:t>。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8229600" y="2421227"/>
            <a:ext cx="669701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leaf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559899" y="1756569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cl</a:t>
            </a:r>
            <a:endParaRPr lang="zh-CN" altLang="en-US" dirty="0"/>
          </a:p>
        </p:txBody>
      </p:sp>
      <p:cxnSp>
        <p:nvCxnSpPr>
          <p:cNvPr id="8" name="曲线连接符 7"/>
          <p:cNvCxnSpPr>
            <a:stCxn id="28" idx="2"/>
            <a:endCxn id="5" idx="0"/>
          </p:cNvCxnSpPr>
          <p:nvPr/>
        </p:nvCxnSpPr>
        <p:spPr>
          <a:xfrm rot="16200000" flipH="1">
            <a:off x="8402970" y="2259745"/>
            <a:ext cx="320195" cy="27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463963" y="2421227"/>
            <a:ext cx="822724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parent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229599" y="3467298"/>
            <a:ext cx="669701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leaf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9540475" y="3467296"/>
            <a:ext cx="669701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leaf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0851351" y="3467296"/>
            <a:ext cx="669701" cy="45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leaf</a:t>
            </a:r>
            <a:endParaRPr lang="zh-CN" altLang="en-US" dirty="0"/>
          </a:p>
        </p:txBody>
      </p:sp>
      <p:cxnSp>
        <p:nvCxnSpPr>
          <p:cNvPr id="21" name="曲线连接符 20"/>
          <p:cNvCxnSpPr>
            <a:stCxn id="13" idx="2"/>
            <a:endCxn id="17" idx="0"/>
          </p:cNvCxnSpPr>
          <p:nvPr/>
        </p:nvCxnSpPr>
        <p:spPr>
          <a:xfrm rot="5400000">
            <a:off x="8922233" y="2514206"/>
            <a:ext cx="595310" cy="13108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曲线连接符 22"/>
          <p:cNvCxnSpPr>
            <a:stCxn id="13" idx="2"/>
            <a:endCxn id="18" idx="0"/>
          </p:cNvCxnSpPr>
          <p:nvPr/>
        </p:nvCxnSpPr>
        <p:spPr>
          <a:xfrm rot="16200000" flipH="1">
            <a:off x="9577671" y="3169641"/>
            <a:ext cx="595308" cy="1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曲线连接符 24"/>
          <p:cNvCxnSpPr>
            <a:stCxn id="13" idx="2"/>
            <a:endCxn id="19" idx="0"/>
          </p:cNvCxnSpPr>
          <p:nvPr/>
        </p:nvCxnSpPr>
        <p:spPr>
          <a:xfrm rot="16200000" flipH="1">
            <a:off x="10233109" y="2514203"/>
            <a:ext cx="595308" cy="131087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曲线连接符 26"/>
          <p:cNvCxnSpPr>
            <a:stCxn id="13" idx="2"/>
            <a:endCxn id="5" idx="0"/>
          </p:cNvCxnSpPr>
          <p:nvPr/>
        </p:nvCxnSpPr>
        <p:spPr>
          <a:xfrm rot="5400000" flipH="1">
            <a:off x="8994507" y="1991171"/>
            <a:ext cx="450761" cy="1310874"/>
          </a:xfrm>
          <a:prstGeom prst="curvedConnector5">
            <a:avLst>
              <a:gd name="adj1" fmla="val -50714"/>
              <a:gd name="adj2" fmla="val 52918"/>
              <a:gd name="adj3" fmla="val 15071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8226832" y="1756568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level0</a:t>
            </a:r>
            <a:endParaRPr lang="zh-CN" altLang="en-US" sz="1400" dirty="0"/>
          </a:p>
        </p:txBody>
      </p:sp>
      <p:sp>
        <p:nvSpPr>
          <p:cNvPr id="32" name="矩形 31"/>
          <p:cNvSpPr/>
          <p:nvPr/>
        </p:nvSpPr>
        <p:spPr>
          <a:xfrm>
            <a:off x="8896533" y="1756568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level1</a:t>
            </a:r>
            <a:endParaRPr lang="zh-CN" altLang="en-US" sz="1400" dirty="0"/>
          </a:p>
        </p:txBody>
      </p:sp>
      <p:sp>
        <p:nvSpPr>
          <p:cNvPr id="33" name="矩形 32"/>
          <p:cNvSpPr/>
          <p:nvPr/>
        </p:nvSpPr>
        <p:spPr>
          <a:xfrm>
            <a:off x="9563466" y="1756568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level2</a:t>
            </a:r>
            <a:endParaRPr lang="zh-CN" altLang="en-US" sz="1400" dirty="0"/>
          </a:p>
        </p:txBody>
      </p:sp>
      <p:sp>
        <p:nvSpPr>
          <p:cNvPr id="34" name="矩形 33"/>
          <p:cNvSpPr/>
          <p:nvPr/>
        </p:nvSpPr>
        <p:spPr>
          <a:xfrm>
            <a:off x="10230399" y="1756568"/>
            <a:ext cx="669701" cy="344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level3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4355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408308"/>
              </p:ext>
            </p:extLst>
          </p:nvPr>
        </p:nvGraphicFramePr>
        <p:xfrm>
          <a:off x="142741" y="2597979"/>
          <a:ext cx="6596999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115">
                  <a:extLst>
                    <a:ext uri="{9D8B030D-6E8A-4147-A177-3AD203B41FA5}">
                      <a16:colId xmlns:a16="http://schemas.microsoft.com/office/drawing/2014/main" val="2249297909"/>
                    </a:ext>
                  </a:extLst>
                </a:gridCol>
                <a:gridCol w="953037">
                  <a:extLst>
                    <a:ext uri="{9D8B030D-6E8A-4147-A177-3AD203B41FA5}">
                      <a16:colId xmlns:a16="http://schemas.microsoft.com/office/drawing/2014/main" val="1015509528"/>
                    </a:ext>
                  </a:extLst>
                </a:gridCol>
                <a:gridCol w="2279561">
                  <a:extLst>
                    <a:ext uri="{9D8B030D-6E8A-4147-A177-3AD203B41FA5}">
                      <a16:colId xmlns:a16="http://schemas.microsoft.com/office/drawing/2014/main" val="1354780554"/>
                    </a:ext>
                  </a:extLst>
                </a:gridCol>
                <a:gridCol w="1674253">
                  <a:extLst>
                    <a:ext uri="{9D8B030D-6E8A-4147-A177-3AD203B41FA5}">
                      <a16:colId xmlns:a16="http://schemas.microsoft.com/office/drawing/2014/main" val="101577088"/>
                    </a:ext>
                  </a:extLst>
                </a:gridCol>
                <a:gridCol w="648033">
                  <a:extLst>
                    <a:ext uri="{9D8B030D-6E8A-4147-A177-3AD203B41FA5}">
                      <a16:colId xmlns:a16="http://schemas.microsoft.com/office/drawing/2014/main" val="413000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page</a:t>
                      </a:r>
                      <a:r>
                        <a:rPr lang="en-US" altLang="zh-CN" sz="1600" baseline="0" dirty="0" smtClean="0"/>
                        <a:t> size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File size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Segment slot number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47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512G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07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70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08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82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64k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2530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128k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64481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256k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4309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94704" y="2150772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page</a:t>
            </a:r>
            <a:r>
              <a:rPr lang="zh-CN" altLang="en-US" dirty="0"/>
              <a:t> </a:t>
            </a:r>
            <a:r>
              <a:rPr lang="en-US" altLang="zh-CN" dirty="0" err="1" smtClean="0"/>
              <a:t>num</a:t>
            </a:r>
            <a:r>
              <a:rPr lang="zh-CN" altLang="en-US" dirty="0" smtClean="0"/>
              <a:t> </a:t>
            </a:r>
            <a:r>
              <a:rPr lang="en-US" altLang="zh-CN" dirty="0" smtClean="0"/>
              <a:t>128M</a:t>
            </a:r>
            <a:r>
              <a:rPr lang="zh-CN" altLang="en-US" dirty="0" smtClean="0"/>
              <a:t>个，</a:t>
            </a:r>
            <a:r>
              <a:rPr lang="en-US" altLang="zh-CN" dirty="0" smtClean="0"/>
              <a:t>segment</a:t>
            </a:r>
            <a:r>
              <a:rPr lang="zh-CN" altLang="en-US" dirty="0"/>
              <a:t> </a:t>
            </a:r>
            <a:r>
              <a:rPr lang="en-US" altLang="zh-CN" dirty="0" smtClean="0"/>
              <a:t>size 128M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509671"/>
              </p:ext>
            </p:extLst>
          </p:nvPr>
        </p:nvGraphicFramePr>
        <p:xfrm>
          <a:off x="7057621" y="2516699"/>
          <a:ext cx="4881094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948">
                  <a:extLst>
                    <a:ext uri="{9D8B030D-6E8A-4147-A177-3AD203B41FA5}">
                      <a16:colId xmlns:a16="http://schemas.microsoft.com/office/drawing/2014/main" val="2848572070"/>
                    </a:ext>
                  </a:extLst>
                </a:gridCol>
                <a:gridCol w="721217">
                  <a:extLst>
                    <a:ext uri="{9D8B030D-6E8A-4147-A177-3AD203B41FA5}">
                      <a16:colId xmlns:a16="http://schemas.microsoft.com/office/drawing/2014/main" val="2018968454"/>
                    </a:ext>
                  </a:extLst>
                </a:gridCol>
                <a:gridCol w="953037">
                  <a:extLst>
                    <a:ext uri="{9D8B030D-6E8A-4147-A177-3AD203B41FA5}">
                      <a16:colId xmlns:a16="http://schemas.microsoft.com/office/drawing/2014/main" val="2117237622"/>
                    </a:ext>
                  </a:extLst>
                </a:gridCol>
                <a:gridCol w="1043188">
                  <a:extLst>
                    <a:ext uri="{9D8B030D-6E8A-4147-A177-3AD203B41FA5}">
                      <a16:colId xmlns:a16="http://schemas.microsoft.com/office/drawing/2014/main" val="2615805294"/>
                    </a:ext>
                  </a:extLst>
                </a:gridCol>
                <a:gridCol w="1094704">
                  <a:extLst>
                    <a:ext uri="{9D8B030D-6E8A-4147-A177-3AD203B41FA5}">
                      <a16:colId xmlns:a16="http://schemas.microsoft.com/office/drawing/2014/main" val="1500529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         rec</a:t>
                      </a:r>
                      <a:r>
                        <a:rPr lang="en-US" altLang="zh-CN" sz="1200" baseline="0" dirty="0" smtClean="0"/>
                        <a:t> size</a:t>
                      </a:r>
                      <a:endParaRPr lang="en-US" altLang="zh-CN" sz="1200" dirty="0" smtClean="0"/>
                    </a:p>
                    <a:p>
                      <a:r>
                        <a:rPr lang="en-US" altLang="zh-CN" sz="1200" dirty="0" smtClean="0"/>
                        <a:t>page size</a:t>
                      </a:r>
                      <a:endParaRPr lang="zh-CN" altLang="en-US" sz="12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(</a:t>
                      </a:r>
                      <a:r>
                        <a:rPr lang="en-US" altLang="zh-CN" sz="1600" dirty="0" smtClean="0"/>
                        <a:t>0,4k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[4k,64k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[64k,1M)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[1M,16M]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1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4k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512K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2M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16M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000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8k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8k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512K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2M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16M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976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16k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16k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512K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2M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16M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29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32k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32k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512K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2M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16M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406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64k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64k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512K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2M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16M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311735"/>
                  </a:ext>
                </a:extLst>
              </a:tr>
              <a:tr h="291592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128k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128k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512K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2M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16M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98630"/>
                  </a:ext>
                </a:extLst>
              </a:tr>
              <a:tr h="217424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256k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256k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512K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2M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16M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647440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422920" y="2150772"/>
            <a:ext cx="415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</a:t>
            </a:r>
            <a:r>
              <a:rPr lang="zh-CN" altLang="en-US" dirty="0" smtClean="0"/>
              <a:t>一个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可以放</a:t>
            </a:r>
            <a:r>
              <a:rPr lang="en-US" altLang="zh-CN" dirty="0" smtClean="0"/>
              <a:t>4</a:t>
            </a:r>
            <a:r>
              <a:rPr lang="zh-CN" altLang="en-US" dirty="0" smtClean="0"/>
              <a:t>条最大记录为原则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800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Bitmap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925166"/>
              </p:ext>
            </p:extLst>
          </p:nvPr>
        </p:nvGraphicFramePr>
        <p:xfrm>
          <a:off x="7623887" y="1057634"/>
          <a:ext cx="2781300" cy="201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840802406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3201362042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332049065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814919630"/>
                    </a:ext>
                  </a:extLst>
                </a:gridCol>
              </a:tblGrid>
              <a:tr h="504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623699"/>
                  </a:ext>
                </a:extLst>
              </a:tr>
              <a:tr h="504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788181"/>
                  </a:ext>
                </a:extLst>
              </a:tr>
              <a:tr h="504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47752"/>
                  </a:ext>
                </a:extLst>
              </a:tr>
              <a:tr h="504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4847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332720"/>
              </p:ext>
            </p:extLst>
          </p:nvPr>
        </p:nvGraphicFramePr>
        <p:xfrm>
          <a:off x="977900" y="3500523"/>
          <a:ext cx="42291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19">
                  <a:extLst>
                    <a:ext uri="{9D8B030D-6E8A-4147-A177-3AD203B41FA5}">
                      <a16:colId xmlns:a16="http://schemas.microsoft.com/office/drawing/2014/main" val="42330776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14842861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41572639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76387466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97583451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637013342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222235508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3157802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89776759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65129952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28197235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8475112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152327690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638845773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55953410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6531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2810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277533"/>
              </p:ext>
            </p:extLst>
          </p:nvPr>
        </p:nvGraphicFramePr>
        <p:xfrm>
          <a:off x="977900" y="4137747"/>
          <a:ext cx="42291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19">
                  <a:extLst>
                    <a:ext uri="{9D8B030D-6E8A-4147-A177-3AD203B41FA5}">
                      <a16:colId xmlns:a16="http://schemas.microsoft.com/office/drawing/2014/main" val="42330776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14842861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41572639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76387466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97583451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637013342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222235508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3157802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89776759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65129952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28197235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8475112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152327690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638845773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55953410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6531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28109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330960"/>
              </p:ext>
            </p:extLst>
          </p:nvPr>
        </p:nvGraphicFramePr>
        <p:xfrm>
          <a:off x="977900" y="4694799"/>
          <a:ext cx="42291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19">
                  <a:extLst>
                    <a:ext uri="{9D8B030D-6E8A-4147-A177-3AD203B41FA5}">
                      <a16:colId xmlns:a16="http://schemas.microsoft.com/office/drawing/2014/main" val="42330776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14842861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41572639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76387466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97583451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637013342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222235508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3157802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89776759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65129952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28197235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8475112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152327690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638845773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55953410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6531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28109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047326"/>
              </p:ext>
            </p:extLst>
          </p:nvPr>
        </p:nvGraphicFramePr>
        <p:xfrm>
          <a:off x="977900" y="5227563"/>
          <a:ext cx="42291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19">
                  <a:extLst>
                    <a:ext uri="{9D8B030D-6E8A-4147-A177-3AD203B41FA5}">
                      <a16:colId xmlns:a16="http://schemas.microsoft.com/office/drawing/2014/main" val="42330776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14842861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41572639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76387466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97583451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637013342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4222235508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315780244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89776759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3651299526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28197235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8475112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1523276907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638845773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2559534100"/>
                    </a:ext>
                  </a:extLst>
                </a:gridCol>
                <a:gridCol w="264319">
                  <a:extLst>
                    <a:ext uri="{9D8B030D-6E8A-4147-A177-3AD203B41FA5}">
                      <a16:colId xmlns:a16="http://schemas.microsoft.com/office/drawing/2014/main" val="56531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28109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308100" y="1429110"/>
            <a:ext cx="53671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4k</a:t>
            </a:r>
            <a:r>
              <a:rPr lang="zh-CN" altLang="en-US" dirty="0" smtClean="0"/>
              <a:t>为例， 假设按照</a:t>
            </a:r>
            <a:r>
              <a:rPr lang="en-US" altLang="zh-CN" dirty="0" smtClean="0"/>
              <a:t>extent</a:t>
            </a:r>
            <a:r>
              <a:rPr lang="zh-CN" altLang="en-US" dirty="0" smtClean="0"/>
              <a:t>剩余空间分为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个等级：</a:t>
            </a:r>
            <a:endParaRPr lang="en-US" altLang="zh-CN" dirty="0" smtClean="0"/>
          </a:p>
          <a:p>
            <a:r>
              <a:rPr lang="en-US" altLang="zh-CN" dirty="0" smtClean="0"/>
              <a:t>0 </a:t>
            </a:r>
            <a:r>
              <a:rPr lang="en-US" altLang="zh-CN" dirty="0"/>
              <a:t>[0, 256b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1 [256, 1k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2 [1k,2k)</a:t>
            </a:r>
          </a:p>
          <a:p>
            <a:r>
              <a:rPr lang="en-US" altLang="zh-CN" dirty="0"/>
              <a:t>3 [2k,4k</a:t>
            </a:r>
            <a:r>
              <a:rPr lang="en-US" altLang="zh-CN" dirty="0" smtClean="0"/>
              <a:t>]</a:t>
            </a:r>
          </a:p>
        </p:txBody>
      </p:sp>
      <p:sp>
        <p:nvSpPr>
          <p:cNvPr id="11" name="矩形 10"/>
          <p:cNvSpPr/>
          <p:nvPr/>
        </p:nvSpPr>
        <p:spPr>
          <a:xfrm>
            <a:off x="571500" y="3499887"/>
            <a:ext cx="242994" cy="36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71500" y="4138619"/>
            <a:ext cx="242994" cy="36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71500" y="4695671"/>
            <a:ext cx="242994" cy="36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71500" y="5252723"/>
            <a:ext cx="242994" cy="36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308100" y="5622691"/>
            <a:ext cx="80810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RecordSize</a:t>
            </a:r>
            <a:r>
              <a:rPr lang="en-US" altLang="zh-CN" dirty="0" smtClean="0"/>
              <a:t>: 1000(level1)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先检查</a:t>
            </a:r>
            <a:r>
              <a:rPr lang="en-US" altLang="zh-CN" dirty="0" smtClean="0"/>
              <a:t>Last extent</a:t>
            </a:r>
            <a:r>
              <a:rPr lang="zh-CN" altLang="en-US" dirty="0" smtClean="0"/>
              <a:t>是否有剩余空间。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/>
              <a:t>依次</a:t>
            </a:r>
            <a:r>
              <a:rPr lang="zh-CN" altLang="en-US" dirty="0" smtClean="0"/>
              <a:t>检查</a:t>
            </a:r>
            <a:r>
              <a:rPr lang="en-US" altLang="zh-CN" dirty="0" smtClean="0"/>
              <a:t>level2</a:t>
            </a:r>
            <a:r>
              <a:rPr lang="zh-CN" altLang="en-US" dirty="0" smtClean="0"/>
              <a:t>到最高</a:t>
            </a:r>
            <a:r>
              <a:rPr lang="en-US" altLang="zh-CN" dirty="0" smtClean="0"/>
              <a:t>level</a:t>
            </a:r>
            <a:r>
              <a:rPr lang="zh-CN" altLang="en-US" dirty="0" smtClean="0"/>
              <a:t>的</a:t>
            </a:r>
            <a:r>
              <a:rPr lang="en-US" altLang="zh-CN" dirty="0" smtClean="0"/>
              <a:t>extent</a:t>
            </a:r>
          </a:p>
          <a:p>
            <a:pPr marL="342900" indent="-342900">
              <a:buAutoNum type="arabicPeriod"/>
            </a:pPr>
            <a:r>
              <a:rPr lang="zh-CN" altLang="en-US" dirty="0" smtClean="0"/>
              <a:t>检查相同等级，试探</a:t>
            </a:r>
            <a:r>
              <a:rPr lang="en-US" altLang="zh-CN" dirty="0" smtClean="0"/>
              <a:t>3</a:t>
            </a:r>
            <a:r>
              <a:rPr lang="zh-CN" altLang="en-US" dirty="0" smtClean="0"/>
              <a:t>次</a:t>
            </a:r>
            <a:r>
              <a:rPr lang="zh-CN" altLang="en-US" dirty="0" smtClean="0">
                <a:solidFill>
                  <a:srgbClr val="FF0000"/>
                </a:solidFill>
              </a:rPr>
              <a:t>（需要考虑如何选取，防止一直试探前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个</a:t>
            </a:r>
            <a:r>
              <a:rPr lang="en-US" altLang="zh-CN" dirty="0" smtClean="0">
                <a:solidFill>
                  <a:srgbClr val="FF0000"/>
                </a:solidFill>
              </a:rPr>
              <a:t>extent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24" name="下箭头 23"/>
          <p:cNvSpPr/>
          <p:nvPr/>
        </p:nvSpPr>
        <p:spPr>
          <a:xfrm>
            <a:off x="2883201" y="3213100"/>
            <a:ext cx="139399" cy="924647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952900" y="3038085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Last extent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45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META</a:t>
            </a:r>
            <a:r>
              <a:rPr lang="zh-CN" altLang="en-US" dirty="0" smtClean="0"/>
              <a:t>文件中的</a:t>
            </a:r>
            <a:r>
              <a:rPr lang="en-US" altLang="zh-CN" dirty="0" err="1" smtClean="0"/>
              <a:t>metaExtent</a:t>
            </a:r>
            <a:endParaRPr lang="zh-CN" altLang="en-US" dirty="0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288721"/>
              </p:ext>
            </p:extLst>
          </p:nvPr>
        </p:nvGraphicFramePr>
        <p:xfrm>
          <a:off x="846710" y="1384123"/>
          <a:ext cx="647994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98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03246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Meta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 Header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reserved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预留位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35317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 </a:t>
                      </a:r>
                      <a:r>
                        <a:rPr lang="en-US" altLang="zh-CN" sz="1600" dirty="0" err="1" smtClean="0"/>
                        <a:t>num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当前已分配</a:t>
                      </a:r>
                      <a:r>
                        <a:rPr lang="en-US" altLang="zh-CN" sz="1600" baseline="0" dirty="0" smtClean="0"/>
                        <a:t>slot</a:t>
                      </a:r>
                      <a:r>
                        <a:rPr lang="zh-CN" altLang="en-US" sz="1600" baseline="0" dirty="0" smtClean="0"/>
                        <a:t>个数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218475"/>
                  </a:ext>
                </a:extLst>
              </a:tr>
              <a:tr h="523788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记录</a:t>
                      </a:r>
                      <a:r>
                        <a:rPr lang="en-US" altLang="zh-CN" sz="1600" baseline="0" dirty="0" smtClean="0"/>
                        <a:t>Extent</a:t>
                      </a:r>
                      <a:r>
                        <a:rPr lang="zh-CN" altLang="en-US" sz="1600" baseline="0" dirty="0" smtClean="0"/>
                        <a:t>内偏移地址。有几条记录则记录几个</a:t>
                      </a:r>
                      <a:r>
                        <a:rPr lang="en-US" altLang="zh-CN" sz="1600" baseline="0" dirty="0" smtClean="0"/>
                        <a:t>slot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048734"/>
                  </a:ext>
                </a:extLst>
              </a:tr>
              <a:tr h="303246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data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数据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138687"/>
              </p:ext>
            </p:extLst>
          </p:nvPr>
        </p:nvGraphicFramePr>
        <p:xfrm>
          <a:off x="838200" y="4183500"/>
          <a:ext cx="925883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98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5487364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77794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Meta Extent Data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recordLevel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该</a:t>
                      </a:r>
                      <a:r>
                        <a:rPr lang="en-US" altLang="zh-CN" sz="1600" dirty="0" smtClean="0"/>
                        <a:t>extent</a:t>
                      </a:r>
                      <a:r>
                        <a:rPr lang="zh-CN" altLang="en-US" sz="1600" dirty="0" smtClean="0"/>
                        <a:t>所在等级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353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relation</a:t>
                      </a:r>
                      <a:r>
                        <a:rPr lang="en-US" altLang="zh-CN" sz="1600" baseline="0" dirty="0" smtClean="0"/>
                        <a:t> extent 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与此</a:t>
                      </a:r>
                      <a:r>
                        <a:rPr lang="en-US" altLang="zh-CN" sz="1600" baseline="0" dirty="0" smtClean="0"/>
                        <a:t>bitmap</a:t>
                      </a:r>
                      <a:r>
                        <a:rPr lang="zh-CN" altLang="en-US" sz="1600" baseline="0" dirty="0" smtClean="0"/>
                        <a:t>一一对应的</a:t>
                      </a:r>
                      <a:r>
                        <a:rPr lang="en-US" altLang="zh-CN" sz="1600" baseline="0" dirty="0" smtClean="0"/>
                        <a:t>extent id</a:t>
                      </a:r>
                      <a:r>
                        <a:rPr lang="zh-CN" altLang="en-US" sz="1600" baseline="0" dirty="0" smtClean="0"/>
                        <a:t>（数据文件中）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21847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Next data 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UINT64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下一个</a:t>
                      </a:r>
                      <a:r>
                        <a:rPr lang="en-US" altLang="zh-CN" sz="1600" baseline="0" dirty="0" smtClean="0"/>
                        <a:t>bitmap</a:t>
                      </a:r>
                      <a:r>
                        <a:rPr lang="zh-CN" altLang="en-US" sz="1600" baseline="0" dirty="0" smtClean="0"/>
                        <a:t>的</a:t>
                      </a:r>
                      <a:r>
                        <a:rPr lang="en-US" altLang="zh-CN" sz="1600" baseline="0" dirty="0" smtClean="0"/>
                        <a:t>record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572319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Bitmap[4]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根据最小的</a:t>
                      </a:r>
                      <a:r>
                        <a:rPr lang="en-US" altLang="zh-CN" sz="1600" baseline="0" dirty="0" err="1" smtClean="0"/>
                        <a:t>pageSize</a:t>
                      </a:r>
                      <a:r>
                        <a:rPr lang="zh-CN" altLang="en-US" sz="1600" baseline="0" dirty="0" smtClean="0"/>
                        <a:t>来算，如</a:t>
                      </a:r>
                      <a:r>
                        <a:rPr lang="en-US" altLang="zh-CN" sz="1600" baseline="0" dirty="0" err="1" smtClean="0"/>
                        <a:t>pageSize</a:t>
                      </a:r>
                      <a:r>
                        <a:rPr lang="en-US" altLang="zh-CN" sz="1600" baseline="0" dirty="0" smtClean="0"/>
                        <a:t> 4k</a:t>
                      </a:r>
                      <a:r>
                        <a:rPr lang="zh-CN" altLang="en-US" sz="1600" baseline="0" dirty="0" smtClean="0"/>
                        <a:t>，</a:t>
                      </a:r>
                      <a:r>
                        <a:rPr lang="en-US" altLang="zh-CN" sz="1600" baseline="0" dirty="0" smtClean="0"/>
                        <a:t>relation</a:t>
                      </a:r>
                      <a:r>
                        <a:rPr lang="zh-CN" altLang="en-US" sz="1600" baseline="0" dirty="0" smtClean="0"/>
                        <a:t>最多可以放</a:t>
                      </a:r>
                      <a:r>
                        <a:rPr lang="en-US" altLang="zh-CN" sz="1600" baseline="0" dirty="0" smtClean="0"/>
                        <a:t>4k/4=1k</a:t>
                      </a:r>
                      <a:r>
                        <a:rPr lang="zh-CN" altLang="en-US" sz="1600" baseline="0" dirty="0" smtClean="0"/>
                        <a:t>个</a:t>
                      </a:r>
                      <a:r>
                        <a:rPr lang="en-US" altLang="zh-CN" sz="1600" baseline="0" dirty="0" err="1" smtClean="0"/>
                        <a:t>extentid</a:t>
                      </a:r>
                      <a:r>
                        <a:rPr lang="zh-CN" altLang="en-US" sz="1600" baseline="0" dirty="0" smtClean="0"/>
                        <a:t>， </a:t>
                      </a:r>
                      <a:r>
                        <a:rPr lang="en-US" altLang="zh-CN" sz="1600" baseline="0" dirty="0" smtClean="0"/>
                        <a:t>bitmap=1k/8bit = 128byte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730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08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2409372"/>
            <a:ext cx="42947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 smtClean="0">
                <a:solidFill>
                  <a:srgbClr val="FF0000"/>
                </a:solidFill>
              </a:rPr>
              <a:t>dropCL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zh-CN" altLang="en-US" b="1" dirty="0" smtClean="0">
                <a:solidFill>
                  <a:srgbClr val="FF0000"/>
                </a:solidFill>
              </a:rPr>
              <a:t>与 </a:t>
            </a:r>
            <a:r>
              <a:rPr lang="en-US" altLang="zh-CN" b="1" dirty="0" smtClean="0">
                <a:solidFill>
                  <a:srgbClr val="FF0000"/>
                </a:solidFill>
              </a:rPr>
              <a:t>query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insert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delete</a:t>
            </a:r>
            <a:r>
              <a:rPr lang="zh-CN" altLang="en-US" b="1" dirty="0" smtClean="0">
                <a:solidFill>
                  <a:srgbClr val="FF0000"/>
                </a:solidFill>
              </a:rPr>
              <a:t>的并发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01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44888</TotalTime>
  <Words>1449</Words>
  <Application>Microsoft Office PowerPoint</Application>
  <PresentationFormat>宽屏</PresentationFormat>
  <Paragraphs>625</Paragraphs>
  <Slides>16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数据文件设计</vt:lpstr>
      <vt:lpstr>问题</vt:lpstr>
      <vt:lpstr>文件总体方案</vt:lpstr>
      <vt:lpstr>数据文件总体结构</vt:lpstr>
      <vt:lpstr>File Header</vt:lpstr>
      <vt:lpstr>Space Management Extent</vt:lpstr>
      <vt:lpstr>Data Segment Metadata</vt:lpstr>
      <vt:lpstr>CS Metadata</vt:lpstr>
      <vt:lpstr>cl 与extent的关系</vt:lpstr>
      <vt:lpstr>Extent Header</vt:lpstr>
      <vt:lpstr>Data Extent</vt:lpstr>
      <vt:lpstr>Relation extent</vt:lpstr>
      <vt:lpstr>PowerPoint 演示文稿</vt:lpstr>
      <vt:lpstr>Bitmap设计</vt:lpstr>
      <vt:lpstr>META文件中的metaExtent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数据文件设计</dc:title>
  <dc:creator>linyoubin</dc:creator>
  <cp:lastModifiedBy>linyoubin</cp:lastModifiedBy>
  <cp:revision>763</cp:revision>
  <dcterms:created xsi:type="dcterms:W3CDTF">2018-11-26T02:24:39Z</dcterms:created>
  <dcterms:modified xsi:type="dcterms:W3CDTF">2019-01-10T01:28:17Z</dcterms:modified>
</cp:coreProperties>
</file>