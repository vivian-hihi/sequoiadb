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9" r:id="rId3"/>
    <p:sldId id="267" r:id="rId4"/>
    <p:sldId id="257" r:id="rId5"/>
    <p:sldId id="263" r:id="rId6"/>
    <p:sldId id="266" r:id="rId7"/>
    <p:sldId id="261" r:id="rId8"/>
    <p:sldId id="277" r:id="rId9"/>
    <p:sldId id="274" r:id="rId10"/>
    <p:sldId id="270" r:id="rId11"/>
    <p:sldId id="265" r:id="rId12"/>
    <p:sldId id="279" r:id="rId13"/>
    <p:sldId id="275" r:id="rId14"/>
    <p:sldId id="273" r:id="rId15"/>
    <p:sldId id="278" r:id="rId16"/>
    <p:sldId id="268" r:id="rId17"/>
    <p:sldId id="260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nyoubin" initials="l" lastIdx="12" clrIdx="0">
    <p:extLst>
      <p:ext uri="{19B8F6BF-5375-455C-9EA6-DF929625EA0E}">
        <p15:presenceInfo xmlns:p15="http://schemas.microsoft.com/office/powerpoint/2012/main" userId="linyoub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53" autoAdjust="0"/>
    <p:restoredTop sz="88515" autoAdjust="0"/>
  </p:normalViewPr>
  <p:slideViewPr>
    <p:cSldViewPr snapToGrid="0">
      <p:cViewPr varScale="1">
        <p:scale>
          <a:sx n="81" d="100"/>
          <a:sy n="81" d="100"/>
        </p:scale>
        <p:origin x="3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01-09T21:35:48.711" idx="2">
    <p:pos x="4272" y="456"/>
    <p:text>元数据的LSN是否需要增加， DDL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01-11T08:51:55.521" idx="8">
    <p:pos x="2363" y="457"/>
    <p:text>补充delete空间回收算法。补充logic extentid的重分配算法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01-09T22:45:15.379" idx="7">
    <p:pos x="7243" y="1382"/>
    <p:text>具体算法需要再斟酌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01-11T10:15:04.484" idx="11">
    <p:pos x="10" y="10"/>
    <p:text>多级bitmap与单个bitmap测试性能。</p:text>
    <p:extLst>
      <p:ext uri="{C676402C-5697-4E1C-873F-D02D1690AC5C}">
        <p15:threadingInfo xmlns:p15="http://schemas.microsoft.com/office/powerpoint/2012/main" timeZoneBias="-4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3CF9C5-560D-4BE0-8FF5-372197204B47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227AFA-EB4C-4686-97EC-5D83EA90DB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2282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3783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0707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7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63370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174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aseline="0" dirty="0" smtClean="0"/>
              <a:t>根据记录大小分为</a:t>
            </a:r>
            <a:r>
              <a:rPr lang="en-US" altLang="zh-CN" sz="1200" baseline="0" dirty="0" smtClean="0"/>
              <a:t>4</a:t>
            </a:r>
            <a:r>
              <a:rPr lang="zh-CN" altLang="en-US" sz="1200" baseline="0" dirty="0" smtClean="0"/>
              <a:t>个</a:t>
            </a:r>
            <a:r>
              <a:rPr lang="en-US" altLang="zh-CN" sz="1200" baseline="0" dirty="0" smtClean="0"/>
              <a:t>level</a:t>
            </a:r>
            <a:r>
              <a:rPr lang="zh-CN" altLang="en-US" sz="1200" baseline="0" dirty="0" smtClean="0"/>
              <a:t>：</a:t>
            </a:r>
            <a:endParaRPr lang="en-US" altLang="zh-CN" sz="12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(0, 4k)</a:t>
            </a:r>
            <a:r>
              <a:rPr lang="zh-CN" altLang="en-US" sz="1200" baseline="0" dirty="0" smtClean="0"/>
              <a:t>、</a:t>
            </a:r>
            <a:r>
              <a:rPr lang="en-US" altLang="zh-CN" sz="1200" baseline="0" dirty="0" smtClean="0"/>
              <a:t>[4k, 64k)</a:t>
            </a:r>
            <a:r>
              <a:rPr lang="zh-CN" altLang="en-US" sz="1200" baseline="0" dirty="0" smtClean="0"/>
              <a:t>、</a:t>
            </a:r>
            <a:r>
              <a:rPr lang="en-US" altLang="zh-CN" sz="1200" baseline="0" dirty="0" smtClean="0"/>
              <a:t>[64k, 1M)</a:t>
            </a:r>
            <a:r>
              <a:rPr lang="zh-CN" altLang="en-US" sz="1200" baseline="0" dirty="0" smtClean="0"/>
              <a:t>、</a:t>
            </a:r>
            <a:r>
              <a:rPr lang="en-US" altLang="zh-CN" sz="1200" baseline="0" dirty="0" smtClean="0"/>
              <a:t>[1M, 16M )</a:t>
            </a:r>
            <a:endParaRPr lang="zh-CN" altLang="en-US" sz="1200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0781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Slots</a:t>
            </a:r>
            <a:r>
              <a:rPr lang="zh-CN" altLang="en-US" dirty="0" smtClean="0"/>
              <a:t>中的</a:t>
            </a:r>
            <a:r>
              <a:rPr lang="en-US" altLang="zh-CN" dirty="0" smtClean="0"/>
              <a:t>Offset</a:t>
            </a:r>
            <a:r>
              <a:rPr lang="zh-CN" altLang="en-US" dirty="0" smtClean="0"/>
              <a:t>前</a:t>
            </a:r>
            <a:r>
              <a:rPr lang="en-US" altLang="zh-CN" dirty="0" smtClean="0"/>
              <a:t>4</a:t>
            </a:r>
            <a:r>
              <a:rPr lang="zh-CN" altLang="en-US" dirty="0" smtClean="0"/>
              <a:t>位留作状态位，填写数据的状态：</a:t>
            </a:r>
            <a:endParaRPr lang="en-US" altLang="zh-CN" dirty="0" smtClean="0"/>
          </a:p>
          <a:p>
            <a:r>
              <a:rPr lang="en-US" altLang="zh-CN" dirty="0" smtClean="0"/>
              <a:t>0x0</a:t>
            </a:r>
            <a:r>
              <a:rPr lang="en-US" altLang="zh-CN" baseline="0" dirty="0" smtClean="0"/>
              <a:t>  normal</a:t>
            </a:r>
          </a:p>
          <a:p>
            <a:r>
              <a:rPr lang="en-US" altLang="zh-CN" baseline="0" dirty="0" smtClean="0"/>
              <a:t>0x1  deleted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1930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File size = page </a:t>
            </a:r>
            <a:r>
              <a:rPr lang="en-US" altLang="zh-CN" dirty="0" err="1" smtClean="0"/>
              <a:t>num</a:t>
            </a:r>
            <a:r>
              <a:rPr lang="en-US" altLang="zh-CN" dirty="0" smtClean="0"/>
              <a:t> * page size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 smtClean="0"/>
              <a:t>Segment slot number</a:t>
            </a:r>
            <a:r>
              <a:rPr lang="zh-CN" altLang="en-US" sz="1200" baseline="0" dirty="0" smtClean="0"/>
              <a:t> </a:t>
            </a:r>
            <a:r>
              <a:rPr lang="en-US" altLang="zh-CN" sz="1200" baseline="0" dirty="0" smtClean="0"/>
              <a:t>= File size / segment  size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aseline="0" dirty="0" smtClean="0"/>
              <a:t>记录等级：</a:t>
            </a:r>
            <a:endParaRPr lang="en-US" altLang="zh-CN" sz="12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(0, 4k)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[4k, 64k)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[64k, 1M)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[1M, 16M )</a:t>
            </a:r>
            <a:endParaRPr lang="zh-CN" altLang="en-US" sz="1200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55578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aseline="0" dirty="0" smtClean="0"/>
              <a:t>1</a:t>
            </a:r>
            <a:r>
              <a:rPr lang="zh-CN" altLang="en-US" baseline="0" dirty="0" smtClean="0"/>
              <a:t>、</a:t>
            </a:r>
            <a:r>
              <a:rPr lang="en-US" altLang="zh-CN" baseline="0" dirty="0" smtClean="0"/>
              <a:t>extent</a:t>
            </a:r>
            <a:r>
              <a:rPr lang="zh-CN" altLang="en-US" baseline="0" dirty="0" smtClean="0"/>
              <a:t>空闲空间 分等级 例如</a:t>
            </a:r>
            <a:r>
              <a:rPr lang="en-US" altLang="zh-CN" baseline="0" dirty="0" smtClean="0"/>
              <a:t>2</a:t>
            </a:r>
            <a:r>
              <a:rPr lang="zh-CN" altLang="en-US" baseline="0" dirty="0" smtClean="0"/>
              <a:t>位 （</a:t>
            </a: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个等级） </a:t>
            </a:r>
            <a:endParaRPr lang="en-US" altLang="zh-CN" baseline="0" dirty="0" smtClean="0"/>
          </a:p>
          <a:p>
            <a:r>
              <a:rPr lang="en-US" altLang="zh-CN" baseline="0" dirty="0" smtClean="0"/>
              <a:t>0 [0, 256b</a:t>
            </a:r>
            <a:r>
              <a:rPr lang="zh-CN" altLang="en-US" baseline="0" dirty="0" smtClean="0"/>
              <a:t>）</a:t>
            </a:r>
            <a:endParaRPr lang="en-US" altLang="zh-CN" baseline="0" dirty="0" smtClean="0"/>
          </a:p>
          <a:p>
            <a:r>
              <a:rPr lang="en-US" altLang="zh-CN" baseline="0" dirty="0" smtClean="0"/>
              <a:t>1 [256, 1k</a:t>
            </a:r>
            <a:r>
              <a:rPr lang="zh-CN" altLang="en-US" baseline="0" dirty="0" smtClean="0"/>
              <a:t>）</a:t>
            </a:r>
            <a:endParaRPr lang="en-US" altLang="zh-CN" baseline="0" dirty="0" smtClean="0"/>
          </a:p>
          <a:p>
            <a:r>
              <a:rPr lang="en-US" altLang="zh-CN" baseline="0" dirty="0" smtClean="0"/>
              <a:t>2 [1k,2k)</a:t>
            </a:r>
          </a:p>
          <a:p>
            <a:r>
              <a:rPr lang="en-US" altLang="zh-CN" baseline="0" dirty="0" smtClean="0"/>
              <a:t>3 [2k,4k]</a:t>
            </a:r>
          </a:p>
          <a:p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aseline="0" dirty="0" smtClean="0"/>
              <a:t>2</a:t>
            </a:r>
            <a:r>
              <a:rPr lang="zh-CN" altLang="en-US" baseline="0" dirty="0" smtClean="0"/>
              <a:t>、分配 </a:t>
            </a:r>
            <a:r>
              <a:rPr lang="en-US" altLang="zh-CN" baseline="0" dirty="0" smtClean="0"/>
              <a:t>257</a:t>
            </a:r>
            <a:r>
              <a:rPr lang="zh-CN" altLang="en-US" baseline="0" dirty="0" smtClean="0"/>
              <a:t>字节时， 优先分配到等级</a:t>
            </a:r>
            <a:r>
              <a:rPr lang="en-US" altLang="zh-CN" baseline="0" dirty="0" smtClean="0"/>
              <a:t>2[1k,2k)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aseline="0" dirty="0" smtClean="0"/>
              <a:t>3</a:t>
            </a:r>
            <a:r>
              <a:rPr lang="zh-CN" altLang="en-US" baseline="0" dirty="0" smtClean="0"/>
              <a:t>、分配失败时从等级</a:t>
            </a:r>
            <a:r>
              <a:rPr lang="en-US" altLang="zh-CN" baseline="0" dirty="0" smtClean="0"/>
              <a:t>1</a:t>
            </a:r>
            <a:r>
              <a:rPr lang="zh-CN" altLang="en-US" baseline="0" dirty="0" smtClean="0"/>
              <a:t>尝试</a:t>
            </a:r>
            <a:r>
              <a:rPr lang="en-US" altLang="zh-CN" baseline="0" dirty="0" smtClean="0"/>
              <a:t>2</a:t>
            </a:r>
            <a:r>
              <a:rPr lang="zh-CN" altLang="en-US" baseline="0" dirty="0" smtClean="0"/>
              <a:t>次？ </a:t>
            </a:r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、再失败时分配新的</a:t>
            </a:r>
            <a:r>
              <a:rPr lang="en-US" altLang="zh-CN" baseline="0" dirty="0" smtClean="0"/>
              <a:t>extent</a:t>
            </a:r>
            <a:r>
              <a:rPr lang="zh-CN" altLang="en-US" baseline="0" dirty="0" smtClean="0"/>
              <a:t>。</a:t>
            </a:r>
            <a:endParaRPr lang="en-US" altLang="zh-CN" baseline="0" dirty="0" smtClean="0"/>
          </a:p>
          <a:p>
            <a:endParaRPr lang="en-US" altLang="zh-CN" baseline="0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499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0128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3861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17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7357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268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211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0194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5071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111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907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429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8381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EDBE0D-D193-4915-9F9C-E6864CED25A9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44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b="1" dirty="0" smtClean="0">
                <a:solidFill>
                  <a:schemeClr val="accent2">
                    <a:lumMod val="75000"/>
                  </a:schemeClr>
                </a:solidFill>
              </a:rPr>
              <a:t>数据文件设计</a:t>
            </a:r>
            <a:endParaRPr lang="zh-CN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8347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问题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838200" y="1995055"/>
            <a:ext cx="987642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 smtClean="0"/>
              <a:t>性能：</a:t>
            </a:r>
            <a:endParaRPr lang="en-US" altLang="zh-CN" sz="2400" dirty="0" smtClean="0"/>
          </a:p>
          <a:p>
            <a:r>
              <a:rPr lang="en-US" altLang="zh-CN" sz="2400" dirty="0" smtClean="0"/>
              <a:t>1</a:t>
            </a:r>
            <a:r>
              <a:rPr lang="zh-CN" altLang="en-US" sz="2400" dirty="0" smtClean="0"/>
              <a:t>、细粒度化锁，尽量避免 </a:t>
            </a:r>
            <a:r>
              <a:rPr lang="en-US" altLang="zh-CN" sz="2400" dirty="0" err="1" smtClean="0"/>
              <a:t>mblock</a:t>
            </a:r>
            <a:r>
              <a:rPr lang="en-US" altLang="zh-CN" sz="2400" dirty="0" smtClean="0"/>
              <a:t> </a:t>
            </a:r>
            <a:r>
              <a:rPr lang="zh-CN" altLang="en-US" sz="2400" dirty="0" smtClean="0"/>
              <a:t>的表级别锁</a:t>
            </a:r>
            <a:endParaRPr lang="en-US" altLang="zh-CN" sz="2400" dirty="0" smtClean="0"/>
          </a:p>
          <a:p>
            <a:r>
              <a:rPr lang="en-US" altLang="zh-CN" sz="2400" dirty="0" smtClean="0"/>
              <a:t>2</a:t>
            </a:r>
            <a:r>
              <a:rPr lang="zh-CN" altLang="en-US" sz="2400" dirty="0" smtClean="0"/>
              <a:t>、去除链表关系，当前</a:t>
            </a:r>
            <a:r>
              <a:rPr lang="zh-CN" altLang="en-US" sz="2400" dirty="0"/>
              <a:t>方案</a:t>
            </a:r>
            <a:r>
              <a:rPr lang="zh-CN" altLang="en-US" sz="2400" dirty="0" smtClean="0"/>
              <a:t>中，</a:t>
            </a:r>
            <a:r>
              <a:rPr lang="en-US" altLang="zh-CN" sz="2400" dirty="0" smtClean="0"/>
              <a:t>cl </a:t>
            </a:r>
            <a:r>
              <a:rPr lang="zh-CN" altLang="en-US" sz="2400" dirty="0" smtClean="0"/>
              <a:t>间 </a:t>
            </a:r>
            <a:r>
              <a:rPr lang="en-US" altLang="zh-CN" sz="2400" dirty="0" smtClean="0"/>
              <a:t>extent </a:t>
            </a:r>
            <a:r>
              <a:rPr lang="zh-CN" altLang="en-US" sz="2400" dirty="0" smtClean="0"/>
              <a:t>链表，以及 </a:t>
            </a:r>
            <a:r>
              <a:rPr lang="en-US" altLang="zh-CN" sz="2400" dirty="0" err="1" smtClean="0"/>
              <a:t>freelist</a:t>
            </a:r>
            <a:r>
              <a:rPr lang="en-US" altLang="zh-CN" sz="2400" dirty="0" smtClean="0"/>
              <a:t> </a:t>
            </a:r>
            <a:r>
              <a:rPr lang="zh-CN" altLang="en-US" sz="2400" dirty="0" smtClean="0"/>
              <a:t>链表</a:t>
            </a:r>
            <a:endParaRPr lang="en-US" altLang="zh-CN" sz="2400" dirty="0" smtClean="0"/>
          </a:p>
          <a:p>
            <a:r>
              <a:rPr lang="en-US" altLang="zh-CN" sz="2400" dirty="0" smtClean="0"/>
              <a:t>3</a:t>
            </a:r>
            <a:r>
              <a:rPr lang="zh-CN" altLang="en-US" sz="2400" dirty="0" smtClean="0"/>
              <a:t>、节点间的数据文件（</a:t>
            </a:r>
            <a:r>
              <a:rPr lang="en-US" altLang="zh-CN" sz="2400" dirty="0" smtClean="0"/>
              <a:t>data, capped, lob</a:t>
            </a:r>
            <a:r>
              <a:rPr lang="en-US" altLang="zh-CN" sz="2400" dirty="0"/>
              <a:t>.</a:t>
            </a:r>
            <a:r>
              <a:rPr lang="zh-CN" altLang="en-US" sz="2400" dirty="0" smtClean="0"/>
              <a:t>不包括</a:t>
            </a:r>
            <a:r>
              <a:rPr lang="en-US" altLang="zh-CN" sz="2400" dirty="0" smtClean="0"/>
              <a:t>index</a:t>
            </a:r>
            <a:r>
              <a:rPr lang="zh-CN" altLang="en-US" sz="2400" dirty="0" smtClean="0"/>
              <a:t>）保持完全一致。</a:t>
            </a:r>
            <a:endParaRPr lang="en-US" altLang="zh-CN" sz="2400" dirty="0" smtClean="0"/>
          </a:p>
          <a:p>
            <a:r>
              <a:rPr lang="en-US" altLang="zh-CN" sz="2400" dirty="0"/>
              <a:t> </a:t>
            </a:r>
            <a:r>
              <a:rPr lang="en-US" altLang="zh-CN" sz="2400" dirty="0" smtClean="0"/>
              <a:t>   </a:t>
            </a:r>
            <a:r>
              <a:rPr lang="zh-CN" altLang="en-US" sz="2400" dirty="0" smtClean="0"/>
              <a:t>（快速同步数据）</a:t>
            </a:r>
            <a:endParaRPr lang="en-US" altLang="zh-CN" sz="2400" dirty="0" smtClean="0"/>
          </a:p>
          <a:p>
            <a:r>
              <a:rPr lang="en-US" altLang="zh-CN" sz="2400" dirty="0" smtClean="0"/>
              <a:t>4</a:t>
            </a:r>
            <a:r>
              <a:rPr lang="zh-CN" altLang="en-US" sz="2400" dirty="0" smtClean="0"/>
              <a:t>、</a:t>
            </a:r>
            <a:r>
              <a:rPr lang="en-US" altLang="zh-CN" sz="2400" dirty="0" smtClean="0"/>
              <a:t>buffer pool</a:t>
            </a:r>
          </a:p>
          <a:p>
            <a:endParaRPr lang="en-US" altLang="zh-CN" sz="2400" dirty="0"/>
          </a:p>
          <a:p>
            <a:r>
              <a:rPr lang="zh-CN" altLang="en-US" sz="2400" dirty="0" smtClean="0"/>
              <a:t>功能：</a:t>
            </a:r>
            <a:endParaRPr lang="en-US" altLang="zh-CN" sz="2400" dirty="0" smtClean="0"/>
          </a:p>
          <a:p>
            <a:r>
              <a:rPr lang="en-US" altLang="zh-CN" sz="2400" dirty="0"/>
              <a:t>1</a:t>
            </a:r>
            <a:r>
              <a:rPr lang="zh-CN" altLang="en-US" sz="2400" dirty="0" smtClean="0"/>
              <a:t>、</a:t>
            </a:r>
            <a:r>
              <a:rPr lang="en-US" altLang="zh-CN" sz="2400" dirty="0" err="1" smtClean="0"/>
              <a:t>mvcc</a:t>
            </a:r>
            <a:r>
              <a:rPr lang="zh-CN" altLang="en-US" sz="2400" dirty="0" smtClean="0"/>
              <a:t>支持</a:t>
            </a:r>
            <a:endParaRPr lang="en-US" altLang="zh-CN" sz="2400" dirty="0" smtClean="0"/>
          </a:p>
          <a:p>
            <a:r>
              <a:rPr lang="en-US" altLang="zh-CN" sz="2400" dirty="0" smtClean="0"/>
              <a:t>2</a:t>
            </a:r>
            <a:r>
              <a:rPr lang="zh-CN" altLang="en-US" sz="2400" dirty="0" smtClean="0"/>
              <a:t>、</a:t>
            </a:r>
            <a:r>
              <a:rPr lang="en-US" altLang="zh-CN" sz="2400" dirty="0" smtClean="0"/>
              <a:t>checkpoint</a:t>
            </a:r>
            <a:r>
              <a:rPr lang="zh-CN" altLang="en-US" sz="2400" dirty="0" smtClean="0"/>
              <a:t>支持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677844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文件</a:t>
            </a:r>
            <a:r>
              <a:rPr lang="zh-CN" altLang="en-US" dirty="0"/>
              <a:t>总体</a:t>
            </a:r>
            <a:r>
              <a:rPr lang="zh-CN" altLang="en-US" dirty="0" smtClean="0"/>
              <a:t>方案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249251" y="1790163"/>
            <a:ext cx="79383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一个</a:t>
            </a:r>
            <a:r>
              <a:rPr lang="en-US" altLang="zh-CN" dirty="0" err="1" smtClean="0"/>
              <a:t>cs</a:t>
            </a:r>
            <a:r>
              <a:rPr lang="zh-CN" altLang="en-US" dirty="0"/>
              <a:t>一</a:t>
            </a:r>
            <a:r>
              <a:rPr lang="zh-CN" altLang="en-US" dirty="0" smtClean="0"/>
              <a:t>个文件，每个</a:t>
            </a:r>
            <a:r>
              <a:rPr lang="en-US" altLang="zh-CN" dirty="0" smtClean="0"/>
              <a:t>segment</a:t>
            </a:r>
            <a:r>
              <a:rPr lang="zh-CN" altLang="en-US" dirty="0" smtClean="0"/>
              <a:t>内的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可以放不同</a:t>
            </a:r>
            <a:r>
              <a:rPr lang="en-US" altLang="zh-CN" dirty="0" smtClean="0"/>
              <a:t>cl</a:t>
            </a:r>
            <a:r>
              <a:rPr lang="zh-CN" altLang="en-US" dirty="0" smtClean="0"/>
              <a:t>的数据。</a:t>
            </a:r>
            <a:endParaRPr lang="en-US" altLang="zh-CN" dirty="0" smtClean="0"/>
          </a:p>
          <a:p>
            <a:r>
              <a:rPr lang="en-US" altLang="zh-CN" dirty="0" smtClean="0"/>
              <a:t>cl</a:t>
            </a:r>
            <a:r>
              <a:rPr lang="zh-CN" altLang="en-US" dirty="0" smtClean="0"/>
              <a:t>与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的关系由专门的</a:t>
            </a:r>
            <a:r>
              <a:rPr lang="en-US" altLang="zh-CN" dirty="0" err="1" smtClean="0"/>
              <a:t>clRelationExtent</a:t>
            </a:r>
            <a:r>
              <a:rPr lang="zh-CN" altLang="en-US" dirty="0" smtClean="0"/>
              <a:t>来维护，动态增长。</a:t>
            </a:r>
            <a:endParaRPr lang="en-US" altLang="zh-CN" dirty="0" smtClean="0"/>
          </a:p>
          <a:p>
            <a:r>
              <a:rPr lang="en-US" altLang="zh-CN" dirty="0" smtClean="0"/>
              <a:t>Insert</a:t>
            </a:r>
            <a:r>
              <a:rPr lang="zh-CN" altLang="en-US" dirty="0" smtClean="0"/>
              <a:t>时查找空闲空间的</a:t>
            </a:r>
            <a:r>
              <a:rPr lang="en-US" altLang="zh-CN" dirty="0" smtClean="0"/>
              <a:t>bitmap</a:t>
            </a:r>
            <a:r>
              <a:rPr lang="zh-CN" altLang="en-US" dirty="0" smtClean="0"/>
              <a:t>由另外的</a:t>
            </a:r>
            <a:r>
              <a:rPr lang="en-US" altLang="zh-CN" dirty="0" smtClean="0"/>
              <a:t>meta</a:t>
            </a:r>
            <a:r>
              <a:rPr lang="zh-CN" altLang="en-US" dirty="0" smtClean="0"/>
              <a:t>文件保存管理，做快速查找用。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1622738" y="3760631"/>
            <a:ext cx="1818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|---</a:t>
            </a:r>
            <a:r>
              <a:rPr lang="en-US" altLang="zh-CN" dirty="0" err="1" smtClean="0"/>
              <a:t>datapath</a:t>
            </a:r>
            <a:endParaRPr lang="en-US" altLang="zh-CN" dirty="0" smtClean="0"/>
          </a:p>
          <a:p>
            <a:r>
              <a:rPr lang="en-US" altLang="zh-CN" dirty="0" smtClean="0"/>
              <a:t>  |---csid.1.data</a:t>
            </a:r>
          </a:p>
          <a:p>
            <a:r>
              <a:rPr lang="en-US" altLang="zh-CN" dirty="0"/>
              <a:t> </a:t>
            </a:r>
            <a:r>
              <a:rPr lang="en-US" altLang="zh-CN" dirty="0" smtClean="0"/>
              <a:t> |---csid.1.meta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9390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数据文件总体结构</a:t>
            </a:r>
            <a:endParaRPr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155802"/>
              </p:ext>
            </p:extLst>
          </p:nvPr>
        </p:nvGraphicFramePr>
        <p:xfrm>
          <a:off x="838200" y="2304872"/>
          <a:ext cx="4479402" cy="2918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567">
                  <a:extLst>
                    <a:ext uri="{9D8B030D-6E8A-4147-A177-3AD203B41FA5}">
                      <a16:colId xmlns:a16="http://schemas.microsoft.com/office/drawing/2014/main" val="3954433220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3984323689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1253501711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3873437384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1048809832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2210134178"/>
                    </a:ext>
                  </a:extLst>
                </a:gridCol>
              </a:tblGrid>
              <a:tr h="364281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File 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7371293"/>
                  </a:ext>
                </a:extLst>
              </a:tr>
              <a:tr h="167640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/>
                        <a:t>Space Management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3702555"/>
                  </a:ext>
                </a:extLst>
              </a:tr>
              <a:tr h="167640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/>
                        <a:t>Data Segment Metadata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943715"/>
                  </a:ext>
                </a:extLst>
              </a:tr>
              <a:tr h="167640">
                <a:tc gridSpan="6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CS Metadata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02736"/>
                  </a:ext>
                </a:extLst>
              </a:tr>
              <a:tr h="576778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page1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page2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19522"/>
                  </a:ext>
                </a:extLst>
              </a:tr>
              <a:tr h="485806"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292344"/>
                  </a:ext>
                </a:extLst>
              </a:tr>
              <a:tr h="485806"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405608"/>
                  </a:ext>
                </a:extLst>
              </a:tr>
            </a:tbl>
          </a:graphicData>
        </a:graphic>
      </p:graphicFrame>
      <p:graphicFrame>
        <p:nvGraphicFramePr>
          <p:cNvPr id="9" name="表格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160774"/>
              </p:ext>
            </p:extLst>
          </p:nvPr>
        </p:nvGraphicFramePr>
        <p:xfrm>
          <a:off x="6096000" y="2279479"/>
          <a:ext cx="4479402" cy="2911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9402">
                  <a:extLst>
                    <a:ext uri="{9D8B030D-6E8A-4147-A177-3AD203B41FA5}">
                      <a16:colId xmlns:a16="http://schemas.microsoft.com/office/drawing/2014/main" val="3954433220"/>
                    </a:ext>
                  </a:extLst>
                </a:gridCol>
              </a:tblGrid>
              <a:tr h="36428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File 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7371293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/>
                        <a:t>Space Management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70255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Data Segment Metadata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15006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CS Metadata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894675"/>
                  </a:ext>
                </a:extLst>
              </a:tr>
              <a:tr h="4925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segment1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19522"/>
                  </a:ext>
                </a:extLst>
              </a:tr>
              <a:tr h="53376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segment2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292344"/>
                  </a:ext>
                </a:extLst>
              </a:tr>
              <a:tr h="51515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300955"/>
                  </a:ext>
                </a:extLst>
              </a:tr>
            </a:tbl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7071573" y="6165068"/>
            <a:ext cx="2528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Segment size</a:t>
            </a:r>
            <a:r>
              <a:rPr lang="zh-CN" altLang="en-US" dirty="0" smtClean="0"/>
              <a:t>固定</a:t>
            </a:r>
            <a:r>
              <a:rPr lang="en-US" altLang="zh-CN" dirty="0" smtClean="0"/>
              <a:t>128M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1211042" y="6166842"/>
            <a:ext cx="3733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Page size</a:t>
            </a:r>
            <a:r>
              <a:rPr lang="zh-CN" altLang="en-US" dirty="0" smtClean="0"/>
              <a:t>范围</a:t>
            </a:r>
            <a:r>
              <a:rPr lang="en-US" altLang="zh-CN" dirty="0" smtClean="0"/>
              <a:t>[4k, 8k, 16k, 32k, 64k]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473407" y="5461937"/>
            <a:ext cx="1208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page </a:t>
            </a:r>
            <a:r>
              <a:rPr lang="zh-CN" altLang="en-US" dirty="0" smtClean="0"/>
              <a:t>视图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7551672" y="5461937"/>
            <a:ext cx="156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segment</a:t>
            </a:r>
            <a:r>
              <a:rPr lang="en-US" altLang="zh-CN" dirty="0" smtClean="0"/>
              <a:t> </a:t>
            </a:r>
            <a:r>
              <a:rPr lang="zh-CN" altLang="en-US" dirty="0" smtClean="0"/>
              <a:t>视图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89697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13204"/>
          </a:xfrm>
        </p:spPr>
        <p:txBody>
          <a:bodyPr/>
          <a:lstStyle/>
          <a:p>
            <a:r>
              <a:rPr lang="en-US" altLang="zh-CN" dirty="0" smtClean="0"/>
              <a:t>File Header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221610"/>
              </p:ext>
            </p:extLst>
          </p:nvPr>
        </p:nvGraphicFramePr>
        <p:xfrm>
          <a:off x="838200" y="1766682"/>
          <a:ext cx="6342924" cy="4159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5584">
                  <a:extLst>
                    <a:ext uri="{9D8B030D-6E8A-4147-A177-3AD203B41FA5}">
                      <a16:colId xmlns:a16="http://schemas.microsoft.com/office/drawing/2014/main" val="3553256097"/>
                    </a:ext>
                  </a:extLst>
                </a:gridCol>
                <a:gridCol w="1369173">
                  <a:extLst>
                    <a:ext uri="{9D8B030D-6E8A-4147-A177-3AD203B41FA5}">
                      <a16:colId xmlns:a16="http://schemas.microsoft.com/office/drawing/2014/main" val="4246112648"/>
                    </a:ext>
                  </a:extLst>
                </a:gridCol>
                <a:gridCol w="1228410">
                  <a:extLst>
                    <a:ext uri="{9D8B030D-6E8A-4147-A177-3AD203B41FA5}">
                      <a16:colId xmlns:a16="http://schemas.microsoft.com/office/drawing/2014/main" val="697613201"/>
                    </a:ext>
                  </a:extLst>
                </a:gridCol>
                <a:gridCol w="2319757">
                  <a:extLst>
                    <a:ext uri="{9D8B030D-6E8A-4147-A177-3AD203B41FA5}">
                      <a16:colId xmlns:a16="http://schemas.microsoft.com/office/drawing/2014/main" val="2551292058"/>
                    </a:ext>
                  </a:extLst>
                </a:gridCol>
              </a:tblGrid>
              <a:tr h="292193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File 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7102329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名称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类型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长度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描述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1564046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EYE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 CATCHER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BYTES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识别串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7978886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version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UINT8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版本号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019821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err="1" smtClean="0">
                          <a:solidFill>
                            <a:schemeClr val="tx1"/>
                          </a:solidFill>
                        </a:rPr>
                        <a:t>cs</a:t>
                      </a:r>
                      <a:r>
                        <a:rPr lang="en-US" altLang="zh-CN" sz="1600" baseline="0" dirty="0" err="1" smtClean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CHAR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err="1" smtClean="0">
                          <a:solidFill>
                            <a:schemeClr val="tx1"/>
                          </a:solidFill>
                        </a:rPr>
                        <a:t>cs</a:t>
                      </a:r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名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612431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err="1" smtClean="0">
                          <a:solidFill>
                            <a:schemeClr val="tx1"/>
                          </a:solidFill>
                        </a:rPr>
                        <a:t>csID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UINT32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284969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Sequence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UINT16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文件序列号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8802394"/>
                  </a:ext>
                </a:extLst>
              </a:tr>
              <a:tr h="1142207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UINT16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文件类型：</a:t>
                      </a:r>
                      <a:endParaRPr lang="en-US" altLang="zh-CN" sz="16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 data</a:t>
                      </a:r>
                    </a:p>
                    <a:p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2. index</a:t>
                      </a:r>
                    </a:p>
                    <a:p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3. lob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853178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Create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 time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UINT64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>
                          <a:solidFill>
                            <a:schemeClr val="tx1"/>
                          </a:solidFill>
                        </a:rPr>
                        <a:t>创建时间，毫秒数</a:t>
                      </a:r>
                      <a:endParaRPr lang="en-US" altLang="zh-CN" sz="1600" baseline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930073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reserved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BYTES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1024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>
                          <a:solidFill>
                            <a:schemeClr val="tx1"/>
                          </a:solidFill>
                        </a:rPr>
                        <a:t>预留字段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CN" altLang="en-US" sz="1600" baseline="0" dirty="0" smtClean="0">
                          <a:solidFill>
                            <a:schemeClr val="tx1"/>
                          </a:solidFill>
                        </a:rPr>
                        <a:t>默认值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0 )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9941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1303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Space </a:t>
            </a:r>
            <a:r>
              <a:rPr lang="en-US" altLang="zh-CN" dirty="0"/>
              <a:t>M</a:t>
            </a:r>
            <a:r>
              <a:rPr lang="en-US" altLang="zh-CN" dirty="0" smtClean="0"/>
              <a:t>anagement Extent</a:t>
            </a:r>
            <a:endParaRPr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575788"/>
              </p:ext>
            </p:extLst>
          </p:nvPr>
        </p:nvGraphicFramePr>
        <p:xfrm>
          <a:off x="838200" y="1725413"/>
          <a:ext cx="6847390" cy="3281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1461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37549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192193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3206187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55557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Space Management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24475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Version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UINT8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版本号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填充字段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12583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size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392964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当前已分配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9430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bitmap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16M</a:t>
                      </a:r>
                      <a:r>
                        <a:rPr lang="en-US" altLang="zh-CN" sz="16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endParaRPr lang="en-US" altLang="zh-CN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总共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128M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个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。每一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位标识是否使用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496127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Reserved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1024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预留字段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82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7285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Data Segment Metadata</a:t>
            </a:r>
            <a:endParaRPr lang="zh-CN" altLang="en-US" dirty="0"/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837045"/>
              </p:ext>
            </p:extLst>
          </p:nvPr>
        </p:nvGraphicFramePr>
        <p:xfrm>
          <a:off x="838200" y="1529427"/>
          <a:ext cx="5608900" cy="2367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93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05329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1979271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55557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Segment Metadata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24475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Version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UINT8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版本号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填充位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496127"/>
                  </a:ext>
                </a:extLst>
              </a:tr>
              <a:tr h="14135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Reserved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1024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预留字段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914417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 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当前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 SLOT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256K * 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256K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个槽位号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3870"/>
                  </a:ext>
                </a:extLst>
              </a:tr>
            </a:tbl>
          </a:graphicData>
        </a:graphic>
      </p:graphicFrame>
      <p:graphicFrame>
        <p:nvGraphicFramePr>
          <p:cNvPr id="11" name="表格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830739"/>
              </p:ext>
            </p:extLst>
          </p:nvPr>
        </p:nvGraphicFramePr>
        <p:xfrm>
          <a:off x="838201" y="4023360"/>
          <a:ext cx="6824240" cy="1376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4756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9125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85652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511707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 SLOT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7101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per extent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每个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占用的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91441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填充位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5017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8220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MME-Metadata Management Extent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118806"/>
              </p:ext>
            </p:extLst>
          </p:nvPr>
        </p:nvGraphicFramePr>
        <p:xfrm>
          <a:off x="838200" y="1626293"/>
          <a:ext cx="5608900" cy="9296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93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05329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1979271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20077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Collection Metadata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0182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Collection slots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4096 * xx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91050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7381527"/>
              </p:ext>
            </p:extLst>
          </p:nvPr>
        </p:nvGraphicFramePr>
        <p:xfrm>
          <a:off x="838200" y="2951856"/>
          <a:ext cx="10083085" cy="3613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93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05329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645345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91577">
                <a:tc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Collection slots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29157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291577">
                <a:tc>
                  <a:txBody>
                    <a:bodyPr/>
                    <a:lstStyle/>
                    <a:p>
                      <a:r>
                        <a:rPr lang="en-US" altLang="zh-CN" sz="1400" dirty="0" err="1" smtClean="0"/>
                        <a:t>clName</a:t>
                      </a:r>
                      <a:endParaRPr lang="en-US" altLang="zh-CN" sz="14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CHAR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128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表名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291577">
                <a:tc>
                  <a:txBody>
                    <a:bodyPr/>
                    <a:lstStyle/>
                    <a:p>
                      <a:r>
                        <a:rPr lang="en-US" altLang="zh-CN" sz="1400" dirty="0" err="1" smtClean="0"/>
                        <a:t>clid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UINT64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8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表唯一</a:t>
                      </a:r>
                      <a:r>
                        <a:rPr lang="en-US" altLang="zh-CN" sz="1400" dirty="0" smtClean="0"/>
                        <a:t>id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496127"/>
                  </a:ext>
                </a:extLst>
              </a:tr>
              <a:tr h="29157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idx</a:t>
                      </a:r>
                      <a:endParaRPr lang="zh-CN" altLang="en-US" sz="14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在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Slot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中的</a:t>
                      </a:r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idx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914417"/>
                  </a:ext>
                </a:extLst>
              </a:tr>
              <a:tr h="29157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Flag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状态位（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free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dropped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used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online reorg etc.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967559"/>
                  </a:ext>
                </a:extLst>
              </a:tr>
              <a:tr h="50363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Records(8)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DataPages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(4)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IndexPages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(4)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DataFreeSpace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(8)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IndexFreeSpace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(8)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LobPages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(4)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351751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compressorType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压缩类型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926502"/>
                  </a:ext>
                </a:extLst>
              </a:tr>
              <a:tr h="29157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dictExtentID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字典所在</a:t>
                      </a:r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extentID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919122"/>
                  </a:ext>
                </a:extLst>
              </a:tr>
              <a:tr h="29157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indexExtent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[64]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64 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 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索引定义所在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extent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，最大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64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个索引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1846790"/>
                  </a:ext>
                </a:extLst>
              </a:tr>
              <a:tr h="29157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relationExtent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[4]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 </a:t>
                      </a:r>
                      <a:r>
                        <a:rPr lang="zh-CN" alt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 </a:t>
                      </a: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4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aseline="0" dirty="0" smtClean="0"/>
                        <a:t>根据</a:t>
                      </a:r>
                      <a:r>
                        <a:rPr lang="en-US" altLang="zh-CN" sz="1400" baseline="0" dirty="0" smtClean="0"/>
                        <a:t>extent</a:t>
                      </a:r>
                      <a:r>
                        <a:rPr lang="zh-CN" altLang="en-US" sz="1400" baseline="0" dirty="0" smtClean="0"/>
                        <a:t>大小分组</a:t>
                      </a:r>
                      <a:r>
                        <a:rPr lang="en-US" altLang="zh-CN" sz="1400" baseline="0" dirty="0" smtClean="0"/>
                        <a:t>[0-pageSize], []</a:t>
                      </a:r>
                      <a:endParaRPr lang="zh-CN" altLang="en-US" sz="14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94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87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cl </a:t>
            </a:r>
            <a:r>
              <a:rPr lang="zh-CN" altLang="en-US" dirty="0" smtClean="0"/>
              <a:t>与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的关系</a:t>
            </a:r>
            <a:endParaRPr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610026"/>
              </p:ext>
            </p:extLst>
          </p:nvPr>
        </p:nvGraphicFramePr>
        <p:xfrm>
          <a:off x="1726841" y="2114157"/>
          <a:ext cx="3755724" cy="27612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954">
                  <a:extLst>
                    <a:ext uri="{9D8B030D-6E8A-4147-A177-3AD203B41FA5}">
                      <a16:colId xmlns:a16="http://schemas.microsoft.com/office/drawing/2014/main" val="1587746740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2969394237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306593386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1726841658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1944885060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1595363227"/>
                    </a:ext>
                  </a:extLst>
                </a:gridCol>
              </a:tblGrid>
              <a:tr h="45493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r1_0</a:t>
                      </a:r>
                      <a:endParaRPr lang="zh-CN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r2_0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cl2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r3_1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907438"/>
                  </a:ext>
                </a:extLst>
              </a:tr>
              <a:tr h="46125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 smtClean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r1_1</a:t>
                      </a:r>
                      <a:endParaRPr lang="zh-CN" altLang="en-US" sz="1800" b="1" dirty="0" smtClean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r1_2</a:t>
                      </a:r>
                      <a:endParaRPr lang="zh-CN" alt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b="1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092012"/>
                  </a:ext>
                </a:extLst>
              </a:tr>
              <a:tr h="4612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cl3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673971"/>
                  </a:ext>
                </a:extLst>
              </a:tr>
              <a:tr h="4612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022743"/>
                  </a:ext>
                </a:extLst>
              </a:tr>
              <a:tr h="461254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3001124"/>
                  </a:ext>
                </a:extLst>
              </a:tr>
              <a:tr h="461254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294619"/>
                  </a:ext>
                </a:extLst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1873744" y="175257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0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2491929" y="175257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3110114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728299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4346484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4964669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1229800" y="2146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0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1229800" y="262321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1229800" y="305066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12</a:t>
            </a:r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1229800" y="349476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18</a:t>
            </a:r>
            <a:endParaRPr lang="zh-CN" altLang="en-US" dirty="0"/>
          </a:p>
        </p:txBody>
      </p:sp>
      <p:sp>
        <p:nvSpPr>
          <p:cNvPr id="17" name="文本框 16"/>
          <p:cNvSpPr txBox="1"/>
          <p:nvPr/>
        </p:nvSpPr>
        <p:spPr>
          <a:xfrm>
            <a:off x="1229800" y="393885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24</a:t>
            </a:r>
            <a:endParaRPr lang="zh-CN" altLang="en-US" dirty="0"/>
          </a:p>
        </p:txBody>
      </p:sp>
      <p:sp>
        <p:nvSpPr>
          <p:cNvPr id="18" name="文本框 17"/>
          <p:cNvSpPr txBox="1"/>
          <p:nvPr/>
        </p:nvSpPr>
        <p:spPr>
          <a:xfrm>
            <a:off x="1229800" y="438658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30</a:t>
            </a:r>
            <a:endParaRPr lang="zh-CN" altLang="en-US" dirty="0"/>
          </a:p>
        </p:txBody>
      </p:sp>
      <p:sp>
        <p:nvSpPr>
          <p:cNvPr id="20" name="矩形 19"/>
          <p:cNvSpPr/>
          <p:nvPr/>
        </p:nvSpPr>
        <p:spPr>
          <a:xfrm>
            <a:off x="49399" y="2414014"/>
            <a:ext cx="1165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segment1</a:t>
            </a:r>
            <a:endParaRPr lang="zh-CN" altLang="en-US" dirty="0"/>
          </a:p>
        </p:txBody>
      </p:sp>
      <p:sp>
        <p:nvSpPr>
          <p:cNvPr id="23" name="文本框 22"/>
          <p:cNvSpPr txBox="1"/>
          <p:nvPr/>
        </p:nvSpPr>
        <p:spPr>
          <a:xfrm>
            <a:off x="2976967" y="5052279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Extent</a:t>
            </a:r>
            <a:r>
              <a:rPr lang="zh-CN" altLang="en-US" dirty="0"/>
              <a:t>视图</a:t>
            </a:r>
          </a:p>
        </p:txBody>
      </p:sp>
      <p:sp>
        <p:nvSpPr>
          <p:cNvPr id="25" name="矩形 24"/>
          <p:cNvSpPr/>
          <p:nvPr/>
        </p:nvSpPr>
        <p:spPr>
          <a:xfrm>
            <a:off x="64096" y="3304820"/>
            <a:ext cx="1165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segment2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64096" y="4190576"/>
            <a:ext cx="1165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segment3</a:t>
            </a:r>
            <a:endParaRPr lang="zh-CN" altLang="en-US" dirty="0"/>
          </a:p>
        </p:txBody>
      </p:sp>
      <p:cxnSp>
        <p:nvCxnSpPr>
          <p:cNvPr id="32" name="曲线连接符 31"/>
          <p:cNvCxnSpPr>
            <a:stCxn id="57" idx="0"/>
            <a:endCxn id="7" idx="2"/>
          </p:cNvCxnSpPr>
          <p:nvPr/>
        </p:nvCxnSpPr>
        <p:spPr>
          <a:xfrm rot="16200000" flipH="1" flipV="1">
            <a:off x="4439765" y="-1004665"/>
            <a:ext cx="713798" cy="5539346"/>
          </a:xfrm>
          <a:prstGeom prst="curvedConnector5">
            <a:avLst>
              <a:gd name="adj1" fmla="val -32026"/>
              <a:gd name="adj2" fmla="val 51639"/>
              <a:gd name="adj3" fmla="val 211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曲线连接符 41"/>
          <p:cNvCxnSpPr>
            <a:stCxn id="58" idx="2"/>
          </p:cNvCxnSpPr>
          <p:nvPr/>
        </p:nvCxnSpPr>
        <p:spPr>
          <a:xfrm rot="5400000">
            <a:off x="5001845" y="-450848"/>
            <a:ext cx="1030772" cy="5437614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曲线连接符 43"/>
          <p:cNvCxnSpPr>
            <a:stCxn id="59" idx="2"/>
          </p:cNvCxnSpPr>
          <p:nvPr/>
        </p:nvCxnSpPr>
        <p:spPr>
          <a:xfrm rot="5400000">
            <a:off x="5945587" y="-87621"/>
            <a:ext cx="1117190" cy="4797579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6" name="表格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820567"/>
              </p:ext>
            </p:extLst>
          </p:nvPr>
        </p:nvGraphicFramePr>
        <p:xfrm>
          <a:off x="6431745" y="3003197"/>
          <a:ext cx="230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72">
                  <a:extLst>
                    <a:ext uri="{9D8B030D-6E8A-4147-A177-3AD203B41FA5}">
                      <a16:colId xmlns:a16="http://schemas.microsoft.com/office/drawing/2014/main" val="78531934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775003825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293174619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586070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146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b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047197"/>
                  </a:ext>
                </a:extLst>
              </a:tr>
            </a:tbl>
          </a:graphicData>
        </a:graphic>
      </p:graphicFrame>
      <p:sp>
        <p:nvSpPr>
          <p:cNvPr id="47" name="文本框 46"/>
          <p:cNvSpPr txBox="1"/>
          <p:nvPr/>
        </p:nvSpPr>
        <p:spPr>
          <a:xfrm>
            <a:off x="6498812" y="3798082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extent(</a:t>
            </a:r>
            <a:r>
              <a:rPr lang="en-US" altLang="zh-CN" b="1" dirty="0" smtClean="0">
                <a:solidFill>
                  <a:srgbClr val="FF0000"/>
                </a:solidFill>
              </a:rPr>
              <a:t>r1_0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graphicFrame>
        <p:nvGraphicFramePr>
          <p:cNvPr id="48" name="表格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010641"/>
              </p:ext>
            </p:extLst>
          </p:nvPr>
        </p:nvGraphicFramePr>
        <p:xfrm>
          <a:off x="9211435" y="3013928"/>
          <a:ext cx="230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72">
                  <a:extLst>
                    <a:ext uri="{9D8B030D-6E8A-4147-A177-3AD203B41FA5}">
                      <a16:colId xmlns:a16="http://schemas.microsoft.com/office/drawing/2014/main" val="78531934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775003825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293174619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586070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146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047197"/>
                  </a:ext>
                </a:extLst>
              </a:tr>
            </a:tbl>
          </a:graphicData>
        </a:graphic>
      </p:graphicFrame>
      <p:sp>
        <p:nvSpPr>
          <p:cNvPr id="49" name="文本框 48"/>
          <p:cNvSpPr txBox="1"/>
          <p:nvPr/>
        </p:nvSpPr>
        <p:spPr>
          <a:xfrm>
            <a:off x="9315181" y="3796896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extent(</a:t>
            </a:r>
            <a:r>
              <a:rPr lang="en-US" altLang="zh-CN" b="1" dirty="0" smtClean="0">
                <a:solidFill>
                  <a:srgbClr val="FF0000"/>
                </a:solidFill>
              </a:rPr>
              <a:t>r1_1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graphicFrame>
        <p:nvGraphicFramePr>
          <p:cNvPr id="50" name="表格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930628"/>
              </p:ext>
            </p:extLst>
          </p:nvPr>
        </p:nvGraphicFramePr>
        <p:xfrm>
          <a:off x="6414393" y="4310599"/>
          <a:ext cx="230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72">
                  <a:extLst>
                    <a:ext uri="{9D8B030D-6E8A-4147-A177-3AD203B41FA5}">
                      <a16:colId xmlns:a16="http://schemas.microsoft.com/office/drawing/2014/main" val="78531934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775003825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293174619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586070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146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047197"/>
                  </a:ext>
                </a:extLst>
              </a:tr>
            </a:tbl>
          </a:graphicData>
        </a:graphic>
      </p:graphicFrame>
      <p:sp>
        <p:nvSpPr>
          <p:cNvPr id="51" name="文本框 50"/>
          <p:cNvSpPr txBox="1"/>
          <p:nvPr/>
        </p:nvSpPr>
        <p:spPr>
          <a:xfrm>
            <a:off x="6485752" y="5043161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extent(</a:t>
            </a:r>
            <a:r>
              <a:rPr lang="en-US" altLang="zh-CN" b="1" dirty="0" smtClean="0">
                <a:solidFill>
                  <a:srgbClr val="FF0000"/>
                </a:solidFill>
              </a:rPr>
              <a:t>r1_2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sp>
        <p:nvSpPr>
          <p:cNvPr id="52" name="文本框 51"/>
          <p:cNvSpPr txBox="1"/>
          <p:nvPr/>
        </p:nvSpPr>
        <p:spPr>
          <a:xfrm>
            <a:off x="7125735" y="1744825"/>
            <a:ext cx="2653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Level0 leve1 level2 level3</a:t>
            </a:r>
            <a:endParaRPr lang="zh-CN" altLang="en-US" dirty="0"/>
          </a:p>
        </p:txBody>
      </p:sp>
      <p:sp>
        <p:nvSpPr>
          <p:cNvPr id="54" name="文本框 53"/>
          <p:cNvSpPr txBox="1"/>
          <p:nvPr/>
        </p:nvSpPr>
        <p:spPr>
          <a:xfrm>
            <a:off x="1443961" y="5866011"/>
            <a:ext cx="4323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extent: r1_0, r2_0, r3_1, r1_1, r1_2</a:t>
            </a:r>
            <a:endParaRPr lang="zh-CN" altLang="en-US" dirty="0"/>
          </a:p>
        </p:txBody>
      </p:sp>
      <p:sp>
        <p:nvSpPr>
          <p:cNvPr id="55" name="文本框 54"/>
          <p:cNvSpPr txBox="1"/>
          <p:nvPr/>
        </p:nvSpPr>
        <p:spPr>
          <a:xfrm>
            <a:off x="1443961" y="6347035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Data extent: cl1,cl2,cl3</a:t>
            </a:r>
            <a:endParaRPr lang="zh-CN" altLang="en-US" dirty="0"/>
          </a:p>
        </p:txBody>
      </p:sp>
      <p:sp>
        <p:nvSpPr>
          <p:cNvPr id="56" name="矩形 55"/>
          <p:cNvSpPr/>
          <p:nvPr/>
        </p:nvSpPr>
        <p:spPr>
          <a:xfrm>
            <a:off x="6564553" y="1408110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cl1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7231486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  <p:sp>
        <p:nvSpPr>
          <p:cNvPr id="58" name="矩形 57"/>
          <p:cNvSpPr/>
          <p:nvPr/>
        </p:nvSpPr>
        <p:spPr>
          <a:xfrm>
            <a:off x="7901187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level1</a:t>
            </a:r>
            <a:endParaRPr lang="zh-CN" altLang="en-US" sz="1400" dirty="0"/>
          </a:p>
        </p:txBody>
      </p:sp>
      <p:sp>
        <p:nvSpPr>
          <p:cNvPr id="59" name="矩形 58"/>
          <p:cNvSpPr/>
          <p:nvPr/>
        </p:nvSpPr>
        <p:spPr>
          <a:xfrm>
            <a:off x="8568120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level2</a:t>
            </a:r>
            <a:endParaRPr lang="zh-CN" altLang="en-US" sz="1400" dirty="0"/>
          </a:p>
        </p:txBody>
      </p:sp>
      <p:sp>
        <p:nvSpPr>
          <p:cNvPr id="60" name="矩形 59"/>
          <p:cNvSpPr/>
          <p:nvPr/>
        </p:nvSpPr>
        <p:spPr>
          <a:xfrm>
            <a:off x="9235053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level3</a:t>
            </a:r>
            <a:endParaRPr lang="zh-CN" altLang="en-US" sz="1400" dirty="0"/>
          </a:p>
        </p:txBody>
      </p:sp>
      <p:cxnSp>
        <p:nvCxnSpPr>
          <p:cNvPr id="4" name="直接箭头连接符 3"/>
          <p:cNvCxnSpPr/>
          <p:nvPr/>
        </p:nvCxnSpPr>
        <p:spPr>
          <a:xfrm>
            <a:off x="2180238" y="2414014"/>
            <a:ext cx="4234155" cy="786386"/>
          </a:xfrm>
          <a:prstGeom prst="straightConnector1">
            <a:avLst/>
          </a:prstGeom>
          <a:ln w="25400" cap="sq">
            <a:prstDash val="solid"/>
            <a:headEnd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082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Extent Header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9583940"/>
              </p:ext>
            </p:extLst>
          </p:nvPr>
        </p:nvGraphicFramePr>
        <p:xfrm>
          <a:off x="838200" y="1781535"/>
          <a:ext cx="6338104" cy="3494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5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Extent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EYE_CATCHER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DE:data</a:t>
                      </a:r>
                      <a:r>
                        <a:rPr lang="en-US" altLang="zh-CN" sz="1600" dirty="0" smtClean="0"/>
                        <a:t> extent</a:t>
                      </a:r>
                    </a:p>
                    <a:p>
                      <a:r>
                        <a:rPr lang="en-US" altLang="zh-CN" sz="1600" dirty="0" smtClean="0"/>
                        <a:t>R0: relation level0</a:t>
                      </a:r>
                      <a:r>
                        <a:rPr lang="en-US" altLang="zh-CN" sz="1600" baseline="0" dirty="0" smtClean="0"/>
                        <a:t> extent</a:t>
                      </a:r>
                    </a:p>
                    <a:p>
                      <a:r>
                        <a:rPr lang="en-US" altLang="zh-CN" sz="1600" baseline="0" dirty="0" smtClean="0"/>
                        <a:t>R1: relation level1 extent</a:t>
                      </a:r>
                    </a:p>
                    <a:p>
                      <a:r>
                        <a:rPr lang="en-US" altLang="zh-CN" sz="1600" baseline="0" dirty="0" smtClean="0"/>
                        <a:t>R2: relation level2 extent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version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版本号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  <a:tr h="750845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status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 smtClean="0"/>
                        <a:t>0x00 normal</a:t>
                      </a:r>
                    </a:p>
                    <a:p>
                      <a:r>
                        <a:rPr lang="en-US" altLang="zh-CN" sz="1600" baseline="0" dirty="0" smtClean="0"/>
                        <a:t>0x01 deleted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checksum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4272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reserve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UINT16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预留位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257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259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Data Extent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175772"/>
              </p:ext>
            </p:extLst>
          </p:nvPr>
        </p:nvGraphicFramePr>
        <p:xfrm>
          <a:off x="838200" y="1400535"/>
          <a:ext cx="6338104" cy="49875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5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Data Extent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名称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类型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长度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描述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Extent Header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BYTES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12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400" dirty="0" err="1" smtClean="0"/>
                        <a:t>extentLogicID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UINT32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4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Extent</a:t>
                      </a:r>
                      <a:r>
                        <a:rPr lang="zh-CN" altLang="en-US" sz="1400" dirty="0" smtClean="0"/>
                        <a:t>的逻辑</a:t>
                      </a:r>
                      <a:r>
                        <a:rPr lang="en-US" altLang="zh-CN" sz="1400" dirty="0" smtClean="0"/>
                        <a:t>ID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560635"/>
                  </a:ext>
                </a:extLst>
              </a:tr>
              <a:tr h="872732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Free space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UINT32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4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baseline="0" dirty="0" smtClean="0"/>
                        <a:t>总的剩余空间</a:t>
                      </a:r>
                      <a:endParaRPr lang="en-US" altLang="zh-CN" sz="14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Begin Free Offset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UINT32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4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baseline="0" dirty="0" smtClean="0"/>
                        <a:t>空闲空间开始位置偏移（从末尾往前推移）</a:t>
                      </a:r>
                      <a:endParaRPr lang="en-US" altLang="zh-CN" sz="1400" baseline="0" dirty="0" smtClean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aseline="0" dirty="0" smtClean="0"/>
                        <a:t>连续空闲空间</a:t>
                      </a:r>
                      <a:r>
                        <a:rPr lang="en-US" altLang="zh-CN" sz="1400" baseline="0" dirty="0" smtClean="0"/>
                        <a:t>=</a:t>
                      </a:r>
                      <a:r>
                        <a:rPr lang="en-US" altLang="zh-CN" sz="1400" dirty="0" smtClean="0"/>
                        <a:t>Begin Free Offset</a:t>
                      </a:r>
                      <a:r>
                        <a:rPr lang="en-US" altLang="zh-CN" sz="1400" baseline="0" dirty="0" smtClean="0"/>
                        <a:t> – </a:t>
                      </a:r>
                      <a:r>
                        <a:rPr lang="en-US" altLang="zh-CN" sz="1400" baseline="0" dirty="0" err="1" smtClean="0"/>
                        <a:t>DataExtentHeader</a:t>
                      </a:r>
                      <a:r>
                        <a:rPr lang="en-US" altLang="zh-CN" sz="1400" baseline="0" dirty="0" smtClean="0"/>
                        <a:t> – 4 </a:t>
                      </a:r>
                      <a:r>
                        <a:rPr lang="zh-CN" altLang="en-US" sz="1400" baseline="0" dirty="0" smtClean="0"/>
                        <a:t>* </a:t>
                      </a:r>
                      <a:r>
                        <a:rPr lang="en-US" altLang="zh-CN" sz="1400" baseline="0" dirty="0" err="1" smtClean="0"/>
                        <a:t>Slotnum</a:t>
                      </a:r>
                      <a:endParaRPr lang="zh-CN" altLang="en-US" sz="14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93040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record</a:t>
                      </a:r>
                      <a:r>
                        <a:rPr lang="en-US" altLang="zh-CN" sz="1400" baseline="0" dirty="0" smtClean="0"/>
                        <a:t> count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UINT16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记录数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804492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Slot </a:t>
                      </a:r>
                      <a:r>
                        <a:rPr lang="en-US" altLang="zh-CN" sz="1400" dirty="0" err="1" smtClean="0"/>
                        <a:t>num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UINT16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baseline="0" dirty="0" smtClean="0"/>
                        <a:t>当前已分配</a:t>
                      </a:r>
                      <a:r>
                        <a:rPr lang="en-US" altLang="zh-CN" sz="1400" baseline="0" dirty="0" smtClean="0"/>
                        <a:t>slot</a:t>
                      </a:r>
                      <a:r>
                        <a:rPr lang="zh-CN" altLang="en-US" sz="1400" baseline="0" dirty="0" smtClean="0"/>
                        <a:t>个数</a:t>
                      </a:r>
                      <a:endParaRPr lang="en-US" altLang="zh-CN" sz="14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16557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400" dirty="0" err="1" smtClean="0"/>
                        <a:t>First_deleted_slot_idx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UINT16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baseline="0" dirty="0" smtClean="0"/>
                        <a:t>第一个被删除的</a:t>
                      </a:r>
                      <a:r>
                        <a:rPr lang="en-US" altLang="zh-CN" sz="1400" baseline="0" dirty="0" smtClean="0"/>
                        <a:t>slot</a:t>
                      </a:r>
                      <a:r>
                        <a:rPr lang="zh-CN" altLang="en-US" sz="1400" baseline="0" dirty="0" smtClean="0"/>
                        <a:t>下标</a:t>
                      </a:r>
                      <a:endParaRPr lang="en-US" altLang="zh-CN" sz="14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923265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slots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UINT32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4 * N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baseline="0" dirty="0" smtClean="0"/>
                        <a:t>记录</a:t>
                      </a:r>
                      <a:r>
                        <a:rPr lang="en-US" altLang="zh-CN" sz="1400" baseline="0" dirty="0" smtClean="0"/>
                        <a:t>Extent</a:t>
                      </a:r>
                      <a:r>
                        <a:rPr lang="zh-CN" altLang="en-US" sz="1400" baseline="0" dirty="0" smtClean="0"/>
                        <a:t>内偏移地址。有几条记录则记录几个</a:t>
                      </a:r>
                      <a:r>
                        <a:rPr lang="en-US" altLang="zh-CN" sz="1400" baseline="0" dirty="0" smtClean="0"/>
                        <a:t>slot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4272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data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BYTES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baseline="0" dirty="0" smtClean="0"/>
                        <a:t>数据</a:t>
                      </a:r>
                      <a:endParaRPr lang="en-US" altLang="zh-CN" sz="14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257145"/>
                  </a:ext>
                </a:extLst>
              </a:tr>
            </a:tbl>
          </a:graphicData>
        </a:graphic>
      </p:graphicFrame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3650086"/>
              </p:ext>
            </p:extLst>
          </p:nvPr>
        </p:nvGraphicFramePr>
        <p:xfrm>
          <a:off x="7592028" y="2700331"/>
          <a:ext cx="3761772" cy="17293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443">
                  <a:extLst>
                    <a:ext uri="{9D8B030D-6E8A-4147-A177-3AD203B41FA5}">
                      <a16:colId xmlns:a16="http://schemas.microsoft.com/office/drawing/2014/main" val="226489393"/>
                    </a:ext>
                  </a:extLst>
                </a:gridCol>
                <a:gridCol w="940443">
                  <a:extLst>
                    <a:ext uri="{9D8B030D-6E8A-4147-A177-3AD203B41FA5}">
                      <a16:colId xmlns:a16="http://schemas.microsoft.com/office/drawing/2014/main" val="3315947240"/>
                    </a:ext>
                  </a:extLst>
                </a:gridCol>
                <a:gridCol w="1880886">
                  <a:extLst>
                    <a:ext uri="{9D8B030D-6E8A-4147-A177-3AD203B41FA5}">
                      <a16:colId xmlns:a16="http://schemas.microsoft.com/office/drawing/2014/main" val="4175610667"/>
                    </a:ext>
                  </a:extLst>
                </a:gridCol>
              </a:tblGrid>
              <a:tr h="57644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1460894"/>
                  </a:ext>
                </a:extLst>
              </a:tr>
              <a:tr h="576447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600" b="0" dirty="0" smtClean="0">
                          <a:solidFill>
                            <a:schemeClr val="tx1"/>
                          </a:solidFill>
                        </a:rPr>
                        <a:t>空闲空间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7524138"/>
                  </a:ext>
                </a:extLst>
              </a:tr>
              <a:tr h="576447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742222"/>
                  </a:ext>
                </a:extLst>
              </a:tr>
            </a:tbl>
          </a:graphicData>
        </a:graphic>
      </p:graphicFrame>
      <p:cxnSp>
        <p:nvCxnSpPr>
          <p:cNvPr id="11" name="直接箭头连接符 10"/>
          <p:cNvCxnSpPr/>
          <p:nvPr/>
        </p:nvCxnSpPr>
        <p:spPr>
          <a:xfrm>
            <a:off x="8715736" y="3194611"/>
            <a:ext cx="0" cy="740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8090704" y="3067291"/>
            <a:ext cx="1551007" cy="8681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 flipV="1">
            <a:off x="8538358" y="4429673"/>
            <a:ext cx="0" cy="807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8464847" y="4867686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Begin</a:t>
            </a:r>
            <a:r>
              <a:rPr lang="en-US" altLang="zh-CN" dirty="0" smtClean="0"/>
              <a:t> free offset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20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Data Extent</a:t>
            </a:r>
            <a:r>
              <a:rPr lang="zh-CN" altLang="en-US" dirty="0" smtClean="0"/>
              <a:t>空间</a:t>
            </a:r>
            <a:r>
              <a:rPr lang="en-US" altLang="zh-CN" smtClean="0"/>
              <a:t>compact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0735036"/>
              </p:ext>
            </p:extLst>
          </p:nvPr>
        </p:nvGraphicFramePr>
        <p:xfrm>
          <a:off x="838200" y="2035313"/>
          <a:ext cx="3761772" cy="17320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443">
                  <a:extLst>
                    <a:ext uri="{9D8B030D-6E8A-4147-A177-3AD203B41FA5}">
                      <a16:colId xmlns:a16="http://schemas.microsoft.com/office/drawing/2014/main" val="226489393"/>
                    </a:ext>
                  </a:extLst>
                </a:gridCol>
                <a:gridCol w="940443">
                  <a:extLst>
                    <a:ext uri="{9D8B030D-6E8A-4147-A177-3AD203B41FA5}">
                      <a16:colId xmlns:a16="http://schemas.microsoft.com/office/drawing/2014/main" val="3315947240"/>
                    </a:ext>
                  </a:extLst>
                </a:gridCol>
                <a:gridCol w="940443">
                  <a:extLst>
                    <a:ext uri="{9D8B030D-6E8A-4147-A177-3AD203B41FA5}">
                      <a16:colId xmlns:a16="http://schemas.microsoft.com/office/drawing/2014/main" val="4175610667"/>
                    </a:ext>
                  </a:extLst>
                </a:gridCol>
                <a:gridCol w="940443">
                  <a:extLst>
                    <a:ext uri="{9D8B030D-6E8A-4147-A177-3AD203B41FA5}">
                      <a16:colId xmlns:a16="http://schemas.microsoft.com/office/drawing/2014/main" val="3198216487"/>
                    </a:ext>
                  </a:extLst>
                </a:gridCol>
              </a:tblGrid>
              <a:tr h="57644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1460894"/>
                  </a:ext>
                </a:extLst>
              </a:tr>
              <a:tr h="576447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600" b="0" dirty="0" smtClean="0">
                          <a:solidFill>
                            <a:schemeClr val="tx1"/>
                          </a:solidFill>
                        </a:rPr>
                        <a:t>空闲空间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data2</a:t>
                      </a:r>
                      <a:endParaRPr lang="zh-CN" altLang="en-US" sz="1600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7524138"/>
                  </a:ext>
                </a:extLst>
              </a:tr>
              <a:tr h="576447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7742222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278970"/>
              </p:ext>
            </p:extLst>
          </p:nvPr>
        </p:nvGraphicFramePr>
        <p:xfrm>
          <a:off x="6894616" y="2035313"/>
          <a:ext cx="3761772" cy="17320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443">
                  <a:extLst>
                    <a:ext uri="{9D8B030D-6E8A-4147-A177-3AD203B41FA5}">
                      <a16:colId xmlns:a16="http://schemas.microsoft.com/office/drawing/2014/main" val="226489393"/>
                    </a:ext>
                  </a:extLst>
                </a:gridCol>
                <a:gridCol w="940443">
                  <a:extLst>
                    <a:ext uri="{9D8B030D-6E8A-4147-A177-3AD203B41FA5}">
                      <a16:colId xmlns:a16="http://schemas.microsoft.com/office/drawing/2014/main" val="3315947240"/>
                    </a:ext>
                  </a:extLst>
                </a:gridCol>
                <a:gridCol w="940443">
                  <a:extLst>
                    <a:ext uri="{9D8B030D-6E8A-4147-A177-3AD203B41FA5}">
                      <a16:colId xmlns:a16="http://schemas.microsoft.com/office/drawing/2014/main" val="4175610667"/>
                    </a:ext>
                  </a:extLst>
                </a:gridCol>
                <a:gridCol w="940443">
                  <a:extLst>
                    <a:ext uri="{9D8B030D-6E8A-4147-A177-3AD203B41FA5}">
                      <a16:colId xmlns:a16="http://schemas.microsoft.com/office/drawing/2014/main" val="3198216487"/>
                    </a:ext>
                  </a:extLst>
                </a:gridCol>
              </a:tblGrid>
              <a:tr h="57644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1460894"/>
                  </a:ext>
                </a:extLst>
              </a:tr>
              <a:tr h="576447">
                <a:tc gridSpan="4">
                  <a:txBody>
                    <a:bodyPr/>
                    <a:lstStyle/>
                    <a:p>
                      <a:pPr algn="ctr"/>
                      <a:r>
                        <a:rPr lang="zh-CN" altLang="en-US" sz="1600" b="0" dirty="0" smtClean="0">
                          <a:solidFill>
                            <a:schemeClr val="tx1"/>
                          </a:solidFill>
                        </a:rPr>
                        <a:t>空闲空间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7524138"/>
                  </a:ext>
                </a:extLst>
              </a:tr>
              <a:tr h="576447">
                <a:tc gridSpan="2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data2</a:t>
                      </a:r>
                      <a:endParaRPr lang="zh-CN" altLang="en-US" sz="16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data1</a:t>
                      </a:r>
                      <a:endParaRPr lang="zh-CN" altLang="en-US" sz="1600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742222"/>
                  </a:ext>
                </a:extLst>
              </a:tr>
            </a:tbl>
          </a:graphicData>
        </a:graphic>
      </p:graphicFrame>
      <p:cxnSp>
        <p:nvCxnSpPr>
          <p:cNvPr id="8" name="直接箭头连接符 7"/>
          <p:cNvCxnSpPr/>
          <p:nvPr/>
        </p:nvCxnSpPr>
        <p:spPr>
          <a:xfrm flipV="1">
            <a:off x="3657600" y="3206338"/>
            <a:ext cx="1" cy="905614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2027025" y="3785154"/>
            <a:ext cx="16305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/>
              <a:t>Begin free </a:t>
            </a:r>
            <a:r>
              <a:rPr lang="en-US" altLang="zh-CN" sz="1600" dirty="0" smtClean="0"/>
              <a:t>offset</a:t>
            </a:r>
            <a:endParaRPr lang="zh-CN" altLang="en-US" sz="1600" dirty="0"/>
          </a:p>
        </p:txBody>
      </p:sp>
      <p:cxnSp>
        <p:nvCxnSpPr>
          <p:cNvPr id="13" name="直接箭头连接符 12"/>
          <p:cNvCxnSpPr/>
          <p:nvPr/>
        </p:nvCxnSpPr>
        <p:spPr>
          <a:xfrm flipV="1">
            <a:off x="8775502" y="3767327"/>
            <a:ext cx="1" cy="590917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8775502" y="3893508"/>
            <a:ext cx="16305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/>
              <a:t>Begin free </a:t>
            </a:r>
            <a:r>
              <a:rPr lang="en-US" altLang="zh-CN" sz="1600" dirty="0" smtClean="0"/>
              <a:t>offset</a:t>
            </a:r>
            <a:endParaRPr lang="zh-CN" altLang="en-US" sz="1600" dirty="0"/>
          </a:p>
        </p:txBody>
      </p:sp>
      <p:sp>
        <p:nvSpPr>
          <p:cNvPr id="16" name="文本框 15"/>
          <p:cNvSpPr txBox="1"/>
          <p:nvPr/>
        </p:nvSpPr>
        <p:spPr>
          <a:xfrm>
            <a:off x="842566" y="4474018"/>
            <a:ext cx="502092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/>
              <a:t>D</a:t>
            </a:r>
            <a:r>
              <a:rPr lang="en-US" altLang="zh-CN" sz="1600" dirty="0" err="1" smtClean="0"/>
              <a:t>ataList</a:t>
            </a:r>
            <a:r>
              <a:rPr lang="zh-CN" altLang="en-US" sz="1600" dirty="0" smtClean="0"/>
              <a:t>： </a:t>
            </a:r>
            <a:r>
              <a:rPr lang="en-US" altLang="zh-CN" sz="1600" dirty="0" smtClean="0"/>
              <a:t>(offset1,len1), (offset2,len2),… (</a:t>
            </a:r>
            <a:r>
              <a:rPr lang="en-US" altLang="zh-CN" sz="1600" dirty="0" err="1" smtClean="0"/>
              <a:t>offsetN</a:t>
            </a:r>
            <a:r>
              <a:rPr lang="en-US" altLang="zh-CN" sz="1600" dirty="0" smtClean="0"/>
              <a:t>, </a:t>
            </a:r>
            <a:r>
              <a:rPr lang="en-US" altLang="zh-CN" sz="1600" dirty="0" err="1" smtClean="0"/>
              <a:t>lenN</a:t>
            </a:r>
            <a:r>
              <a:rPr lang="en-US" altLang="zh-CN" sz="1600" dirty="0" smtClean="0"/>
              <a:t>)</a:t>
            </a:r>
          </a:p>
          <a:p>
            <a:r>
              <a:rPr lang="en-US" altLang="zh-CN" sz="1600" dirty="0"/>
              <a:t>D</a:t>
            </a:r>
            <a:r>
              <a:rPr lang="en-US" altLang="zh-CN" sz="1600" dirty="0" smtClean="0"/>
              <a:t>ata </a:t>
            </a:r>
            <a:r>
              <a:rPr lang="en-US" altLang="zh-CN" sz="1600" dirty="0" smtClean="0"/>
              <a:t>offset</a:t>
            </a:r>
            <a:r>
              <a:rPr lang="zh-CN" altLang="en-US" sz="1600" dirty="0" smtClean="0"/>
              <a:t>：</a:t>
            </a:r>
            <a:r>
              <a:rPr lang="en-US" altLang="zh-CN" sz="1600" dirty="0" err="1" smtClean="0"/>
              <a:t>dataExtent</a:t>
            </a:r>
            <a:r>
              <a:rPr lang="en-US" altLang="zh-CN" sz="1600" dirty="0" smtClean="0"/>
              <a:t> length – data extent header</a:t>
            </a:r>
          </a:p>
          <a:p>
            <a:endParaRPr lang="en-US" altLang="zh-CN" sz="1600" dirty="0"/>
          </a:p>
          <a:p>
            <a:r>
              <a:rPr lang="en-US" altLang="zh-CN" sz="1600" dirty="0" smtClean="0"/>
              <a:t>Loop </a:t>
            </a:r>
            <a:r>
              <a:rPr lang="en-US" altLang="zh-CN" sz="1600" dirty="0" err="1" smtClean="0"/>
              <a:t>i</a:t>
            </a:r>
            <a:r>
              <a:rPr lang="en-US" altLang="zh-CN" sz="1600" dirty="0" smtClean="0"/>
              <a:t> = N; </a:t>
            </a:r>
            <a:r>
              <a:rPr lang="en-US" altLang="zh-CN" sz="1600" dirty="0" err="1" smtClean="0"/>
              <a:t>i</a:t>
            </a:r>
            <a:r>
              <a:rPr lang="en-US" altLang="zh-CN" sz="1600" dirty="0" smtClean="0"/>
              <a:t> &gt;= 1; </a:t>
            </a:r>
            <a:r>
              <a:rPr lang="en-US" altLang="zh-CN" sz="1600" dirty="0" err="1" smtClean="0"/>
              <a:t>i</a:t>
            </a:r>
            <a:r>
              <a:rPr lang="en-US" altLang="zh-CN" sz="1600" dirty="0" smtClean="0"/>
              <a:t>++:</a:t>
            </a:r>
          </a:p>
          <a:p>
            <a:r>
              <a:rPr lang="en-US" altLang="zh-CN" sz="1600" dirty="0"/>
              <a:t> </a:t>
            </a:r>
            <a:r>
              <a:rPr lang="en-US" altLang="zh-CN" sz="1600" dirty="0" smtClean="0"/>
              <a:t>   if (</a:t>
            </a:r>
            <a:r>
              <a:rPr lang="en-US" altLang="zh-CN" sz="1600" dirty="0" err="1" smtClean="0"/>
              <a:t>offseti</a:t>
            </a:r>
            <a:r>
              <a:rPr lang="en-US" altLang="zh-CN" sz="1600" dirty="0" smtClean="0"/>
              <a:t> + </a:t>
            </a:r>
            <a:r>
              <a:rPr lang="en-US" altLang="zh-CN" sz="1600" dirty="0" err="1" smtClean="0"/>
              <a:t>leni</a:t>
            </a:r>
            <a:r>
              <a:rPr lang="en-US" altLang="zh-CN" sz="1600" dirty="0" smtClean="0"/>
              <a:t> != data offset):</a:t>
            </a:r>
          </a:p>
          <a:p>
            <a:r>
              <a:rPr lang="en-US" altLang="zh-CN" sz="1600" dirty="0"/>
              <a:t> </a:t>
            </a:r>
            <a:r>
              <a:rPr lang="en-US" altLang="zh-CN" sz="1600" dirty="0" smtClean="0"/>
              <a:t>      </a:t>
            </a:r>
            <a:r>
              <a:rPr lang="en-US" altLang="zh-CN" sz="1600" dirty="0" err="1" smtClean="0"/>
              <a:t>memmov</a:t>
            </a:r>
            <a:r>
              <a:rPr lang="en-US" altLang="zh-CN" sz="1600" dirty="0" smtClean="0"/>
              <a:t>(</a:t>
            </a:r>
            <a:r>
              <a:rPr lang="en-US" altLang="zh-CN" sz="1600" dirty="0" err="1" smtClean="0"/>
              <a:t>offseti</a:t>
            </a:r>
            <a:r>
              <a:rPr lang="en-US" altLang="zh-CN" sz="1600" dirty="0" smtClean="0"/>
              <a:t>, data offset – </a:t>
            </a:r>
            <a:r>
              <a:rPr lang="en-US" altLang="zh-CN" sz="1600" dirty="0" err="1" smtClean="0"/>
              <a:t>leni</a:t>
            </a:r>
            <a:r>
              <a:rPr lang="en-US" altLang="zh-CN" sz="1600" dirty="0" smtClean="0"/>
              <a:t>, </a:t>
            </a:r>
            <a:r>
              <a:rPr lang="en-US" altLang="zh-CN" sz="1600" dirty="0" err="1" smtClean="0"/>
              <a:t>leni</a:t>
            </a:r>
            <a:r>
              <a:rPr lang="en-US" altLang="zh-CN" sz="1600" dirty="0" smtClean="0"/>
              <a:t>)</a:t>
            </a:r>
          </a:p>
          <a:p>
            <a:endParaRPr lang="en-US" altLang="zh-CN" sz="1600" dirty="0"/>
          </a:p>
          <a:p>
            <a:r>
              <a:rPr lang="en-US" altLang="zh-CN" sz="1600" dirty="0" smtClean="0"/>
              <a:t>    data offset -= </a:t>
            </a:r>
            <a:r>
              <a:rPr lang="en-US" altLang="zh-CN" sz="1600" dirty="0" err="1" smtClean="0"/>
              <a:t>leni</a:t>
            </a:r>
            <a:r>
              <a:rPr lang="en-US" altLang="zh-CN" sz="1600" dirty="0" smtClean="0"/>
              <a:t>;</a:t>
            </a:r>
          </a:p>
          <a:p>
            <a:r>
              <a:rPr lang="en-US" altLang="zh-CN" sz="1600" dirty="0" smtClean="0"/>
              <a:t>End loop;</a:t>
            </a:r>
            <a:endParaRPr lang="zh-CN" altLang="en-US" sz="1600" dirty="0"/>
          </a:p>
        </p:txBody>
      </p:sp>
      <p:cxnSp>
        <p:nvCxnSpPr>
          <p:cNvPr id="17" name="直接箭头连接符 16"/>
          <p:cNvCxnSpPr/>
          <p:nvPr/>
        </p:nvCxnSpPr>
        <p:spPr>
          <a:xfrm flipV="1">
            <a:off x="4586166" y="3767328"/>
            <a:ext cx="2" cy="464734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4581387" y="3773398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smtClean="0"/>
              <a:t>Data offset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72504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Relation extent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86341"/>
              </p:ext>
            </p:extLst>
          </p:nvPr>
        </p:nvGraphicFramePr>
        <p:xfrm>
          <a:off x="554862" y="1761141"/>
          <a:ext cx="6902006" cy="4979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5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3272378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96523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Relation Extent·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296523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名称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类型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长度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描述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296523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Extent Header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BYTES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12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296523">
                <a:tc>
                  <a:txBody>
                    <a:bodyPr/>
                    <a:lstStyle/>
                    <a:p>
                      <a:r>
                        <a:rPr lang="en-US" altLang="zh-CN" sz="1400" dirty="0" err="1" smtClean="0"/>
                        <a:t>clid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UINT32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4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所在的</a:t>
                      </a:r>
                      <a:r>
                        <a:rPr lang="en-US" altLang="zh-CN" sz="1400" dirty="0" smtClean="0"/>
                        <a:t>cl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807448"/>
                  </a:ext>
                </a:extLst>
              </a:tr>
              <a:tr h="296523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Level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UINT8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该</a:t>
                      </a:r>
                      <a:r>
                        <a:rPr lang="en-US" altLang="zh-CN" sz="1400" dirty="0" smtClean="0"/>
                        <a:t>relation</a:t>
                      </a:r>
                      <a:r>
                        <a:rPr lang="en-US" altLang="zh-CN" sz="1400" baseline="0" dirty="0" smtClean="0"/>
                        <a:t> extent</a:t>
                      </a:r>
                      <a:r>
                        <a:rPr lang="zh-CN" altLang="en-US" sz="1400" dirty="0" smtClean="0"/>
                        <a:t>所在的等级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282148"/>
                  </a:ext>
                </a:extLst>
              </a:tr>
              <a:tr h="29652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4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BYTES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3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668695"/>
                  </a:ext>
                </a:extLst>
              </a:tr>
              <a:tr h="29652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Slot </a:t>
                      </a:r>
                      <a:r>
                        <a:rPr lang="en-US" altLang="zh-CN" sz="14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endParaRPr lang="zh-CN" altLang="en-US" sz="14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UINT16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当前有效的槽位数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543432"/>
                  </a:ext>
                </a:extLst>
              </a:tr>
              <a:tr h="296523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Slot size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UINT16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最大槽位数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58703"/>
                  </a:ext>
                </a:extLst>
              </a:tr>
              <a:tr h="2540608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Extent</a:t>
                      </a:r>
                      <a:r>
                        <a:rPr lang="en-US" altLang="zh-CN" sz="1400" baseline="0" dirty="0" smtClean="0"/>
                        <a:t> slots[N]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BYTES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4 * N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N = (64K(extent</a:t>
                      </a:r>
                      <a:r>
                        <a:rPr lang="en-US" altLang="zh-CN" sz="1400" baseline="0" dirty="0" smtClean="0"/>
                        <a:t> length) – 24(</a:t>
                      </a:r>
                      <a:r>
                        <a:rPr lang="en-US" altLang="zh-CN" sz="1400" baseline="0" dirty="0" err="1" smtClean="0"/>
                        <a:t>header+clid+Level</a:t>
                      </a:r>
                      <a:r>
                        <a:rPr lang="en-US" altLang="zh-CN" sz="1400" baseline="0" dirty="0" smtClean="0"/>
                        <a:t> + pad + slot size + slot </a:t>
                      </a:r>
                      <a:r>
                        <a:rPr lang="en-US" altLang="zh-CN" sz="1400" baseline="0" dirty="0" err="1" smtClean="0"/>
                        <a:t>num</a:t>
                      </a:r>
                      <a:r>
                        <a:rPr lang="en-US" altLang="zh-CN" sz="1400" baseline="0" dirty="0" smtClean="0"/>
                        <a:t>)) / 4(extent id length) - 1 = 16k – 6 - 1</a:t>
                      </a:r>
                      <a:r>
                        <a:rPr lang="zh-CN" altLang="en-US" sz="1400" baseline="0" dirty="0" smtClean="0"/>
                        <a:t>。</a:t>
                      </a:r>
                      <a:endParaRPr lang="en-US" altLang="zh-CN" sz="1400" baseline="0" dirty="0" smtClean="0"/>
                    </a:p>
                    <a:p>
                      <a:endParaRPr lang="en-US" altLang="zh-CN" sz="1400" baseline="0" dirty="0" smtClean="0"/>
                    </a:p>
                    <a:p>
                      <a:r>
                        <a:rPr lang="en-US" altLang="zh-CN" sz="1400" baseline="0" dirty="0" smtClean="0"/>
                        <a:t>Level0</a:t>
                      </a:r>
                      <a:r>
                        <a:rPr lang="zh-CN" altLang="en-US" sz="1400" baseline="0" dirty="0" smtClean="0"/>
                        <a:t>，记录</a:t>
                      </a:r>
                      <a:r>
                        <a:rPr lang="en-US" altLang="zh-CN" sz="1400" baseline="0" dirty="0" smtClean="0"/>
                        <a:t>data extent id</a:t>
                      </a:r>
                      <a:r>
                        <a:rPr lang="zh-CN" altLang="en-US" sz="1400" baseline="0" dirty="0" smtClean="0"/>
                        <a:t>，最后一个槽位记录上级</a:t>
                      </a:r>
                      <a:r>
                        <a:rPr lang="en-US" altLang="zh-CN" sz="1400" baseline="0" dirty="0" smtClean="0"/>
                        <a:t>level</a:t>
                      </a:r>
                      <a:r>
                        <a:rPr lang="zh-CN" altLang="en-US" sz="1400" baseline="0" dirty="0" smtClean="0"/>
                        <a:t>的</a:t>
                      </a:r>
                      <a:r>
                        <a:rPr lang="en-US" altLang="zh-CN" sz="1400" baseline="0" dirty="0" smtClean="0"/>
                        <a:t>extent id</a:t>
                      </a:r>
                    </a:p>
                    <a:p>
                      <a:endParaRPr lang="en-US" altLang="zh-CN" sz="1400" baseline="0" dirty="0" smtClean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aseline="0" dirty="0" smtClean="0"/>
                        <a:t>Level1</a:t>
                      </a:r>
                      <a:r>
                        <a:rPr lang="zh-CN" altLang="en-US" sz="1400" baseline="0" dirty="0" smtClean="0"/>
                        <a:t>，记录</a:t>
                      </a:r>
                      <a:r>
                        <a:rPr lang="en-US" altLang="zh-CN" sz="1400" baseline="0" dirty="0" smtClean="0"/>
                        <a:t>level0</a:t>
                      </a:r>
                      <a:r>
                        <a:rPr lang="zh-CN" altLang="en-US" sz="1400" baseline="0" dirty="0" smtClean="0"/>
                        <a:t>的</a:t>
                      </a:r>
                      <a:r>
                        <a:rPr lang="en-US" altLang="zh-CN" sz="1400" baseline="0" dirty="0" smtClean="0"/>
                        <a:t>relation extent id</a:t>
                      </a:r>
                      <a:r>
                        <a:rPr lang="zh-CN" altLang="en-US" sz="1400" baseline="0" dirty="0" smtClean="0"/>
                        <a:t>，最后一个槽位记录上级</a:t>
                      </a:r>
                      <a:r>
                        <a:rPr lang="en-US" altLang="zh-CN" sz="1400" baseline="0" dirty="0" smtClean="0"/>
                        <a:t>level</a:t>
                      </a:r>
                      <a:r>
                        <a:rPr lang="zh-CN" altLang="en-US" sz="1400" baseline="0" dirty="0" smtClean="0"/>
                        <a:t>的</a:t>
                      </a:r>
                      <a:r>
                        <a:rPr lang="en-US" altLang="zh-CN" sz="1400" baseline="0" dirty="0" smtClean="0"/>
                        <a:t>extent id</a:t>
                      </a:r>
                      <a:r>
                        <a:rPr lang="zh-CN" altLang="en-US" sz="1400" baseline="0" dirty="0" smtClean="0"/>
                        <a:t>（目前最多只有三层）</a:t>
                      </a:r>
                      <a:endParaRPr lang="en-US" altLang="zh-CN" sz="14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8188438" y="2538139"/>
            <a:ext cx="746213" cy="333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  <p:sp>
        <p:nvSpPr>
          <p:cNvPr id="6" name="矩形 5"/>
          <p:cNvSpPr/>
          <p:nvPr/>
        </p:nvSpPr>
        <p:spPr>
          <a:xfrm>
            <a:off x="7559899" y="175656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</a:t>
            </a:r>
            <a:endParaRPr lang="zh-CN" altLang="en-US" dirty="0"/>
          </a:p>
        </p:txBody>
      </p:sp>
      <p:cxnSp>
        <p:nvCxnSpPr>
          <p:cNvPr id="8" name="曲线连接符 7"/>
          <p:cNvCxnSpPr>
            <a:stCxn id="28" idx="2"/>
            <a:endCxn id="5" idx="0"/>
          </p:cNvCxnSpPr>
          <p:nvPr/>
        </p:nvCxnSpPr>
        <p:spPr>
          <a:xfrm rot="5400000">
            <a:off x="8381177" y="2281400"/>
            <a:ext cx="437107" cy="763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9463963" y="2538138"/>
            <a:ext cx="808193" cy="3338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level1</a:t>
            </a:r>
            <a:endParaRPr lang="zh-CN" altLang="en-US" sz="1400" dirty="0"/>
          </a:p>
        </p:txBody>
      </p:sp>
      <p:cxnSp>
        <p:nvCxnSpPr>
          <p:cNvPr id="21" name="曲线连接符 20"/>
          <p:cNvCxnSpPr>
            <a:stCxn id="13" idx="2"/>
            <a:endCxn id="54" idx="0"/>
          </p:cNvCxnSpPr>
          <p:nvPr/>
        </p:nvCxnSpPr>
        <p:spPr>
          <a:xfrm rot="5400000">
            <a:off x="8902091" y="2507676"/>
            <a:ext cx="601658" cy="1330281"/>
          </a:xfrm>
          <a:prstGeom prst="curved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曲线连接符 22"/>
          <p:cNvCxnSpPr>
            <a:stCxn id="13" idx="2"/>
            <a:endCxn id="55" idx="0"/>
          </p:cNvCxnSpPr>
          <p:nvPr/>
        </p:nvCxnSpPr>
        <p:spPr>
          <a:xfrm rot="16200000" flipH="1">
            <a:off x="9570557" y="3169490"/>
            <a:ext cx="595008" cy="2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曲线连接符 24"/>
          <p:cNvCxnSpPr>
            <a:stCxn id="13" idx="2"/>
            <a:endCxn id="56" idx="0"/>
          </p:cNvCxnSpPr>
          <p:nvPr/>
        </p:nvCxnSpPr>
        <p:spPr>
          <a:xfrm rot="16200000" flipH="1">
            <a:off x="10166825" y="2573222"/>
            <a:ext cx="595308" cy="1192838"/>
          </a:xfrm>
          <a:prstGeom prst="curved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曲线连接符 26"/>
          <p:cNvCxnSpPr>
            <a:stCxn id="13" idx="2"/>
            <a:endCxn id="5" idx="0"/>
          </p:cNvCxnSpPr>
          <p:nvPr/>
        </p:nvCxnSpPr>
        <p:spPr>
          <a:xfrm rot="5400000" flipH="1">
            <a:off x="9047879" y="2051806"/>
            <a:ext cx="333848" cy="1306515"/>
          </a:xfrm>
          <a:prstGeom prst="curvedConnector5">
            <a:avLst>
              <a:gd name="adj1" fmla="val -68474"/>
              <a:gd name="adj2" fmla="val 51186"/>
              <a:gd name="adj3" fmla="val 168474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/>
          <p:cNvSpPr/>
          <p:nvPr/>
        </p:nvSpPr>
        <p:spPr>
          <a:xfrm>
            <a:off x="8226832" y="1756568"/>
            <a:ext cx="822165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group1</a:t>
            </a:r>
            <a:endParaRPr lang="zh-CN" altLang="en-US" sz="1400" dirty="0"/>
          </a:p>
        </p:txBody>
      </p:sp>
      <p:sp>
        <p:nvSpPr>
          <p:cNvPr id="22" name="矩形 21"/>
          <p:cNvSpPr/>
          <p:nvPr/>
        </p:nvSpPr>
        <p:spPr>
          <a:xfrm>
            <a:off x="9048997" y="1752766"/>
            <a:ext cx="822165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group2</a:t>
            </a:r>
            <a:endParaRPr lang="zh-CN" altLang="en-US" sz="1400" dirty="0"/>
          </a:p>
        </p:txBody>
      </p:sp>
      <p:sp>
        <p:nvSpPr>
          <p:cNvPr id="24" name="矩形 23"/>
          <p:cNvSpPr/>
          <p:nvPr/>
        </p:nvSpPr>
        <p:spPr>
          <a:xfrm>
            <a:off x="9868394" y="1752766"/>
            <a:ext cx="822165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group3</a:t>
            </a:r>
            <a:endParaRPr lang="zh-CN" altLang="en-US" sz="1400" dirty="0"/>
          </a:p>
        </p:txBody>
      </p:sp>
      <p:sp>
        <p:nvSpPr>
          <p:cNvPr id="26" name="矩形 25"/>
          <p:cNvSpPr/>
          <p:nvPr/>
        </p:nvSpPr>
        <p:spPr>
          <a:xfrm>
            <a:off x="10687791" y="1752766"/>
            <a:ext cx="822165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group4</a:t>
            </a:r>
            <a:endParaRPr lang="zh-CN" altLang="en-US" sz="1400" dirty="0"/>
          </a:p>
        </p:txBody>
      </p:sp>
      <p:sp>
        <p:nvSpPr>
          <p:cNvPr id="54" name="矩形 53"/>
          <p:cNvSpPr/>
          <p:nvPr/>
        </p:nvSpPr>
        <p:spPr>
          <a:xfrm>
            <a:off x="8164672" y="3473645"/>
            <a:ext cx="746213" cy="333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  <p:sp>
        <p:nvSpPr>
          <p:cNvPr id="55" name="矩形 54"/>
          <p:cNvSpPr/>
          <p:nvPr/>
        </p:nvSpPr>
        <p:spPr>
          <a:xfrm>
            <a:off x="9494955" y="3466995"/>
            <a:ext cx="746213" cy="333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  <p:sp>
        <p:nvSpPr>
          <p:cNvPr id="56" name="矩形 55"/>
          <p:cNvSpPr/>
          <p:nvPr/>
        </p:nvSpPr>
        <p:spPr>
          <a:xfrm>
            <a:off x="10687791" y="3467295"/>
            <a:ext cx="746213" cy="333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43552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3242766"/>
              </p:ext>
            </p:extLst>
          </p:nvPr>
        </p:nvGraphicFramePr>
        <p:xfrm>
          <a:off x="276073" y="2657355"/>
          <a:ext cx="4274713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115">
                  <a:extLst>
                    <a:ext uri="{9D8B030D-6E8A-4147-A177-3AD203B41FA5}">
                      <a16:colId xmlns:a16="http://schemas.microsoft.com/office/drawing/2014/main" val="2249297909"/>
                    </a:ext>
                  </a:extLst>
                </a:gridCol>
                <a:gridCol w="953037">
                  <a:extLst>
                    <a:ext uri="{9D8B030D-6E8A-4147-A177-3AD203B41FA5}">
                      <a16:colId xmlns:a16="http://schemas.microsoft.com/office/drawing/2014/main" val="1015509528"/>
                    </a:ext>
                  </a:extLst>
                </a:gridCol>
                <a:gridCol w="2279561">
                  <a:extLst>
                    <a:ext uri="{9D8B030D-6E8A-4147-A177-3AD203B41FA5}">
                      <a16:colId xmlns:a16="http://schemas.microsoft.com/office/drawing/2014/main" val="13547805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page</a:t>
                      </a:r>
                      <a:r>
                        <a:rPr lang="en-US" altLang="zh-CN" sz="1600" baseline="0" dirty="0" smtClean="0"/>
                        <a:t> size</a:t>
                      </a:r>
                      <a:endParaRPr lang="zh-CN" alt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File size</a:t>
                      </a:r>
                      <a:endParaRPr lang="zh-CN" alt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Segment slot number</a:t>
                      </a:r>
                      <a:endParaRPr lang="zh-CN" altLang="en-US" sz="160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473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512G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507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704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4084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4082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1253023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310932" y="2147367"/>
            <a:ext cx="420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page</a:t>
            </a:r>
            <a:r>
              <a:rPr lang="zh-CN" altLang="en-US" dirty="0"/>
              <a:t> </a:t>
            </a:r>
            <a:r>
              <a:rPr lang="en-US" altLang="zh-CN" dirty="0" err="1" smtClean="0"/>
              <a:t>num</a:t>
            </a:r>
            <a:r>
              <a:rPr lang="zh-CN" altLang="en-US" dirty="0" smtClean="0"/>
              <a:t> </a:t>
            </a:r>
            <a:r>
              <a:rPr lang="en-US" altLang="zh-CN" dirty="0" smtClean="0"/>
              <a:t>128M</a:t>
            </a:r>
            <a:r>
              <a:rPr lang="zh-CN" altLang="en-US" dirty="0" smtClean="0"/>
              <a:t>个，</a:t>
            </a:r>
            <a:r>
              <a:rPr lang="en-US" altLang="zh-CN" dirty="0" smtClean="0"/>
              <a:t>segment</a:t>
            </a:r>
            <a:r>
              <a:rPr lang="zh-CN" altLang="en-US" dirty="0"/>
              <a:t> </a:t>
            </a:r>
            <a:r>
              <a:rPr lang="en-US" altLang="zh-CN" dirty="0" smtClean="0"/>
              <a:t>size 128M</a:t>
            </a:r>
            <a:endParaRPr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490005"/>
              </p:ext>
            </p:extLst>
          </p:nvPr>
        </p:nvGraphicFramePr>
        <p:xfrm>
          <a:off x="6012593" y="2662435"/>
          <a:ext cx="4592072" cy="258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1974">
                  <a:extLst>
                    <a:ext uri="{9D8B030D-6E8A-4147-A177-3AD203B41FA5}">
                      <a16:colId xmlns:a16="http://schemas.microsoft.com/office/drawing/2014/main" val="2848572070"/>
                    </a:ext>
                  </a:extLst>
                </a:gridCol>
                <a:gridCol w="807522">
                  <a:extLst>
                    <a:ext uri="{9D8B030D-6E8A-4147-A177-3AD203B41FA5}">
                      <a16:colId xmlns:a16="http://schemas.microsoft.com/office/drawing/2014/main" val="2018968454"/>
                    </a:ext>
                  </a:extLst>
                </a:gridCol>
                <a:gridCol w="953706">
                  <a:extLst>
                    <a:ext uri="{9D8B030D-6E8A-4147-A177-3AD203B41FA5}">
                      <a16:colId xmlns:a16="http://schemas.microsoft.com/office/drawing/2014/main" val="2117237622"/>
                    </a:ext>
                  </a:extLst>
                </a:gridCol>
                <a:gridCol w="910719">
                  <a:extLst>
                    <a:ext uri="{9D8B030D-6E8A-4147-A177-3AD203B41FA5}">
                      <a16:colId xmlns:a16="http://schemas.microsoft.com/office/drawing/2014/main" val="2615805294"/>
                    </a:ext>
                  </a:extLst>
                </a:gridCol>
                <a:gridCol w="938151">
                  <a:extLst>
                    <a:ext uri="{9D8B030D-6E8A-4147-A177-3AD203B41FA5}">
                      <a16:colId xmlns:a16="http://schemas.microsoft.com/office/drawing/2014/main" val="1500529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page</a:t>
                      </a:r>
                      <a:r>
                        <a:rPr lang="en-US" altLang="zh-CN" sz="1400" baseline="0" dirty="0" smtClean="0"/>
                        <a:t> size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group1</a:t>
                      </a:r>
                      <a:endParaRPr lang="zh-CN" altLang="en-US" sz="1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group2</a:t>
                      </a:r>
                      <a:endParaRPr lang="zh-CN" altLang="en-US" sz="14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group3</a:t>
                      </a:r>
                      <a:endParaRPr lang="zh-CN" altLang="en-US" sz="14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group4</a:t>
                      </a:r>
                      <a:endParaRPr lang="zh-CN" altLang="en-US" sz="14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912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chemeClr val="tx1"/>
                          </a:solidFill>
                        </a:rPr>
                        <a:t>4k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4k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512K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2M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16M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6000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chemeClr val="tx1"/>
                          </a:solidFill>
                        </a:rPr>
                        <a:t>8k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8k</a:t>
                      </a:r>
                      <a:endParaRPr lang="zh-CN" altLang="en-US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512K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2M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16M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976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chemeClr val="tx1"/>
                          </a:solidFill>
                        </a:rPr>
                        <a:t>16k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16k</a:t>
                      </a:r>
                      <a:endParaRPr lang="zh-CN" altLang="en-US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512K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2M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16M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629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chemeClr val="tx1"/>
                          </a:solidFill>
                        </a:rPr>
                        <a:t>32k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32k</a:t>
                      </a:r>
                      <a:endParaRPr lang="zh-CN" altLang="en-US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512K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2M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16M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40661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chemeClr val="tx1"/>
                          </a:solidFill>
                        </a:rPr>
                        <a:t>64k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64k</a:t>
                      </a:r>
                      <a:endParaRPr lang="zh-CN" altLang="en-US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512K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2M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16M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3117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1338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8001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Bitmap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925166"/>
              </p:ext>
            </p:extLst>
          </p:nvPr>
        </p:nvGraphicFramePr>
        <p:xfrm>
          <a:off x="7623887" y="1057634"/>
          <a:ext cx="2781300" cy="201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5325">
                  <a:extLst>
                    <a:ext uri="{9D8B030D-6E8A-4147-A177-3AD203B41FA5}">
                      <a16:colId xmlns:a16="http://schemas.microsoft.com/office/drawing/2014/main" val="2840802406"/>
                    </a:ext>
                  </a:extLst>
                </a:gridCol>
                <a:gridCol w="695325">
                  <a:extLst>
                    <a:ext uri="{9D8B030D-6E8A-4147-A177-3AD203B41FA5}">
                      <a16:colId xmlns:a16="http://schemas.microsoft.com/office/drawing/2014/main" val="3201362042"/>
                    </a:ext>
                  </a:extLst>
                </a:gridCol>
                <a:gridCol w="695325">
                  <a:extLst>
                    <a:ext uri="{9D8B030D-6E8A-4147-A177-3AD203B41FA5}">
                      <a16:colId xmlns:a16="http://schemas.microsoft.com/office/drawing/2014/main" val="3320490650"/>
                    </a:ext>
                  </a:extLst>
                </a:gridCol>
                <a:gridCol w="695325">
                  <a:extLst>
                    <a:ext uri="{9D8B030D-6E8A-4147-A177-3AD203B41FA5}">
                      <a16:colId xmlns:a16="http://schemas.microsoft.com/office/drawing/2014/main" val="814919630"/>
                    </a:ext>
                  </a:extLst>
                </a:gridCol>
              </a:tblGrid>
              <a:tr h="50442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623699"/>
                  </a:ext>
                </a:extLst>
              </a:tr>
              <a:tr h="50442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788181"/>
                  </a:ext>
                </a:extLst>
              </a:tr>
              <a:tr h="50442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747752"/>
                  </a:ext>
                </a:extLst>
              </a:tr>
              <a:tr h="50442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484704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682730"/>
              </p:ext>
            </p:extLst>
          </p:nvPr>
        </p:nvGraphicFramePr>
        <p:xfrm>
          <a:off x="977900" y="2993894"/>
          <a:ext cx="42291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19">
                  <a:extLst>
                    <a:ext uri="{9D8B030D-6E8A-4147-A177-3AD203B41FA5}">
                      <a16:colId xmlns:a16="http://schemas.microsoft.com/office/drawing/2014/main" val="423307764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414842861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41572639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76387466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97583451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637013342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4222235508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31578024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89776759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65129952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28197235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584751127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1523276907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638845773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55953410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5653168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1028109"/>
                  </a:ext>
                </a:extLst>
              </a:tr>
            </a:tbl>
          </a:graphicData>
        </a:graphic>
      </p:graphicFrame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839412"/>
              </p:ext>
            </p:extLst>
          </p:nvPr>
        </p:nvGraphicFramePr>
        <p:xfrm>
          <a:off x="977900" y="3631118"/>
          <a:ext cx="42291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19">
                  <a:extLst>
                    <a:ext uri="{9D8B030D-6E8A-4147-A177-3AD203B41FA5}">
                      <a16:colId xmlns:a16="http://schemas.microsoft.com/office/drawing/2014/main" val="423307764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414842861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41572639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76387466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97583451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637013342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4222235508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31578024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89776759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65129952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28197235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584751127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1523276907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638845773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55953410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5653168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1028109"/>
                  </a:ext>
                </a:extLst>
              </a:tr>
            </a:tbl>
          </a:graphicData>
        </a:graphic>
      </p:graphicFrame>
      <p:graphicFrame>
        <p:nvGraphicFramePr>
          <p:cNvPr id="8" name="表格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560409"/>
              </p:ext>
            </p:extLst>
          </p:nvPr>
        </p:nvGraphicFramePr>
        <p:xfrm>
          <a:off x="977900" y="4188170"/>
          <a:ext cx="42291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19">
                  <a:extLst>
                    <a:ext uri="{9D8B030D-6E8A-4147-A177-3AD203B41FA5}">
                      <a16:colId xmlns:a16="http://schemas.microsoft.com/office/drawing/2014/main" val="423307764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414842861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41572639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76387466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97583451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637013342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4222235508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31578024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89776759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65129952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28197235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584751127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1523276907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638845773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55953410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5653168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1028109"/>
                  </a:ext>
                </a:extLst>
              </a:tr>
            </a:tbl>
          </a:graphicData>
        </a:graphic>
      </p:graphicFrame>
      <p:graphicFrame>
        <p:nvGraphicFramePr>
          <p:cNvPr id="9" name="表格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575589"/>
              </p:ext>
            </p:extLst>
          </p:nvPr>
        </p:nvGraphicFramePr>
        <p:xfrm>
          <a:off x="977900" y="4720934"/>
          <a:ext cx="42291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19">
                  <a:extLst>
                    <a:ext uri="{9D8B030D-6E8A-4147-A177-3AD203B41FA5}">
                      <a16:colId xmlns:a16="http://schemas.microsoft.com/office/drawing/2014/main" val="423307764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414842861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41572639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76387466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97583451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637013342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4222235508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315780244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89776759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3651299526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28197235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584751127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1523276907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638845773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2559534100"/>
                    </a:ext>
                  </a:extLst>
                </a:gridCol>
                <a:gridCol w="264319">
                  <a:extLst>
                    <a:ext uri="{9D8B030D-6E8A-4147-A177-3AD203B41FA5}">
                      <a16:colId xmlns:a16="http://schemas.microsoft.com/office/drawing/2014/main" val="5653168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1028109"/>
                  </a:ext>
                </a:extLst>
              </a:tr>
            </a:tbl>
          </a:graphicData>
        </a:graphic>
      </p:graphicFrame>
      <p:sp>
        <p:nvSpPr>
          <p:cNvPr id="10" name="文本框 9"/>
          <p:cNvSpPr txBox="1"/>
          <p:nvPr/>
        </p:nvSpPr>
        <p:spPr>
          <a:xfrm>
            <a:off x="977900" y="1487050"/>
            <a:ext cx="633699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以</a:t>
            </a:r>
            <a:r>
              <a:rPr lang="en-US" altLang="zh-CN" dirty="0" smtClean="0"/>
              <a:t>4k</a:t>
            </a:r>
            <a:r>
              <a:rPr lang="zh-CN" altLang="en-US" dirty="0" smtClean="0"/>
              <a:t>为例， 假设按照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剩余空间分为</a:t>
            </a:r>
            <a:r>
              <a:rPr lang="en-US" altLang="zh-CN" dirty="0" smtClean="0"/>
              <a:t>4</a:t>
            </a:r>
            <a:r>
              <a:rPr lang="zh-CN" altLang="en-US" dirty="0" smtClean="0"/>
              <a:t>个等级</a:t>
            </a:r>
            <a:r>
              <a:rPr lang="en-US" altLang="zh-CN" dirty="0" smtClean="0"/>
              <a:t>(</a:t>
            </a:r>
            <a:r>
              <a:rPr lang="en-US" altLang="zh-CN" dirty="0" err="1" smtClean="0"/>
              <a:t>freeLevel</a:t>
            </a:r>
            <a:r>
              <a:rPr lang="en-US" altLang="zh-CN" dirty="0" smtClean="0"/>
              <a:t>)</a:t>
            </a:r>
            <a:r>
              <a:rPr lang="zh-CN" altLang="en-US" dirty="0" smtClean="0"/>
              <a:t>：</a:t>
            </a:r>
            <a:endParaRPr lang="en-US" altLang="zh-CN" dirty="0" smtClean="0"/>
          </a:p>
          <a:p>
            <a:r>
              <a:rPr lang="en-US" altLang="zh-CN" dirty="0" smtClean="0"/>
              <a:t>0 </a:t>
            </a:r>
            <a:r>
              <a:rPr lang="en-US" altLang="zh-CN" dirty="0"/>
              <a:t>[0, 256b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en-US" altLang="zh-CN" dirty="0"/>
              <a:t>1 [256, 1k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en-US" altLang="zh-CN" dirty="0"/>
              <a:t>2 [1k,2k)</a:t>
            </a:r>
          </a:p>
          <a:p>
            <a:r>
              <a:rPr lang="en-US" altLang="zh-CN" dirty="0"/>
              <a:t>3 [2k,4k</a:t>
            </a:r>
            <a:r>
              <a:rPr lang="en-US" altLang="zh-CN" dirty="0" smtClean="0"/>
              <a:t>]</a:t>
            </a:r>
          </a:p>
        </p:txBody>
      </p:sp>
      <p:sp>
        <p:nvSpPr>
          <p:cNvPr id="11" name="矩形 10"/>
          <p:cNvSpPr/>
          <p:nvPr/>
        </p:nvSpPr>
        <p:spPr>
          <a:xfrm>
            <a:off x="571500" y="2993258"/>
            <a:ext cx="242994" cy="3699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571500" y="3631990"/>
            <a:ext cx="242994" cy="3699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571500" y="4189042"/>
            <a:ext cx="242994" cy="3699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571500" y="4746094"/>
            <a:ext cx="242994" cy="3699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23" name="文本框 22"/>
          <p:cNvSpPr txBox="1"/>
          <p:nvPr/>
        </p:nvSpPr>
        <p:spPr>
          <a:xfrm>
            <a:off x="977900" y="5380672"/>
            <a:ext cx="808105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 smtClean="0"/>
              <a:t>RecordSize</a:t>
            </a:r>
            <a:r>
              <a:rPr lang="en-US" altLang="zh-CN" dirty="0" smtClean="0"/>
              <a:t>: </a:t>
            </a:r>
            <a:r>
              <a:rPr lang="en-US" altLang="zh-CN" dirty="0"/>
              <a:t>9</a:t>
            </a:r>
            <a:r>
              <a:rPr lang="en-US" altLang="zh-CN" dirty="0" smtClean="0"/>
              <a:t>00(level1)</a:t>
            </a:r>
          </a:p>
          <a:p>
            <a:pPr marL="342900" indent="-342900">
              <a:buAutoNum type="arabicPeriod"/>
            </a:pPr>
            <a:r>
              <a:rPr lang="zh-CN" altLang="en-US" dirty="0"/>
              <a:t>先检查</a:t>
            </a:r>
            <a:r>
              <a:rPr lang="en-US" altLang="zh-CN" dirty="0" smtClean="0"/>
              <a:t>Last extent</a:t>
            </a:r>
            <a:r>
              <a:rPr lang="zh-CN" altLang="en-US" dirty="0" smtClean="0"/>
              <a:t>是否有剩余空间。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/>
              <a:t>依次</a:t>
            </a:r>
            <a:r>
              <a:rPr lang="zh-CN" altLang="en-US" dirty="0" smtClean="0"/>
              <a:t>检查</a:t>
            </a:r>
            <a:r>
              <a:rPr lang="en-US" altLang="zh-CN" dirty="0" smtClean="0"/>
              <a:t>level2</a:t>
            </a:r>
            <a:r>
              <a:rPr lang="zh-CN" altLang="en-US" dirty="0" smtClean="0"/>
              <a:t>到最高</a:t>
            </a:r>
            <a:r>
              <a:rPr lang="en-US" altLang="zh-CN" dirty="0" smtClean="0"/>
              <a:t>level</a:t>
            </a:r>
            <a:r>
              <a:rPr lang="zh-CN" altLang="en-US" dirty="0" smtClean="0"/>
              <a:t>的</a:t>
            </a:r>
            <a:r>
              <a:rPr lang="en-US" altLang="zh-CN" dirty="0" smtClean="0"/>
              <a:t>extent</a:t>
            </a:r>
          </a:p>
          <a:p>
            <a:pPr marL="342900" indent="-342900">
              <a:buAutoNum type="arabicPeriod"/>
            </a:pPr>
            <a:r>
              <a:rPr lang="zh-CN" altLang="en-US" dirty="0" smtClean="0"/>
              <a:t>检查相同等级，试探</a:t>
            </a:r>
            <a:r>
              <a:rPr lang="en-US" altLang="zh-CN" dirty="0" smtClean="0"/>
              <a:t>3</a:t>
            </a:r>
            <a:r>
              <a:rPr lang="zh-CN" altLang="en-US" dirty="0" smtClean="0"/>
              <a:t>次</a:t>
            </a:r>
            <a:r>
              <a:rPr lang="zh-CN" altLang="en-US" dirty="0" smtClean="0">
                <a:solidFill>
                  <a:srgbClr val="FF0000"/>
                </a:solidFill>
              </a:rPr>
              <a:t>（需要考虑如何选取，防止一直试探前</a:t>
            </a:r>
            <a:r>
              <a:rPr lang="en-US" altLang="zh-CN" dirty="0" smtClean="0">
                <a:solidFill>
                  <a:srgbClr val="FF0000"/>
                </a:solidFill>
              </a:rPr>
              <a:t>3</a:t>
            </a:r>
            <a:r>
              <a:rPr lang="zh-CN" altLang="en-US" dirty="0" smtClean="0">
                <a:solidFill>
                  <a:srgbClr val="FF0000"/>
                </a:solidFill>
              </a:rPr>
              <a:t>个</a:t>
            </a:r>
            <a:r>
              <a:rPr lang="en-US" altLang="zh-CN" dirty="0" smtClean="0">
                <a:solidFill>
                  <a:srgbClr val="FF0000"/>
                </a:solidFill>
              </a:rPr>
              <a:t>extent</a:t>
            </a:r>
            <a:r>
              <a:rPr lang="zh-CN" altLang="en-US" dirty="0" smtClean="0">
                <a:solidFill>
                  <a:srgbClr val="FF0000"/>
                </a:solidFill>
              </a:rPr>
              <a:t>）</a:t>
            </a:r>
            <a:endParaRPr lang="en-US" altLang="zh-CN" dirty="0" smtClean="0">
              <a:solidFill>
                <a:srgbClr val="FF0000"/>
              </a:solidFill>
            </a:endParaRPr>
          </a:p>
          <a:p>
            <a:endParaRPr lang="zh-CN" altLang="en-US" dirty="0"/>
          </a:p>
        </p:txBody>
      </p:sp>
      <p:sp>
        <p:nvSpPr>
          <p:cNvPr id="24" name="下箭头 23"/>
          <p:cNvSpPr/>
          <p:nvPr/>
        </p:nvSpPr>
        <p:spPr>
          <a:xfrm>
            <a:off x="2883201" y="2706471"/>
            <a:ext cx="139399" cy="924647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2952900" y="2531456"/>
            <a:ext cx="1250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solidFill>
                  <a:srgbClr val="FF0000"/>
                </a:solidFill>
              </a:rPr>
              <a:t>Last extent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2454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META</a:t>
            </a:r>
            <a:r>
              <a:rPr lang="zh-CN" altLang="en-US" dirty="0" smtClean="0"/>
              <a:t>文件中的</a:t>
            </a:r>
            <a:r>
              <a:rPr lang="en-US" altLang="zh-CN" dirty="0" err="1" smtClean="0"/>
              <a:t>metaExtent</a:t>
            </a:r>
            <a:endParaRPr lang="zh-CN" altLang="en-US" dirty="0"/>
          </a:p>
        </p:txBody>
      </p:sp>
      <p:graphicFrame>
        <p:nvGraphicFramePr>
          <p:cNvPr id="22" name="表格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288721"/>
              </p:ext>
            </p:extLst>
          </p:nvPr>
        </p:nvGraphicFramePr>
        <p:xfrm>
          <a:off x="846710" y="1384123"/>
          <a:ext cx="6479949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1098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03246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Meta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Extent Header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reserved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CHAR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预留位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35317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Slot </a:t>
                      </a:r>
                      <a:r>
                        <a:rPr lang="en-US" altLang="zh-CN" sz="1600" dirty="0" err="1" smtClean="0"/>
                        <a:t>num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当前已分配</a:t>
                      </a:r>
                      <a:r>
                        <a:rPr lang="en-US" altLang="zh-CN" sz="1600" baseline="0" dirty="0" smtClean="0"/>
                        <a:t>slot</a:t>
                      </a:r>
                      <a:r>
                        <a:rPr lang="zh-CN" altLang="en-US" sz="1600" baseline="0" dirty="0" smtClean="0"/>
                        <a:t>个数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218475"/>
                  </a:ext>
                </a:extLst>
              </a:tr>
              <a:tr h="523788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slots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 * 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记录</a:t>
                      </a:r>
                      <a:r>
                        <a:rPr lang="en-US" altLang="zh-CN" sz="1600" baseline="0" dirty="0" smtClean="0"/>
                        <a:t>Extent</a:t>
                      </a:r>
                      <a:r>
                        <a:rPr lang="zh-CN" altLang="en-US" sz="1600" baseline="0" dirty="0" smtClean="0"/>
                        <a:t>内偏移地址。有几条记录则记录几个</a:t>
                      </a:r>
                      <a:r>
                        <a:rPr lang="en-US" altLang="zh-CN" sz="1600" baseline="0" dirty="0" smtClean="0"/>
                        <a:t>slot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2048734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data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数据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</a:tbl>
          </a:graphicData>
        </a:graphic>
      </p:graphicFrame>
      <p:graphicFrame>
        <p:nvGraphicFramePr>
          <p:cNvPr id="23" name="表格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97193"/>
              </p:ext>
            </p:extLst>
          </p:nvPr>
        </p:nvGraphicFramePr>
        <p:xfrm>
          <a:off x="838200" y="4183500"/>
          <a:ext cx="9258837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1098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5487364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Meta Extent Data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clid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extentLevel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该</a:t>
                      </a:r>
                      <a:r>
                        <a:rPr lang="en-US" altLang="zh-CN" sz="1600" dirty="0" smtClean="0"/>
                        <a:t>extent</a:t>
                      </a:r>
                      <a:r>
                        <a:rPr lang="zh-CN" altLang="en-US" sz="1600" dirty="0" smtClean="0"/>
                        <a:t>所在等级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3531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relation</a:t>
                      </a:r>
                      <a:r>
                        <a:rPr lang="en-US" altLang="zh-CN" sz="1600" baseline="0" dirty="0" smtClean="0"/>
                        <a:t> extent 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与此</a:t>
                      </a:r>
                      <a:r>
                        <a:rPr lang="en-US" altLang="zh-CN" sz="1600" baseline="0" dirty="0" smtClean="0"/>
                        <a:t>bitmap</a:t>
                      </a:r>
                      <a:r>
                        <a:rPr lang="zh-CN" altLang="en-US" sz="1600" baseline="0" dirty="0" smtClean="0"/>
                        <a:t>一一对应的</a:t>
                      </a:r>
                      <a:r>
                        <a:rPr lang="en-US" altLang="zh-CN" sz="1600" baseline="0" dirty="0" smtClean="0"/>
                        <a:t>extent id</a:t>
                      </a:r>
                      <a:r>
                        <a:rPr lang="zh-CN" altLang="en-US" sz="1600" baseline="0" dirty="0" smtClean="0"/>
                        <a:t>（数据文件中）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21847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Next data 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UINT64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下一个</a:t>
                      </a:r>
                      <a:r>
                        <a:rPr lang="en-US" altLang="zh-CN" sz="1600" baseline="0" dirty="0" smtClean="0"/>
                        <a:t>bitmap</a:t>
                      </a:r>
                      <a:r>
                        <a:rPr lang="zh-CN" altLang="en-US" sz="1600" baseline="0" dirty="0" smtClean="0"/>
                        <a:t>的</a:t>
                      </a:r>
                      <a:r>
                        <a:rPr lang="en-US" altLang="zh-CN" sz="1600" baseline="0" dirty="0" smtClean="0"/>
                        <a:t>record 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572319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Bitmap[4]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 * 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根据最小的</a:t>
                      </a:r>
                      <a:r>
                        <a:rPr lang="en-US" altLang="zh-CN" sz="1600" baseline="0" dirty="0" err="1" smtClean="0"/>
                        <a:t>pageSize</a:t>
                      </a:r>
                      <a:r>
                        <a:rPr lang="zh-CN" altLang="en-US" sz="1600" baseline="0" dirty="0" smtClean="0"/>
                        <a:t>来算，如</a:t>
                      </a:r>
                      <a:r>
                        <a:rPr lang="en-US" altLang="zh-CN" sz="1600" baseline="0" dirty="0" err="1" smtClean="0"/>
                        <a:t>pageSize</a:t>
                      </a:r>
                      <a:r>
                        <a:rPr lang="en-US" altLang="zh-CN" sz="1600" baseline="0" dirty="0" smtClean="0"/>
                        <a:t> 4k</a:t>
                      </a:r>
                      <a:r>
                        <a:rPr lang="zh-CN" altLang="en-US" sz="1600" baseline="0" dirty="0" smtClean="0"/>
                        <a:t>，</a:t>
                      </a:r>
                      <a:r>
                        <a:rPr lang="en-US" altLang="zh-CN" sz="1600" baseline="0" dirty="0" smtClean="0"/>
                        <a:t>relation</a:t>
                      </a:r>
                      <a:r>
                        <a:rPr lang="zh-CN" altLang="en-US" sz="1600" baseline="0" dirty="0" smtClean="0"/>
                        <a:t>最多可以放</a:t>
                      </a:r>
                      <a:r>
                        <a:rPr lang="en-US" altLang="zh-CN" sz="1600" baseline="0" dirty="0" smtClean="0"/>
                        <a:t>4k/4=1k</a:t>
                      </a:r>
                      <a:r>
                        <a:rPr lang="zh-CN" altLang="en-US" sz="1600" baseline="0" dirty="0" smtClean="0"/>
                        <a:t>个</a:t>
                      </a:r>
                      <a:r>
                        <a:rPr lang="en-US" altLang="zh-CN" sz="1600" baseline="0" dirty="0" err="1" smtClean="0"/>
                        <a:t>extentid</a:t>
                      </a:r>
                      <a:r>
                        <a:rPr lang="zh-CN" altLang="en-US" sz="1600" baseline="0" dirty="0" smtClean="0"/>
                        <a:t>， </a:t>
                      </a:r>
                      <a:r>
                        <a:rPr lang="en-US" altLang="zh-CN" sz="1600" baseline="0" dirty="0" smtClean="0"/>
                        <a:t>bitmap=1k/8bit = 128byte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730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082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838200" y="2409372"/>
            <a:ext cx="42947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 smtClean="0">
                <a:solidFill>
                  <a:srgbClr val="FF0000"/>
                </a:solidFill>
              </a:rPr>
              <a:t>dropCL</a:t>
            </a:r>
            <a:r>
              <a:rPr lang="en-US" altLang="zh-CN" b="1" dirty="0" smtClean="0">
                <a:solidFill>
                  <a:srgbClr val="FF0000"/>
                </a:solidFill>
              </a:rPr>
              <a:t> </a:t>
            </a:r>
            <a:r>
              <a:rPr lang="zh-CN" altLang="en-US" b="1" dirty="0" smtClean="0">
                <a:solidFill>
                  <a:srgbClr val="FF0000"/>
                </a:solidFill>
              </a:rPr>
              <a:t>与 </a:t>
            </a:r>
            <a:r>
              <a:rPr lang="en-US" altLang="zh-CN" b="1" dirty="0" smtClean="0">
                <a:solidFill>
                  <a:srgbClr val="FF0000"/>
                </a:solidFill>
              </a:rPr>
              <a:t>query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smtClean="0">
                <a:solidFill>
                  <a:srgbClr val="FF0000"/>
                </a:solidFill>
              </a:rPr>
              <a:t>insert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smtClean="0">
                <a:solidFill>
                  <a:srgbClr val="FF0000"/>
                </a:solidFill>
              </a:rPr>
              <a:t>delete</a:t>
            </a:r>
            <a:r>
              <a:rPr lang="zh-CN" altLang="en-US" b="1" dirty="0" smtClean="0">
                <a:solidFill>
                  <a:srgbClr val="FF0000"/>
                </a:solidFill>
              </a:rPr>
              <a:t>的并发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endParaRPr lang="en-US" altLang="zh-CN" b="1" dirty="0" smtClean="0">
              <a:solidFill>
                <a:srgbClr val="FF0000"/>
              </a:solidFill>
            </a:endParaRPr>
          </a:p>
          <a:p>
            <a:endParaRPr lang="en-US" altLang="zh-CN" b="1" dirty="0" smtClean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6010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7EDCC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7EDCC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52184</TotalTime>
  <Words>1507</Words>
  <Application>Microsoft Office PowerPoint</Application>
  <PresentationFormat>宽屏</PresentationFormat>
  <Paragraphs>628</Paragraphs>
  <Slides>17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数据文件设计</vt:lpstr>
      <vt:lpstr>问题</vt:lpstr>
      <vt:lpstr>文件总体方案</vt:lpstr>
      <vt:lpstr>数据文件总体结构</vt:lpstr>
      <vt:lpstr>File Header</vt:lpstr>
      <vt:lpstr>Space Management Extent</vt:lpstr>
      <vt:lpstr>Data Segment Metadata</vt:lpstr>
      <vt:lpstr>MME-Metadata Management Extent</vt:lpstr>
      <vt:lpstr>cl 与extent的关系</vt:lpstr>
      <vt:lpstr>Extent Header</vt:lpstr>
      <vt:lpstr>Data Extent</vt:lpstr>
      <vt:lpstr>Data Extent空间compact</vt:lpstr>
      <vt:lpstr>Relation extent</vt:lpstr>
      <vt:lpstr>PowerPoint 演示文稿</vt:lpstr>
      <vt:lpstr>Bitmap设计</vt:lpstr>
      <vt:lpstr>META文件中的metaExtent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数据文件设计</dc:title>
  <dc:creator>linyoubin</dc:creator>
  <cp:lastModifiedBy>linyoubin</cp:lastModifiedBy>
  <cp:revision>858</cp:revision>
  <dcterms:created xsi:type="dcterms:W3CDTF">2018-11-26T02:24:39Z</dcterms:created>
  <dcterms:modified xsi:type="dcterms:W3CDTF">2019-01-15T08:45:03Z</dcterms:modified>
</cp:coreProperties>
</file>