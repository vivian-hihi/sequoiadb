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67" r:id="rId4"/>
    <p:sldId id="257" r:id="rId5"/>
    <p:sldId id="263" r:id="rId6"/>
    <p:sldId id="266" r:id="rId7"/>
    <p:sldId id="261" r:id="rId8"/>
    <p:sldId id="268" r:id="rId9"/>
    <p:sldId id="270" r:id="rId10"/>
    <p:sldId id="265" r:id="rId11"/>
    <p:sldId id="271" r:id="rId12"/>
    <p:sldId id="272" r:id="rId13"/>
    <p:sldId id="260" r:id="rId14"/>
    <p:sldId id="27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youbin" initials="l" lastIdx="1" clrIdx="0">
    <p:extLst>
      <p:ext uri="{19B8F6BF-5375-455C-9EA6-DF929625EA0E}">
        <p15:presenceInfo xmlns:p15="http://schemas.microsoft.com/office/powerpoint/2012/main" userId="linyou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36" autoAdjust="0"/>
  </p:normalViewPr>
  <p:slideViewPr>
    <p:cSldViewPr snapToGrid="0">
      <p:cViewPr>
        <p:scale>
          <a:sx n="66" d="100"/>
          <a:sy n="66" d="100"/>
        </p:scale>
        <p:origin x="146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CF9C5-560D-4BE0-8FF5-372197204B47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7AFA-EB4C-4686-97EC-5D83EA90D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8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78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以一个</a:t>
            </a:r>
            <a:r>
              <a:rPr lang="en-US" altLang="zh-CN" dirty="0" smtClean="0"/>
              <a:t>page</a:t>
            </a:r>
            <a:r>
              <a:rPr lang="zh-CN" altLang="en-US" dirty="0" smtClean="0"/>
              <a:t>页</a:t>
            </a:r>
            <a:r>
              <a:rPr lang="en-US" altLang="zh-CN" dirty="0" smtClean="0"/>
              <a:t>[4k, 8k, 64k,128k,256k]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707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33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baseline="0" dirty="0" smtClean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元数据跟数据分开文件存储， 分别动态扩</a:t>
            </a:r>
            <a:endParaRPr lang="en-US" altLang="zh-CN" sz="1200" kern="1200" baseline="0" dirty="0" smtClean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baseline="0" dirty="0" smtClean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SEGMENT SLOT</a:t>
            </a:r>
            <a:r>
              <a:rPr lang="zh-CN" altLang="en-US" sz="1200" kern="1200" baseline="0" dirty="0" smtClean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（文件最大</a:t>
            </a:r>
            <a:r>
              <a:rPr lang="en-US" altLang="zh-CN" sz="1200" kern="1200" baseline="0" dirty="0" smtClean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8T</a:t>
            </a:r>
            <a:r>
              <a:rPr lang="zh-CN" altLang="en-US" sz="1200" kern="1200" baseline="0" dirty="0" smtClean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）</a:t>
            </a:r>
            <a:r>
              <a:rPr lang="zh-CN" altLang="en-US" dirty="0" smtClean="0"/>
              <a:t>：</a:t>
            </a:r>
            <a:r>
              <a:rPr lang="en-US" altLang="zh-CN" dirty="0" smtClean="0"/>
              <a:t>8T </a:t>
            </a:r>
            <a:r>
              <a:rPr lang="en-US" altLang="zh-CN" dirty="0" smtClean="0"/>
              <a:t>/</a:t>
            </a:r>
            <a:r>
              <a:rPr lang="en-US" altLang="zh-CN" baseline="0" dirty="0" smtClean="0"/>
              <a:t> </a:t>
            </a:r>
            <a:r>
              <a:rPr lang="en-US" altLang="zh-CN" baseline="0" dirty="0" smtClean="0"/>
              <a:t>128M </a:t>
            </a:r>
            <a:r>
              <a:rPr lang="en-US" altLang="zh-CN" baseline="0" dirty="0" smtClean="0"/>
              <a:t>= </a:t>
            </a:r>
            <a:r>
              <a:rPr lang="en-US" altLang="zh-CN" baseline="0" dirty="0" smtClean="0"/>
              <a:t>64K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/>
              <a:t>一个</a:t>
            </a:r>
            <a:r>
              <a:rPr lang="en-US" altLang="zh-CN" sz="1200" dirty="0" smtClean="0"/>
              <a:t>segment</a:t>
            </a:r>
            <a:r>
              <a:rPr lang="zh-CN" altLang="en-US" sz="1200" dirty="0" smtClean="0"/>
              <a:t>内最大的</a:t>
            </a:r>
            <a:r>
              <a:rPr lang="en-US" altLang="zh-CN" sz="1200" dirty="0" smtClean="0"/>
              <a:t>extent</a:t>
            </a:r>
            <a:r>
              <a:rPr lang="zh-CN" altLang="en-US" sz="1200" dirty="0" smtClean="0"/>
              <a:t>个数（</a:t>
            </a:r>
            <a:r>
              <a:rPr lang="en-US" altLang="zh-CN" sz="1200" dirty="0" smtClean="0"/>
              <a:t>page</a:t>
            </a:r>
            <a:r>
              <a:rPr lang="zh-CN" altLang="en-US" sz="1200" dirty="0" smtClean="0"/>
              <a:t>页最小</a:t>
            </a:r>
            <a:r>
              <a:rPr lang="en-US" altLang="zh-CN" sz="1200" dirty="0" smtClean="0"/>
              <a:t>64k</a:t>
            </a:r>
            <a:r>
              <a:rPr lang="zh-CN" altLang="en-US" sz="1200" dirty="0" smtClean="0"/>
              <a:t>）：</a:t>
            </a:r>
            <a:r>
              <a:rPr lang="en-US" altLang="zh-CN" sz="1200" dirty="0" smtClean="0"/>
              <a:t>128M/64K</a:t>
            </a:r>
            <a:r>
              <a:rPr lang="zh-CN" altLang="en-US" sz="1200" baseline="0" dirty="0" smtClean="0"/>
              <a:t> </a:t>
            </a:r>
            <a:r>
              <a:rPr lang="en-US" altLang="zh-CN" sz="1200" baseline="0" dirty="0" smtClean="0"/>
              <a:t>= 2048</a:t>
            </a:r>
            <a:r>
              <a:rPr lang="zh-CN" altLang="en-US" sz="1200" baseline="0" dirty="0" smtClean="0"/>
              <a:t>个</a:t>
            </a:r>
            <a:endParaRPr lang="en-US" altLang="zh-CN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74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1</a:t>
            </a:r>
            <a:r>
              <a:rPr lang="zh-CN" altLang="en-US" baseline="0" dirty="0" smtClean="0"/>
              <a:t>、</a:t>
            </a:r>
            <a:r>
              <a:rPr lang="en-US" altLang="zh-CN" baseline="0" dirty="0" smtClean="0"/>
              <a:t>extent</a:t>
            </a:r>
            <a:r>
              <a:rPr lang="zh-CN" altLang="en-US" baseline="0" dirty="0" smtClean="0"/>
              <a:t>空闲空间 分等级 例如</a:t>
            </a: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位 （</a:t>
            </a: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个等级） </a:t>
            </a:r>
            <a:endParaRPr lang="en-US" altLang="zh-CN" baseline="0" dirty="0" smtClean="0"/>
          </a:p>
          <a:p>
            <a:r>
              <a:rPr lang="en-US" altLang="zh-CN" baseline="0" dirty="0" smtClean="0"/>
              <a:t>0 [0, 256b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1 [256, 1k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2 [1k,2k)</a:t>
            </a:r>
          </a:p>
          <a:p>
            <a:r>
              <a:rPr lang="en-US" altLang="zh-CN" baseline="0" dirty="0" smtClean="0"/>
              <a:t>3 [2k,4k]</a:t>
            </a:r>
          </a:p>
          <a:p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、分配 </a:t>
            </a:r>
            <a:r>
              <a:rPr lang="en-US" altLang="zh-CN" baseline="0" dirty="0" smtClean="0"/>
              <a:t>257</a:t>
            </a:r>
            <a:r>
              <a:rPr lang="zh-CN" altLang="en-US" baseline="0" dirty="0" smtClean="0"/>
              <a:t>字节时， 优先分配到等级</a:t>
            </a:r>
            <a:r>
              <a:rPr lang="en-US" altLang="zh-CN" baseline="0" dirty="0" smtClean="0"/>
              <a:t>2[1k,2k)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3</a:t>
            </a:r>
            <a:r>
              <a:rPr lang="zh-CN" altLang="en-US" baseline="0" dirty="0" smtClean="0"/>
              <a:t>、分配失败时从等级</a:t>
            </a:r>
            <a:r>
              <a:rPr lang="en-US" altLang="zh-CN" baseline="0" dirty="0" smtClean="0"/>
              <a:t>1</a:t>
            </a:r>
            <a:r>
              <a:rPr lang="zh-CN" altLang="en-US" baseline="0" dirty="0" smtClean="0"/>
              <a:t>尝试</a:t>
            </a:r>
            <a:r>
              <a:rPr lang="en-US" altLang="zh-CN" baseline="0" dirty="0" smtClean="0"/>
              <a:t>2</a:t>
            </a:r>
            <a:r>
              <a:rPr lang="zh-CN" altLang="en-US" baseline="0" dirty="0" smtClean="0"/>
              <a:t>次？ </a:t>
            </a: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、再失败时分配新的</a:t>
            </a:r>
            <a:r>
              <a:rPr lang="en-US" altLang="zh-CN" baseline="0" dirty="0" smtClean="0"/>
              <a:t>extent</a:t>
            </a:r>
            <a:r>
              <a:rPr lang="zh-CN" altLang="en-US" baseline="0" dirty="0" smtClean="0"/>
              <a:t>。</a:t>
            </a:r>
            <a:endParaRPr lang="en-US" altLang="zh-CN" baseline="0" dirty="0" smtClean="0"/>
          </a:p>
          <a:p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499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27AFA-EB4C-4686-97EC-5D83EA90DB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2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6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5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68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1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9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7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11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0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42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8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DBE0D-D193-4915-9F9C-E6864CED25A9}" type="datetimeFigureOut">
              <a:rPr lang="zh-CN" altLang="en-US" smtClean="0"/>
              <a:t>2018/12/17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F12F-50F6-44CC-AB6D-43D9E09207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2">
                    <a:lumMod val="75000"/>
                  </a:schemeClr>
                </a:solidFill>
              </a:rPr>
              <a:t>数据文件设计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4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995055"/>
            <a:ext cx="98764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性能：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en-US" sz="2400" dirty="0" smtClean="0"/>
              <a:t>、细粒度化锁，尽量避免 </a:t>
            </a:r>
            <a:r>
              <a:rPr lang="en-US" altLang="zh-CN" sz="2400" dirty="0" err="1" smtClean="0"/>
              <a:t>mblock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的表级别锁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、去除链表关系，当前</a:t>
            </a:r>
            <a:r>
              <a:rPr lang="zh-CN" altLang="en-US" sz="2400" dirty="0"/>
              <a:t>方案</a:t>
            </a:r>
            <a:r>
              <a:rPr lang="zh-CN" altLang="en-US" sz="2400" dirty="0" smtClean="0"/>
              <a:t>中，</a:t>
            </a:r>
            <a:r>
              <a:rPr lang="en-US" altLang="zh-CN" sz="2400" dirty="0" smtClean="0"/>
              <a:t>cl </a:t>
            </a:r>
            <a:r>
              <a:rPr lang="zh-CN" altLang="en-US" sz="2400" dirty="0" smtClean="0"/>
              <a:t>间 </a:t>
            </a:r>
            <a:r>
              <a:rPr lang="en-US" altLang="zh-CN" sz="2400" dirty="0" smtClean="0"/>
              <a:t>extent </a:t>
            </a:r>
            <a:r>
              <a:rPr lang="zh-CN" altLang="en-US" sz="2400" dirty="0" smtClean="0"/>
              <a:t>链表，以及 </a:t>
            </a:r>
            <a:r>
              <a:rPr lang="en-US" altLang="zh-CN" sz="2400" dirty="0" err="1" smtClean="0"/>
              <a:t>freelist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链表</a:t>
            </a:r>
            <a:endParaRPr lang="en-US" altLang="zh-CN" sz="2400" dirty="0" smtClean="0"/>
          </a:p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、节点间的数据文件（</a:t>
            </a:r>
            <a:r>
              <a:rPr lang="en-US" altLang="zh-CN" sz="2400" dirty="0" smtClean="0"/>
              <a:t>data, capped, lob</a:t>
            </a:r>
            <a:r>
              <a:rPr lang="en-US" altLang="zh-CN" sz="2400" dirty="0"/>
              <a:t>.</a:t>
            </a:r>
            <a:r>
              <a:rPr lang="zh-CN" altLang="en-US" sz="2400" dirty="0" smtClean="0"/>
              <a:t>不包括</a:t>
            </a:r>
            <a:r>
              <a:rPr lang="en-US" altLang="zh-CN" sz="2400" dirty="0" smtClean="0"/>
              <a:t>index</a:t>
            </a:r>
            <a:r>
              <a:rPr lang="zh-CN" altLang="en-US" sz="2400" dirty="0" smtClean="0"/>
              <a:t>）保持完全一致。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（快速同步数据）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buffer pool</a:t>
            </a:r>
          </a:p>
          <a:p>
            <a:endParaRPr lang="en-US" altLang="zh-CN" sz="2400" dirty="0"/>
          </a:p>
          <a:p>
            <a:r>
              <a:rPr lang="zh-CN" altLang="en-US" sz="2400" dirty="0" smtClean="0"/>
              <a:t>功能：</a:t>
            </a:r>
            <a:endParaRPr lang="en-US" altLang="zh-CN" sz="2400" dirty="0" smtClean="0"/>
          </a:p>
          <a:p>
            <a:r>
              <a:rPr lang="en-US" altLang="zh-CN" sz="2400" dirty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mvcc</a:t>
            </a:r>
            <a:r>
              <a:rPr lang="zh-CN" altLang="en-US" sz="2400" dirty="0" smtClean="0"/>
              <a:t>支持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checkpoint</a:t>
            </a:r>
            <a:r>
              <a:rPr lang="zh-CN" altLang="en-US" sz="2400" dirty="0" smtClean="0"/>
              <a:t>支持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78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文件目录方案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187375"/>
              </p:ext>
            </p:extLst>
          </p:nvPr>
        </p:nvGraphicFramePr>
        <p:xfrm>
          <a:off x="838200" y="1340979"/>
          <a:ext cx="10972800" cy="5211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578787628"/>
                    </a:ext>
                  </a:extLst>
                </a:gridCol>
                <a:gridCol w="1151906">
                  <a:extLst>
                    <a:ext uri="{9D8B030D-6E8A-4147-A177-3AD203B41FA5}">
                      <a16:colId xmlns:a16="http://schemas.microsoft.com/office/drawing/2014/main" val="1124790371"/>
                    </a:ext>
                  </a:extLst>
                </a:gridCol>
                <a:gridCol w="1819894">
                  <a:extLst>
                    <a:ext uri="{9D8B030D-6E8A-4147-A177-3AD203B41FA5}">
                      <a16:colId xmlns:a16="http://schemas.microsoft.com/office/drawing/2014/main" val="535722635"/>
                    </a:ext>
                  </a:extLst>
                </a:gridCol>
                <a:gridCol w="2087088">
                  <a:extLst>
                    <a:ext uri="{9D8B030D-6E8A-4147-A177-3AD203B41FA5}">
                      <a16:colId xmlns:a16="http://schemas.microsoft.com/office/drawing/2014/main" val="1759101415"/>
                    </a:ext>
                  </a:extLst>
                </a:gridCol>
                <a:gridCol w="4008912">
                  <a:extLst>
                    <a:ext uri="{9D8B030D-6E8A-4147-A177-3AD203B41FA5}">
                      <a16:colId xmlns:a16="http://schemas.microsoft.com/office/drawing/2014/main" val="2853853818"/>
                    </a:ext>
                  </a:extLst>
                </a:gridCol>
              </a:tblGrid>
              <a:tr h="82234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目录结构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文件数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与</a:t>
                      </a:r>
                      <a:r>
                        <a:rPr lang="en-US" altLang="zh-CN" dirty="0" smtClean="0"/>
                        <a:t>extent</a:t>
                      </a:r>
                      <a:r>
                        <a:rPr lang="zh-CN" altLang="en-US" dirty="0" smtClean="0"/>
                        <a:t>关系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快速查找空间算法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总结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41806"/>
                  </a:ext>
                </a:extLst>
              </a:tr>
              <a:tr h="128968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一个</a:t>
                      </a:r>
                      <a:r>
                        <a:rPr lang="en-US" altLang="zh-CN" dirty="0" err="1" smtClean="0"/>
                        <a:t>cs</a:t>
                      </a:r>
                      <a:r>
                        <a:rPr lang="zh-CN" altLang="en-US" dirty="0" smtClean="0"/>
                        <a:t>一个文件，每个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放不同</a:t>
                      </a:r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的数据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与每个</a:t>
                      </a:r>
                      <a:r>
                        <a:rPr lang="en-US" altLang="zh-CN" dirty="0" smtClean="0"/>
                        <a:t>extent</a:t>
                      </a:r>
                      <a:r>
                        <a:rPr lang="zh-CN" altLang="en-US" dirty="0" smtClean="0"/>
                        <a:t>的关系需要独立维护和存储（</a:t>
                      </a:r>
                      <a:r>
                        <a:rPr lang="en-US" altLang="zh-CN" dirty="0" smtClean="0"/>
                        <a:t>128M</a:t>
                      </a:r>
                      <a:r>
                        <a:rPr lang="zh-CN" altLang="en-US" dirty="0" smtClean="0"/>
                        <a:t>个）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无法在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内快速定位空闲空间，</a:t>
                      </a:r>
                      <a:r>
                        <a:rPr lang="zh-CN" altLang="en-US" dirty="0" smtClean="0"/>
                        <a:t>需要在全局</a:t>
                      </a:r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级别利用额外</a:t>
                      </a:r>
                      <a:r>
                        <a:rPr lang="zh-CN" altLang="en-US" dirty="0" smtClean="0"/>
                        <a:t>的辅助</a:t>
                      </a:r>
                      <a:r>
                        <a:rPr lang="zh-CN" altLang="en-US" dirty="0" smtClean="0"/>
                        <a:t>结构进行查找。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</a:t>
                      </a:r>
                      <a:r>
                        <a:rPr lang="zh-CN" altLang="en-US" dirty="0" smtClean="0"/>
                        <a:t>需要额外</a:t>
                      </a:r>
                      <a:r>
                        <a:rPr lang="zh-CN" altLang="en-US" dirty="0" smtClean="0"/>
                        <a:t>数据结构去维护</a:t>
                      </a:r>
                      <a:r>
                        <a:rPr lang="en-US" altLang="zh-CN" dirty="0" smtClean="0"/>
                        <a:t>cl&lt;-&gt;extent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zh-CN" altLang="en-US" dirty="0" smtClean="0"/>
                        <a:t>关系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、管理</a:t>
                      </a:r>
                      <a:r>
                        <a:rPr lang="zh-CN" altLang="en-US" dirty="0" smtClean="0"/>
                        <a:t>和实现的复杂</a:t>
                      </a:r>
                      <a:r>
                        <a:rPr lang="zh-CN" altLang="en-US" dirty="0" smtClean="0"/>
                        <a:t>度较高。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、有效利用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内空间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231581"/>
                  </a:ext>
                </a:extLst>
              </a:tr>
              <a:tr h="117478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一个</a:t>
                      </a:r>
                      <a:r>
                        <a:rPr lang="en-US" altLang="zh-CN" dirty="0" err="1" smtClean="0"/>
                        <a:t>cs</a:t>
                      </a:r>
                      <a:r>
                        <a:rPr lang="zh-CN" altLang="en-US" dirty="0" smtClean="0"/>
                        <a:t>一个文件，每个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只放一个</a:t>
                      </a:r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的数据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只需要维护</a:t>
                      </a:r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与每个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的关系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64k</a:t>
                      </a:r>
                      <a:r>
                        <a:rPr lang="zh-CN" altLang="en-US" dirty="0" smtClean="0"/>
                        <a:t>个）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先快速查询</a:t>
                      </a:r>
                      <a:r>
                        <a:rPr lang="en-US" altLang="zh-CN" dirty="0" smtClean="0"/>
                        <a:t>Segment</a:t>
                      </a:r>
                    </a:p>
                    <a:p>
                      <a:r>
                        <a:rPr lang="zh-CN" altLang="en-US" dirty="0" smtClean="0"/>
                        <a:t>再到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内使用</a:t>
                      </a:r>
                      <a:r>
                        <a:rPr lang="en-US" altLang="zh-CN" dirty="0" smtClean="0"/>
                        <a:t>slot</a:t>
                      </a:r>
                      <a:r>
                        <a:rPr lang="zh-CN" altLang="en-US" dirty="0" smtClean="0"/>
                        <a:t>快速查找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、比较简单的关系表</a:t>
                      </a:r>
                      <a:r>
                        <a:rPr lang="en-US" altLang="zh-CN" dirty="0" smtClean="0"/>
                        <a:t>cl&lt;-&gt;segment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、管理相对简单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、少记录的表会造成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空间浪费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29298"/>
                  </a:ext>
                </a:extLst>
              </a:tr>
              <a:tr h="82234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一个</a:t>
                      </a:r>
                      <a:r>
                        <a:rPr lang="en-US" altLang="zh-CN" dirty="0" smtClean="0"/>
                        <a:t>cl</a:t>
                      </a:r>
                      <a:r>
                        <a:rPr lang="zh-CN" altLang="en-US" dirty="0" smtClean="0"/>
                        <a:t>一个文件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多（</a:t>
                      </a:r>
                      <a:r>
                        <a:rPr lang="en-US" altLang="zh-CN" dirty="0" smtClean="0"/>
                        <a:t>4096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不需要额外维护关系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先快速查询定位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，再到</a:t>
                      </a:r>
                      <a:r>
                        <a:rPr lang="en-US" altLang="zh-CN" dirty="0" smtClean="0"/>
                        <a:t>segment</a:t>
                      </a:r>
                      <a:r>
                        <a:rPr lang="zh-CN" altLang="en-US" dirty="0" smtClean="0"/>
                        <a:t>内快速定位</a:t>
                      </a:r>
                      <a:r>
                        <a:rPr lang="en-US" altLang="zh-CN" dirty="0" smtClean="0"/>
                        <a:t>extent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、不需要额外做关联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、管理最简单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、少记录的表会造成句柄和文件空间浪费。浪费最多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4</a:t>
                      </a:r>
                      <a:r>
                        <a:rPr lang="zh-CN" altLang="en-US" dirty="0" smtClean="0"/>
                        <a:t>、额外的句柄有可能造成句柄不足的问题。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541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39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数据文件总体结构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495860"/>
              </p:ext>
            </p:extLst>
          </p:nvPr>
        </p:nvGraphicFramePr>
        <p:xfrm>
          <a:off x="838200" y="2304872"/>
          <a:ext cx="4479402" cy="2247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67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984323689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253501711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3873437384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1048809832"/>
                    </a:ext>
                  </a:extLst>
                </a:gridCol>
                <a:gridCol w="746567">
                  <a:extLst>
                    <a:ext uri="{9D8B030D-6E8A-4147-A177-3AD203B41FA5}">
                      <a16:colId xmlns:a16="http://schemas.microsoft.com/office/drawing/2014/main" val="2210134178"/>
                    </a:ext>
                  </a:extLst>
                </a:gridCol>
              </a:tblGrid>
              <a:tr h="36428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33392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576778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page2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05608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001249"/>
              </p:ext>
            </p:extLst>
          </p:nvPr>
        </p:nvGraphicFramePr>
        <p:xfrm>
          <a:off x="6096000" y="2304872"/>
          <a:ext cx="4479402" cy="2502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402">
                  <a:extLst>
                    <a:ext uri="{9D8B030D-6E8A-4147-A177-3AD203B41FA5}">
                      <a16:colId xmlns:a16="http://schemas.microsoft.com/office/drawing/2014/main" val="3954433220"/>
                    </a:ext>
                  </a:extLst>
                </a:gridCol>
              </a:tblGrid>
              <a:tr h="3642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371293"/>
                  </a:ext>
                </a:extLst>
              </a:tr>
              <a:tr h="3339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02555"/>
                  </a:ext>
                </a:extLst>
              </a:tr>
              <a:tr h="4925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segment1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52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segment2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92344"/>
                  </a:ext>
                </a:extLst>
              </a:tr>
              <a:tr h="400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00955"/>
                  </a:ext>
                </a:extLst>
              </a:tr>
              <a:tr h="4858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05608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132487" y="5521124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Segment size</a:t>
            </a:r>
            <a:r>
              <a:rPr lang="zh-CN" altLang="en-US" dirty="0" smtClean="0"/>
              <a:t>固定</a:t>
            </a:r>
            <a:r>
              <a:rPr lang="en-US" altLang="zh-CN" dirty="0" smtClean="0"/>
              <a:t>32M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874687" y="5521124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Page size</a:t>
            </a:r>
            <a:r>
              <a:rPr lang="zh-CN" altLang="en-US" dirty="0" smtClean="0"/>
              <a:t>最小</a:t>
            </a:r>
            <a:r>
              <a:rPr lang="en-US" altLang="zh-CN" dirty="0" smtClean="0"/>
              <a:t>64k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96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13204"/>
          </a:xfrm>
        </p:spPr>
        <p:txBody>
          <a:bodyPr/>
          <a:lstStyle/>
          <a:p>
            <a:r>
              <a:rPr lang="en-US" altLang="zh-CN" dirty="0" smtClean="0"/>
              <a:t>File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527178"/>
              </p:ext>
            </p:extLst>
          </p:nvPr>
        </p:nvGraphicFramePr>
        <p:xfrm>
          <a:off x="838200" y="1766682"/>
          <a:ext cx="6342924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584">
                  <a:extLst>
                    <a:ext uri="{9D8B030D-6E8A-4147-A177-3AD203B41FA5}">
                      <a16:colId xmlns:a16="http://schemas.microsoft.com/office/drawing/2014/main" val="3553256097"/>
                    </a:ext>
                  </a:extLst>
                </a:gridCol>
                <a:gridCol w="1369173">
                  <a:extLst>
                    <a:ext uri="{9D8B030D-6E8A-4147-A177-3AD203B41FA5}">
                      <a16:colId xmlns:a16="http://schemas.microsoft.com/office/drawing/2014/main" val="4246112648"/>
                    </a:ext>
                  </a:extLst>
                </a:gridCol>
                <a:gridCol w="1228410">
                  <a:extLst>
                    <a:ext uri="{9D8B030D-6E8A-4147-A177-3AD203B41FA5}">
                      <a16:colId xmlns:a16="http://schemas.microsoft.com/office/drawing/2014/main" val="697613201"/>
                    </a:ext>
                  </a:extLst>
                </a:gridCol>
                <a:gridCol w="2319757">
                  <a:extLst>
                    <a:ext uri="{9D8B030D-6E8A-4147-A177-3AD203B41FA5}">
                      <a16:colId xmlns:a16="http://schemas.microsoft.com/office/drawing/2014/main" val="2551292058"/>
                    </a:ext>
                  </a:extLst>
                </a:gridCol>
              </a:tblGrid>
              <a:tr h="292193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File 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0232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长度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描述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56404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EYE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CATCHER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识别串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978886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版本号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01982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en-US" altLang="zh-CN" sz="1600" baseline="0" dirty="0" err="1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CHAR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名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612431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err="1" smtClean="0">
                          <a:solidFill>
                            <a:schemeClr val="tx1"/>
                          </a:solidFill>
                        </a:rPr>
                        <a:t>csID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UINT32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284969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文件序列号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802394"/>
                  </a:ext>
                </a:extLst>
              </a:tr>
              <a:tr h="1142207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UINT16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文件类型：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data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2. index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3. lob</a:t>
                      </a:r>
                    </a:p>
                    <a:p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4. dictionary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3178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Create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 time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UINT64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创建时间，毫秒数</a:t>
                      </a:r>
                      <a:endParaRPr lang="en-US" altLang="zh-CN" sz="16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930073"/>
                  </a:ext>
                </a:extLst>
              </a:tr>
              <a:tr h="292193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reserved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1024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预留字段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600" baseline="0" dirty="0" smtClean="0">
                          <a:solidFill>
                            <a:schemeClr val="tx1"/>
                          </a:solidFill>
                        </a:rPr>
                        <a:t>默认值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</a:rPr>
                        <a:t>0 )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30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Space </a:t>
            </a:r>
            <a:r>
              <a:rPr lang="en-US" altLang="zh-CN" dirty="0"/>
              <a:t>M</a:t>
            </a:r>
            <a:r>
              <a:rPr lang="en-US" altLang="zh-CN" dirty="0" smtClean="0"/>
              <a:t>anagement Extent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75788"/>
              </p:ext>
            </p:extLst>
          </p:nvPr>
        </p:nvGraphicFramePr>
        <p:xfrm>
          <a:off x="838200" y="1725413"/>
          <a:ext cx="6847390" cy="328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461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37549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192193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320618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Space Management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12583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size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92964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当前已分配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3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bitmap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16M</a:t>
                      </a:r>
                      <a:r>
                        <a:rPr lang="en-US" altLang="zh-CN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总共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128M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。每一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位标识是否使用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28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Segment Metadata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64257"/>
              </p:ext>
            </p:extLst>
          </p:nvPr>
        </p:nvGraphicFramePr>
        <p:xfrm>
          <a:off x="838200" y="1529427"/>
          <a:ext cx="5608900" cy="2367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Segment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版本号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413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预留字段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当前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 * 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256K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个槽位号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387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66567"/>
              </p:ext>
            </p:extLst>
          </p:nvPr>
        </p:nvGraphicFramePr>
        <p:xfrm>
          <a:off x="838201" y="4023360"/>
          <a:ext cx="6824240" cy="271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756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511707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 SLOT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710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68324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 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 extent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占用的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填充位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50179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 free continuous space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最大连续的空闲空间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387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bitmap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bitmap</a:t>
                      </a:r>
                      <a:r>
                        <a:rPr lang="zh-CN" altLang="en-US" sz="1600" dirty="0" smtClean="0"/>
                        <a:t>有效个数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12970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bitmap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256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2048</a:t>
                      </a:r>
                      <a:r>
                        <a:rPr lang="zh-CN" altLang="en-US" sz="1600" dirty="0" smtClean="0"/>
                        <a:t>个</a:t>
                      </a:r>
                      <a:r>
                        <a:rPr lang="en-US" altLang="zh-CN" sz="1600" dirty="0" smtClean="0"/>
                        <a:t>bit</a:t>
                      </a:r>
                      <a:r>
                        <a:rPr lang="zh-CN" altLang="en-US" sz="1600" dirty="0" smtClean="0"/>
                        <a:t>位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7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2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Extent</a:t>
            </a:r>
            <a:r>
              <a:rPr lang="zh-CN" altLang="en-US" dirty="0"/>
              <a:t>空闲空间分配算法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8200" y="2073970"/>
            <a:ext cx="773864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初始生成：</a:t>
            </a:r>
            <a:endParaRPr lang="en-US" altLang="zh-CN" sz="1600" dirty="0" smtClean="0"/>
          </a:p>
          <a:p>
            <a:r>
              <a:rPr lang="en-US" altLang="zh-CN" sz="1600" dirty="0" smtClean="0"/>
              <a:t>          </a:t>
            </a:r>
            <a:r>
              <a:rPr lang="zh-CN" altLang="en-US" sz="1600" dirty="0" smtClean="0"/>
              <a:t>第一次分配</a:t>
            </a:r>
            <a:r>
              <a:rPr lang="en-US" altLang="zh-CN" sz="1600" dirty="0" smtClean="0"/>
              <a:t>segment</a:t>
            </a:r>
            <a:r>
              <a:rPr lang="zh-CN" altLang="en-US" sz="1600" dirty="0" smtClean="0"/>
              <a:t>之后， 所有的</a:t>
            </a:r>
            <a:r>
              <a:rPr lang="en-US" altLang="zh-CN" sz="1600" dirty="0" smtClean="0"/>
              <a:t>extent</a:t>
            </a:r>
            <a:r>
              <a:rPr lang="zh-CN" altLang="en-US" sz="1600" dirty="0" smtClean="0"/>
              <a:t>的</a:t>
            </a:r>
            <a:r>
              <a:rPr lang="en-US" altLang="zh-CN" sz="1600" dirty="0" smtClean="0"/>
              <a:t>bitmap</a:t>
            </a:r>
            <a:r>
              <a:rPr lang="zh-CN" altLang="en-US" sz="1600" dirty="0" smtClean="0"/>
              <a:t>均为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：可分配；</a:t>
            </a:r>
            <a:r>
              <a:rPr lang="en-US" altLang="zh-CN" sz="1600" dirty="0" smtClean="0"/>
              <a:t>0</a:t>
            </a:r>
            <a:r>
              <a:rPr lang="zh-CN" altLang="en-US" sz="1600" dirty="0" smtClean="0"/>
              <a:t>：不可分配）</a:t>
            </a:r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 smtClean="0"/>
              <a:t>  </a:t>
            </a:r>
            <a:r>
              <a:rPr lang="zh-CN" altLang="en-US" sz="1600" dirty="0" smtClean="0"/>
              <a:t>淘汰策略：</a:t>
            </a:r>
            <a:endParaRPr lang="en-US" altLang="zh-CN" sz="1600" dirty="0" smtClean="0"/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        </a:t>
            </a:r>
            <a:r>
              <a:rPr lang="zh-CN" altLang="en-US" sz="1600" dirty="0" smtClean="0"/>
              <a:t>是否淘汰</a:t>
            </a:r>
            <a:r>
              <a:rPr lang="zh-CN" altLang="en-US" sz="1600" dirty="0" smtClean="0"/>
              <a:t>由两个参数共同决定：</a:t>
            </a:r>
            <a:r>
              <a:rPr lang="en-US" altLang="zh-CN" sz="1600" dirty="0" smtClean="0"/>
              <a:t>extent</a:t>
            </a:r>
            <a:r>
              <a:rPr lang="zh-CN" altLang="en-US" sz="1600" dirty="0" smtClean="0"/>
              <a:t>内的记录平均大小（</a:t>
            </a:r>
            <a:r>
              <a:rPr lang="en-US" altLang="zh-CN" sz="1600" dirty="0" smtClean="0"/>
              <a:t>average size</a:t>
            </a:r>
            <a:r>
              <a:rPr lang="zh-CN" altLang="en-US" sz="1600" dirty="0" smtClean="0"/>
              <a:t>）和 （允许失败次数）</a:t>
            </a:r>
            <a:r>
              <a:rPr lang="en-US" altLang="zh-CN" sz="1600" dirty="0" smtClean="0"/>
              <a:t>Threshold-count</a:t>
            </a:r>
            <a:r>
              <a:rPr lang="zh-CN" altLang="en-US" sz="1600" dirty="0" smtClean="0"/>
              <a:t>。（</a:t>
            </a:r>
            <a:r>
              <a:rPr lang="en-US" altLang="zh-CN" sz="1600" dirty="0" smtClean="0"/>
              <a:t>2k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）记录平均大小为</a:t>
            </a:r>
            <a:r>
              <a:rPr lang="en-US" altLang="zh-CN" sz="1600" dirty="0" smtClean="0"/>
              <a:t>2k</a:t>
            </a:r>
            <a:r>
              <a:rPr lang="zh-CN" altLang="en-US" sz="1600" dirty="0" smtClean="0"/>
              <a:t>时，允许失败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次，累计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次失败之后</a:t>
            </a:r>
            <a:r>
              <a:rPr lang="en-US" altLang="zh-CN" sz="1600" dirty="0" smtClean="0"/>
              <a:t>bitmap</a:t>
            </a:r>
            <a:r>
              <a:rPr lang="zh-CN" altLang="en-US" sz="1600" dirty="0" smtClean="0"/>
              <a:t>置为</a:t>
            </a:r>
            <a:r>
              <a:rPr lang="en-US" altLang="zh-CN" sz="1600" dirty="0" smtClean="0"/>
              <a:t>0</a:t>
            </a:r>
          </a:p>
          <a:p>
            <a:endParaRPr lang="en-US" altLang="zh-CN" sz="1600" dirty="0"/>
          </a:p>
          <a:p>
            <a:r>
              <a:rPr lang="en-US" altLang="zh-CN" sz="1600" dirty="0" smtClean="0"/>
              <a:t>   </a:t>
            </a:r>
            <a:r>
              <a:rPr lang="zh-CN" altLang="en-US" sz="1600" dirty="0" smtClean="0"/>
              <a:t>恢复策略：</a:t>
            </a:r>
            <a:r>
              <a:rPr lang="en-US" altLang="zh-CN" sz="1600" dirty="0"/>
              <a:t> </a:t>
            </a:r>
            <a:r>
              <a:rPr lang="zh-CN" altLang="en-US" sz="1600" dirty="0"/>
              <a:t>恢复策略触发条件由参数空闲空间阈值（</a:t>
            </a:r>
            <a:r>
              <a:rPr lang="en-US" altLang="zh-CN" sz="1600" dirty="0"/>
              <a:t>free space threshold</a:t>
            </a:r>
            <a:r>
              <a:rPr lang="zh-CN" altLang="en-US" sz="1600" dirty="0"/>
              <a:t>）决定。当总的剩余空间超过阈值时，触发后台重新计算。连续剩余空间超过平均值的，置为</a:t>
            </a:r>
            <a:r>
              <a:rPr lang="en-US" altLang="zh-CN" sz="1600" dirty="0"/>
              <a:t>1</a:t>
            </a:r>
            <a:endParaRPr lang="en-US" altLang="zh-CN" sz="1600" dirty="0" smtClean="0"/>
          </a:p>
          <a:p>
            <a:r>
              <a:rPr lang="en-US" altLang="zh-CN" sz="1600" dirty="0" smtClean="0"/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396808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Extent Header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839147"/>
              </p:ext>
            </p:extLst>
          </p:nvPr>
        </p:nvGraphicFramePr>
        <p:xfrm>
          <a:off x="838200" y="1781535"/>
          <a:ext cx="6338104" cy="4063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Extent Header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EYE_CATCHER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version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版本号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75084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status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0x00 normal</a:t>
                      </a:r>
                    </a:p>
                    <a:p>
                      <a:r>
                        <a:rPr lang="en-US" altLang="zh-CN" sz="1600" baseline="0" dirty="0" smtClean="0"/>
                        <a:t>0x01 deleted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0x00 data</a:t>
                      </a:r>
                    </a:p>
                    <a:p>
                      <a:r>
                        <a:rPr lang="en-US" altLang="zh-CN" sz="1600" baseline="0" dirty="0" smtClean="0"/>
                        <a:t>0x01 compressor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Page </a:t>
                      </a:r>
                      <a:r>
                        <a:rPr lang="en-US" altLang="zh-CN" sz="1600" dirty="0" err="1" smtClean="0"/>
                        <a:t>num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UINT16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包含的</a:t>
                      </a:r>
                      <a:r>
                        <a:rPr lang="en-US" altLang="zh-CN" sz="1600" baseline="0" dirty="0" smtClean="0"/>
                        <a:t>page</a:t>
                      </a:r>
                      <a:r>
                        <a:rPr lang="zh-CN" altLang="en-US" sz="1600" baseline="0" dirty="0" smtClean="0"/>
                        <a:t>数量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968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pad1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填充位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checksum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25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Extent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061630"/>
              </p:ext>
            </p:extLst>
          </p:nvPr>
        </p:nvGraphicFramePr>
        <p:xfrm>
          <a:off x="838200" y="1400535"/>
          <a:ext cx="6338104" cy="476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25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972274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77794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Data Extent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类型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长度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Extent Header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6859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record</a:t>
                      </a:r>
                      <a:r>
                        <a:rPr lang="en-US" altLang="zh-CN" sz="1600" baseline="0" dirty="0" smtClean="0"/>
                        <a:t> count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记录数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24993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224458"/>
                  </a:ext>
                </a:extLst>
              </a:tr>
              <a:tr h="872732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Free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总的剩余空间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Max free continuous</a:t>
                      </a:r>
                      <a:r>
                        <a:rPr lang="en-US" altLang="zh-CN" sz="1600" baseline="0" dirty="0" smtClean="0"/>
                        <a:t> space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最大连续的剩余空间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last slot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最后一个</a:t>
                      </a:r>
                      <a:r>
                        <a:rPr lang="en-US" altLang="zh-CN" sz="1600" baseline="0" dirty="0" smtClean="0"/>
                        <a:t>slot</a:t>
                      </a:r>
                      <a:r>
                        <a:rPr lang="zh-CN" altLang="en-US" sz="1600" baseline="0" dirty="0" smtClean="0"/>
                        <a:t>编号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0968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reserved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预留位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0449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slots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UINT32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 * N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记录</a:t>
                      </a:r>
                      <a:r>
                        <a:rPr lang="en-US" altLang="zh-CN" sz="1600" baseline="0" dirty="0" smtClean="0"/>
                        <a:t>Extent</a:t>
                      </a:r>
                      <a:r>
                        <a:rPr lang="zh-CN" altLang="en-US" sz="1600" baseline="0" dirty="0" smtClean="0"/>
                        <a:t>内偏移地址。有几条记录则记录几个</a:t>
                      </a:r>
                      <a:r>
                        <a:rPr lang="en-US" altLang="zh-CN" sz="1600" baseline="0" dirty="0" smtClean="0"/>
                        <a:t>slot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27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data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BYTES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aseline="0" dirty="0" smtClean="0"/>
                        <a:t>数据</a:t>
                      </a:r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5714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39406"/>
              </p:ext>
            </p:extLst>
          </p:nvPr>
        </p:nvGraphicFramePr>
        <p:xfrm>
          <a:off x="7592028" y="2700331"/>
          <a:ext cx="3761772" cy="1729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443">
                  <a:extLst>
                    <a:ext uri="{9D8B030D-6E8A-4147-A177-3AD203B41FA5}">
                      <a16:colId xmlns:a16="http://schemas.microsoft.com/office/drawing/2014/main" val="226489393"/>
                    </a:ext>
                  </a:extLst>
                </a:gridCol>
                <a:gridCol w="940443">
                  <a:extLst>
                    <a:ext uri="{9D8B030D-6E8A-4147-A177-3AD203B41FA5}">
                      <a16:colId xmlns:a16="http://schemas.microsoft.com/office/drawing/2014/main" val="3315947240"/>
                    </a:ext>
                  </a:extLst>
                </a:gridCol>
                <a:gridCol w="1880886">
                  <a:extLst>
                    <a:ext uri="{9D8B030D-6E8A-4147-A177-3AD203B41FA5}">
                      <a16:colId xmlns:a16="http://schemas.microsoft.com/office/drawing/2014/main" val="4175610667"/>
                    </a:ext>
                  </a:extLst>
                </a:gridCol>
              </a:tblGrid>
              <a:tr h="5764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offset2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0894"/>
                  </a:ext>
                </a:extLst>
              </a:tr>
              <a:tr h="576447">
                <a:tc gridSpan="3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524138"/>
                  </a:ext>
                </a:extLst>
              </a:tr>
              <a:tr h="576447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data1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42222"/>
                  </a:ext>
                </a:extLst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>
          <a:xfrm>
            <a:off x="8715736" y="3194611"/>
            <a:ext cx="0" cy="740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8090704" y="3067291"/>
            <a:ext cx="1551007" cy="868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CS </a:t>
            </a:r>
            <a:r>
              <a:rPr lang="en-US" altLang="zh-CN" dirty="0" smtClean="0"/>
              <a:t>Metadata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700120"/>
              </p:ext>
            </p:extLst>
          </p:nvPr>
        </p:nvGraphicFramePr>
        <p:xfrm>
          <a:off x="838200" y="1690688"/>
          <a:ext cx="5608900" cy="1026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5555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</a:rPr>
                        <a:t>Collection Metadata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2447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17777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4096 * xx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66634"/>
              </p:ext>
            </p:extLst>
          </p:nvPr>
        </p:nvGraphicFramePr>
        <p:xfrm>
          <a:off x="838200" y="2839848"/>
          <a:ext cx="9448800" cy="3740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58191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316854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503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350351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clName</a:t>
                      </a:r>
                      <a:endParaRPr lang="en-US" altLang="zh-C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表名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350351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UINT64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表唯一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1751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中的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1751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状态位（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dropped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online reorg etc.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967559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Records(8)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DataPages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IndexPages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DataFreeSpace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(8)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IndexFreeSpace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(8)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LobPages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(4)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compressorType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UINT8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压缩类型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9265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dictExtentID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字典所在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extentID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919122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indexExtent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UINT32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 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索引定义所在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extent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846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6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52382"/>
              </p:ext>
            </p:extLst>
          </p:nvPr>
        </p:nvGraphicFramePr>
        <p:xfrm>
          <a:off x="838200" y="3887789"/>
          <a:ext cx="9448800" cy="240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33">
                  <a:extLst>
                    <a:ext uri="{9D8B030D-6E8A-4147-A177-3AD203B41FA5}">
                      <a16:colId xmlns:a16="http://schemas.microsoft.com/office/drawing/2014/main" val="85529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76076127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274818149"/>
                    </a:ext>
                  </a:extLst>
                </a:gridCol>
                <a:gridCol w="5819171">
                  <a:extLst>
                    <a:ext uri="{9D8B030D-6E8A-4147-A177-3AD203B41FA5}">
                      <a16:colId xmlns:a16="http://schemas.microsoft.com/office/drawing/2014/main" val="3187750737"/>
                    </a:ext>
                  </a:extLst>
                </a:gridCol>
              </a:tblGrid>
              <a:tr h="281413">
                <a:tc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Collection slots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sz="1600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118234"/>
                  </a:ext>
                </a:extLst>
              </a:tr>
              <a:tr h="3726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类型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长度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34185"/>
                  </a:ext>
                </a:extLst>
              </a:tr>
              <a:tr h="37266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clName</a:t>
                      </a:r>
                      <a:endParaRPr lang="en-US" altLang="zh-CN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CHAR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128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表名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75168"/>
                  </a:ext>
                </a:extLst>
              </a:tr>
              <a:tr h="372660">
                <a:tc>
                  <a:txBody>
                    <a:bodyPr/>
                    <a:lstStyle/>
                    <a:p>
                      <a:r>
                        <a:rPr lang="en-US" altLang="zh-CN" sz="1600" dirty="0" err="1" smtClean="0"/>
                        <a:t>clid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UINT64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表唯一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96127"/>
                  </a:ext>
                </a:extLst>
              </a:tr>
              <a:tr h="3726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UINT16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Slot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中的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idx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14417"/>
                  </a:ext>
                </a:extLst>
              </a:tr>
              <a:tr h="3726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endParaRPr lang="en-US" altLang="zh-CN" sz="16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Records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DataPages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IndexPages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DataFreeSpace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IndexFreeSpace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LobPages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20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7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409372"/>
            <a:ext cx="109953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baseline="0" dirty="0" smtClean="0">
                <a:solidFill>
                  <a:srgbClr val="FF0000"/>
                </a:solidFill>
              </a:rPr>
              <a:t>1</a:t>
            </a:r>
            <a:r>
              <a:rPr lang="zh-CN" altLang="en-US" b="1" baseline="0" dirty="0" smtClean="0">
                <a:solidFill>
                  <a:srgbClr val="FF0000"/>
                </a:solidFill>
              </a:rPr>
              <a:t>、</a:t>
            </a:r>
            <a:r>
              <a:rPr lang="en-US" altLang="zh-CN" b="1" baseline="0" dirty="0" smtClean="0">
                <a:solidFill>
                  <a:srgbClr val="FF0000"/>
                </a:solidFill>
              </a:rPr>
              <a:t>Segment </a:t>
            </a:r>
            <a:r>
              <a:rPr lang="zh-CN" altLang="en-US" b="1" baseline="0" dirty="0" smtClean="0">
                <a:solidFill>
                  <a:srgbClr val="FF0000"/>
                </a:solidFill>
              </a:rPr>
              <a:t>可以放不同</a:t>
            </a:r>
            <a:r>
              <a:rPr lang="en-US" altLang="zh-CN" b="1" baseline="0" dirty="0" smtClean="0">
                <a:solidFill>
                  <a:srgbClr val="FF0000"/>
                </a:solidFill>
              </a:rPr>
              <a:t>cl </a:t>
            </a:r>
            <a:r>
              <a:rPr lang="zh-CN" altLang="en-US" b="1" baseline="0" dirty="0" smtClean="0">
                <a:solidFill>
                  <a:srgbClr val="FF0000"/>
                </a:solidFill>
              </a:rPr>
              <a:t>？</a:t>
            </a:r>
            <a:endParaRPr lang="zh-CN" altLang="en-US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zh-CN" altLang="en-US" b="1" dirty="0" smtClean="0">
                <a:solidFill>
                  <a:srgbClr val="FF0000"/>
                </a:solidFill>
              </a:rPr>
              <a:t>、数据文件多节点之间完全一致，是否还有问题（压缩算法）？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</a:rPr>
              <a:t>、细化</a:t>
            </a:r>
            <a:r>
              <a:rPr lang="en-US" altLang="zh-CN" b="1" dirty="0" smtClean="0">
                <a:solidFill>
                  <a:srgbClr val="FF0000"/>
                </a:solidFill>
              </a:rPr>
              <a:t>page</a:t>
            </a:r>
            <a:r>
              <a:rPr lang="zh-CN" altLang="en-US" b="1" dirty="0" smtClean="0">
                <a:solidFill>
                  <a:srgbClr val="FF0000"/>
                </a:solidFill>
              </a:rPr>
              <a:t>分配算法 </a:t>
            </a:r>
            <a:r>
              <a:rPr lang="en-US" altLang="zh-CN" b="1" dirty="0" smtClean="0">
                <a:solidFill>
                  <a:srgbClr val="FF0000"/>
                </a:solidFill>
              </a:rPr>
              <a:t>bitmap</a:t>
            </a:r>
            <a:r>
              <a:rPr lang="zh-CN" altLang="en-US" b="1" dirty="0" smtClean="0">
                <a:solidFill>
                  <a:srgbClr val="FF0000"/>
                </a:solidFill>
              </a:rPr>
              <a:t>（有效，无效，锁流程）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checkpoint</a:t>
            </a:r>
            <a:r>
              <a:rPr lang="zh-CN" altLang="en-US" b="1" dirty="0" smtClean="0">
                <a:solidFill>
                  <a:srgbClr val="FF0000"/>
                </a:solidFill>
              </a:rPr>
              <a:t>、页本身的校验。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mvcc</a:t>
            </a: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LSM tree</a:t>
            </a:r>
            <a:r>
              <a:rPr lang="zh-CN" altLang="en-US" b="1" dirty="0" smtClean="0">
                <a:solidFill>
                  <a:srgbClr val="FF0000"/>
                </a:solidFill>
              </a:rPr>
              <a:t>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v1</a:t>
            </a:r>
            <a:r>
              <a:rPr lang="zh-CN" altLang="en-US" b="1" dirty="0" smtClean="0">
                <a:solidFill>
                  <a:srgbClr val="FF0000"/>
                </a:solidFill>
              </a:rPr>
              <a:t>，</a:t>
            </a:r>
            <a:r>
              <a:rPr lang="en-US" altLang="zh-CN" b="1" dirty="0" smtClean="0">
                <a:solidFill>
                  <a:srgbClr val="FF0000"/>
                </a:solidFill>
              </a:rPr>
              <a:t>v2</a:t>
            </a:r>
            <a:r>
              <a:rPr lang="zh-CN" altLang="en-US" b="1" dirty="0" smtClean="0">
                <a:solidFill>
                  <a:srgbClr val="FF0000"/>
                </a:solidFill>
              </a:rPr>
              <a:t>引擎共存时，如何保证数据正确及正常切换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dps</a:t>
            </a:r>
            <a:r>
              <a:rPr lang="zh-CN" altLang="en-US" b="1" dirty="0" smtClean="0">
                <a:solidFill>
                  <a:srgbClr val="FF0000"/>
                </a:solidFill>
              </a:rPr>
              <a:t>日志如何写？（文件中的元数据，压缩字典，数据，创表等操作）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8</a:t>
            </a:r>
            <a:r>
              <a:rPr lang="zh-CN" altLang="en-US" b="1" dirty="0" smtClean="0">
                <a:solidFill>
                  <a:srgbClr val="FF0000"/>
                </a:solidFill>
              </a:rPr>
              <a:t>、数据块恢复， 当本地数据块损坏时，如何获取对端的数据块，同时要保证</a:t>
            </a:r>
            <a:r>
              <a:rPr lang="en-US" altLang="zh-CN" b="1" dirty="0" smtClean="0">
                <a:solidFill>
                  <a:srgbClr val="FF0000"/>
                </a:solidFill>
              </a:rPr>
              <a:t>LSN</a:t>
            </a:r>
            <a:r>
              <a:rPr lang="zh-CN" altLang="en-US" b="1" dirty="0" smtClean="0">
                <a:solidFill>
                  <a:srgbClr val="FF0000"/>
                </a:solidFill>
              </a:rPr>
              <a:t>的一致性。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     </a:t>
            </a:r>
            <a:r>
              <a:rPr lang="zh-CN" altLang="en-US" b="1" dirty="0" smtClean="0">
                <a:solidFill>
                  <a:srgbClr val="FF0000"/>
                </a:solidFill>
              </a:rPr>
              <a:t>如本地事务才到</a:t>
            </a:r>
            <a:r>
              <a:rPr lang="en-US" altLang="zh-CN" b="1" dirty="0" smtClean="0">
                <a:solidFill>
                  <a:srgbClr val="FF0000"/>
                </a:solidFill>
              </a:rPr>
              <a:t>100</a:t>
            </a:r>
            <a:r>
              <a:rPr lang="zh-CN" altLang="en-US" b="1" dirty="0" smtClean="0">
                <a:solidFill>
                  <a:srgbClr val="FF0000"/>
                </a:solidFill>
              </a:rPr>
              <a:t>，而对端发过来的数据块已经到</a:t>
            </a:r>
            <a:r>
              <a:rPr lang="en-US" altLang="zh-CN" b="1" dirty="0" smtClean="0">
                <a:solidFill>
                  <a:srgbClr val="FF0000"/>
                </a:solidFill>
              </a:rPr>
              <a:t>200</a:t>
            </a:r>
            <a:r>
              <a:rPr lang="zh-CN" altLang="en-US" b="1" dirty="0" smtClean="0">
                <a:solidFill>
                  <a:srgbClr val="FF0000"/>
                </a:solidFill>
              </a:rPr>
              <a:t>了，此时备节点是没有</a:t>
            </a:r>
            <a:r>
              <a:rPr lang="en-US" altLang="zh-CN" b="1" dirty="0" smtClean="0">
                <a:solidFill>
                  <a:srgbClr val="FF0000"/>
                </a:solidFill>
              </a:rPr>
              <a:t>100-200</a:t>
            </a:r>
            <a:r>
              <a:rPr lang="zh-CN" altLang="en-US" b="1" dirty="0" smtClean="0">
                <a:solidFill>
                  <a:srgbClr val="FF0000"/>
                </a:solidFill>
              </a:rPr>
              <a:t>之间的事务的。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文件、</a:t>
            </a:r>
            <a:r>
              <a:rPr lang="en-US" altLang="zh-CN" b="1" dirty="0" smtClean="0">
                <a:solidFill>
                  <a:srgbClr val="FF0000"/>
                </a:solidFill>
              </a:rPr>
              <a:t>checkpoint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err="1" smtClean="0">
                <a:solidFill>
                  <a:srgbClr val="FF0000"/>
                </a:solidFill>
              </a:rPr>
              <a:t>wal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01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86455" y="2412124"/>
            <a:ext cx="34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[]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00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29424</TotalTime>
  <Words>1237</Words>
  <Application>Microsoft Office PowerPoint</Application>
  <PresentationFormat>宽屏</PresentationFormat>
  <Paragraphs>362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数据文件设计</vt:lpstr>
      <vt:lpstr>问题</vt:lpstr>
      <vt:lpstr>文件目录方案</vt:lpstr>
      <vt:lpstr>数据文件总体结构</vt:lpstr>
      <vt:lpstr>File Header</vt:lpstr>
      <vt:lpstr>Space Management Extent</vt:lpstr>
      <vt:lpstr>Data Segment Metadata</vt:lpstr>
      <vt:lpstr>Extent空闲空间分配算法</vt:lpstr>
      <vt:lpstr>Extent Header</vt:lpstr>
      <vt:lpstr>Data Extent</vt:lpstr>
      <vt:lpstr>CS Metadata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数据文件设计</dc:title>
  <dc:creator>linyoubin</dc:creator>
  <cp:lastModifiedBy>linyoubin</cp:lastModifiedBy>
  <cp:revision>500</cp:revision>
  <dcterms:created xsi:type="dcterms:W3CDTF">2018-11-26T02:24:39Z</dcterms:created>
  <dcterms:modified xsi:type="dcterms:W3CDTF">2018-12-20T05:56:47Z</dcterms:modified>
</cp:coreProperties>
</file>