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67" r:id="rId4"/>
    <p:sldId id="257" r:id="rId5"/>
    <p:sldId id="263" r:id="rId6"/>
    <p:sldId id="266" r:id="rId7"/>
    <p:sldId id="261" r:id="rId8"/>
    <p:sldId id="268" r:id="rId9"/>
    <p:sldId id="265" r:id="rId10"/>
    <p:sldId id="260" r:id="rId11"/>
    <p:sldId id="25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nyoubin" initials="l" lastIdx="1" clrIdx="0">
    <p:extLst>
      <p:ext uri="{19B8F6BF-5375-455C-9EA6-DF929625EA0E}">
        <p15:presenceInfo xmlns:p15="http://schemas.microsoft.com/office/powerpoint/2012/main" userId="linyoub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560" autoAdjust="0"/>
  </p:normalViewPr>
  <p:slideViewPr>
    <p:cSldViewPr snapToGrid="0">
      <p:cViewPr>
        <p:scale>
          <a:sx n="66" d="100"/>
          <a:sy n="66" d="100"/>
        </p:scale>
        <p:origin x="74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CF9C5-560D-4BE0-8FF5-372197204B47}" type="datetimeFigureOut">
              <a:rPr lang="zh-CN" altLang="en-US" smtClean="0"/>
              <a:t>2018/12/5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27AFA-EB4C-4686-97EC-5D83EA90DB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282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78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r>
              <a:rPr lang="en-US" altLang="zh-CN" dirty="0" smtClean="0"/>
              <a:t>8T /</a:t>
            </a:r>
            <a:r>
              <a:rPr lang="en-US" altLang="zh-CN" baseline="0" dirty="0" smtClean="0"/>
              <a:t> 32M = 256K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174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Segment :</a:t>
            </a:r>
          </a:p>
          <a:p>
            <a:r>
              <a:rPr lang="en-US" altLang="zh-CN" dirty="0" smtClean="0"/>
              <a:t>    free</a:t>
            </a:r>
            <a:r>
              <a:rPr lang="en-US" altLang="zh-CN" baseline="0" dirty="0" smtClean="0"/>
              <a:t> space threshold: 1k   bitmap</a:t>
            </a:r>
            <a:r>
              <a:rPr lang="zh-CN" altLang="en-US" baseline="0" dirty="0" smtClean="0"/>
              <a:t>全为</a:t>
            </a:r>
            <a:r>
              <a:rPr lang="en-US" altLang="zh-CN" baseline="0" dirty="0" smtClean="0"/>
              <a:t>0</a:t>
            </a:r>
            <a:r>
              <a:rPr lang="zh-CN" altLang="en-US" baseline="0" dirty="0" smtClean="0"/>
              <a:t>时，超过当前总剩余空间，触发后台重新计算。</a:t>
            </a:r>
            <a:endParaRPr lang="en-US" altLang="zh-CN" baseline="0" dirty="0" smtClean="0"/>
          </a:p>
          <a:p>
            <a:r>
              <a:rPr lang="en-US" altLang="zh-CN" baseline="0" dirty="0" smtClean="0"/>
              <a:t>    </a:t>
            </a:r>
            <a:r>
              <a:rPr lang="zh-CN" altLang="en-US" baseline="0" dirty="0" smtClean="0"/>
              <a:t>连续空闲空间超过平均值的，置</a:t>
            </a:r>
            <a:r>
              <a:rPr lang="en-US" altLang="zh-CN" baseline="0" dirty="0" smtClean="0"/>
              <a:t>1.</a:t>
            </a:r>
          </a:p>
          <a:p>
            <a:r>
              <a:rPr lang="en-US" altLang="zh-CN" baseline="0" dirty="0" smtClean="0"/>
              <a:t>    </a:t>
            </a:r>
            <a:endParaRPr lang="en-US" altLang="zh-CN" dirty="0" smtClean="0"/>
          </a:p>
          <a:p>
            <a:r>
              <a:rPr lang="en-US" altLang="zh-CN" dirty="0" smtClean="0"/>
              <a:t>Average-size:  </a:t>
            </a:r>
            <a:r>
              <a:rPr lang="zh-CN" altLang="en-US" dirty="0" smtClean="0"/>
              <a:t>计算记录的平均大小</a:t>
            </a:r>
            <a:endParaRPr lang="en-US" altLang="zh-CN" dirty="0" smtClean="0"/>
          </a:p>
          <a:p>
            <a:r>
              <a:rPr lang="en-US" altLang="zh-CN" dirty="0" smtClean="0"/>
              <a:t>Threshold-count: (size: </a:t>
            </a:r>
            <a:r>
              <a:rPr lang="zh-CN" altLang="en-US" dirty="0" smtClean="0"/>
              <a:t>允许错误的</a:t>
            </a:r>
            <a:r>
              <a:rPr lang="en-US" altLang="zh-CN" dirty="0" smtClean="0"/>
              <a:t>count)[2k, 3]</a:t>
            </a:r>
            <a:r>
              <a:rPr lang="en-US" altLang="zh-CN" baseline="0" dirty="0" smtClean="0"/>
              <a:t> , [1k, 2]</a:t>
            </a:r>
          </a:p>
          <a:p>
            <a:endParaRPr lang="en-US" altLang="zh-CN" baseline="0" dirty="0" smtClean="0"/>
          </a:p>
          <a:p>
            <a:endParaRPr lang="en-US" altLang="zh-CN" baseline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499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861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7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357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685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11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19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071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111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90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429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381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DBE0D-D193-4915-9F9C-E6864CED25A9}" type="datetimeFigureOut">
              <a:rPr lang="zh-CN" altLang="en-US" smtClean="0"/>
              <a:t>2018/11/26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44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chemeClr val="accent2">
                    <a:lumMod val="75000"/>
                  </a:schemeClr>
                </a:solidFill>
              </a:rPr>
              <a:t>数据文件设计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4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8200" y="1995055"/>
            <a:ext cx="1006718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性能：</a:t>
            </a:r>
            <a:endParaRPr lang="en-US" altLang="zh-CN" sz="2400" dirty="0" smtClean="0"/>
          </a:p>
          <a:p>
            <a:r>
              <a:rPr lang="en-US" altLang="zh-CN" sz="2400" dirty="0" smtClean="0"/>
              <a:t>1</a:t>
            </a:r>
            <a:r>
              <a:rPr lang="zh-CN" altLang="en-US" sz="2400" dirty="0" smtClean="0"/>
              <a:t>、细粒度化锁，尽量避免 </a:t>
            </a:r>
            <a:r>
              <a:rPr lang="en-US" altLang="zh-CN" sz="2400" dirty="0" err="1" smtClean="0"/>
              <a:t>mblock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的表级别锁</a:t>
            </a:r>
            <a:endParaRPr lang="en-US" altLang="zh-CN" sz="2400" dirty="0" smtClean="0"/>
          </a:p>
          <a:p>
            <a:r>
              <a:rPr lang="en-US" altLang="zh-CN" sz="2400" dirty="0" smtClean="0"/>
              <a:t>2</a:t>
            </a:r>
            <a:r>
              <a:rPr lang="zh-CN" altLang="en-US" sz="2400" dirty="0" smtClean="0"/>
              <a:t>、去除链表关系，当前</a:t>
            </a:r>
            <a:r>
              <a:rPr lang="zh-CN" altLang="en-US" sz="2400" dirty="0"/>
              <a:t>方案</a:t>
            </a:r>
            <a:r>
              <a:rPr lang="zh-CN" altLang="en-US" sz="2400" dirty="0" smtClean="0"/>
              <a:t>中，</a:t>
            </a:r>
            <a:r>
              <a:rPr lang="en-US" altLang="zh-CN" sz="2400" dirty="0" smtClean="0"/>
              <a:t>cl </a:t>
            </a:r>
            <a:r>
              <a:rPr lang="zh-CN" altLang="en-US" sz="2400" dirty="0" smtClean="0"/>
              <a:t>间 </a:t>
            </a:r>
            <a:r>
              <a:rPr lang="en-US" altLang="zh-CN" sz="2400" dirty="0" smtClean="0"/>
              <a:t>extent </a:t>
            </a:r>
            <a:r>
              <a:rPr lang="zh-CN" altLang="en-US" sz="2400" dirty="0" smtClean="0"/>
              <a:t>链表，以及 </a:t>
            </a:r>
            <a:r>
              <a:rPr lang="en-US" altLang="zh-CN" sz="2400" dirty="0" err="1" smtClean="0"/>
              <a:t>freelist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链表</a:t>
            </a:r>
            <a:endParaRPr lang="en-US" altLang="zh-CN" sz="2400" dirty="0" smtClean="0"/>
          </a:p>
          <a:p>
            <a:r>
              <a:rPr lang="en-US" altLang="zh-CN" sz="2400" b="1" dirty="0" smtClean="0">
                <a:solidFill>
                  <a:srgbClr val="FF0000"/>
                </a:solidFill>
              </a:rPr>
              <a:t>3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、节点间的数据文件（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data, capped, lob</a:t>
            </a:r>
            <a:r>
              <a:rPr lang="en-US" altLang="zh-CN" sz="2400" b="1" dirty="0">
                <a:solidFill>
                  <a:srgbClr val="FF0000"/>
                </a:solidFill>
              </a:rPr>
              <a:t>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不包括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index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）保持完全一致。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  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（快速同步数据）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r>
              <a:rPr lang="en-US" altLang="zh-CN" sz="2400" dirty="0" smtClean="0"/>
              <a:t>4</a:t>
            </a:r>
            <a:r>
              <a:rPr lang="zh-CN" altLang="en-US" sz="2400" dirty="0" smtClean="0"/>
              <a:t>、</a:t>
            </a:r>
            <a:r>
              <a:rPr lang="en-US" altLang="zh-CN" sz="2400" dirty="0" err="1" smtClean="0"/>
              <a:t>bufferpool</a:t>
            </a:r>
            <a:endParaRPr lang="en-US" altLang="zh-CN" sz="2400" dirty="0" smtClean="0"/>
          </a:p>
          <a:p>
            <a:endParaRPr lang="en-US" altLang="zh-CN" sz="2400" dirty="0"/>
          </a:p>
          <a:p>
            <a:r>
              <a:rPr lang="zh-CN" altLang="en-US" sz="2400" dirty="0" smtClean="0"/>
              <a:t>功能：</a:t>
            </a:r>
            <a:endParaRPr lang="en-US" altLang="zh-CN" sz="2400" dirty="0" smtClean="0"/>
          </a:p>
          <a:p>
            <a:r>
              <a:rPr lang="en-US" altLang="zh-CN" sz="2400" dirty="0"/>
              <a:t>1</a:t>
            </a:r>
            <a:r>
              <a:rPr lang="zh-CN" altLang="en-US" sz="2400" dirty="0" smtClean="0"/>
              <a:t>、</a:t>
            </a:r>
            <a:r>
              <a:rPr lang="en-US" altLang="zh-CN" sz="2400" dirty="0" err="1" smtClean="0"/>
              <a:t>mvcc</a:t>
            </a:r>
            <a:r>
              <a:rPr lang="zh-CN" altLang="en-US" sz="2400" dirty="0" smtClean="0"/>
              <a:t>支持</a:t>
            </a:r>
            <a:endParaRPr lang="en-US" altLang="zh-CN" sz="2400" dirty="0" smtClean="0"/>
          </a:p>
          <a:p>
            <a:r>
              <a:rPr lang="en-US" altLang="zh-CN" sz="2400" dirty="0" smtClean="0"/>
              <a:t>2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checkpoint</a:t>
            </a:r>
            <a:r>
              <a:rPr lang="zh-CN" altLang="en-US" sz="2400" dirty="0" smtClean="0"/>
              <a:t>支持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7784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2546430"/>
            <a:ext cx="290335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|-- </a:t>
            </a:r>
            <a:r>
              <a:rPr lang="en-US" altLang="zh-CN" dirty="0" err="1" smtClean="0"/>
              <a:t>dbpath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|-- </a:t>
            </a:r>
            <a:r>
              <a:rPr lang="en-US" altLang="zh-CN" dirty="0" err="1" smtClean="0"/>
              <a:t>csID</a:t>
            </a:r>
            <a:endParaRPr lang="en-US" altLang="zh-CN" dirty="0" smtClean="0"/>
          </a:p>
          <a:p>
            <a:r>
              <a:rPr lang="en-US" altLang="zh-CN" dirty="0" smtClean="0"/>
              <a:t>            |-- clid.level1.1.data</a:t>
            </a:r>
          </a:p>
          <a:p>
            <a:r>
              <a:rPr lang="en-US" altLang="zh-CN" dirty="0" smtClean="0"/>
              <a:t>            </a:t>
            </a:r>
            <a:r>
              <a:rPr lang="en-US" altLang="zh-CN" dirty="0" smtClean="0"/>
              <a:t>|-- </a:t>
            </a:r>
            <a:r>
              <a:rPr lang="en-US" altLang="zh-CN" dirty="0" smtClean="0"/>
              <a:t>clid.level2.1.data</a:t>
            </a:r>
          </a:p>
          <a:p>
            <a:r>
              <a:rPr lang="en-US" altLang="zh-CN" dirty="0" smtClean="0"/>
              <a:t>            </a:t>
            </a:r>
            <a:r>
              <a:rPr lang="en-US" altLang="zh-CN" dirty="0" smtClean="0"/>
              <a:t>|-- </a:t>
            </a:r>
            <a:r>
              <a:rPr lang="en-US" altLang="zh-CN" dirty="0" smtClean="0"/>
              <a:t>clid.level3.1.data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</a:t>
            </a:r>
            <a:r>
              <a:rPr lang="en-US" altLang="zh-CN" dirty="0" smtClean="0"/>
              <a:t>|-- </a:t>
            </a:r>
            <a:r>
              <a:rPr lang="en-US" altLang="zh-CN" dirty="0" smtClean="0"/>
              <a:t>clid.level4.1.data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058262"/>
              </p:ext>
            </p:extLst>
          </p:nvPr>
        </p:nvGraphicFramePr>
        <p:xfrm>
          <a:off x="4451110" y="2817396"/>
          <a:ext cx="5896657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267">
                  <a:extLst>
                    <a:ext uri="{9D8B030D-6E8A-4147-A177-3AD203B41FA5}">
                      <a16:colId xmlns:a16="http://schemas.microsoft.com/office/drawing/2014/main" val="2898179608"/>
                    </a:ext>
                  </a:extLst>
                </a:gridCol>
                <a:gridCol w="2025570">
                  <a:extLst>
                    <a:ext uri="{9D8B030D-6E8A-4147-A177-3AD203B41FA5}">
                      <a16:colId xmlns:a16="http://schemas.microsoft.com/office/drawing/2014/main" val="3661553508"/>
                    </a:ext>
                  </a:extLst>
                </a:gridCol>
                <a:gridCol w="2916820">
                  <a:extLst>
                    <a:ext uri="{9D8B030D-6E8A-4147-A177-3AD203B41FA5}">
                      <a16:colId xmlns:a16="http://schemas.microsoft.com/office/drawing/2014/main" val="1469042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等级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数据大小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page</a:t>
                      </a:r>
                      <a:r>
                        <a:rPr lang="zh-CN" altLang="en-US" dirty="0" smtClean="0"/>
                        <a:t>大小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706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level1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(0,4k)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64k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273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level2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[4k,16k)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512k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44140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level3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[16K,1M)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70983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level4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[1M,16M)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16M(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放不下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16M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的数据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757991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38200" y="5017602"/>
            <a:ext cx="44630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</a:t>
            </a:r>
            <a:r>
              <a:rPr lang="en-US" altLang="zh-CN" dirty="0" err="1" smtClean="0"/>
              <a:t>s</a:t>
            </a:r>
            <a:r>
              <a:rPr lang="zh-CN" altLang="en-US" dirty="0" smtClean="0"/>
              <a:t>属性和</a:t>
            </a:r>
            <a:r>
              <a:rPr lang="en-US" altLang="zh-CN" dirty="0" smtClean="0"/>
              <a:t>cl</a:t>
            </a:r>
            <a:r>
              <a:rPr lang="zh-CN" altLang="en-US" dirty="0" smtClean="0"/>
              <a:t>属性等还需要另外的文件来保存</a:t>
            </a:r>
            <a:endParaRPr lang="en-US" altLang="zh-CN" dirty="0" smtClean="0"/>
          </a:p>
          <a:p>
            <a:r>
              <a:rPr lang="zh-CN" altLang="en-US" dirty="0" smtClean="0"/>
              <a:t>压缩字典存储位置等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没有必要对一个</a:t>
            </a:r>
            <a:r>
              <a:rPr lang="en-US" altLang="zh-CN" b="1" dirty="0" smtClean="0">
                <a:solidFill>
                  <a:srgbClr val="FF0000"/>
                </a:solidFill>
              </a:rPr>
              <a:t>cl</a:t>
            </a:r>
            <a:r>
              <a:rPr lang="zh-CN" altLang="en-US" b="1" dirty="0" smtClean="0">
                <a:solidFill>
                  <a:srgbClr val="FF0000"/>
                </a:solidFill>
              </a:rPr>
              <a:t>拆分多个等级的文件，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从业务角度上看，没有人这样使用表，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同一张表的不同数据的长度差距不会太大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39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数据文件总体结构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495860"/>
              </p:ext>
            </p:extLst>
          </p:nvPr>
        </p:nvGraphicFramePr>
        <p:xfrm>
          <a:off x="838200" y="2304872"/>
          <a:ext cx="4479402" cy="2247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567">
                  <a:extLst>
                    <a:ext uri="{9D8B030D-6E8A-4147-A177-3AD203B41FA5}">
                      <a16:colId xmlns:a16="http://schemas.microsoft.com/office/drawing/2014/main" val="3954433220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3984323689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1253501711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3873437384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1048809832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2210134178"/>
                    </a:ext>
                  </a:extLst>
                </a:gridCol>
              </a:tblGrid>
              <a:tr h="36428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File  Header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371293"/>
                  </a:ext>
                </a:extLst>
              </a:tr>
              <a:tr h="333924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Space Management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702555"/>
                  </a:ext>
                </a:extLst>
              </a:tr>
              <a:tr h="576778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page1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page2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19522"/>
                  </a:ext>
                </a:extLst>
              </a:tr>
              <a:tr h="485806"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292344"/>
                  </a:ext>
                </a:extLst>
              </a:tr>
              <a:tr h="485806"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405608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001249"/>
              </p:ext>
            </p:extLst>
          </p:nvPr>
        </p:nvGraphicFramePr>
        <p:xfrm>
          <a:off x="6096000" y="2304872"/>
          <a:ext cx="4479402" cy="2502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9402">
                  <a:extLst>
                    <a:ext uri="{9D8B030D-6E8A-4147-A177-3AD203B41FA5}">
                      <a16:colId xmlns:a16="http://schemas.microsoft.com/office/drawing/2014/main" val="3954433220"/>
                    </a:ext>
                  </a:extLst>
                </a:gridCol>
              </a:tblGrid>
              <a:tr h="3642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File  Header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7371293"/>
                  </a:ext>
                </a:extLst>
              </a:tr>
              <a:tr h="3339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Space Management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02555"/>
                  </a:ext>
                </a:extLst>
              </a:tr>
              <a:tr h="4925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segment1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19522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segment2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292344"/>
                  </a:ext>
                </a:extLst>
              </a:tr>
              <a:tr h="4007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00955"/>
                  </a:ext>
                </a:extLst>
              </a:tr>
              <a:tr h="4858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405608"/>
                  </a:ext>
                </a:extLst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7132487" y="5521124"/>
            <a:ext cx="2406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Segment size</a:t>
            </a:r>
            <a:r>
              <a:rPr lang="zh-CN" altLang="en-US" dirty="0" smtClean="0"/>
              <a:t>固定</a:t>
            </a:r>
            <a:r>
              <a:rPr lang="en-US" altLang="zh-CN" dirty="0" smtClean="0"/>
              <a:t>32M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896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13204"/>
          </a:xfrm>
        </p:spPr>
        <p:txBody>
          <a:bodyPr/>
          <a:lstStyle/>
          <a:p>
            <a:r>
              <a:rPr lang="en-US" altLang="zh-CN" dirty="0" smtClean="0"/>
              <a:t>File Header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293249"/>
              </p:ext>
            </p:extLst>
          </p:nvPr>
        </p:nvGraphicFramePr>
        <p:xfrm>
          <a:off x="838200" y="1766682"/>
          <a:ext cx="6342924" cy="49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584">
                  <a:extLst>
                    <a:ext uri="{9D8B030D-6E8A-4147-A177-3AD203B41FA5}">
                      <a16:colId xmlns:a16="http://schemas.microsoft.com/office/drawing/2014/main" val="3553256097"/>
                    </a:ext>
                  </a:extLst>
                </a:gridCol>
                <a:gridCol w="1369173">
                  <a:extLst>
                    <a:ext uri="{9D8B030D-6E8A-4147-A177-3AD203B41FA5}">
                      <a16:colId xmlns:a16="http://schemas.microsoft.com/office/drawing/2014/main" val="4246112648"/>
                    </a:ext>
                  </a:extLst>
                </a:gridCol>
                <a:gridCol w="1228410">
                  <a:extLst>
                    <a:ext uri="{9D8B030D-6E8A-4147-A177-3AD203B41FA5}">
                      <a16:colId xmlns:a16="http://schemas.microsoft.com/office/drawing/2014/main" val="697613201"/>
                    </a:ext>
                  </a:extLst>
                </a:gridCol>
                <a:gridCol w="2319757">
                  <a:extLst>
                    <a:ext uri="{9D8B030D-6E8A-4147-A177-3AD203B41FA5}">
                      <a16:colId xmlns:a16="http://schemas.microsoft.com/office/drawing/2014/main" val="2551292058"/>
                    </a:ext>
                  </a:extLst>
                </a:gridCol>
              </a:tblGrid>
              <a:tr h="292193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File </a:t>
                      </a: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 Header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102329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名称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类型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长度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描述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564046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EYE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 CATCHER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识别串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978886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version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UINT8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版本号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019821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err="1" smtClean="0">
                          <a:solidFill>
                            <a:schemeClr val="tx1"/>
                          </a:solidFill>
                        </a:rPr>
                        <a:t>cs</a:t>
                      </a:r>
                      <a:r>
                        <a:rPr lang="en-US" altLang="zh-CN" sz="1600" baseline="0" dirty="0" err="1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CHAR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 smtClean="0">
                          <a:solidFill>
                            <a:schemeClr val="tx1"/>
                          </a:solidFill>
                        </a:rPr>
                        <a:t>cs</a:t>
                      </a: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名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612431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err="1" smtClean="0">
                          <a:solidFill>
                            <a:schemeClr val="tx1"/>
                          </a:solidFill>
                        </a:rPr>
                        <a:t>csID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UINT32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号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284969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err="1" smtClean="0">
                          <a:solidFill>
                            <a:schemeClr val="tx1"/>
                          </a:solidFill>
                        </a:rPr>
                        <a:t>clName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en-US" altLang="zh-CN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cl</a:t>
                      </a: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名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105787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err="1" smtClean="0">
                          <a:solidFill>
                            <a:schemeClr val="tx1"/>
                          </a:solidFill>
                        </a:rPr>
                        <a:t>clID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UINT32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cl</a:t>
                      </a: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唯一</a:t>
                      </a: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601585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Sequence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UINT16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文件序列号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802394"/>
                  </a:ext>
                </a:extLst>
              </a:tr>
              <a:tr h="1142207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UINT16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文件类型：</a:t>
                      </a:r>
                      <a:endParaRPr lang="en-US" altLang="zh-CN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 data</a:t>
                      </a:r>
                    </a:p>
                    <a:p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2. index</a:t>
                      </a:r>
                    </a:p>
                    <a:p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3. lob</a:t>
                      </a:r>
                    </a:p>
                    <a:p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4. dictionary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853178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Create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 time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UINT64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>
                          <a:solidFill>
                            <a:schemeClr val="tx1"/>
                          </a:solidFill>
                        </a:rPr>
                        <a:t>创建时间，毫秒数</a:t>
                      </a:r>
                      <a:endParaRPr lang="en-US" altLang="zh-CN" sz="160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930073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reserved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1024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>
                          <a:solidFill>
                            <a:schemeClr val="tx1"/>
                          </a:solidFill>
                        </a:rPr>
                        <a:t>预留字段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1600" baseline="0" dirty="0" smtClean="0">
                          <a:solidFill>
                            <a:schemeClr val="tx1"/>
                          </a:solidFill>
                        </a:rPr>
                        <a:t>默认值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0 )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94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30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Space </a:t>
            </a:r>
            <a:r>
              <a:rPr lang="en-US" altLang="zh-CN" dirty="0"/>
              <a:t>M</a:t>
            </a:r>
            <a:r>
              <a:rPr lang="en-US" altLang="zh-CN" dirty="0" smtClean="0"/>
              <a:t>anagement Extent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550572"/>
              </p:ext>
            </p:extLst>
          </p:nvPr>
        </p:nvGraphicFramePr>
        <p:xfrm>
          <a:off x="838200" y="1725413"/>
          <a:ext cx="6847390" cy="2946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461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937549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1192193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3206187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355557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Space Management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24475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Version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UINT8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版本号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 size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92964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 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当前已分配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数量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430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 bitmap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16M</a:t>
                      </a:r>
                      <a:r>
                        <a:rPr lang="en-US" altLang="zh-CN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altLang="zh-CN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总共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128M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个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。每一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bit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位标识是否使用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496127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Reserved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1024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预留字段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28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Segment Metadata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223877"/>
              </p:ext>
            </p:extLst>
          </p:nvPr>
        </p:nvGraphicFramePr>
        <p:xfrm>
          <a:off x="838200" y="1529427"/>
          <a:ext cx="5608900" cy="2367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93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1053296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1979271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355557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Segment Metadata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24475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Version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UINT8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版本号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填充位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496127"/>
                  </a:ext>
                </a:extLst>
              </a:tr>
              <a:tr h="1413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Reserved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1024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预留字段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14417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 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当前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数量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 SLOT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256K * 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256K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个槽位号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0387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155364"/>
              </p:ext>
            </p:extLst>
          </p:nvPr>
        </p:nvGraphicFramePr>
        <p:xfrm>
          <a:off x="838201" y="4023360"/>
          <a:ext cx="6824240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4756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856526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2511707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 SLOT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24475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 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per extent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每个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extent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占用的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14417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 free continuous space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最大连续的空闲空间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03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22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Segment Metadata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844130"/>
              </p:ext>
            </p:extLst>
          </p:nvPr>
        </p:nvGraphicFramePr>
        <p:xfrm>
          <a:off x="838200" y="1690688"/>
          <a:ext cx="7264078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3020">
                  <a:extLst>
                    <a:ext uri="{9D8B030D-6E8A-4147-A177-3AD203B41FA5}">
                      <a16:colId xmlns:a16="http://schemas.microsoft.com/office/drawing/2014/main" val="3140242666"/>
                    </a:ext>
                  </a:extLst>
                </a:gridCol>
                <a:gridCol w="1041722">
                  <a:extLst>
                    <a:ext uri="{9D8B030D-6E8A-4147-A177-3AD203B41FA5}">
                      <a16:colId xmlns:a16="http://schemas.microsoft.com/office/drawing/2014/main" val="3971264945"/>
                    </a:ext>
                  </a:extLst>
                </a:gridCol>
                <a:gridCol w="1190610">
                  <a:extLst>
                    <a:ext uri="{9D8B030D-6E8A-4147-A177-3AD203B41FA5}">
                      <a16:colId xmlns:a16="http://schemas.microsoft.com/office/drawing/2014/main" val="3420071514"/>
                    </a:ext>
                  </a:extLst>
                </a:gridCol>
                <a:gridCol w="2038726">
                  <a:extLst>
                    <a:ext uri="{9D8B030D-6E8A-4147-A177-3AD203B41FA5}">
                      <a16:colId xmlns:a16="http://schemas.microsoft.com/office/drawing/2014/main" val="130059808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817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9161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bitmap </a:t>
                      </a:r>
                      <a:r>
                        <a:rPr lang="en-US" altLang="zh-CN" dirty="0" err="1" smtClean="0"/>
                        <a:t>num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UINT32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bitmap</a:t>
                      </a:r>
                      <a:r>
                        <a:rPr lang="zh-CN" altLang="en-US" dirty="0" smtClean="0"/>
                        <a:t>有效个数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24197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bitmap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BYTE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* </a:t>
                      </a:r>
                      <a:r>
                        <a:rPr lang="en-US" altLang="zh-CN" baseline="0" dirty="0" smtClean="0"/>
                        <a:t>32</a:t>
                      </a:r>
                      <a:r>
                        <a:rPr lang="en-US" altLang="zh-CN" dirty="0" smtClean="0"/>
                        <a:t>k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256k</a:t>
                      </a:r>
                      <a:r>
                        <a:rPr lang="zh-CN" altLang="en-US" dirty="0" smtClean="0"/>
                        <a:t>个</a:t>
                      </a:r>
                      <a:r>
                        <a:rPr lang="en-US" altLang="zh-CN" dirty="0" smtClean="0"/>
                        <a:t>bit</a:t>
                      </a:r>
                      <a:r>
                        <a:rPr lang="zh-CN" altLang="en-US" dirty="0" smtClean="0"/>
                        <a:t>位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04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max free continuous space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UINT32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961598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38200" y="3692324"/>
            <a:ext cx="7738641" cy="3072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可用</a:t>
            </a:r>
            <a:r>
              <a:rPr lang="en-US" altLang="zh-CN" sz="1600" dirty="0" smtClean="0"/>
              <a:t>Segment</a:t>
            </a:r>
            <a:r>
              <a:rPr lang="zh-CN" altLang="en-US" sz="1600" dirty="0" smtClean="0"/>
              <a:t>查询算法</a:t>
            </a:r>
            <a:r>
              <a:rPr lang="en-US" altLang="zh-CN" sz="1600" dirty="0" smtClean="0"/>
              <a:t>(</a:t>
            </a:r>
            <a:r>
              <a:rPr lang="zh-CN" altLang="en-US" sz="1600" dirty="0" smtClean="0"/>
              <a:t>可用</a:t>
            </a:r>
            <a:r>
              <a:rPr lang="en-US" altLang="zh-CN" sz="1600" dirty="0" smtClean="0"/>
              <a:t>extent</a:t>
            </a:r>
            <a:r>
              <a:rPr lang="zh-CN" altLang="en-US" sz="1600" dirty="0" smtClean="0"/>
              <a:t>查询算法类似</a:t>
            </a:r>
            <a:r>
              <a:rPr lang="en-US" altLang="zh-CN" sz="1600" dirty="0" smtClean="0"/>
              <a:t>)</a:t>
            </a:r>
            <a:r>
              <a:rPr lang="zh-CN" altLang="en-US" sz="1600" dirty="0" smtClean="0"/>
              <a:t>：</a:t>
            </a:r>
            <a:endParaRPr lang="en-US" altLang="zh-CN" sz="1600" dirty="0" smtClean="0"/>
          </a:p>
          <a:p>
            <a:r>
              <a:rPr lang="en-US" altLang="zh-CN" sz="1600" dirty="0"/>
              <a:t> </a:t>
            </a:r>
            <a:r>
              <a:rPr lang="en-US" altLang="zh-CN" sz="1600" dirty="0" smtClean="0"/>
              <a:t> </a:t>
            </a:r>
            <a:r>
              <a:rPr lang="zh-CN" altLang="en-US" sz="1600" dirty="0" smtClean="0"/>
              <a:t>初始生成：</a:t>
            </a:r>
            <a:endParaRPr lang="en-US" altLang="zh-CN" sz="1600" dirty="0" smtClean="0"/>
          </a:p>
          <a:p>
            <a:r>
              <a:rPr lang="en-US" altLang="zh-CN" sz="1600" dirty="0" smtClean="0"/>
              <a:t>          </a:t>
            </a:r>
            <a:r>
              <a:rPr lang="zh-CN" altLang="en-US" sz="1600" dirty="0" smtClean="0"/>
              <a:t>遍历现有</a:t>
            </a:r>
            <a:r>
              <a:rPr lang="en-US" altLang="zh-CN" sz="1600" dirty="0" smtClean="0"/>
              <a:t>segment</a:t>
            </a:r>
            <a:r>
              <a:rPr lang="zh-CN" altLang="en-US" sz="1600" dirty="0" smtClean="0"/>
              <a:t>列表，获取每个</a:t>
            </a:r>
            <a:r>
              <a:rPr lang="en-US" altLang="zh-CN" sz="1600" dirty="0" smtClean="0"/>
              <a:t>segment</a:t>
            </a:r>
            <a:r>
              <a:rPr lang="zh-CN" altLang="en-US" sz="1600" dirty="0" smtClean="0"/>
              <a:t>最大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连续空闲空间</a:t>
            </a:r>
            <a:r>
              <a:rPr lang="zh-CN" altLang="en-US" sz="1600" dirty="0" smtClean="0"/>
              <a:t>，并取最大值</a:t>
            </a:r>
            <a:r>
              <a:rPr lang="en-US" altLang="zh-CN" sz="1600" dirty="0" smtClean="0"/>
              <a:t>max</a:t>
            </a:r>
          </a:p>
          <a:p>
            <a:r>
              <a:rPr lang="en-US" altLang="zh-CN" sz="1600" dirty="0" smtClean="0"/>
              <a:t>          </a:t>
            </a:r>
            <a:r>
              <a:rPr lang="zh-CN" altLang="en-US" sz="1600" dirty="0" smtClean="0"/>
              <a:t>大于</a:t>
            </a:r>
            <a:r>
              <a:rPr lang="en-US" altLang="zh-CN" sz="1600" dirty="0" smtClean="0"/>
              <a:t>max/2</a:t>
            </a:r>
            <a:r>
              <a:rPr lang="zh-CN" altLang="en-US" sz="1600" dirty="0" smtClean="0"/>
              <a:t>的</a:t>
            </a:r>
            <a:r>
              <a:rPr lang="en-US" altLang="zh-CN" sz="1600" dirty="0" smtClean="0"/>
              <a:t>segment</a:t>
            </a:r>
            <a:r>
              <a:rPr lang="zh-CN" altLang="en-US" sz="1600" dirty="0" smtClean="0"/>
              <a:t>标记为可用</a:t>
            </a:r>
            <a:r>
              <a:rPr lang="en-US" altLang="zh-CN" sz="1600" dirty="0" smtClean="0"/>
              <a:t>segment</a:t>
            </a:r>
          </a:p>
          <a:p>
            <a:endParaRPr lang="en-US" altLang="zh-CN" sz="1600" dirty="0"/>
          </a:p>
          <a:p>
            <a:r>
              <a:rPr lang="en-US" altLang="zh-CN" sz="1600" dirty="0" smtClean="0"/>
              <a:t>  </a:t>
            </a:r>
            <a:r>
              <a:rPr lang="zh-CN" altLang="en-US" sz="1600" dirty="0" smtClean="0"/>
              <a:t>淘汰策略：</a:t>
            </a:r>
            <a:endParaRPr lang="en-US" altLang="zh-CN" sz="1600" dirty="0" smtClean="0"/>
          </a:p>
          <a:p>
            <a:r>
              <a:rPr lang="en-US" altLang="zh-CN" sz="1600" dirty="0"/>
              <a:t> </a:t>
            </a:r>
            <a:r>
              <a:rPr lang="en-US" altLang="zh-CN" sz="1600" dirty="0" smtClean="0"/>
              <a:t>         </a:t>
            </a:r>
            <a:r>
              <a:rPr lang="zh-CN" altLang="en-US" sz="1600" dirty="0" smtClean="0"/>
              <a:t>连续两次获取</a:t>
            </a:r>
            <a:r>
              <a:rPr lang="zh-CN" altLang="en-US" sz="1600" dirty="0"/>
              <a:t>空闲空间失败</a:t>
            </a:r>
            <a:r>
              <a:rPr lang="zh-CN" altLang="en-US" sz="1600" dirty="0" smtClean="0"/>
              <a:t>，则标记为不可用</a:t>
            </a:r>
            <a:r>
              <a:rPr lang="en-US" altLang="zh-CN" sz="1600" dirty="0" smtClean="0"/>
              <a:t>segment</a:t>
            </a:r>
          </a:p>
          <a:p>
            <a:endParaRPr lang="en-US" altLang="zh-CN" sz="1600" dirty="0"/>
          </a:p>
          <a:p>
            <a:r>
              <a:rPr lang="en-US" altLang="zh-CN" sz="1600" dirty="0" smtClean="0"/>
              <a:t>   </a:t>
            </a:r>
            <a:r>
              <a:rPr lang="zh-CN" altLang="en-US" sz="1600" dirty="0" smtClean="0"/>
              <a:t>恢复策略：</a:t>
            </a:r>
            <a:endParaRPr lang="en-US" altLang="zh-CN" sz="1600" dirty="0" smtClean="0"/>
          </a:p>
          <a:p>
            <a:r>
              <a:rPr lang="en-US" altLang="zh-CN" sz="1600" dirty="0"/>
              <a:t> </a:t>
            </a:r>
            <a:r>
              <a:rPr lang="en-US" altLang="zh-CN" sz="1600" dirty="0" smtClean="0"/>
              <a:t>         1</a:t>
            </a:r>
            <a:r>
              <a:rPr lang="zh-CN" altLang="en-US" sz="1600" dirty="0" smtClean="0"/>
              <a:t>、所有</a:t>
            </a:r>
            <a:r>
              <a:rPr lang="en-US" altLang="zh-CN" sz="1600" dirty="0" smtClean="0"/>
              <a:t>segment</a:t>
            </a:r>
            <a:r>
              <a:rPr lang="zh-CN" altLang="en-US" sz="1600" dirty="0" smtClean="0"/>
              <a:t>均无可分配空闲空间，触发后台刷新恢复，走初始算法</a:t>
            </a:r>
            <a:endParaRPr lang="en-US" altLang="zh-CN" sz="1600" dirty="0" smtClean="0"/>
          </a:p>
          <a:p>
            <a:r>
              <a:rPr lang="en-US" altLang="zh-CN" sz="1600" dirty="0"/>
              <a:t> </a:t>
            </a:r>
            <a:r>
              <a:rPr lang="en-US" altLang="zh-CN" sz="1600" dirty="0" smtClean="0"/>
              <a:t>         2</a:t>
            </a:r>
            <a:r>
              <a:rPr lang="zh-CN" altLang="en-US" sz="1600" dirty="0" smtClean="0"/>
              <a:t>、某个</a:t>
            </a:r>
            <a:r>
              <a:rPr lang="en-US" altLang="zh-CN" sz="1600" dirty="0" smtClean="0"/>
              <a:t>segment</a:t>
            </a:r>
            <a:r>
              <a:rPr lang="zh-CN" altLang="en-US" sz="1600" dirty="0" smtClean="0"/>
              <a:t>总的空闲</a:t>
            </a:r>
            <a:endParaRPr lang="en-US" altLang="zh-CN" sz="1600" dirty="0"/>
          </a:p>
          <a:p>
            <a:r>
              <a:rPr lang="en-US" altLang="zh-CN" sz="1600" dirty="0" smtClean="0"/>
              <a:t>          </a:t>
            </a:r>
          </a:p>
        </p:txBody>
      </p:sp>
    </p:spTree>
    <p:extLst>
      <p:ext uri="{BB962C8B-B14F-4D97-AF65-F5344CB8AC3E}">
        <p14:creationId xmlns:p14="http://schemas.microsoft.com/office/powerpoint/2010/main" val="396808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Extent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818725"/>
              </p:ext>
            </p:extLst>
          </p:nvPr>
        </p:nvGraphicFramePr>
        <p:xfrm>
          <a:off x="838200" y="1400535"/>
          <a:ext cx="6338104" cy="4428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25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972274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2708476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277794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Data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名称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类型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长度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Extent Header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CHAR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68595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record</a:t>
                      </a:r>
                      <a:r>
                        <a:rPr lang="en-US" altLang="zh-CN" sz="1600" baseline="0" dirty="0" smtClean="0"/>
                        <a:t> count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记录数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249934"/>
                  </a:ext>
                </a:extLst>
              </a:tr>
              <a:tr h="872732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Free space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总的剩余空间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Max free continuous</a:t>
                      </a:r>
                      <a:r>
                        <a:rPr lang="en-US" altLang="zh-CN" sz="1600" baseline="0" dirty="0" smtClean="0"/>
                        <a:t> </a:t>
                      </a:r>
                      <a:r>
                        <a:rPr lang="en-US" altLang="zh-CN" sz="1600" baseline="0" dirty="0" smtClean="0"/>
                        <a:t>space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最大连续的剩余空间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last slot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最后一个</a:t>
                      </a:r>
                      <a:r>
                        <a:rPr lang="en-US" altLang="zh-CN" sz="1600" baseline="0" dirty="0" smtClean="0"/>
                        <a:t>slot</a:t>
                      </a:r>
                      <a:r>
                        <a:rPr lang="zh-CN" altLang="en-US" sz="1600" baseline="0" dirty="0" smtClean="0"/>
                        <a:t>编号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9686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reserved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CHAR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预留位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80449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slots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 * N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记录</a:t>
                      </a:r>
                      <a:r>
                        <a:rPr lang="en-US" altLang="zh-CN" sz="1600" baseline="0" dirty="0" smtClean="0"/>
                        <a:t>Extent</a:t>
                      </a:r>
                      <a:r>
                        <a:rPr lang="zh-CN" altLang="en-US" sz="1600" baseline="0" dirty="0" smtClean="0"/>
                        <a:t>内偏移地址。有几条记录则记录几个</a:t>
                      </a:r>
                      <a:r>
                        <a:rPr lang="en-US" altLang="zh-CN" sz="1600" baseline="0" dirty="0" smtClean="0"/>
                        <a:t>slot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427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data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数据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257145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339406"/>
              </p:ext>
            </p:extLst>
          </p:nvPr>
        </p:nvGraphicFramePr>
        <p:xfrm>
          <a:off x="7592028" y="2700331"/>
          <a:ext cx="3761772" cy="1729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443">
                  <a:extLst>
                    <a:ext uri="{9D8B030D-6E8A-4147-A177-3AD203B41FA5}">
                      <a16:colId xmlns:a16="http://schemas.microsoft.com/office/drawing/2014/main" val="226489393"/>
                    </a:ext>
                  </a:extLst>
                </a:gridCol>
                <a:gridCol w="940443">
                  <a:extLst>
                    <a:ext uri="{9D8B030D-6E8A-4147-A177-3AD203B41FA5}">
                      <a16:colId xmlns:a16="http://schemas.microsoft.com/office/drawing/2014/main" val="3315947240"/>
                    </a:ext>
                  </a:extLst>
                </a:gridCol>
                <a:gridCol w="1880886">
                  <a:extLst>
                    <a:ext uri="{9D8B030D-6E8A-4147-A177-3AD203B41FA5}">
                      <a16:colId xmlns:a16="http://schemas.microsoft.com/office/drawing/2014/main" val="4175610667"/>
                    </a:ext>
                  </a:extLst>
                </a:gridCol>
              </a:tblGrid>
              <a:tr h="5764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offset1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offset2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460894"/>
                  </a:ext>
                </a:extLst>
              </a:tr>
              <a:tr h="576447">
                <a:tc gridSpan="3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524138"/>
                  </a:ext>
                </a:extLst>
              </a:tr>
              <a:tr h="576447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data2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data1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742222"/>
                  </a:ext>
                </a:extLst>
              </a:tr>
            </a:tbl>
          </a:graphicData>
        </a:graphic>
      </p:graphicFrame>
      <p:cxnSp>
        <p:nvCxnSpPr>
          <p:cNvPr id="11" name="直接箭头连接符 10"/>
          <p:cNvCxnSpPr/>
          <p:nvPr/>
        </p:nvCxnSpPr>
        <p:spPr>
          <a:xfrm>
            <a:off x="8715736" y="3194611"/>
            <a:ext cx="0" cy="7407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8090704" y="3067291"/>
            <a:ext cx="1551007" cy="8681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2409372"/>
            <a:ext cx="677621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baseline="0" dirty="0" smtClean="0">
                <a:solidFill>
                  <a:srgbClr val="FF0000"/>
                </a:solidFill>
              </a:rPr>
              <a:t>1</a:t>
            </a:r>
            <a:r>
              <a:rPr lang="zh-CN" altLang="en-US" b="1" baseline="0" dirty="0" smtClean="0">
                <a:solidFill>
                  <a:srgbClr val="FF0000"/>
                </a:solidFill>
              </a:rPr>
              <a:t>、</a:t>
            </a:r>
            <a:r>
              <a:rPr lang="en-US" altLang="zh-CN" b="1" baseline="0" dirty="0" smtClean="0">
                <a:solidFill>
                  <a:srgbClr val="FF0000"/>
                </a:solidFill>
              </a:rPr>
              <a:t>Segment </a:t>
            </a:r>
            <a:r>
              <a:rPr lang="zh-CN" altLang="en-US" b="1" baseline="0" dirty="0" smtClean="0">
                <a:solidFill>
                  <a:srgbClr val="FF0000"/>
                </a:solidFill>
              </a:rPr>
              <a:t>可以放不同</a:t>
            </a:r>
            <a:r>
              <a:rPr lang="en-US" altLang="zh-CN" b="1" baseline="0" dirty="0" smtClean="0">
                <a:solidFill>
                  <a:srgbClr val="FF0000"/>
                </a:solidFill>
              </a:rPr>
              <a:t>cl </a:t>
            </a:r>
            <a:r>
              <a:rPr lang="zh-CN" altLang="en-US" b="1" baseline="0" dirty="0" smtClean="0">
                <a:solidFill>
                  <a:srgbClr val="FF0000"/>
                </a:solidFill>
              </a:rPr>
              <a:t>？</a:t>
            </a:r>
            <a:endParaRPr lang="zh-CN" altLang="en-US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2</a:t>
            </a:r>
            <a:r>
              <a:rPr lang="zh-CN" altLang="en-US" b="1" dirty="0" smtClean="0">
                <a:solidFill>
                  <a:srgbClr val="FF0000"/>
                </a:solidFill>
              </a:rPr>
              <a:t>、数据文件多节点之间完全一致，是否还有问题（压缩算法）？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3</a:t>
            </a:r>
            <a:r>
              <a:rPr lang="zh-CN" altLang="en-US" b="1" dirty="0" smtClean="0">
                <a:solidFill>
                  <a:srgbClr val="FF0000"/>
                </a:solidFill>
              </a:rPr>
              <a:t>、细化</a:t>
            </a:r>
            <a:r>
              <a:rPr lang="en-US" altLang="zh-CN" b="1" dirty="0" smtClean="0">
                <a:solidFill>
                  <a:srgbClr val="FF0000"/>
                </a:solidFill>
              </a:rPr>
              <a:t>page</a:t>
            </a:r>
            <a:r>
              <a:rPr lang="zh-CN" altLang="en-US" b="1" dirty="0" smtClean="0">
                <a:solidFill>
                  <a:srgbClr val="FF0000"/>
                </a:solidFill>
              </a:rPr>
              <a:t>分配算法 </a:t>
            </a:r>
            <a:r>
              <a:rPr lang="en-US" altLang="zh-CN" b="1" dirty="0" smtClean="0">
                <a:solidFill>
                  <a:srgbClr val="FF0000"/>
                </a:solidFill>
              </a:rPr>
              <a:t>bitmap</a:t>
            </a:r>
            <a:r>
              <a:rPr lang="zh-CN" altLang="en-US" b="1" dirty="0" smtClean="0">
                <a:solidFill>
                  <a:srgbClr val="FF0000"/>
                </a:solidFill>
              </a:rPr>
              <a:t>（有效，无效，锁流程）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4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checkpoint</a:t>
            </a:r>
            <a:r>
              <a:rPr lang="zh-CN" altLang="en-US" b="1" dirty="0" smtClean="0">
                <a:solidFill>
                  <a:srgbClr val="FF0000"/>
                </a:solidFill>
              </a:rPr>
              <a:t>、页本身的校验。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5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err="1" smtClean="0">
                <a:solidFill>
                  <a:srgbClr val="FF0000"/>
                </a:solidFill>
              </a:rPr>
              <a:t>mvcc</a:t>
            </a:r>
            <a:r>
              <a:rPr lang="zh-CN" altLang="en-US" b="1" dirty="0" smtClean="0">
                <a:solidFill>
                  <a:srgbClr val="FF0000"/>
                </a:solidFill>
              </a:rPr>
              <a:t>（</a:t>
            </a:r>
            <a:r>
              <a:rPr lang="en-US" altLang="zh-CN" b="1" dirty="0" smtClean="0">
                <a:solidFill>
                  <a:srgbClr val="FF0000"/>
                </a:solidFill>
              </a:rPr>
              <a:t>LSM tree</a:t>
            </a:r>
            <a:r>
              <a:rPr lang="zh-CN" altLang="en-US" b="1" dirty="0" smtClean="0">
                <a:solidFill>
                  <a:srgbClr val="FF0000"/>
                </a:solidFill>
              </a:rPr>
              <a:t>）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 smtClean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文件、</a:t>
            </a:r>
            <a:r>
              <a:rPr lang="en-US" altLang="zh-CN" b="1" dirty="0" smtClean="0">
                <a:solidFill>
                  <a:srgbClr val="FF0000"/>
                </a:solidFill>
              </a:rPr>
              <a:t>checkpoint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err="1" smtClean="0">
                <a:solidFill>
                  <a:srgbClr val="FF0000"/>
                </a:solidFill>
              </a:rPr>
              <a:t>wal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endParaRPr lang="en-US" altLang="zh-CN" b="1" dirty="0" smtClean="0">
              <a:solidFill>
                <a:srgbClr val="FF0000"/>
              </a:solidFill>
            </a:endParaRPr>
          </a:p>
          <a:p>
            <a:endParaRPr lang="en-US" altLang="zh-CN" b="1" dirty="0" smtClean="0">
              <a:solidFill>
                <a:srgbClr val="FF0000"/>
              </a:solidFill>
            </a:endParaRPr>
          </a:p>
          <a:p>
            <a:endParaRPr lang="en-US" altLang="zh-CN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010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45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14858</TotalTime>
  <Words>738</Words>
  <Application>Microsoft Office PowerPoint</Application>
  <PresentationFormat>宽屏</PresentationFormat>
  <Paragraphs>252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数据文件设计</vt:lpstr>
      <vt:lpstr>问题</vt:lpstr>
      <vt:lpstr>PowerPoint 演示文稿</vt:lpstr>
      <vt:lpstr>数据文件总体结构</vt:lpstr>
      <vt:lpstr>File Header</vt:lpstr>
      <vt:lpstr>Space Management Extent</vt:lpstr>
      <vt:lpstr>Data Segment Metadata</vt:lpstr>
      <vt:lpstr>Data Segment Metadata</vt:lpstr>
      <vt:lpstr>Data Extent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数据文件设计</dc:title>
  <dc:creator>linyoubin</dc:creator>
  <cp:lastModifiedBy>linyoubin</cp:lastModifiedBy>
  <cp:revision>380</cp:revision>
  <dcterms:created xsi:type="dcterms:W3CDTF">2018-11-26T02:24:39Z</dcterms:created>
  <dcterms:modified xsi:type="dcterms:W3CDTF">2018-12-06T10:02:56Z</dcterms:modified>
</cp:coreProperties>
</file>