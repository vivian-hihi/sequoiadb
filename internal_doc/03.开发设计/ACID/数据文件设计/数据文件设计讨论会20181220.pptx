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9" r:id="rId3"/>
    <p:sldId id="267" r:id="rId4"/>
    <p:sldId id="257" r:id="rId5"/>
    <p:sldId id="263" r:id="rId6"/>
    <p:sldId id="266" r:id="rId7"/>
    <p:sldId id="261" r:id="rId8"/>
    <p:sldId id="274" r:id="rId9"/>
    <p:sldId id="270" r:id="rId10"/>
    <p:sldId id="265" r:id="rId11"/>
    <p:sldId id="275" r:id="rId12"/>
    <p:sldId id="268" r:id="rId13"/>
    <p:sldId id="271" r:id="rId14"/>
    <p:sldId id="260" r:id="rId15"/>
    <p:sldId id="273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nyoubin" initials="l" lastIdx="1" clrIdx="0">
    <p:extLst>
      <p:ext uri="{19B8F6BF-5375-455C-9EA6-DF929625EA0E}">
        <p15:presenceInfo xmlns:p15="http://schemas.microsoft.com/office/powerpoint/2012/main" userId="linyoub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636" autoAdjust="0"/>
  </p:normalViewPr>
  <p:slideViewPr>
    <p:cSldViewPr snapToGrid="0">
      <p:cViewPr varScale="1">
        <p:scale>
          <a:sx n="74" d="100"/>
          <a:sy n="74" d="100"/>
        </p:scale>
        <p:origin x="42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3CF9C5-560D-4BE0-8FF5-372197204B47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227AFA-EB4C-4686-97EC-5D83EA90DB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22822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3783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07071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7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63370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174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aseline="0" dirty="0" smtClean="0"/>
              <a:t>根据记录大小分为</a:t>
            </a:r>
            <a:r>
              <a:rPr lang="en-US" altLang="zh-CN" sz="1200" baseline="0" dirty="0" smtClean="0"/>
              <a:t>4</a:t>
            </a:r>
            <a:r>
              <a:rPr lang="zh-CN" altLang="en-US" sz="1200" baseline="0" dirty="0" smtClean="0"/>
              <a:t>个</a:t>
            </a:r>
            <a:r>
              <a:rPr lang="en-US" altLang="zh-CN" sz="1200" baseline="0" dirty="0" smtClean="0"/>
              <a:t>level</a:t>
            </a:r>
            <a:r>
              <a:rPr lang="zh-CN" altLang="en-US" sz="1200" baseline="0" dirty="0" smtClean="0"/>
              <a:t>：</a:t>
            </a:r>
            <a:endParaRPr lang="en-US" altLang="zh-CN" sz="1200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(0, 4k)</a:t>
            </a:r>
            <a:r>
              <a:rPr lang="zh-CN" altLang="en-US" sz="1200" baseline="0" dirty="0" smtClean="0"/>
              <a:t>、</a:t>
            </a:r>
            <a:r>
              <a:rPr lang="en-US" altLang="zh-CN" sz="1200" baseline="0" dirty="0" smtClean="0"/>
              <a:t>[4k, 64k)</a:t>
            </a:r>
            <a:r>
              <a:rPr lang="zh-CN" altLang="en-US" sz="1200" baseline="0" dirty="0" smtClean="0"/>
              <a:t>、</a:t>
            </a:r>
            <a:r>
              <a:rPr lang="en-US" altLang="zh-CN" sz="1200" baseline="0" dirty="0" smtClean="0"/>
              <a:t>[64k, 1M)</a:t>
            </a:r>
            <a:r>
              <a:rPr lang="zh-CN" altLang="en-US" sz="1200" baseline="0" dirty="0" smtClean="0"/>
              <a:t>、</a:t>
            </a:r>
            <a:r>
              <a:rPr lang="en-US" altLang="zh-CN" sz="1200" baseline="0" dirty="0" smtClean="0"/>
              <a:t>[1M, 16M )</a:t>
            </a:r>
            <a:endParaRPr lang="zh-CN" altLang="en-US" sz="1200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07819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aseline="0" dirty="0" smtClean="0"/>
              <a:t>1</a:t>
            </a:r>
            <a:r>
              <a:rPr lang="zh-CN" altLang="en-US" baseline="0" dirty="0" smtClean="0"/>
              <a:t>、</a:t>
            </a:r>
            <a:r>
              <a:rPr lang="en-US" altLang="zh-CN" baseline="0" dirty="0" smtClean="0"/>
              <a:t>extent</a:t>
            </a:r>
            <a:r>
              <a:rPr lang="zh-CN" altLang="en-US" baseline="0" dirty="0" smtClean="0"/>
              <a:t>空闲空间 分等级 例如</a:t>
            </a:r>
            <a:r>
              <a:rPr lang="en-US" altLang="zh-CN" baseline="0" dirty="0" smtClean="0"/>
              <a:t>2</a:t>
            </a:r>
            <a:r>
              <a:rPr lang="zh-CN" altLang="en-US" baseline="0" dirty="0" smtClean="0"/>
              <a:t>位 （</a:t>
            </a:r>
            <a:r>
              <a:rPr lang="en-US" altLang="zh-CN" baseline="0" dirty="0" smtClean="0"/>
              <a:t>4</a:t>
            </a:r>
            <a:r>
              <a:rPr lang="zh-CN" altLang="en-US" baseline="0" dirty="0" smtClean="0"/>
              <a:t>个等级） </a:t>
            </a:r>
            <a:endParaRPr lang="en-US" altLang="zh-CN" baseline="0" dirty="0" smtClean="0"/>
          </a:p>
          <a:p>
            <a:r>
              <a:rPr lang="en-US" altLang="zh-CN" baseline="0" dirty="0" smtClean="0"/>
              <a:t>0 [0, 256b</a:t>
            </a:r>
            <a:r>
              <a:rPr lang="zh-CN" altLang="en-US" baseline="0" dirty="0" smtClean="0"/>
              <a:t>）</a:t>
            </a:r>
            <a:endParaRPr lang="en-US" altLang="zh-CN" baseline="0" dirty="0" smtClean="0"/>
          </a:p>
          <a:p>
            <a:r>
              <a:rPr lang="en-US" altLang="zh-CN" baseline="0" dirty="0" smtClean="0"/>
              <a:t>1 [256, 1k</a:t>
            </a:r>
            <a:r>
              <a:rPr lang="zh-CN" altLang="en-US" baseline="0" dirty="0" smtClean="0"/>
              <a:t>）</a:t>
            </a:r>
            <a:endParaRPr lang="en-US" altLang="zh-CN" baseline="0" dirty="0" smtClean="0"/>
          </a:p>
          <a:p>
            <a:r>
              <a:rPr lang="en-US" altLang="zh-CN" baseline="0" dirty="0" smtClean="0"/>
              <a:t>2 [1k,2k)</a:t>
            </a:r>
          </a:p>
          <a:p>
            <a:r>
              <a:rPr lang="en-US" altLang="zh-CN" baseline="0" dirty="0" smtClean="0"/>
              <a:t>3 [2k,4k]</a:t>
            </a:r>
          </a:p>
          <a:p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aseline="0" dirty="0" smtClean="0"/>
              <a:t>2</a:t>
            </a:r>
            <a:r>
              <a:rPr lang="zh-CN" altLang="en-US" baseline="0" dirty="0" smtClean="0"/>
              <a:t>、分配 </a:t>
            </a:r>
            <a:r>
              <a:rPr lang="en-US" altLang="zh-CN" baseline="0" dirty="0" smtClean="0"/>
              <a:t>257</a:t>
            </a:r>
            <a:r>
              <a:rPr lang="zh-CN" altLang="en-US" baseline="0" dirty="0" smtClean="0"/>
              <a:t>字节时， 优先分配到等级</a:t>
            </a:r>
            <a:r>
              <a:rPr lang="en-US" altLang="zh-CN" baseline="0" dirty="0" smtClean="0"/>
              <a:t>2[1k,2k)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aseline="0" dirty="0" smtClean="0"/>
              <a:t>3</a:t>
            </a:r>
            <a:r>
              <a:rPr lang="zh-CN" altLang="en-US" baseline="0" dirty="0" smtClean="0"/>
              <a:t>、分配失败时从等级</a:t>
            </a:r>
            <a:r>
              <a:rPr lang="en-US" altLang="zh-CN" baseline="0" dirty="0" smtClean="0"/>
              <a:t>1</a:t>
            </a:r>
            <a:r>
              <a:rPr lang="zh-CN" altLang="en-US" baseline="0" dirty="0" smtClean="0"/>
              <a:t>尝试</a:t>
            </a:r>
            <a:r>
              <a:rPr lang="en-US" altLang="zh-CN" baseline="0" dirty="0" smtClean="0"/>
              <a:t>2</a:t>
            </a:r>
            <a:r>
              <a:rPr lang="zh-CN" altLang="en-US" baseline="0" dirty="0" smtClean="0"/>
              <a:t>次？ </a:t>
            </a:r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aseline="0" dirty="0" smtClean="0"/>
              <a:t>4</a:t>
            </a:r>
            <a:r>
              <a:rPr lang="zh-CN" altLang="en-US" baseline="0" dirty="0" smtClean="0"/>
              <a:t>、再失败时分配新的</a:t>
            </a:r>
            <a:r>
              <a:rPr lang="en-US" altLang="zh-CN" baseline="0" dirty="0" smtClean="0"/>
              <a:t>extent</a:t>
            </a:r>
            <a:r>
              <a:rPr lang="zh-CN" altLang="en-US" baseline="0" dirty="0" smtClean="0"/>
              <a:t>。</a:t>
            </a:r>
            <a:endParaRPr lang="en-US" altLang="zh-CN" baseline="0" dirty="0" smtClean="0"/>
          </a:p>
          <a:p>
            <a:endParaRPr lang="en-US" altLang="zh-CN" baseline="0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4996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01286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File size = page </a:t>
            </a:r>
            <a:r>
              <a:rPr lang="en-US" altLang="zh-CN" dirty="0" err="1" smtClean="0"/>
              <a:t>num</a:t>
            </a:r>
            <a:r>
              <a:rPr lang="en-US" altLang="zh-CN" dirty="0" smtClean="0"/>
              <a:t> * page size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 smtClean="0"/>
              <a:t>Segment slot number</a:t>
            </a:r>
            <a:r>
              <a:rPr lang="zh-CN" altLang="en-US" sz="1200" baseline="0" dirty="0" smtClean="0"/>
              <a:t> </a:t>
            </a:r>
            <a:r>
              <a:rPr lang="en-US" altLang="zh-CN" sz="1200" baseline="0" dirty="0" smtClean="0"/>
              <a:t>= File size / segment  size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aseline="0" dirty="0" smtClean="0"/>
              <a:t>记录等级：</a:t>
            </a:r>
            <a:endParaRPr lang="en-US" altLang="zh-CN" sz="1200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(0, 4k)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[4k, 64k)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[64k, 1M)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[1M, 16M )</a:t>
            </a:r>
            <a:endParaRPr lang="zh-CN" altLang="en-US" sz="1200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5557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3861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179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7357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2685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211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0194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5071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111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907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429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8381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EDBE0D-D193-4915-9F9C-E6864CED25A9}" type="datetimeFigureOut">
              <a:rPr lang="zh-CN" altLang="en-US" smtClean="0"/>
              <a:t>2018/12/20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44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b="1" dirty="0" smtClean="0">
                <a:solidFill>
                  <a:schemeClr val="accent2">
                    <a:lumMod val="75000"/>
                  </a:schemeClr>
                </a:solidFill>
              </a:rPr>
              <a:t>数据文件设计</a:t>
            </a:r>
            <a:endParaRPr lang="zh-CN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8347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问题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838200" y="1995055"/>
            <a:ext cx="987642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 smtClean="0"/>
              <a:t>性能：</a:t>
            </a:r>
            <a:endParaRPr lang="en-US" altLang="zh-CN" sz="2400" dirty="0" smtClean="0"/>
          </a:p>
          <a:p>
            <a:r>
              <a:rPr lang="en-US" altLang="zh-CN" sz="2400" dirty="0" smtClean="0"/>
              <a:t>1</a:t>
            </a:r>
            <a:r>
              <a:rPr lang="zh-CN" altLang="en-US" sz="2400" dirty="0" smtClean="0"/>
              <a:t>、细粒度化锁，尽量避免 </a:t>
            </a:r>
            <a:r>
              <a:rPr lang="en-US" altLang="zh-CN" sz="2400" dirty="0" err="1" smtClean="0"/>
              <a:t>mblock</a:t>
            </a:r>
            <a:r>
              <a:rPr lang="en-US" altLang="zh-CN" sz="2400" dirty="0" smtClean="0"/>
              <a:t> </a:t>
            </a:r>
            <a:r>
              <a:rPr lang="zh-CN" altLang="en-US" sz="2400" dirty="0" smtClean="0"/>
              <a:t>的表级别锁</a:t>
            </a:r>
            <a:endParaRPr lang="en-US" altLang="zh-CN" sz="2400" dirty="0" smtClean="0"/>
          </a:p>
          <a:p>
            <a:r>
              <a:rPr lang="en-US" altLang="zh-CN" sz="2400" dirty="0" smtClean="0"/>
              <a:t>2</a:t>
            </a:r>
            <a:r>
              <a:rPr lang="zh-CN" altLang="en-US" sz="2400" dirty="0" smtClean="0"/>
              <a:t>、去除链表关系，当前</a:t>
            </a:r>
            <a:r>
              <a:rPr lang="zh-CN" altLang="en-US" sz="2400" dirty="0"/>
              <a:t>方案</a:t>
            </a:r>
            <a:r>
              <a:rPr lang="zh-CN" altLang="en-US" sz="2400" dirty="0" smtClean="0"/>
              <a:t>中，</a:t>
            </a:r>
            <a:r>
              <a:rPr lang="en-US" altLang="zh-CN" sz="2400" dirty="0" smtClean="0"/>
              <a:t>cl </a:t>
            </a:r>
            <a:r>
              <a:rPr lang="zh-CN" altLang="en-US" sz="2400" dirty="0" smtClean="0"/>
              <a:t>间 </a:t>
            </a:r>
            <a:r>
              <a:rPr lang="en-US" altLang="zh-CN" sz="2400" dirty="0" smtClean="0"/>
              <a:t>extent </a:t>
            </a:r>
            <a:r>
              <a:rPr lang="zh-CN" altLang="en-US" sz="2400" dirty="0" smtClean="0"/>
              <a:t>链表，以及 </a:t>
            </a:r>
            <a:r>
              <a:rPr lang="en-US" altLang="zh-CN" sz="2400" dirty="0" err="1" smtClean="0"/>
              <a:t>freelist</a:t>
            </a:r>
            <a:r>
              <a:rPr lang="en-US" altLang="zh-CN" sz="2400" dirty="0" smtClean="0"/>
              <a:t> </a:t>
            </a:r>
            <a:r>
              <a:rPr lang="zh-CN" altLang="en-US" sz="2400" dirty="0" smtClean="0"/>
              <a:t>链表</a:t>
            </a:r>
            <a:endParaRPr lang="en-US" altLang="zh-CN" sz="2400" dirty="0" smtClean="0"/>
          </a:p>
          <a:p>
            <a:r>
              <a:rPr lang="en-US" altLang="zh-CN" sz="2400" dirty="0" smtClean="0"/>
              <a:t>3</a:t>
            </a:r>
            <a:r>
              <a:rPr lang="zh-CN" altLang="en-US" sz="2400" dirty="0" smtClean="0"/>
              <a:t>、节点间的数据文件（</a:t>
            </a:r>
            <a:r>
              <a:rPr lang="en-US" altLang="zh-CN" sz="2400" dirty="0" smtClean="0"/>
              <a:t>data, capped, lob</a:t>
            </a:r>
            <a:r>
              <a:rPr lang="en-US" altLang="zh-CN" sz="2400" dirty="0"/>
              <a:t>.</a:t>
            </a:r>
            <a:r>
              <a:rPr lang="zh-CN" altLang="en-US" sz="2400" dirty="0" smtClean="0"/>
              <a:t>不包括</a:t>
            </a:r>
            <a:r>
              <a:rPr lang="en-US" altLang="zh-CN" sz="2400" dirty="0" smtClean="0"/>
              <a:t>index</a:t>
            </a:r>
            <a:r>
              <a:rPr lang="zh-CN" altLang="en-US" sz="2400" dirty="0" smtClean="0"/>
              <a:t>）保持完全一致。</a:t>
            </a:r>
            <a:endParaRPr lang="en-US" altLang="zh-CN" sz="2400" dirty="0" smtClean="0"/>
          </a:p>
          <a:p>
            <a:r>
              <a:rPr lang="en-US" altLang="zh-CN" sz="2400" dirty="0"/>
              <a:t> </a:t>
            </a:r>
            <a:r>
              <a:rPr lang="en-US" altLang="zh-CN" sz="2400" dirty="0" smtClean="0"/>
              <a:t>   </a:t>
            </a:r>
            <a:r>
              <a:rPr lang="zh-CN" altLang="en-US" sz="2400" dirty="0" smtClean="0"/>
              <a:t>（快速同步数据）</a:t>
            </a:r>
            <a:endParaRPr lang="en-US" altLang="zh-CN" sz="2400" dirty="0" smtClean="0"/>
          </a:p>
          <a:p>
            <a:r>
              <a:rPr lang="en-US" altLang="zh-CN" sz="2400" dirty="0" smtClean="0"/>
              <a:t>4</a:t>
            </a:r>
            <a:r>
              <a:rPr lang="zh-CN" altLang="en-US" sz="2400" dirty="0" smtClean="0"/>
              <a:t>、</a:t>
            </a:r>
            <a:r>
              <a:rPr lang="en-US" altLang="zh-CN" sz="2400" dirty="0" smtClean="0"/>
              <a:t>buffer pool</a:t>
            </a:r>
          </a:p>
          <a:p>
            <a:endParaRPr lang="en-US" altLang="zh-CN" sz="2400" dirty="0"/>
          </a:p>
          <a:p>
            <a:r>
              <a:rPr lang="zh-CN" altLang="en-US" sz="2400" dirty="0" smtClean="0"/>
              <a:t>功能：</a:t>
            </a:r>
            <a:endParaRPr lang="en-US" altLang="zh-CN" sz="2400" dirty="0" smtClean="0"/>
          </a:p>
          <a:p>
            <a:r>
              <a:rPr lang="en-US" altLang="zh-CN" sz="2400" dirty="0"/>
              <a:t>1</a:t>
            </a:r>
            <a:r>
              <a:rPr lang="zh-CN" altLang="en-US" sz="2400" dirty="0" smtClean="0"/>
              <a:t>、</a:t>
            </a:r>
            <a:r>
              <a:rPr lang="en-US" altLang="zh-CN" sz="2400" dirty="0" err="1" smtClean="0"/>
              <a:t>mvcc</a:t>
            </a:r>
            <a:r>
              <a:rPr lang="zh-CN" altLang="en-US" sz="2400" dirty="0" smtClean="0"/>
              <a:t>支持</a:t>
            </a:r>
            <a:endParaRPr lang="en-US" altLang="zh-CN" sz="2400" dirty="0" smtClean="0"/>
          </a:p>
          <a:p>
            <a:r>
              <a:rPr lang="en-US" altLang="zh-CN" sz="2400" dirty="0" smtClean="0"/>
              <a:t>2</a:t>
            </a:r>
            <a:r>
              <a:rPr lang="zh-CN" altLang="en-US" sz="2400" dirty="0" smtClean="0"/>
              <a:t>、</a:t>
            </a:r>
            <a:r>
              <a:rPr lang="en-US" altLang="zh-CN" sz="2400" dirty="0" smtClean="0"/>
              <a:t>checkpoint</a:t>
            </a:r>
            <a:r>
              <a:rPr lang="zh-CN" altLang="en-US" sz="2400" dirty="0" smtClean="0"/>
              <a:t>支持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677844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文件</a:t>
            </a:r>
            <a:r>
              <a:rPr lang="zh-CN" altLang="en-US" dirty="0"/>
              <a:t>总体</a:t>
            </a:r>
            <a:r>
              <a:rPr lang="zh-CN" altLang="en-US" dirty="0" smtClean="0"/>
              <a:t>方案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249251" y="1790163"/>
            <a:ext cx="79383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一个</a:t>
            </a:r>
            <a:r>
              <a:rPr lang="en-US" altLang="zh-CN" dirty="0" err="1" smtClean="0"/>
              <a:t>cs</a:t>
            </a:r>
            <a:r>
              <a:rPr lang="zh-CN" altLang="en-US" dirty="0"/>
              <a:t>一</a:t>
            </a:r>
            <a:r>
              <a:rPr lang="zh-CN" altLang="en-US" dirty="0" smtClean="0"/>
              <a:t>个文件，每个</a:t>
            </a:r>
            <a:r>
              <a:rPr lang="en-US" altLang="zh-CN" dirty="0" smtClean="0"/>
              <a:t>segment</a:t>
            </a:r>
            <a:r>
              <a:rPr lang="zh-CN" altLang="en-US" dirty="0" smtClean="0"/>
              <a:t>按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放不同</a:t>
            </a:r>
            <a:r>
              <a:rPr lang="en-US" altLang="zh-CN" dirty="0" smtClean="0"/>
              <a:t>cl</a:t>
            </a:r>
            <a:r>
              <a:rPr lang="zh-CN" altLang="en-US" dirty="0" smtClean="0"/>
              <a:t>的数据。</a:t>
            </a:r>
            <a:endParaRPr lang="en-US" altLang="zh-CN" dirty="0" smtClean="0"/>
          </a:p>
          <a:p>
            <a:r>
              <a:rPr lang="en-US" altLang="zh-CN" dirty="0" smtClean="0"/>
              <a:t>cl</a:t>
            </a:r>
            <a:r>
              <a:rPr lang="zh-CN" altLang="en-US" dirty="0" smtClean="0"/>
              <a:t>与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的关系由专门的</a:t>
            </a:r>
            <a:r>
              <a:rPr lang="en-US" altLang="zh-CN" dirty="0" err="1" smtClean="0"/>
              <a:t>clRelationExtent</a:t>
            </a:r>
            <a:r>
              <a:rPr lang="zh-CN" altLang="en-US" dirty="0" smtClean="0"/>
              <a:t>来维护，动态增长。</a:t>
            </a:r>
            <a:endParaRPr lang="en-US" altLang="zh-CN" dirty="0" smtClean="0"/>
          </a:p>
          <a:p>
            <a:r>
              <a:rPr lang="en-US" altLang="zh-CN" dirty="0" smtClean="0"/>
              <a:t>Insert</a:t>
            </a:r>
            <a:r>
              <a:rPr lang="zh-CN" altLang="en-US" dirty="0" smtClean="0"/>
              <a:t>时查找空闲空间的</a:t>
            </a:r>
            <a:r>
              <a:rPr lang="en-US" altLang="zh-CN" dirty="0" smtClean="0"/>
              <a:t>bitmap</a:t>
            </a:r>
            <a:r>
              <a:rPr lang="zh-CN" altLang="en-US" dirty="0" smtClean="0"/>
              <a:t>由另外的</a:t>
            </a:r>
            <a:r>
              <a:rPr lang="en-US" altLang="zh-CN" dirty="0" smtClean="0"/>
              <a:t>meta</a:t>
            </a:r>
            <a:r>
              <a:rPr lang="zh-CN" altLang="en-US" dirty="0" smtClean="0"/>
              <a:t>文件保存管理，做快速查找用。</a:t>
            </a: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1622738" y="3760631"/>
            <a:ext cx="1818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|---</a:t>
            </a:r>
            <a:r>
              <a:rPr lang="en-US" altLang="zh-CN" dirty="0" err="1" smtClean="0"/>
              <a:t>datapath</a:t>
            </a:r>
            <a:endParaRPr lang="en-US" altLang="zh-CN" dirty="0" smtClean="0"/>
          </a:p>
          <a:p>
            <a:r>
              <a:rPr lang="en-US" altLang="zh-CN" dirty="0" smtClean="0"/>
              <a:t>  |---csid.1.data</a:t>
            </a:r>
          </a:p>
          <a:p>
            <a:r>
              <a:rPr lang="en-US" altLang="zh-CN" dirty="0"/>
              <a:t> </a:t>
            </a:r>
            <a:r>
              <a:rPr lang="en-US" altLang="zh-CN" dirty="0" smtClean="0"/>
              <a:t> |---csid.1.meta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9390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数据文件总体结构</a:t>
            </a:r>
            <a:endParaRPr lang="zh-CN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495860"/>
              </p:ext>
            </p:extLst>
          </p:nvPr>
        </p:nvGraphicFramePr>
        <p:xfrm>
          <a:off x="838200" y="2304872"/>
          <a:ext cx="4479402" cy="2247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567">
                  <a:extLst>
                    <a:ext uri="{9D8B030D-6E8A-4147-A177-3AD203B41FA5}">
                      <a16:colId xmlns:a16="http://schemas.microsoft.com/office/drawing/2014/main" val="3954433220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3984323689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1253501711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3873437384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1048809832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2210134178"/>
                    </a:ext>
                  </a:extLst>
                </a:gridCol>
              </a:tblGrid>
              <a:tr h="364281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File 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7371293"/>
                  </a:ext>
                </a:extLst>
              </a:tr>
              <a:tr h="333924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/>
                        <a:t>Space Management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3702555"/>
                  </a:ext>
                </a:extLst>
              </a:tr>
              <a:tr h="576778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page1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page2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19522"/>
                  </a:ext>
                </a:extLst>
              </a:tr>
              <a:tr h="485806"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292344"/>
                  </a:ext>
                </a:extLst>
              </a:tr>
              <a:tr h="485806"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0405608"/>
                  </a:ext>
                </a:extLst>
              </a:tr>
            </a:tbl>
          </a:graphicData>
        </a:graphic>
      </p:graphicFrame>
      <p:graphicFrame>
        <p:nvGraphicFramePr>
          <p:cNvPr id="9" name="表格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2718748"/>
              </p:ext>
            </p:extLst>
          </p:nvPr>
        </p:nvGraphicFramePr>
        <p:xfrm>
          <a:off x="6096000" y="2279479"/>
          <a:ext cx="4479402" cy="2241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9402">
                  <a:extLst>
                    <a:ext uri="{9D8B030D-6E8A-4147-A177-3AD203B41FA5}">
                      <a16:colId xmlns:a16="http://schemas.microsoft.com/office/drawing/2014/main" val="3954433220"/>
                    </a:ext>
                  </a:extLst>
                </a:gridCol>
              </a:tblGrid>
              <a:tr h="36428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File 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7371293"/>
                  </a:ext>
                </a:extLst>
              </a:tr>
              <a:tr h="33392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/>
                        <a:t>Space Management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702555"/>
                  </a:ext>
                </a:extLst>
              </a:tr>
              <a:tr h="49252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segment1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19522"/>
                  </a:ext>
                </a:extLst>
              </a:tr>
              <a:tr h="53376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segment2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292344"/>
                  </a:ext>
                </a:extLst>
              </a:tr>
              <a:tr h="51515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300955"/>
                  </a:ext>
                </a:extLst>
              </a:tr>
            </a:tbl>
          </a:graphicData>
        </a:graphic>
      </p:graphicFrame>
      <p:sp>
        <p:nvSpPr>
          <p:cNvPr id="13" name="文本框 12"/>
          <p:cNvSpPr txBox="1"/>
          <p:nvPr/>
        </p:nvSpPr>
        <p:spPr>
          <a:xfrm>
            <a:off x="7132487" y="5521124"/>
            <a:ext cx="2528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Segment size</a:t>
            </a:r>
            <a:r>
              <a:rPr lang="zh-CN" altLang="en-US" dirty="0" smtClean="0"/>
              <a:t>固定</a:t>
            </a:r>
            <a:r>
              <a:rPr lang="en-US" altLang="zh-CN" dirty="0" smtClean="0"/>
              <a:t>128</a:t>
            </a:r>
            <a:r>
              <a:rPr lang="en-US" altLang="zh-CN" dirty="0" smtClean="0"/>
              <a:t>M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48390" y="5521124"/>
            <a:ext cx="48590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Page </a:t>
            </a:r>
            <a:r>
              <a:rPr lang="en-US" altLang="zh-CN" dirty="0" smtClean="0"/>
              <a:t>size</a:t>
            </a:r>
            <a:r>
              <a:rPr lang="zh-CN" altLang="en-US" dirty="0" smtClean="0"/>
              <a:t>范围</a:t>
            </a:r>
            <a:r>
              <a:rPr lang="en-US" altLang="zh-CN" dirty="0" smtClean="0"/>
              <a:t>[4k, 8k, 16k, 32k, 64k, 128k, 256k]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473408" y="4564449"/>
            <a:ext cx="1208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page </a:t>
            </a:r>
            <a:r>
              <a:rPr lang="zh-CN" altLang="en-US" dirty="0" smtClean="0"/>
              <a:t>视图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7731208" y="4552823"/>
            <a:ext cx="156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segment</a:t>
            </a:r>
            <a:r>
              <a:rPr lang="en-US" altLang="zh-CN" dirty="0" smtClean="0"/>
              <a:t> </a:t>
            </a:r>
            <a:r>
              <a:rPr lang="zh-CN" altLang="en-US" dirty="0" smtClean="0"/>
              <a:t>视图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89697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13204"/>
          </a:xfrm>
        </p:spPr>
        <p:txBody>
          <a:bodyPr/>
          <a:lstStyle/>
          <a:p>
            <a:r>
              <a:rPr lang="en-US" altLang="zh-CN" dirty="0" smtClean="0"/>
              <a:t>File Header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221610"/>
              </p:ext>
            </p:extLst>
          </p:nvPr>
        </p:nvGraphicFramePr>
        <p:xfrm>
          <a:off x="838200" y="1766682"/>
          <a:ext cx="6342924" cy="4159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5584">
                  <a:extLst>
                    <a:ext uri="{9D8B030D-6E8A-4147-A177-3AD203B41FA5}">
                      <a16:colId xmlns:a16="http://schemas.microsoft.com/office/drawing/2014/main" val="3553256097"/>
                    </a:ext>
                  </a:extLst>
                </a:gridCol>
                <a:gridCol w="1369173">
                  <a:extLst>
                    <a:ext uri="{9D8B030D-6E8A-4147-A177-3AD203B41FA5}">
                      <a16:colId xmlns:a16="http://schemas.microsoft.com/office/drawing/2014/main" val="4246112648"/>
                    </a:ext>
                  </a:extLst>
                </a:gridCol>
                <a:gridCol w="1228410">
                  <a:extLst>
                    <a:ext uri="{9D8B030D-6E8A-4147-A177-3AD203B41FA5}">
                      <a16:colId xmlns:a16="http://schemas.microsoft.com/office/drawing/2014/main" val="697613201"/>
                    </a:ext>
                  </a:extLst>
                </a:gridCol>
                <a:gridCol w="2319757">
                  <a:extLst>
                    <a:ext uri="{9D8B030D-6E8A-4147-A177-3AD203B41FA5}">
                      <a16:colId xmlns:a16="http://schemas.microsoft.com/office/drawing/2014/main" val="2551292058"/>
                    </a:ext>
                  </a:extLst>
                </a:gridCol>
              </a:tblGrid>
              <a:tr h="292193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File 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7102329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名称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类型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长度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描述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1564046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EYE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 CATCHER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BYTES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识别串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7978886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version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UINT8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版本号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019821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err="1" smtClean="0">
                          <a:solidFill>
                            <a:schemeClr val="tx1"/>
                          </a:solidFill>
                        </a:rPr>
                        <a:t>cs</a:t>
                      </a:r>
                      <a:r>
                        <a:rPr lang="en-US" altLang="zh-CN" sz="1600" baseline="0" dirty="0" err="1" smtClean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CHAR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err="1" smtClean="0">
                          <a:solidFill>
                            <a:schemeClr val="tx1"/>
                          </a:solidFill>
                        </a:rPr>
                        <a:t>cs</a:t>
                      </a:r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名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612431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err="1" smtClean="0">
                          <a:solidFill>
                            <a:schemeClr val="tx1"/>
                          </a:solidFill>
                        </a:rPr>
                        <a:t>csID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UINT32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284969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Sequence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UINT16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文件序列号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8802394"/>
                  </a:ext>
                </a:extLst>
              </a:tr>
              <a:tr h="1142207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UINT16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文件类型：</a:t>
                      </a:r>
                      <a:endParaRPr lang="en-US" altLang="zh-CN" sz="160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 data</a:t>
                      </a:r>
                    </a:p>
                    <a:p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2. index</a:t>
                      </a:r>
                    </a:p>
                    <a:p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lob</a:t>
                      </a:r>
                      <a:endParaRPr lang="en-US" altLang="zh-CN" sz="1600" baseline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853178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Create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 time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UINT64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>
                          <a:solidFill>
                            <a:schemeClr val="tx1"/>
                          </a:solidFill>
                        </a:rPr>
                        <a:t>创建时间，毫秒数</a:t>
                      </a:r>
                      <a:endParaRPr lang="en-US" altLang="zh-CN" sz="1600" baseline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930073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reserved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BYTES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1024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>
                          <a:solidFill>
                            <a:schemeClr val="tx1"/>
                          </a:solidFill>
                        </a:rPr>
                        <a:t>预留字段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CN" altLang="en-US" sz="1600" baseline="0" dirty="0" smtClean="0">
                          <a:solidFill>
                            <a:schemeClr val="tx1"/>
                          </a:solidFill>
                        </a:rPr>
                        <a:t>默认值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0 )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99418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1303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Space </a:t>
            </a:r>
            <a:r>
              <a:rPr lang="en-US" altLang="zh-CN" dirty="0"/>
              <a:t>M</a:t>
            </a:r>
            <a:r>
              <a:rPr lang="en-US" altLang="zh-CN" dirty="0" smtClean="0"/>
              <a:t>anagement Extent</a:t>
            </a:r>
            <a:endParaRPr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575788"/>
              </p:ext>
            </p:extLst>
          </p:nvPr>
        </p:nvGraphicFramePr>
        <p:xfrm>
          <a:off x="838200" y="1725413"/>
          <a:ext cx="6847390" cy="3281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1461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37549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192193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3206187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55557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Space Management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24475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Version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UINT8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版本号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填充字段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12583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size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392964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当前已分配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9430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bitmap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16M</a:t>
                      </a:r>
                      <a:r>
                        <a:rPr lang="en-US" altLang="zh-CN" sz="16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  <a:endParaRPr lang="en-US" altLang="zh-CN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总共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128M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个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。每一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位标识是否使用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496127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Reserved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1024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预留字段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82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7285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Data Segment Metadata</a:t>
            </a:r>
            <a:endParaRPr lang="zh-CN" altLang="en-US" dirty="0"/>
          </a:p>
        </p:txBody>
      </p:sp>
      <p:graphicFrame>
        <p:nvGraphicFramePr>
          <p:cNvPr id="7" name="表格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837045"/>
              </p:ext>
            </p:extLst>
          </p:nvPr>
        </p:nvGraphicFramePr>
        <p:xfrm>
          <a:off x="838200" y="1529427"/>
          <a:ext cx="5608900" cy="2367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93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05329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1979271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55557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Segment Metadata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24475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Version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UINT8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版本号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填充位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496127"/>
                  </a:ext>
                </a:extLst>
              </a:tr>
              <a:tr h="14135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Reserved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1024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预留字段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914417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 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当前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 SLOT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256K * 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256K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个槽位号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3870"/>
                  </a:ext>
                </a:extLst>
              </a:tr>
            </a:tbl>
          </a:graphicData>
        </a:graphic>
      </p:graphicFrame>
      <p:graphicFrame>
        <p:nvGraphicFramePr>
          <p:cNvPr id="11" name="表格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830739"/>
              </p:ext>
            </p:extLst>
          </p:nvPr>
        </p:nvGraphicFramePr>
        <p:xfrm>
          <a:off x="838201" y="4023360"/>
          <a:ext cx="6824240" cy="1376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4756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9125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85652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511707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 SLOT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37101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per extent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每个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extent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占用的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914417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填充位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5017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8220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cl </a:t>
            </a:r>
            <a:r>
              <a:rPr lang="zh-CN" altLang="en-US" dirty="0" smtClean="0"/>
              <a:t>与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的关系</a:t>
            </a:r>
            <a:endParaRPr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610026"/>
              </p:ext>
            </p:extLst>
          </p:nvPr>
        </p:nvGraphicFramePr>
        <p:xfrm>
          <a:off x="1726841" y="2114157"/>
          <a:ext cx="3755724" cy="27612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954">
                  <a:extLst>
                    <a:ext uri="{9D8B030D-6E8A-4147-A177-3AD203B41FA5}">
                      <a16:colId xmlns:a16="http://schemas.microsoft.com/office/drawing/2014/main" val="1587746740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2969394237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306593386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1726841658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1944885060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1595363227"/>
                    </a:ext>
                  </a:extLst>
                </a:gridCol>
              </a:tblGrid>
              <a:tr h="45493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r1_0</a:t>
                      </a:r>
                      <a:endParaRPr lang="zh-CN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r2_0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cl2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r3_1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907438"/>
                  </a:ext>
                </a:extLst>
              </a:tr>
              <a:tr h="46125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 smtClean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r1_1</a:t>
                      </a:r>
                      <a:endParaRPr lang="zh-CN" altLang="en-US" sz="1800" b="1" dirty="0" smtClean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r1_2</a:t>
                      </a:r>
                      <a:endParaRPr lang="zh-CN" alt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b="1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092012"/>
                  </a:ext>
                </a:extLst>
              </a:tr>
              <a:tr h="4612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cl3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673971"/>
                  </a:ext>
                </a:extLst>
              </a:tr>
              <a:tr h="4612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022743"/>
                  </a:ext>
                </a:extLst>
              </a:tr>
              <a:tr h="461254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3001124"/>
                  </a:ext>
                </a:extLst>
              </a:tr>
              <a:tr h="461254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2294619"/>
                  </a:ext>
                </a:extLst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1873744" y="175257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0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2491929" y="175257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9" name="文本框 8"/>
          <p:cNvSpPr txBox="1"/>
          <p:nvPr/>
        </p:nvSpPr>
        <p:spPr>
          <a:xfrm>
            <a:off x="3110114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728299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11" name="文本框 10"/>
          <p:cNvSpPr txBox="1"/>
          <p:nvPr/>
        </p:nvSpPr>
        <p:spPr>
          <a:xfrm>
            <a:off x="4346484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12" name="文本框 11"/>
          <p:cNvSpPr txBox="1"/>
          <p:nvPr/>
        </p:nvSpPr>
        <p:spPr>
          <a:xfrm>
            <a:off x="4964669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1229800" y="2146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0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1229800" y="262321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1229800" y="305066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12</a:t>
            </a:r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1229800" y="349476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18</a:t>
            </a:r>
            <a:endParaRPr lang="zh-CN" altLang="en-US" dirty="0"/>
          </a:p>
        </p:txBody>
      </p:sp>
      <p:sp>
        <p:nvSpPr>
          <p:cNvPr id="17" name="文本框 16"/>
          <p:cNvSpPr txBox="1"/>
          <p:nvPr/>
        </p:nvSpPr>
        <p:spPr>
          <a:xfrm>
            <a:off x="1229800" y="393885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24</a:t>
            </a:r>
            <a:endParaRPr lang="zh-CN" altLang="en-US" dirty="0"/>
          </a:p>
        </p:txBody>
      </p:sp>
      <p:sp>
        <p:nvSpPr>
          <p:cNvPr id="18" name="文本框 17"/>
          <p:cNvSpPr txBox="1"/>
          <p:nvPr/>
        </p:nvSpPr>
        <p:spPr>
          <a:xfrm>
            <a:off x="1229800" y="438658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30</a:t>
            </a:r>
            <a:endParaRPr lang="zh-CN" altLang="en-US" dirty="0"/>
          </a:p>
        </p:txBody>
      </p:sp>
      <p:sp>
        <p:nvSpPr>
          <p:cNvPr id="20" name="矩形 19"/>
          <p:cNvSpPr/>
          <p:nvPr/>
        </p:nvSpPr>
        <p:spPr>
          <a:xfrm>
            <a:off x="49399" y="2414014"/>
            <a:ext cx="1165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segment1</a:t>
            </a:r>
            <a:endParaRPr lang="zh-CN" altLang="en-US" dirty="0"/>
          </a:p>
        </p:txBody>
      </p:sp>
      <p:sp>
        <p:nvSpPr>
          <p:cNvPr id="23" name="文本框 22"/>
          <p:cNvSpPr txBox="1"/>
          <p:nvPr/>
        </p:nvSpPr>
        <p:spPr>
          <a:xfrm>
            <a:off x="2976967" y="5052279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Extent</a:t>
            </a:r>
            <a:r>
              <a:rPr lang="zh-CN" altLang="en-US" dirty="0"/>
              <a:t>视图</a:t>
            </a:r>
          </a:p>
        </p:txBody>
      </p:sp>
      <p:sp>
        <p:nvSpPr>
          <p:cNvPr id="25" name="矩形 24"/>
          <p:cNvSpPr/>
          <p:nvPr/>
        </p:nvSpPr>
        <p:spPr>
          <a:xfrm>
            <a:off x="64096" y="3304820"/>
            <a:ext cx="1165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segment2</a:t>
            </a:r>
            <a:endParaRPr lang="zh-CN" altLang="en-US" dirty="0"/>
          </a:p>
        </p:txBody>
      </p:sp>
      <p:sp>
        <p:nvSpPr>
          <p:cNvPr id="26" name="矩形 25"/>
          <p:cNvSpPr/>
          <p:nvPr/>
        </p:nvSpPr>
        <p:spPr>
          <a:xfrm>
            <a:off x="64096" y="4190576"/>
            <a:ext cx="1165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segment3</a:t>
            </a:r>
            <a:endParaRPr lang="zh-CN" altLang="en-US" dirty="0"/>
          </a:p>
        </p:txBody>
      </p:sp>
      <p:cxnSp>
        <p:nvCxnSpPr>
          <p:cNvPr id="32" name="曲线连接符 31"/>
          <p:cNvCxnSpPr>
            <a:stCxn id="57" idx="0"/>
            <a:endCxn id="7" idx="2"/>
          </p:cNvCxnSpPr>
          <p:nvPr/>
        </p:nvCxnSpPr>
        <p:spPr>
          <a:xfrm rot="16200000" flipH="1" flipV="1">
            <a:off x="4439765" y="-1004665"/>
            <a:ext cx="713798" cy="5539346"/>
          </a:xfrm>
          <a:prstGeom prst="curvedConnector5">
            <a:avLst>
              <a:gd name="adj1" fmla="val -32026"/>
              <a:gd name="adj2" fmla="val 51639"/>
              <a:gd name="adj3" fmla="val 211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曲线连接符 41"/>
          <p:cNvCxnSpPr>
            <a:stCxn id="58" idx="2"/>
          </p:cNvCxnSpPr>
          <p:nvPr/>
        </p:nvCxnSpPr>
        <p:spPr>
          <a:xfrm rot="5400000">
            <a:off x="5001845" y="-450848"/>
            <a:ext cx="1030772" cy="5437614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曲线连接符 43"/>
          <p:cNvCxnSpPr>
            <a:stCxn id="59" idx="2"/>
          </p:cNvCxnSpPr>
          <p:nvPr/>
        </p:nvCxnSpPr>
        <p:spPr>
          <a:xfrm rot="5400000">
            <a:off x="5945587" y="-87621"/>
            <a:ext cx="1117190" cy="4797579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6" name="表格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820567"/>
              </p:ext>
            </p:extLst>
          </p:nvPr>
        </p:nvGraphicFramePr>
        <p:xfrm>
          <a:off x="6431745" y="3003197"/>
          <a:ext cx="230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972">
                  <a:extLst>
                    <a:ext uri="{9D8B030D-6E8A-4147-A177-3AD203B41FA5}">
                      <a16:colId xmlns:a16="http://schemas.microsoft.com/office/drawing/2014/main" val="78531934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775003825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293174619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586070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146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b="1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047197"/>
                  </a:ext>
                </a:extLst>
              </a:tr>
            </a:tbl>
          </a:graphicData>
        </a:graphic>
      </p:graphicFrame>
      <p:sp>
        <p:nvSpPr>
          <p:cNvPr id="47" name="文本框 46"/>
          <p:cNvSpPr txBox="1"/>
          <p:nvPr/>
        </p:nvSpPr>
        <p:spPr>
          <a:xfrm>
            <a:off x="6498812" y="3798082"/>
            <a:ext cx="2161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extent(</a:t>
            </a:r>
            <a:r>
              <a:rPr lang="en-US" altLang="zh-CN" b="1" dirty="0" smtClean="0">
                <a:solidFill>
                  <a:srgbClr val="FF0000"/>
                </a:solidFill>
              </a:rPr>
              <a:t>r1_0</a:t>
            </a:r>
            <a:r>
              <a:rPr lang="en-US" altLang="zh-CN" dirty="0" smtClean="0"/>
              <a:t>)</a:t>
            </a:r>
            <a:endParaRPr lang="zh-CN" altLang="en-US" dirty="0"/>
          </a:p>
        </p:txBody>
      </p:sp>
      <p:graphicFrame>
        <p:nvGraphicFramePr>
          <p:cNvPr id="48" name="表格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010641"/>
              </p:ext>
            </p:extLst>
          </p:nvPr>
        </p:nvGraphicFramePr>
        <p:xfrm>
          <a:off x="9211435" y="3013928"/>
          <a:ext cx="230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972">
                  <a:extLst>
                    <a:ext uri="{9D8B030D-6E8A-4147-A177-3AD203B41FA5}">
                      <a16:colId xmlns:a16="http://schemas.microsoft.com/office/drawing/2014/main" val="78531934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775003825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293174619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586070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146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047197"/>
                  </a:ext>
                </a:extLst>
              </a:tr>
            </a:tbl>
          </a:graphicData>
        </a:graphic>
      </p:graphicFrame>
      <p:sp>
        <p:nvSpPr>
          <p:cNvPr id="49" name="文本框 48"/>
          <p:cNvSpPr txBox="1"/>
          <p:nvPr/>
        </p:nvSpPr>
        <p:spPr>
          <a:xfrm>
            <a:off x="9315181" y="3796896"/>
            <a:ext cx="2161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extent(</a:t>
            </a:r>
            <a:r>
              <a:rPr lang="en-US" altLang="zh-CN" b="1" dirty="0" smtClean="0">
                <a:solidFill>
                  <a:srgbClr val="FF0000"/>
                </a:solidFill>
              </a:rPr>
              <a:t>r1_1</a:t>
            </a:r>
            <a:r>
              <a:rPr lang="en-US" altLang="zh-CN" dirty="0" smtClean="0"/>
              <a:t>)</a:t>
            </a:r>
            <a:endParaRPr lang="zh-CN" altLang="en-US" dirty="0"/>
          </a:p>
        </p:txBody>
      </p:sp>
      <p:graphicFrame>
        <p:nvGraphicFramePr>
          <p:cNvPr id="50" name="表格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930628"/>
              </p:ext>
            </p:extLst>
          </p:nvPr>
        </p:nvGraphicFramePr>
        <p:xfrm>
          <a:off x="6414393" y="4310599"/>
          <a:ext cx="230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972">
                  <a:extLst>
                    <a:ext uri="{9D8B030D-6E8A-4147-A177-3AD203B41FA5}">
                      <a16:colId xmlns:a16="http://schemas.microsoft.com/office/drawing/2014/main" val="78531934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775003825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293174619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586070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146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047197"/>
                  </a:ext>
                </a:extLst>
              </a:tr>
            </a:tbl>
          </a:graphicData>
        </a:graphic>
      </p:graphicFrame>
      <p:sp>
        <p:nvSpPr>
          <p:cNvPr id="51" name="文本框 50"/>
          <p:cNvSpPr txBox="1"/>
          <p:nvPr/>
        </p:nvSpPr>
        <p:spPr>
          <a:xfrm>
            <a:off x="6485752" y="5043161"/>
            <a:ext cx="2161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extent(</a:t>
            </a:r>
            <a:r>
              <a:rPr lang="en-US" altLang="zh-CN" b="1" dirty="0" smtClean="0">
                <a:solidFill>
                  <a:srgbClr val="FF0000"/>
                </a:solidFill>
              </a:rPr>
              <a:t>r1_2</a:t>
            </a:r>
            <a:r>
              <a:rPr lang="en-US" altLang="zh-CN" dirty="0" smtClean="0"/>
              <a:t>)</a:t>
            </a:r>
            <a:endParaRPr lang="zh-CN" altLang="en-US" dirty="0"/>
          </a:p>
        </p:txBody>
      </p:sp>
      <p:sp>
        <p:nvSpPr>
          <p:cNvPr id="52" name="文本框 51"/>
          <p:cNvSpPr txBox="1"/>
          <p:nvPr/>
        </p:nvSpPr>
        <p:spPr>
          <a:xfrm>
            <a:off x="7125735" y="1744825"/>
            <a:ext cx="2653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Level0 leve1 level2 level3</a:t>
            </a:r>
            <a:endParaRPr lang="zh-CN" altLang="en-US" dirty="0"/>
          </a:p>
        </p:txBody>
      </p:sp>
      <p:sp>
        <p:nvSpPr>
          <p:cNvPr id="54" name="文本框 53"/>
          <p:cNvSpPr txBox="1"/>
          <p:nvPr/>
        </p:nvSpPr>
        <p:spPr>
          <a:xfrm>
            <a:off x="1443961" y="5866011"/>
            <a:ext cx="4323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extent: r1_0, r2_0, r3_1, r1_1, r1_2</a:t>
            </a:r>
            <a:endParaRPr lang="zh-CN" altLang="en-US" dirty="0"/>
          </a:p>
        </p:txBody>
      </p:sp>
      <p:sp>
        <p:nvSpPr>
          <p:cNvPr id="55" name="文本框 54"/>
          <p:cNvSpPr txBox="1"/>
          <p:nvPr/>
        </p:nvSpPr>
        <p:spPr>
          <a:xfrm>
            <a:off x="1443961" y="6347035"/>
            <a:ext cx="2371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Data extent: cl1,cl2,cl3</a:t>
            </a:r>
            <a:endParaRPr lang="zh-CN" altLang="en-US" dirty="0"/>
          </a:p>
        </p:txBody>
      </p:sp>
      <p:sp>
        <p:nvSpPr>
          <p:cNvPr id="56" name="矩形 55"/>
          <p:cNvSpPr/>
          <p:nvPr/>
        </p:nvSpPr>
        <p:spPr>
          <a:xfrm>
            <a:off x="6564553" y="1408110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cl1</a:t>
            </a:r>
            <a:endParaRPr lang="zh-CN" altLang="en-US" dirty="0"/>
          </a:p>
        </p:txBody>
      </p:sp>
      <p:sp>
        <p:nvSpPr>
          <p:cNvPr id="57" name="矩形 56"/>
          <p:cNvSpPr/>
          <p:nvPr/>
        </p:nvSpPr>
        <p:spPr>
          <a:xfrm>
            <a:off x="7231486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level0</a:t>
            </a:r>
            <a:endParaRPr lang="zh-CN" altLang="en-US" sz="1400" dirty="0"/>
          </a:p>
        </p:txBody>
      </p:sp>
      <p:sp>
        <p:nvSpPr>
          <p:cNvPr id="58" name="矩形 57"/>
          <p:cNvSpPr/>
          <p:nvPr/>
        </p:nvSpPr>
        <p:spPr>
          <a:xfrm>
            <a:off x="7901187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level1</a:t>
            </a:r>
            <a:endParaRPr lang="zh-CN" altLang="en-US" sz="1400" dirty="0"/>
          </a:p>
        </p:txBody>
      </p:sp>
      <p:sp>
        <p:nvSpPr>
          <p:cNvPr id="59" name="矩形 58"/>
          <p:cNvSpPr/>
          <p:nvPr/>
        </p:nvSpPr>
        <p:spPr>
          <a:xfrm>
            <a:off x="8568120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level2</a:t>
            </a:r>
            <a:endParaRPr lang="zh-CN" altLang="en-US" sz="1400" dirty="0"/>
          </a:p>
        </p:txBody>
      </p:sp>
      <p:sp>
        <p:nvSpPr>
          <p:cNvPr id="60" name="矩形 59"/>
          <p:cNvSpPr/>
          <p:nvPr/>
        </p:nvSpPr>
        <p:spPr>
          <a:xfrm>
            <a:off x="9235053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level3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85082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Extent Header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917711"/>
              </p:ext>
            </p:extLst>
          </p:nvPr>
        </p:nvGraphicFramePr>
        <p:xfrm>
          <a:off x="838200" y="1781535"/>
          <a:ext cx="6338104" cy="4306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5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70847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77794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Extent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EYE_CATCHER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version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版本号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249934"/>
                  </a:ext>
                </a:extLst>
              </a:tr>
              <a:tr h="750845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status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 smtClean="0"/>
                        <a:t>0x00 normal</a:t>
                      </a:r>
                    </a:p>
                    <a:p>
                      <a:r>
                        <a:rPr lang="en-US" altLang="zh-CN" sz="1600" baseline="0" dirty="0" smtClean="0"/>
                        <a:t>0x01 deleted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 smtClean="0"/>
                        <a:t>0x00 </a:t>
                      </a:r>
                      <a:r>
                        <a:rPr lang="en-US" altLang="zh-CN" sz="1600" baseline="0" dirty="0" smtClean="0"/>
                        <a:t>data extent</a:t>
                      </a:r>
                      <a:endParaRPr lang="en-US" altLang="zh-CN" sz="1600" baseline="0" dirty="0" smtClean="0"/>
                    </a:p>
                    <a:p>
                      <a:r>
                        <a:rPr lang="en-US" altLang="zh-CN" sz="1600" baseline="0" dirty="0" smtClean="0"/>
                        <a:t>0x01 relation extent level0</a:t>
                      </a:r>
                    </a:p>
                    <a:p>
                      <a:r>
                        <a:rPr lang="en-US" altLang="zh-CN" sz="1600" baseline="0" dirty="0" smtClean="0"/>
                        <a:t>0x02 relation extent level1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Page </a:t>
                      </a:r>
                      <a:r>
                        <a:rPr lang="en-US" altLang="zh-CN" sz="1600" dirty="0" err="1" smtClean="0"/>
                        <a:t>num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UINT16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 smtClean="0"/>
                        <a:t>Extent</a:t>
                      </a:r>
                      <a:r>
                        <a:rPr lang="zh-CN" altLang="en-US" sz="1600" baseline="0" dirty="0" smtClean="0"/>
                        <a:t>包含的</a:t>
                      </a:r>
                      <a:r>
                        <a:rPr lang="en-US" altLang="zh-CN" sz="1600" baseline="0" dirty="0" smtClean="0"/>
                        <a:t>page</a:t>
                      </a:r>
                      <a:r>
                        <a:rPr lang="zh-CN" altLang="en-US" sz="1600" baseline="0" dirty="0" smtClean="0"/>
                        <a:t>数量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9686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pad1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填充位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80449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checksum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4272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257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9259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Data Extent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466910"/>
              </p:ext>
            </p:extLst>
          </p:nvPr>
        </p:nvGraphicFramePr>
        <p:xfrm>
          <a:off x="838200" y="1400535"/>
          <a:ext cx="6338104" cy="476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5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70847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77794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Data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Extent Header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record</a:t>
                      </a:r>
                      <a:r>
                        <a:rPr lang="en-US" altLang="zh-CN" sz="1600" baseline="0" dirty="0" smtClean="0"/>
                        <a:t> count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记录数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24993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clid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224458"/>
                  </a:ext>
                </a:extLst>
              </a:tr>
              <a:tr h="872732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Free space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总的剩余空间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Max free continuous</a:t>
                      </a:r>
                      <a:r>
                        <a:rPr lang="en-US" altLang="zh-CN" sz="1600" baseline="0" dirty="0" smtClean="0"/>
                        <a:t> space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最大连续的剩余空间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last slot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最后一个</a:t>
                      </a:r>
                      <a:r>
                        <a:rPr lang="en-US" altLang="zh-CN" sz="1600" baseline="0" dirty="0" smtClean="0"/>
                        <a:t>slot</a:t>
                      </a:r>
                      <a:r>
                        <a:rPr lang="zh-CN" altLang="en-US" sz="1600" baseline="0" dirty="0" smtClean="0"/>
                        <a:t>编号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9686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reserved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CHAR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预留位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80449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slots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 * 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记录</a:t>
                      </a:r>
                      <a:r>
                        <a:rPr lang="en-US" altLang="zh-CN" sz="1600" baseline="0" dirty="0" smtClean="0"/>
                        <a:t>Extent</a:t>
                      </a:r>
                      <a:r>
                        <a:rPr lang="zh-CN" altLang="en-US" sz="1600" baseline="0" dirty="0" smtClean="0"/>
                        <a:t>内偏移地址。有几条记录则记录几个</a:t>
                      </a:r>
                      <a:r>
                        <a:rPr lang="en-US" altLang="zh-CN" sz="1600" baseline="0" dirty="0" smtClean="0"/>
                        <a:t>slot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4272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data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数据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257145"/>
                  </a:ext>
                </a:extLst>
              </a:tr>
            </a:tbl>
          </a:graphicData>
        </a:graphic>
      </p:graphicFrame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6339406"/>
              </p:ext>
            </p:extLst>
          </p:nvPr>
        </p:nvGraphicFramePr>
        <p:xfrm>
          <a:off x="7592028" y="2700331"/>
          <a:ext cx="3761772" cy="17293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443">
                  <a:extLst>
                    <a:ext uri="{9D8B030D-6E8A-4147-A177-3AD203B41FA5}">
                      <a16:colId xmlns:a16="http://schemas.microsoft.com/office/drawing/2014/main" val="226489393"/>
                    </a:ext>
                  </a:extLst>
                </a:gridCol>
                <a:gridCol w="940443">
                  <a:extLst>
                    <a:ext uri="{9D8B030D-6E8A-4147-A177-3AD203B41FA5}">
                      <a16:colId xmlns:a16="http://schemas.microsoft.com/office/drawing/2014/main" val="3315947240"/>
                    </a:ext>
                  </a:extLst>
                </a:gridCol>
                <a:gridCol w="1880886">
                  <a:extLst>
                    <a:ext uri="{9D8B030D-6E8A-4147-A177-3AD203B41FA5}">
                      <a16:colId xmlns:a16="http://schemas.microsoft.com/office/drawing/2014/main" val="4175610667"/>
                    </a:ext>
                  </a:extLst>
                </a:gridCol>
              </a:tblGrid>
              <a:tr h="57644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offset1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offset2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1460894"/>
                  </a:ext>
                </a:extLst>
              </a:tr>
              <a:tr h="576447">
                <a:tc gridSpan="3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7524138"/>
                  </a:ext>
                </a:extLst>
              </a:tr>
              <a:tr h="576447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data2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data1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742222"/>
                  </a:ext>
                </a:extLst>
              </a:tr>
            </a:tbl>
          </a:graphicData>
        </a:graphic>
      </p:graphicFrame>
      <p:cxnSp>
        <p:nvCxnSpPr>
          <p:cNvPr id="11" name="直接箭头连接符 10"/>
          <p:cNvCxnSpPr/>
          <p:nvPr/>
        </p:nvCxnSpPr>
        <p:spPr>
          <a:xfrm>
            <a:off x="8715736" y="3194611"/>
            <a:ext cx="0" cy="7407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>
            <a:off x="8090704" y="3067291"/>
            <a:ext cx="1551007" cy="8681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20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Relation extent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9931175"/>
              </p:ext>
            </p:extLst>
          </p:nvPr>
        </p:nvGraphicFramePr>
        <p:xfrm>
          <a:off x="554862" y="1761140"/>
          <a:ext cx="6338104" cy="469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5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70847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77794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Relation Extent·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Extent Header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idx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在二级索引中的下标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35317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Extent</a:t>
                      </a:r>
                      <a:r>
                        <a:rPr lang="en-US" altLang="zh-CN" sz="1600" baseline="0" dirty="0" smtClean="0"/>
                        <a:t> slots[N]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 * 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N = (64K(extent</a:t>
                      </a:r>
                      <a:r>
                        <a:rPr lang="en-US" altLang="zh-CN" sz="1600" baseline="0" dirty="0" smtClean="0"/>
                        <a:t> length) – 16(header, </a:t>
                      </a:r>
                      <a:r>
                        <a:rPr lang="en-US" altLang="zh-CN" sz="1600" baseline="0" dirty="0" err="1" smtClean="0"/>
                        <a:t>idx</a:t>
                      </a:r>
                      <a:r>
                        <a:rPr lang="en-US" altLang="zh-CN" sz="1600" baseline="0" dirty="0" smtClean="0"/>
                        <a:t>)) / 4(extent id length) - 1 = 16k – 4</a:t>
                      </a:r>
                      <a:r>
                        <a:rPr lang="zh-CN" altLang="en-US" sz="1600" baseline="0" dirty="0" smtClean="0"/>
                        <a:t>。</a:t>
                      </a:r>
                      <a:endParaRPr lang="en-US" altLang="zh-CN" sz="1600" baseline="0" dirty="0" smtClean="0"/>
                    </a:p>
                    <a:p>
                      <a:endParaRPr lang="en-US" altLang="zh-CN" sz="1600" baseline="0" dirty="0" smtClean="0"/>
                    </a:p>
                    <a:p>
                      <a:r>
                        <a:rPr lang="zh-CN" altLang="en-US" sz="1600" baseline="0" dirty="0" smtClean="0"/>
                        <a:t>当为</a:t>
                      </a:r>
                      <a:r>
                        <a:rPr lang="en-US" altLang="zh-CN" sz="1600" baseline="0" dirty="0" smtClean="0"/>
                        <a:t>relation extent leaf</a:t>
                      </a:r>
                      <a:r>
                        <a:rPr lang="zh-CN" altLang="en-US" sz="1600" baseline="0" dirty="0" smtClean="0"/>
                        <a:t>时，最后一个保存的是</a:t>
                      </a:r>
                      <a:r>
                        <a:rPr lang="en-US" altLang="zh-CN" sz="1600" baseline="0" dirty="0" smtClean="0"/>
                        <a:t>relation extent root</a:t>
                      </a:r>
                      <a:r>
                        <a:rPr lang="zh-CN" altLang="en-US" sz="1600" baseline="0" dirty="0" smtClean="0"/>
                        <a:t>的</a:t>
                      </a:r>
                      <a:r>
                        <a:rPr lang="en-US" altLang="zh-CN" sz="1600" baseline="0" dirty="0" smtClean="0"/>
                        <a:t>extent id</a:t>
                      </a:r>
                      <a:r>
                        <a:rPr lang="zh-CN" altLang="en-US" sz="1600" baseline="0" dirty="0" smtClean="0"/>
                        <a:t>；其他为</a:t>
                      </a:r>
                      <a:r>
                        <a:rPr lang="en-US" altLang="zh-CN" sz="1600" baseline="0" dirty="0" smtClean="0"/>
                        <a:t>data extent id</a:t>
                      </a:r>
                      <a:r>
                        <a:rPr lang="zh-CN" altLang="en-US" sz="1600" baseline="0" dirty="0" smtClean="0"/>
                        <a:t>。</a:t>
                      </a:r>
                      <a:endParaRPr lang="en-US" altLang="zh-CN" sz="1600" baseline="0" dirty="0" smtClean="0"/>
                    </a:p>
                    <a:p>
                      <a:endParaRPr lang="en-US" altLang="zh-CN" sz="1600" baseline="0" dirty="0" smtClean="0"/>
                    </a:p>
                    <a:p>
                      <a:r>
                        <a:rPr lang="zh-CN" altLang="en-US" sz="1600" baseline="0" dirty="0" smtClean="0"/>
                        <a:t>当为</a:t>
                      </a:r>
                      <a:r>
                        <a:rPr lang="en-US" altLang="zh-CN" sz="1600" baseline="0" dirty="0" smtClean="0"/>
                        <a:t>relation extent root</a:t>
                      </a:r>
                      <a:r>
                        <a:rPr lang="zh-CN" altLang="en-US" sz="1600" baseline="0" dirty="0" smtClean="0"/>
                        <a:t>时，均表示</a:t>
                      </a:r>
                      <a:r>
                        <a:rPr lang="en-US" altLang="zh-CN" sz="1600" baseline="0" dirty="0" smtClean="0"/>
                        <a:t>relation extent leaf</a:t>
                      </a:r>
                      <a:r>
                        <a:rPr lang="zh-CN" altLang="en-US" sz="1600" baseline="0" dirty="0" smtClean="0"/>
                        <a:t>的</a:t>
                      </a:r>
                      <a:r>
                        <a:rPr lang="en-US" altLang="zh-CN" sz="1600" baseline="0" dirty="0" smtClean="0"/>
                        <a:t>extent id</a:t>
                      </a:r>
                      <a:r>
                        <a:rPr lang="zh-CN" altLang="en-US" sz="1600" baseline="0" dirty="0" smtClean="0"/>
                        <a:t>。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24993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224458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8229600" y="2421227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leaf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7559899" y="175656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cl</a:t>
            </a:r>
            <a:endParaRPr lang="zh-CN" altLang="en-US" dirty="0"/>
          </a:p>
        </p:txBody>
      </p:sp>
      <p:cxnSp>
        <p:nvCxnSpPr>
          <p:cNvPr id="8" name="曲线连接符 7"/>
          <p:cNvCxnSpPr>
            <a:stCxn id="28" idx="2"/>
            <a:endCxn id="5" idx="0"/>
          </p:cNvCxnSpPr>
          <p:nvPr/>
        </p:nvCxnSpPr>
        <p:spPr>
          <a:xfrm rot="16200000" flipH="1">
            <a:off x="8402970" y="2259745"/>
            <a:ext cx="320195" cy="276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/>
          <p:cNvSpPr/>
          <p:nvPr/>
        </p:nvSpPr>
        <p:spPr>
          <a:xfrm>
            <a:off x="9540476" y="2421226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root</a:t>
            </a:r>
            <a:endParaRPr lang="zh-CN" altLang="en-US" dirty="0"/>
          </a:p>
        </p:txBody>
      </p:sp>
      <p:cxnSp>
        <p:nvCxnSpPr>
          <p:cNvPr id="15" name="曲线连接符 14"/>
          <p:cNvCxnSpPr>
            <a:stCxn id="5" idx="3"/>
            <a:endCxn id="13" idx="1"/>
          </p:cNvCxnSpPr>
          <p:nvPr/>
        </p:nvCxnSpPr>
        <p:spPr>
          <a:xfrm flipV="1">
            <a:off x="8899301" y="2646607"/>
            <a:ext cx="641175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/>
          <p:cNvSpPr/>
          <p:nvPr/>
        </p:nvSpPr>
        <p:spPr>
          <a:xfrm>
            <a:off x="8229599" y="3467298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leaf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9540475" y="3467296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leaf</a:t>
            </a:r>
            <a:endParaRPr lang="zh-CN" altLang="en-US" dirty="0"/>
          </a:p>
        </p:txBody>
      </p:sp>
      <p:sp>
        <p:nvSpPr>
          <p:cNvPr id="19" name="矩形 18"/>
          <p:cNvSpPr/>
          <p:nvPr/>
        </p:nvSpPr>
        <p:spPr>
          <a:xfrm>
            <a:off x="10851351" y="3467296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leaf</a:t>
            </a:r>
            <a:endParaRPr lang="zh-CN" altLang="en-US" dirty="0"/>
          </a:p>
        </p:txBody>
      </p:sp>
      <p:cxnSp>
        <p:nvCxnSpPr>
          <p:cNvPr id="21" name="曲线连接符 20"/>
          <p:cNvCxnSpPr>
            <a:stCxn id="13" idx="2"/>
            <a:endCxn id="17" idx="0"/>
          </p:cNvCxnSpPr>
          <p:nvPr/>
        </p:nvCxnSpPr>
        <p:spPr>
          <a:xfrm rot="5400000">
            <a:off x="8922234" y="2514204"/>
            <a:ext cx="595311" cy="1310877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曲线连接符 22"/>
          <p:cNvCxnSpPr>
            <a:stCxn id="13" idx="2"/>
            <a:endCxn id="18" idx="0"/>
          </p:cNvCxnSpPr>
          <p:nvPr/>
        </p:nvCxnSpPr>
        <p:spPr>
          <a:xfrm rot="5400000">
            <a:off x="9577673" y="3169641"/>
            <a:ext cx="595309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曲线连接符 24"/>
          <p:cNvCxnSpPr>
            <a:stCxn id="13" idx="2"/>
            <a:endCxn id="19" idx="0"/>
          </p:cNvCxnSpPr>
          <p:nvPr/>
        </p:nvCxnSpPr>
        <p:spPr>
          <a:xfrm rot="16200000" flipH="1">
            <a:off x="10233110" y="2514203"/>
            <a:ext cx="595309" cy="131087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曲线连接符 26"/>
          <p:cNvCxnSpPr>
            <a:stCxn id="13" idx="2"/>
            <a:endCxn id="5" idx="0"/>
          </p:cNvCxnSpPr>
          <p:nvPr/>
        </p:nvCxnSpPr>
        <p:spPr>
          <a:xfrm rot="5400000" flipH="1">
            <a:off x="8994509" y="1991169"/>
            <a:ext cx="450760" cy="1310876"/>
          </a:xfrm>
          <a:prstGeom prst="curvedConnector5">
            <a:avLst>
              <a:gd name="adj1" fmla="val -50714"/>
              <a:gd name="adj2" fmla="val 50000"/>
              <a:gd name="adj3" fmla="val 15071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/>
          <p:cNvSpPr/>
          <p:nvPr/>
        </p:nvSpPr>
        <p:spPr>
          <a:xfrm>
            <a:off x="8226832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level0</a:t>
            </a:r>
            <a:endParaRPr lang="zh-CN" altLang="en-US" sz="1400" dirty="0"/>
          </a:p>
        </p:txBody>
      </p:sp>
      <p:sp>
        <p:nvSpPr>
          <p:cNvPr id="32" name="矩形 31"/>
          <p:cNvSpPr/>
          <p:nvPr/>
        </p:nvSpPr>
        <p:spPr>
          <a:xfrm>
            <a:off x="8896533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level1</a:t>
            </a:r>
            <a:endParaRPr lang="zh-CN" altLang="en-US" sz="1400" dirty="0"/>
          </a:p>
        </p:txBody>
      </p:sp>
      <p:sp>
        <p:nvSpPr>
          <p:cNvPr id="33" name="矩形 32"/>
          <p:cNvSpPr/>
          <p:nvPr/>
        </p:nvSpPr>
        <p:spPr>
          <a:xfrm>
            <a:off x="9563466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level2</a:t>
            </a:r>
            <a:endParaRPr lang="zh-CN" altLang="en-US" sz="1400" dirty="0"/>
          </a:p>
        </p:txBody>
      </p:sp>
      <p:sp>
        <p:nvSpPr>
          <p:cNvPr id="34" name="矩形 33"/>
          <p:cNvSpPr/>
          <p:nvPr/>
        </p:nvSpPr>
        <p:spPr>
          <a:xfrm>
            <a:off x="10230399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level3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43552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cl</a:t>
            </a:r>
            <a:r>
              <a:rPr lang="zh-CN" altLang="en-US" dirty="0" smtClean="0"/>
              <a:t>内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空闲空间管理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8229600" y="2421227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leaf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7559899" y="175656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cl</a:t>
            </a:r>
            <a:endParaRPr lang="zh-CN" altLang="en-US" dirty="0"/>
          </a:p>
        </p:txBody>
      </p:sp>
      <p:cxnSp>
        <p:nvCxnSpPr>
          <p:cNvPr id="8" name="曲线连接符 7"/>
          <p:cNvCxnSpPr>
            <a:stCxn id="18" idx="2"/>
            <a:endCxn id="6" idx="0"/>
          </p:cNvCxnSpPr>
          <p:nvPr/>
        </p:nvCxnSpPr>
        <p:spPr>
          <a:xfrm rot="16200000" flipH="1">
            <a:off x="8402970" y="2259745"/>
            <a:ext cx="320195" cy="276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9540476" y="2421226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root</a:t>
            </a:r>
            <a:endParaRPr lang="zh-CN" altLang="en-US" dirty="0"/>
          </a:p>
        </p:txBody>
      </p:sp>
      <p:cxnSp>
        <p:nvCxnSpPr>
          <p:cNvPr id="10" name="曲线连接符 9"/>
          <p:cNvCxnSpPr>
            <a:stCxn id="6" idx="3"/>
            <a:endCxn id="9" idx="1"/>
          </p:cNvCxnSpPr>
          <p:nvPr/>
        </p:nvCxnSpPr>
        <p:spPr>
          <a:xfrm flipV="1">
            <a:off x="8899301" y="2646607"/>
            <a:ext cx="641175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8229599" y="3467298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leaf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9540475" y="3467296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leaf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0851351" y="3467296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leaf</a:t>
            </a:r>
            <a:endParaRPr lang="zh-CN" altLang="en-US" dirty="0"/>
          </a:p>
        </p:txBody>
      </p:sp>
      <p:cxnSp>
        <p:nvCxnSpPr>
          <p:cNvPr id="14" name="曲线连接符 13"/>
          <p:cNvCxnSpPr>
            <a:stCxn id="9" idx="2"/>
            <a:endCxn id="11" idx="0"/>
          </p:cNvCxnSpPr>
          <p:nvPr/>
        </p:nvCxnSpPr>
        <p:spPr>
          <a:xfrm rot="5400000">
            <a:off x="8922234" y="2514204"/>
            <a:ext cx="595311" cy="1310877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曲线连接符 14"/>
          <p:cNvCxnSpPr>
            <a:stCxn id="9" idx="2"/>
            <a:endCxn id="12" idx="0"/>
          </p:cNvCxnSpPr>
          <p:nvPr/>
        </p:nvCxnSpPr>
        <p:spPr>
          <a:xfrm rot="5400000">
            <a:off x="9577673" y="3169641"/>
            <a:ext cx="595309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曲线连接符 15"/>
          <p:cNvCxnSpPr>
            <a:stCxn id="9" idx="2"/>
            <a:endCxn id="13" idx="0"/>
          </p:cNvCxnSpPr>
          <p:nvPr/>
        </p:nvCxnSpPr>
        <p:spPr>
          <a:xfrm rot="16200000" flipH="1">
            <a:off x="10233110" y="2514203"/>
            <a:ext cx="595309" cy="131087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曲线连接符 16"/>
          <p:cNvCxnSpPr>
            <a:stCxn id="9" idx="2"/>
            <a:endCxn id="6" idx="0"/>
          </p:cNvCxnSpPr>
          <p:nvPr/>
        </p:nvCxnSpPr>
        <p:spPr>
          <a:xfrm rot="5400000" flipH="1">
            <a:off x="8994509" y="1991169"/>
            <a:ext cx="450760" cy="1310876"/>
          </a:xfrm>
          <a:prstGeom prst="curvedConnector5">
            <a:avLst>
              <a:gd name="adj1" fmla="val -50714"/>
              <a:gd name="adj2" fmla="val 50000"/>
              <a:gd name="adj3" fmla="val 15071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/>
          <p:cNvSpPr/>
          <p:nvPr/>
        </p:nvSpPr>
        <p:spPr>
          <a:xfrm>
            <a:off x="8226832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level0</a:t>
            </a:r>
            <a:endParaRPr lang="zh-CN" altLang="en-US" sz="1400" dirty="0"/>
          </a:p>
        </p:txBody>
      </p:sp>
      <p:sp>
        <p:nvSpPr>
          <p:cNvPr id="19" name="矩形 18"/>
          <p:cNvSpPr/>
          <p:nvPr/>
        </p:nvSpPr>
        <p:spPr>
          <a:xfrm>
            <a:off x="8896533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level1</a:t>
            </a:r>
            <a:endParaRPr lang="zh-CN" altLang="en-US" sz="1400" dirty="0"/>
          </a:p>
        </p:txBody>
      </p:sp>
      <p:sp>
        <p:nvSpPr>
          <p:cNvPr id="20" name="矩形 19"/>
          <p:cNvSpPr/>
          <p:nvPr/>
        </p:nvSpPr>
        <p:spPr>
          <a:xfrm>
            <a:off x="9563466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level2</a:t>
            </a:r>
            <a:endParaRPr lang="zh-CN" altLang="en-US" sz="1400" dirty="0"/>
          </a:p>
        </p:txBody>
      </p:sp>
      <p:sp>
        <p:nvSpPr>
          <p:cNvPr id="21" name="矩形 20"/>
          <p:cNvSpPr/>
          <p:nvPr/>
        </p:nvSpPr>
        <p:spPr>
          <a:xfrm>
            <a:off x="10230399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level3</a:t>
            </a:r>
            <a:endParaRPr lang="zh-CN" altLang="en-US" sz="1400" dirty="0"/>
          </a:p>
        </p:txBody>
      </p:sp>
      <p:sp>
        <p:nvSpPr>
          <p:cNvPr id="3" name="文本框 2"/>
          <p:cNvSpPr txBox="1"/>
          <p:nvPr/>
        </p:nvSpPr>
        <p:spPr>
          <a:xfrm>
            <a:off x="1146220" y="1970468"/>
            <a:ext cx="5617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在</a:t>
            </a:r>
            <a:r>
              <a:rPr lang="en-US" altLang="zh-CN" dirty="0" smtClean="0"/>
              <a:t>meta</a:t>
            </a:r>
            <a:r>
              <a:rPr lang="zh-CN" altLang="en-US" dirty="0" smtClean="0"/>
              <a:t>文件中，记录</a:t>
            </a:r>
            <a:r>
              <a:rPr lang="en-US" altLang="zh-CN" dirty="0" smtClean="0"/>
              <a:t>cl</a:t>
            </a:r>
            <a:r>
              <a:rPr lang="zh-CN" altLang="en-US" dirty="0" smtClean="0"/>
              <a:t>各个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空闲空间的</a:t>
            </a:r>
            <a:r>
              <a:rPr lang="en-US" altLang="zh-CN" dirty="0" smtClean="0"/>
              <a:t>bitmap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lang="zh-CN" altLang="en-US" dirty="0" smtClean="0"/>
              <a:t>如右图所示，其数据结构与</a:t>
            </a:r>
            <a:r>
              <a:rPr lang="en-US" altLang="zh-CN" dirty="0" smtClean="0"/>
              <a:t>cl</a:t>
            </a:r>
            <a:r>
              <a:rPr lang="zh-CN" altLang="en-US" dirty="0" smtClean="0"/>
              <a:t>的</a:t>
            </a:r>
            <a:r>
              <a:rPr lang="en-US" altLang="zh-CN" dirty="0" smtClean="0"/>
              <a:t>relation extent</a:t>
            </a:r>
            <a:r>
              <a:rPr lang="zh-CN" altLang="en-US" dirty="0" smtClean="0"/>
              <a:t>类似</a:t>
            </a:r>
            <a:endParaRPr lang="zh-CN" altLang="en-US" dirty="0"/>
          </a:p>
        </p:txBody>
      </p:sp>
      <p:graphicFrame>
        <p:nvGraphicFramePr>
          <p:cNvPr id="22" name="表格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631296"/>
              </p:ext>
            </p:extLst>
          </p:nvPr>
        </p:nvGraphicFramePr>
        <p:xfrm>
          <a:off x="773624" y="2871986"/>
          <a:ext cx="6479949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1098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70847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77794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Relation Extent·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Extent Header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idx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在</a:t>
                      </a:r>
                      <a:r>
                        <a:rPr lang="en-US" altLang="zh-CN" sz="1600" dirty="0" smtClean="0"/>
                        <a:t>root</a:t>
                      </a:r>
                      <a:r>
                        <a:rPr lang="en-US" altLang="zh-CN" sz="1600" baseline="0" dirty="0" smtClean="0"/>
                        <a:t> extent</a:t>
                      </a:r>
                      <a:r>
                        <a:rPr lang="zh-CN" altLang="en-US" sz="1600" dirty="0" smtClean="0"/>
                        <a:t>中的下标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35317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root extent 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根节点的</a:t>
                      </a:r>
                      <a:r>
                        <a:rPr lang="en-US" altLang="zh-CN" sz="1600" dirty="0" smtClean="0"/>
                        <a:t>extent</a:t>
                      </a:r>
                      <a:r>
                        <a:rPr lang="en-US" altLang="zh-CN" sz="1600" baseline="0" dirty="0" smtClean="0"/>
                        <a:t> 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218475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600" b="1" dirty="0" smtClean="0">
                          <a:solidFill>
                            <a:srgbClr val="FF0000"/>
                          </a:solidFill>
                        </a:rPr>
                        <a:t>Max free</a:t>
                      </a:r>
                      <a:r>
                        <a:rPr lang="en-US" altLang="zh-CN" sz="1600" b="1" baseline="0" dirty="0" smtClean="0">
                          <a:solidFill>
                            <a:srgbClr val="FF0000"/>
                          </a:solidFill>
                        </a:rPr>
                        <a:t> space level</a:t>
                      </a:r>
                      <a:endParaRPr lang="zh-CN" altLang="en-US" sz="16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 smtClean="0">
                          <a:solidFill>
                            <a:srgbClr val="FF0000"/>
                          </a:solidFill>
                        </a:rPr>
                        <a:t>BYTE</a:t>
                      </a:r>
                      <a:endParaRPr lang="zh-CN" altLang="en-US" sz="16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 smtClean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sz="16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="1" dirty="0" smtClean="0">
                          <a:solidFill>
                            <a:srgbClr val="FF0000"/>
                          </a:solidFill>
                        </a:rPr>
                        <a:t>本</a:t>
                      </a:r>
                      <a:r>
                        <a:rPr lang="en-US" altLang="zh-CN" sz="1600" b="1" dirty="0" smtClean="0">
                          <a:solidFill>
                            <a:srgbClr val="FF0000"/>
                          </a:solidFill>
                        </a:rPr>
                        <a:t>leaf</a:t>
                      </a:r>
                      <a:r>
                        <a:rPr lang="zh-CN" altLang="en-US" sz="1600" b="1" dirty="0" smtClean="0">
                          <a:solidFill>
                            <a:srgbClr val="FF0000"/>
                          </a:solidFill>
                        </a:rPr>
                        <a:t>节点中最大连续空闲空间等级</a:t>
                      </a:r>
                      <a:endParaRPr lang="zh-CN" altLang="en-US" sz="16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2048734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pad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3 </a:t>
                      </a:r>
                      <a:r>
                        <a:rPr lang="zh-CN" altLang="en-US" sz="1600" dirty="0" smtClean="0"/>
                        <a:t>* </a:t>
                      </a:r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填充位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83510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free</a:t>
                      </a:r>
                      <a:r>
                        <a:rPr lang="en-US" altLang="zh-CN" sz="1600" baseline="0" dirty="0" smtClean="0"/>
                        <a:t> space level slots[N]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 * 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24993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2244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8082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CS Metadata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985515"/>
              </p:ext>
            </p:extLst>
          </p:nvPr>
        </p:nvGraphicFramePr>
        <p:xfrm>
          <a:off x="838200" y="1626293"/>
          <a:ext cx="56089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93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05329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1979271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20077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Collection Metadata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30182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30182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Collection slots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4096 * xx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755658"/>
              </p:ext>
            </p:extLst>
          </p:nvPr>
        </p:nvGraphicFramePr>
        <p:xfrm>
          <a:off x="838200" y="2723936"/>
          <a:ext cx="10083085" cy="40011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93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05329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645345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12225">
                <a:tc gridSpan="4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Collection slots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32626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32626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clName</a:t>
                      </a:r>
                      <a:endParaRPr lang="en-US" altLang="zh-CN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CHAR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128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表名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32626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clid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UINT64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表唯一</a:t>
                      </a:r>
                      <a:r>
                        <a:rPr lang="en-US" altLang="zh-CN" sz="1600" dirty="0" smtClean="0"/>
                        <a:t>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496127"/>
                  </a:ext>
                </a:extLst>
              </a:tr>
              <a:tr h="31222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idx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在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Slot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中的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idx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914417"/>
                  </a:ext>
                </a:extLst>
              </a:tr>
              <a:tr h="31222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Flag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状态位（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free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dropped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used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online reorg etc.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967559"/>
                  </a:ext>
                </a:extLst>
              </a:tr>
              <a:tr h="53929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Records(8)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DataPages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(4)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IndexPages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(4)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DataFreeSpace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(8)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IndexFreeSpace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(8)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LobPages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(4)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40447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compressorType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压缩类型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926502"/>
                  </a:ext>
                </a:extLst>
              </a:tr>
              <a:tr h="31222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dictExtentID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字典所在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extentID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919122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indexExtent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[64]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64 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 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索引定义所在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extent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，最大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64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个索引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1846790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relationExtent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[4]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  <a:endParaRPr lang="en-US" altLang="zh-CN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 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 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aseline="0" dirty="0" smtClean="0"/>
                        <a:t>根据记录大小分为</a:t>
                      </a:r>
                      <a:r>
                        <a:rPr lang="en-US" altLang="zh-CN" sz="1600" baseline="0" dirty="0" smtClean="0"/>
                        <a:t>4</a:t>
                      </a:r>
                      <a:r>
                        <a:rPr lang="zh-CN" altLang="en-US" sz="1600" baseline="0" dirty="0" smtClean="0"/>
                        <a:t>个等级：</a:t>
                      </a:r>
                      <a:r>
                        <a:rPr lang="en-US" altLang="zh-CN" sz="1600" baseline="0" dirty="0" smtClean="0"/>
                        <a:t>(0, 4k)</a:t>
                      </a:r>
                      <a:r>
                        <a:rPr lang="zh-CN" altLang="en-US" sz="1600" baseline="0" dirty="0" smtClean="0"/>
                        <a:t>、</a:t>
                      </a:r>
                      <a:r>
                        <a:rPr lang="en-US" altLang="zh-CN" sz="1600" baseline="0" dirty="0" smtClean="0"/>
                        <a:t>[4k, 64k)</a:t>
                      </a:r>
                      <a:r>
                        <a:rPr lang="zh-CN" altLang="en-US" sz="1600" baseline="0" dirty="0" smtClean="0"/>
                        <a:t>、</a:t>
                      </a:r>
                      <a:r>
                        <a:rPr lang="en-US" altLang="zh-CN" sz="1600" baseline="0" dirty="0" smtClean="0"/>
                        <a:t>[64k, 1M)</a:t>
                      </a:r>
                      <a:r>
                        <a:rPr lang="zh-CN" altLang="en-US" sz="1600" baseline="0" dirty="0" smtClean="0"/>
                        <a:t>、</a:t>
                      </a:r>
                      <a:r>
                        <a:rPr lang="en-US" altLang="zh-CN" sz="1600" baseline="0" dirty="0" smtClean="0"/>
                        <a:t>[1M, 16M )</a:t>
                      </a:r>
                      <a:endParaRPr lang="zh-CN" altLang="en-US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94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7365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838200" y="2409372"/>
            <a:ext cx="10995318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baseline="0" dirty="0" smtClean="0">
                <a:solidFill>
                  <a:srgbClr val="00B050"/>
                </a:solidFill>
              </a:rPr>
              <a:t>1</a:t>
            </a:r>
            <a:r>
              <a:rPr lang="zh-CN" altLang="en-US" b="1" baseline="0" dirty="0" smtClean="0">
                <a:solidFill>
                  <a:srgbClr val="00B050"/>
                </a:solidFill>
              </a:rPr>
              <a:t>、</a:t>
            </a:r>
            <a:r>
              <a:rPr lang="en-US" altLang="zh-CN" b="1" baseline="0" dirty="0" smtClean="0">
                <a:solidFill>
                  <a:srgbClr val="00B050"/>
                </a:solidFill>
              </a:rPr>
              <a:t>Segment </a:t>
            </a:r>
            <a:r>
              <a:rPr lang="zh-CN" altLang="en-US" b="1" baseline="0" dirty="0" smtClean="0">
                <a:solidFill>
                  <a:srgbClr val="00B050"/>
                </a:solidFill>
              </a:rPr>
              <a:t>可以放不同</a:t>
            </a:r>
            <a:r>
              <a:rPr lang="en-US" altLang="zh-CN" b="1" baseline="0" dirty="0" smtClean="0">
                <a:solidFill>
                  <a:srgbClr val="00B050"/>
                </a:solidFill>
              </a:rPr>
              <a:t>cl </a:t>
            </a:r>
            <a:endParaRPr lang="zh-CN" altLang="en-US" b="1" dirty="0" smtClean="0">
              <a:solidFill>
                <a:srgbClr val="00B050"/>
              </a:solidFill>
            </a:endParaRPr>
          </a:p>
          <a:p>
            <a:r>
              <a:rPr lang="en-US" altLang="zh-CN" b="1" dirty="0" smtClean="0">
                <a:solidFill>
                  <a:srgbClr val="00B050"/>
                </a:solidFill>
              </a:rPr>
              <a:t>2</a:t>
            </a:r>
            <a:r>
              <a:rPr lang="zh-CN" altLang="en-US" b="1" dirty="0" smtClean="0">
                <a:solidFill>
                  <a:srgbClr val="00B050"/>
                </a:solidFill>
              </a:rPr>
              <a:t>、数据文件多节点之间完全一致，是否还有问题（压缩算法</a:t>
            </a:r>
            <a:r>
              <a:rPr lang="zh-CN" altLang="en-US" b="1" dirty="0" smtClean="0">
                <a:solidFill>
                  <a:srgbClr val="00B050"/>
                </a:solidFill>
              </a:rPr>
              <a:t>）</a:t>
            </a:r>
            <a:endParaRPr lang="en-US" altLang="zh-CN" b="1" dirty="0" smtClean="0">
              <a:solidFill>
                <a:srgbClr val="00B050"/>
              </a:solidFill>
            </a:endParaRPr>
          </a:p>
          <a:p>
            <a:r>
              <a:rPr lang="en-US" altLang="zh-CN" b="1" dirty="0" smtClean="0">
                <a:solidFill>
                  <a:srgbClr val="00B050"/>
                </a:solidFill>
              </a:rPr>
              <a:t>3</a:t>
            </a:r>
            <a:r>
              <a:rPr lang="zh-CN" altLang="en-US" b="1" dirty="0" smtClean="0">
                <a:solidFill>
                  <a:srgbClr val="00B050"/>
                </a:solidFill>
              </a:rPr>
              <a:t>、细化</a:t>
            </a:r>
            <a:r>
              <a:rPr lang="en-US" altLang="zh-CN" b="1" dirty="0" smtClean="0">
                <a:solidFill>
                  <a:srgbClr val="00B050"/>
                </a:solidFill>
              </a:rPr>
              <a:t>page</a:t>
            </a:r>
            <a:r>
              <a:rPr lang="zh-CN" altLang="en-US" b="1" dirty="0" smtClean="0">
                <a:solidFill>
                  <a:srgbClr val="00B050"/>
                </a:solidFill>
              </a:rPr>
              <a:t>分配算法 </a:t>
            </a:r>
            <a:r>
              <a:rPr lang="en-US" altLang="zh-CN" b="1" dirty="0" smtClean="0">
                <a:solidFill>
                  <a:srgbClr val="00B050"/>
                </a:solidFill>
              </a:rPr>
              <a:t>bitmap</a:t>
            </a:r>
            <a:r>
              <a:rPr lang="zh-CN" altLang="en-US" b="1" dirty="0" smtClean="0">
                <a:solidFill>
                  <a:srgbClr val="00B050"/>
                </a:solidFill>
              </a:rPr>
              <a:t>（有效，无效，锁流程）</a:t>
            </a:r>
            <a:endParaRPr lang="en-US" altLang="zh-CN" b="1" dirty="0" smtClean="0">
              <a:solidFill>
                <a:srgbClr val="00B050"/>
              </a:solidFill>
            </a:endParaRPr>
          </a:p>
          <a:p>
            <a:r>
              <a:rPr lang="en-US" altLang="zh-CN" b="1" dirty="0" smtClean="0">
                <a:solidFill>
                  <a:srgbClr val="FF0000"/>
                </a:solidFill>
              </a:rPr>
              <a:t>4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smtClean="0">
                <a:solidFill>
                  <a:srgbClr val="FF0000"/>
                </a:solidFill>
              </a:rPr>
              <a:t>checkpoint</a:t>
            </a:r>
            <a:r>
              <a:rPr lang="zh-CN" altLang="en-US" b="1" dirty="0" smtClean="0">
                <a:solidFill>
                  <a:srgbClr val="FF0000"/>
                </a:solidFill>
              </a:rPr>
              <a:t>、页本身的校验。</a:t>
            </a:r>
            <a:endParaRPr lang="en-US" altLang="zh-CN" b="1" dirty="0" smtClean="0">
              <a:solidFill>
                <a:srgbClr val="FF0000"/>
              </a:solidFill>
            </a:endParaRPr>
          </a:p>
          <a:p>
            <a:r>
              <a:rPr lang="en-US" altLang="zh-CN" b="1" dirty="0" smtClean="0">
                <a:solidFill>
                  <a:srgbClr val="FF0000"/>
                </a:solidFill>
              </a:rPr>
              <a:t>5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err="1" smtClean="0">
                <a:solidFill>
                  <a:srgbClr val="FF0000"/>
                </a:solidFill>
              </a:rPr>
              <a:t>mvcc</a:t>
            </a:r>
            <a:r>
              <a:rPr lang="zh-CN" altLang="en-US" b="1" dirty="0" smtClean="0">
                <a:solidFill>
                  <a:srgbClr val="FF0000"/>
                </a:solidFill>
              </a:rPr>
              <a:t>（</a:t>
            </a:r>
            <a:r>
              <a:rPr lang="en-US" altLang="zh-CN" b="1" dirty="0" smtClean="0">
                <a:solidFill>
                  <a:srgbClr val="FF0000"/>
                </a:solidFill>
              </a:rPr>
              <a:t>LSM tree</a:t>
            </a:r>
            <a:r>
              <a:rPr lang="zh-CN" altLang="en-US" b="1" dirty="0" smtClean="0">
                <a:solidFill>
                  <a:srgbClr val="FF0000"/>
                </a:solidFill>
              </a:rPr>
              <a:t>）</a:t>
            </a:r>
            <a:endParaRPr lang="en-US" altLang="zh-CN" b="1" dirty="0" smtClean="0">
              <a:solidFill>
                <a:srgbClr val="FF0000"/>
              </a:solidFill>
            </a:endParaRPr>
          </a:p>
          <a:p>
            <a:r>
              <a:rPr lang="en-US" altLang="zh-CN" b="1" dirty="0" smtClean="0">
                <a:solidFill>
                  <a:srgbClr val="FF0000"/>
                </a:solidFill>
              </a:rPr>
              <a:t>6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smtClean="0">
                <a:solidFill>
                  <a:srgbClr val="FF0000"/>
                </a:solidFill>
              </a:rPr>
              <a:t>v1</a:t>
            </a:r>
            <a:r>
              <a:rPr lang="zh-CN" altLang="en-US" b="1" dirty="0" smtClean="0">
                <a:solidFill>
                  <a:srgbClr val="FF0000"/>
                </a:solidFill>
              </a:rPr>
              <a:t>，</a:t>
            </a:r>
            <a:r>
              <a:rPr lang="en-US" altLang="zh-CN" b="1" dirty="0" smtClean="0">
                <a:solidFill>
                  <a:srgbClr val="FF0000"/>
                </a:solidFill>
              </a:rPr>
              <a:t>v2</a:t>
            </a:r>
            <a:r>
              <a:rPr lang="zh-CN" altLang="en-US" b="1" dirty="0" smtClean="0">
                <a:solidFill>
                  <a:srgbClr val="FF0000"/>
                </a:solidFill>
              </a:rPr>
              <a:t>引擎共存时，如何保证数据正确及正常切换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en-US" altLang="zh-CN" b="1" dirty="0" smtClean="0">
                <a:solidFill>
                  <a:srgbClr val="FF0000"/>
                </a:solidFill>
              </a:rPr>
              <a:t>7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err="1" smtClean="0">
                <a:solidFill>
                  <a:srgbClr val="FF0000"/>
                </a:solidFill>
              </a:rPr>
              <a:t>dps</a:t>
            </a:r>
            <a:r>
              <a:rPr lang="zh-CN" altLang="en-US" b="1" dirty="0" smtClean="0">
                <a:solidFill>
                  <a:srgbClr val="FF0000"/>
                </a:solidFill>
              </a:rPr>
              <a:t>日志如何写？（文件中的元数据，压缩字典，数据，创表等操作）</a:t>
            </a:r>
            <a:endParaRPr lang="en-US" altLang="zh-CN" b="1" dirty="0" smtClean="0">
              <a:solidFill>
                <a:srgbClr val="FF0000"/>
              </a:solidFill>
            </a:endParaRPr>
          </a:p>
          <a:p>
            <a:r>
              <a:rPr lang="en-US" altLang="zh-CN" b="1" dirty="0" smtClean="0">
                <a:solidFill>
                  <a:srgbClr val="FF0000"/>
                </a:solidFill>
              </a:rPr>
              <a:t>8</a:t>
            </a:r>
            <a:r>
              <a:rPr lang="zh-CN" altLang="en-US" b="1" dirty="0" smtClean="0">
                <a:solidFill>
                  <a:srgbClr val="FF0000"/>
                </a:solidFill>
              </a:rPr>
              <a:t>、数据块恢复， 当本地数据块损坏时，如何获取对端的数据块，同时要保证</a:t>
            </a:r>
            <a:r>
              <a:rPr lang="en-US" altLang="zh-CN" b="1" dirty="0" smtClean="0">
                <a:solidFill>
                  <a:srgbClr val="FF0000"/>
                </a:solidFill>
              </a:rPr>
              <a:t>LSN</a:t>
            </a:r>
            <a:r>
              <a:rPr lang="zh-CN" altLang="en-US" b="1" dirty="0" smtClean="0">
                <a:solidFill>
                  <a:srgbClr val="FF0000"/>
                </a:solidFill>
              </a:rPr>
              <a:t>的一致性。</a:t>
            </a:r>
            <a:endParaRPr lang="en-US" altLang="zh-CN" b="1" dirty="0" smtClean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 </a:t>
            </a:r>
            <a:r>
              <a:rPr lang="en-US" altLang="zh-CN" b="1" dirty="0" smtClean="0">
                <a:solidFill>
                  <a:srgbClr val="FF0000"/>
                </a:solidFill>
              </a:rPr>
              <a:t>     </a:t>
            </a:r>
            <a:r>
              <a:rPr lang="zh-CN" altLang="en-US" b="1" dirty="0" smtClean="0">
                <a:solidFill>
                  <a:srgbClr val="FF0000"/>
                </a:solidFill>
              </a:rPr>
              <a:t>如本地事务才到</a:t>
            </a:r>
            <a:r>
              <a:rPr lang="en-US" altLang="zh-CN" b="1" dirty="0" smtClean="0">
                <a:solidFill>
                  <a:srgbClr val="FF0000"/>
                </a:solidFill>
              </a:rPr>
              <a:t>100</a:t>
            </a:r>
            <a:r>
              <a:rPr lang="zh-CN" altLang="en-US" b="1" dirty="0" smtClean="0">
                <a:solidFill>
                  <a:srgbClr val="FF0000"/>
                </a:solidFill>
              </a:rPr>
              <a:t>，而对端发过来的数据块已经到</a:t>
            </a:r>
            <a:r>
              <a:rPr lang="en-US" altLang="zh-CN" b="1" dirty="0" smtClean="0">
                <a:solidFill>
                  <a:srgbClr val="FF0000"/>
                </a:solidFill>
              </a:rPr>
              <a:t>200</a:t>
            </a:r>
            <a:r>
              <a:rPr lang="zh-CN" altLang="en-US" b="1" dirty="0" smtClean="0">
                <a:solidFill>
                  <a:srgbClr val="FF0000"/>
                </a:solidFill>
              </a:rPr>
              <a:t>了，此时备节点是没有</a:t>
            </a:r>
            <a:r>
              <a:rPr lang="en-US" altLang="zh-CN" b="1" dirty="0" smtClean="0">
                <a:solidFill>
                  <a:srgbClr val="FF0000"/>
                </a:solidFill>
              </a:rPr>
              <a:t>100-200</a:t>
            </a:r>
            <a:r>
              <a:rPr lang="zh-CN" altLang="en-US" b="1" dirty="0" smtClean="0">
                <a:solidFill>
                  <a:srgbClr val="FF0000"/>
                </a:solidFill>
              </a:rPr>
              <a:t>之间的事务的。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zh-CN" altLang="en-US" b="1" dirty="0" smtClean="0">
                <a:solidFill>
                  <a:srgbClr val="FF0000"/>
                </a:solidFill>
              </a:rPr>
              <a:t>文件、</a:t>
            </a:r>
            <a:r>
              <a:rPr lang="en-US" altLang="zh-CN" b="1" dirty="0" smtClean="0">
                <a:solidFill>
                  <a:srgbClr val="FF0000"/>
                </a:solidFill>
              </a:rPr>
              <a:t>checkpoint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err="1" smtClean="0">
                <a:solidFill>
                  <a:srgbClr val="FF0000"/>
                </a:solidFill>
              </a:rPr>
              <a:t>wal</a:t>
            </a:r>
            <a:endParaRPr lang="en-US" altLang="zh-CN" b="1" dirty="0" smtClean="0">
              <a:solidFill>
                <a:srgbClr val="FF0000"/>
              </a:solidFill>
            </a:endParaRPr>
          </a:p>
          <a:p>
            <a:endParaRPr lang="en-US" altLang="zh-CN" b="1" dirty="0" smtClean="0">
              <a:solidFill>
                <a:srgbClr val="FF0000"/>
              </a:solidFill>
            </a:endParaRPr>
          </a:p>
          <a:p>
            <a:endParaRPr lang="en-US" altLang="zh-CN" b="1" dirty="0" smtClean="0">
              <a:solidFill>
                <a:srgbClr val="FF0000"/>
              </a:solidFill>
            </a:endParaRPr>
          </a:p>
          <a:p>
            <a:endParaRPr lang="en-US" altLang="zh-CN" b="1" dirty="0" smtClean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60100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408308"/>
              </p:ext>
            </p:extLst>
          </p:nvPr>
        </p:nvGraphicFramePr>
        <p:xfrm>
          <a:off x="142741" y="2597979"/>
          <a:ext cx="6596999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115">
                  <a:extLst>
                    <a:ext uri="{9D8B030D-6E8A-4147-A177-3AD203B41FA5}">
                      <a16:colId xmlns:a16="http://schemas.microsoft.com/office/drawing/2014/main" val="2249297909"/>
                    </a:ext>
                  </a:extLst>
                </a:gridCol>
                <a:gridCol w="953037">
                  <a:extLst>
                    <a:ext uri="{9D8B030D-6E8A-4147-A177-3AD203B41FA5}">
                      <a16:colId xmlns:a16="http://schemas.microsoft.com/office/drawing/2014/main" val="1015509528"/>
                    </a:ext>
                  </a:extLst>
                </a:gridCol>
                <a:gridCol w="2279561">
                  <a:extLst>
                    <a:ext uri="{9D8B030D-6E8A-4147-A177-3AD203B41FA5}">
                      <a16:colId xmlns:a16="http://schemas.microsoft.com/office/drawing/2014/main" val="1354780554"/>
                    </a:ext>
                  </a:extLst>
                </a:gridCol>
                <a:gridCol w="1674253">
                  <a:extLst>
                    <a:ext uri="{9D8B030D-6E8A-4147-A177-3AD203B41FA5}">
                      <a16:colId xmlns:a16="http://schemas.microsoft.com/office/drawing/2014/main" val="101577088"/>
                    </a:ext>
                  </a:extLst>
                </a:gridCol>
                <a:gridCol w="648033">
                  <a:extLst>
                    <a:ext uri="{9D8B030D-6E8A-4147-A177-3AD203B41FA5}">
                      <a16:colId xmlns:a16="http://schemas.microsoft.com/office/drawing/2014/main" val="4130007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page</a:t>
                      </a:r>
                      <a:r>
                        <a:rPr lang="en-US" altLang="zh-CN" sz="1600" baseline="0" dirty="0" smtClean="0"/>
                        <a:t> size</a:t>
                      </a:r>
                      <a:endParaRPr lang="zh-CN" altLang="en-US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File size</a:t>
                      </a:r>
                      <a:endParaRPr lang="zh-CN" altLang="en-US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Segment slot number</a:t>
                      </a:r>
                      <a:endParaRPr lang="zh-CN" altLang="en-US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473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512G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507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704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4084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4082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12530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4644814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256k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256k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9043090"/>
                  </a:ext>
                </a:extLst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1094704" y="2150772"/>
            <a:ext cx="420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page</a:t>
            </a:r>
            <a:r>
              <a:rPr lang="zh-CN" altLang="en-US" dirty="0"/>
              <a:t> </a:t>
            </a:r>
            <a:r>
              <a:rPr lang="en-US" altLang="zh-CN" dirty="0" err="1" smtClean="0"/>
              <a:t>num</a:t>
            </a:r>
            <a:r>
              <a:rPr lang="zh-CN" altLang="en-US" dirty="0" smtClean="0"/>
              <a:t> </a:t>
            </a:r>
            <a:r>
              <a:rPr lang="en-US" altLang="zh-CN" dirty="0" smtClean="0"/>
              <a:t>128M</a:t>
            </a:r>
            <a:r>
              <a:rPr lang="zh-CN" altLang="en-US" dirty="0" smtClean="0"/>
              <a:t>个，</a:t>
            </a:r>
            <a:r>
              <a:rPr lang="en-US" altLang="zh-CN" dirty="0" smtClean="0"/>
              <a:t>segment</a:t>
            </a:r>
            <a:r>
              <a:rPr lang="zh-CN" altLang="en-US" dirty="0"/>
              <a:t> </a:t>
            </a:r>
            <a:r>
              <a:rPr lang="en-US" altLang="zh-CN" dirty="0" smtClean="0"/>
              <a:t>size 128M</a:t>
            </a:r>
            <a:endParaRPr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6897764"/>
              </p:ext>
            </p:extLst>
          </p:nvPr>
        </p:nvGraphicFramePr>
        <p:xfrm>
          <a:off x="7057621" y="2516699"/>
          <a:ext cx="4881094" cy="303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8948">
                  <a:extLst>
                    <a:ext uri="{9D8B030D-6E8A-4147-A177-3AD203B41FA5}">
                      <a16:colId xmlns:a16="http://schemas.microsoft.com/office/drawing/2014/main" val="2848572070"/>
                    </a:ext>
                  </a:extLst>
                </a:gridCol>
                <a:gridCol w="721217">
                  <a:extLst>
                    <a:ext uri="{9D8B030D-6E8A-4147-A177-3AD203B41FA5}">
                      <a16:colId xmlns:a16="http://schemas.microsoft.com/office/drawing/2014/main" val="2018968454"/>
                    </a:ext>
                  </a:extLst>
                </a:gridCol>
                <a:gridCol w="953037">
                  <a:extLst>
                    <a:ext uri="{9D8B030D-6E8A-4147-A177-3AD203B41FA5}">
                      <a16:colId xmlns:a16="http://schemas.microsoft.com/office/drawing/2014/main" val="2117237622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615805294"/>
                    </a:ext>
                  </a:extLst>
                </a:gridCol>
                <a:gridCol w="1094704">
                  <a:extLst>
                    <a:ext uri="{9D8B030D-6E8A-4147-A177-3AD203B41FA5}">
                      <a16:colId xmlns:a16="http://schemas.microsoft.com/office/drawing/2014/main" val="1500529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         rec</a:t>
                      </a:r>
                      <a:r>
                        <a:rPr lang="en-US" altLang="zh-CN" sz="1200" baseline="0" dirty="0" smtClean="0"/>
                        <a:t> size</a:t>
                      </a:r>
                      <a:endParaRPr lang="en-US" altLang="zh-CN" sz="1200" dirty="0" smtClean="0"/>
                    </a:p>
                    <a:p>
                      <a:r>
                        <a:rPr lang="en-US" altLang="zh-CN" sz="1200" dirty="0" smtClean="0"/>
                        <a:t>page size</a:t>
                      </a:r>
                      <a:endParaRPr lang="zh-CN" altLang="en-US" sz="1200" dirty="0"/>
                    </a:p>
                  </a:txBody>
                  <a:tcPr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(0,4k)</a:t>
                      </a:r>
                      <a:endParaRPr lang="zh-CN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[4k,64k)</a:t>
                      </a:r>
                      <a:endParaRPr lang="zh-CN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[64k,1M)</a:t>
                      </a:r>
                      <a:endParaRPr lang="zh-CN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[1M,16M]</a:t>
                      </a:r>
                      <a:endParaRPr lang="zh-CN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912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6000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512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976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256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6295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128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512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40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256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311735"/>
                  </a:ext>
                </a:extLst>
              </a:tr>
              <a:tr h="29159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128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398630"/>
                  </a:ext>
                </a:extLst>
              </a:tr>
              <a:tr h="217424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256k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647440"/>
                  </a:ext>
                </a:extLst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7422920" y="2150772"/>
            <a:ext cx="415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以</a:t>
            </a:r>
            <a:r>
              <a:rPr lang="zh-CN" altLang="en-US" dirty="0" smtClean="0"/>
              <a:t>一个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可以放</a:t>
            </a:r>
            <a:r>
              <a:rPr lang="en-US" altLang="zh-CN" dirty="0" smtClean="0"/>
              <a:t>4</a:t>
            </a:r>
            <a:r>
              <a:rPr lang="zh-CN" altLang="en-US" dirty="0" smtClean="0"/>
              <a:t>条最大记录为原则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58001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7EDCC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7EDCC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31102</TotalTime>
  <Words>1345</Words>
  <Application>Microsoft Office PowerPoint</Application>
  <PresentationFormat>宽屏</PresentationFormat>
  <Paragraphs>507</Paragraphs>
  <Slides>15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等线</vt:lpstr>
      <vt:lpstr>等线 Light</vt:lpstr>
      <vt:lpstr>Arial</vt:lpstr>
      <vt:lpstr>Office 主题​​</vt:lpstr>
      <vt:lpstr>数据文件设计</vt:lpstr>
      <vt:lpstr>问题</vt:lpstr>
      <vt:lpstr>文件总体方案</vt:lpstr>
      <vt:lpstr>数据文件总体结构</vt:lpstr>
      <vt:lpstr>File Header</vt:lpstr>
      <vt:lpstr>Space Management Extent</vt:lpstr>
      <vt:lpstr>Data Segment Metadata</vt:lpstr>
      <vt:lpstr>cl 与extent的关系</vt:lpstr>
      <vt:lpstr>Extent Header</vt:lpstr>
      <vt:lpstr>Data Extent</vt:lpstr>
      <vt:lpstr>Relation extent</vt:lpstr>
      <vt:lpstr>cl内Extent空闲空间管理</vt:lpstr>
      <vt:lpstr>CS Metadata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数据文件设计</dc:title>
  <dc:creator>linyoubin</dc:creator>
  <cp:lastModifiedBy>linyoubin</cp:lastModifiedBy>
  <cp:revision>648</cp:revision>
  <dcterms:created xsi:type="dcterms:W3CDTF">2018-11-26T02:24:39Z</dcterms:created>
  <dcterms:modified xsi:type="dcterms:W3CDTF">2018-12-21T09:55:55Z</dcterms:modified>
</cp:coreProperties>
</file>