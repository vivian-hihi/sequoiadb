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69" r:id="rId3"/>
    <p:sldId id="267" r:id="rId4"/>
    <p:sldId id="257" r:id="rId5"/>
    <p:sldId id="263" r:id="rId6"/>
    <p:sldId id="266" r:id="rId7"/>
    <p:sldId id="261" r:id="rId8"/>
    <p:sldId id="277" r:id="rId9"/>
    <p:sldId id="274" r:id="rId10"/>
    <p:sldId id="270" r:id="rId11"/>
    <p:sldId id="265" r:id="rId12"/>
    <p:sldId id="275" r:id="rId13"/>
    <p:sldId id="273" r:id="rId14"/>
    <p:sldId id="278" r:id="rId15"/>
    <p:sldId id="268" r:id="rId16"/>
    <p:sldId id="260" r:id="rId17"/>
    <p:sldId id="276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nyoubin" initials="l" lastIdx="1" clrIdx="0">
    <p:extLst>
      <p:ext uri="{19B8F6BF-5375-455C-9EA6-DF929625EA0E}">
        <p15:presenceInfo xmlns:p15="http://schemas.microsoft.com/office/powerpoint/2012/main" userId="linyoubi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53" autoAdjust="0"/>
    <p:restoredTop sz="81636" autoAdjust="0"/>
  </p:normalViewPr>
  <p:slideViewPr>
    <p:cSldViewPr snapToGrid="0">
      <p:cViewPr>
        <p:scale>
          <a:sx n="75" d="100"/>
          <a:sy n="75" d="100"/>
        </p:scale>
        <p:origin x="57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3CF9C5-560D-4BE0-8FF5-372197204B47}" type="datetimeFigureOut">
              <a:rPr lang="zh-CN" altLang="en-US" smtClean="0"/>
              <a:t>2019/1/4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227AFA-EB4C-4686-97EC-5D83EA90DB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2282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227AFA-EB4C-4686-97EC-5D83EA90DB0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37838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227AFA-EB4C-4686-97EC-5D83EA90DB0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07071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227AFA-EB4C-4686-97EC-5D83EA90DB0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075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227AFA-EB4C-4686-97EC-5D83EA90DB0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63370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227AFA-EB4C-4686-97EC-5D83EA90DB0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9174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aseline="0" dirty="0" smtClean="0"/>
              <a:t>根据记录大小分为</a:t>
            </a:r>
            <a:r>
              <a:rPr lang="en-US" altLang="zh-CN" sz="1200" baseline="0" dirty="0" smtClean="0"/>
              <a:t>4</a:t>
            </a:r>
            <a:r>
              <a:rPr lang="zh-CN" altLang="en-US" sz="1200" baseline="0" dirty="0" smtClean="0"/>
              <a:t>个</a:t>
            </a:r>
            <a:r>
              <a:rPr lang="en-US" altLang="zh-CN" sz="1200" baseline="0" dirty="0" smtClean="0"/>
              <a:t>level</a:t>
            </a:r>
            <a:r>
              <a:rPr lang="zh-CN" altLang="en-US" sz="1200" baseline="0" dirty="0" smtClean="0"/>
              <a:t>：</a:t>
            </a:r>
            <a:endParaRPr lang="en-US" altLang="zh-CN" sz="1200" baseline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aseline="0" dirty="0" smtClean="0"/>
              <a:t>(0, 4k)</a:t>
            </a:r>
            <a:r>
              <a:rPr lang="zh-CN" altLang="en-US" sz="1200" baseline="0" dirty="0" smtClean="0"/>
              <a:t>、</a:t>
            </a:r>
            <a:r>
              <a:rPr lang="en-US" altLang="zh-CN" sz="1200" baseline="0" dirty="0" smtClean="0"/>
              <a:t>[4k, 64k)</a:t>
            </a:r>
            <a:r>
              <a:rPr lang="zh-CN" altLang="en-US" sz="1200" baseline="0" dirty="0" smtClean="0"/>
              <a:t>、</a:t>
            </a:r>
            <a:r>
              <a:rPr lang="en-US" altLang="zh-CN" sz="1200" baseline="0" dirty="0" smtClean="0"/>
              <a:t>[64k, 1M)</a:t>
            </a:r>
            <a:r>
              <a:rPr lang="zh-CN" altLang="en-US" sz="1200" baseline="0" dirty="0" smtClean="0"/>
              <a:t>、</a:t>
            </a:r>
            <a:r>
              <a:rPr lang="en-US" altLang="zh-CN" sz="1200" baseline="0" dirty="0" smtClean="0"/>
              <a:t>[1M, 16M )</a:t>
            </a:r>
            <a:endParaRPr lang="zh-CN" altLang="en-US" sz="1200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227AFA-EB4C-4686-97EC-5D83EA90DB0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07819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Slots</a:t>
            </a:r>
            <a:r>
              <a:rPr lang="zh-CN" altLang="en-US" dirty="0" smtClean="0"/>
              <a:t>中的</a:t>
            </a:r>
            <a:r>
              <a:rPr lang="en-US" altLang="zh-CN" dirty="0" smtClean="0"/>
              <a:t>Offset</a:t>
            </a:r>
            <a:r>
              <a:rPr lang="zh-CN" altLang="en-US" dirty="0" smtClean="0"/>
              <a:t>前</a:t>
            </a:r>
            <a:r>
              <a:rPr lang="en-US" altLang="zh-CN" dirty="0" smtClean="0"/>
              <a:t>4</a:t>
            </a:r>
            <a:r>
              <a:rPr lang="zh-CN" altLang="en-US" dirty="0" smtClean="0"/>
              <a:t>位留作状态位，填写数据的状态：</a:t>
            </a:r>
            <a:endParaRPr lang="en-US" altLang="zh-CN" dirty="0" smtClean="0"/>
          </a:p>
          <a:p>
            <a:r>
              <a:rPr lang="en-US" altLang="zh-CN" dirty="0" smtClean="0"/>
              <a:t>0x0</a:t>
            </a:r>
            <a:r>
              <a:rPr lang="en-US" altLang="zh-CN" baseline="0" dirty="0" smtClean="0"/>
              <a:t>  normal</a:t>
            </a:r>
          </a:p>
          <a:p>
            <a:r>
              <a:rPr lang="en-US" altLang="zh-CN" baseline="0" dirty="0" smtClean="0"/>
              <a:t>0x1  deleted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227AFA-EB4C-4686-97EC-5D83EA90DB0E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1930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File size = page </a:t>
            </a:r>
            <a:r>
              <a:rPr lang="en-US" altLang="zh-CN" dirty="0" err="1" smtClean="0"/>
              <a:t>num</a:t>
            </a:r>
            <a:r>
              <a:rPr lang="en-US" altLang="zh-CN" dirty="0" smtClean="0"/>
              <a:t> * page size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 smtClean="0"/>
              <a:t>Segment slot number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= File size / segment  size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aseline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aseline="0" dirty="0" smtClean="0"/>
              <a:t>记录等级：</a:t>
            </a:r>
            <a:endParaRPr lang="en-US" altLang="zh-CN" sz="1200" baseline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aseline="0" dirty="0" smtClean="0"/>
              <a:t>(0, 4k)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aseline="0" dirty="0" smtClean="0"/>
              <a:t>[4k, 64k)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aseline="0" dirty="0" smtClean="0"/>
              <a:t>[64k, 1M)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aseline="0" dirty="0" smtClean="0"/>
              <a:t>[1M, 16M )</a:t>
            </a:r>
            <a:endParaRPr lang="zh-CN" altLang="en-US" sz="12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227AFA-EB4C-4686-97EC-5D83EA90DB0E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55578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aseline="0" dirty="0" smtClean="0"/>
              <a:t>1</a:t>
            </a:r>
            <a:r>
              <a:rPr lang="zh-CN" altLang="en-US" baseline="0" dirty="0" smtClean="0"/>
              <a:t>、</a:t>
            </a:r>
            <a:r>
              <a:rPr lang="en-US" altLang="zh-CN" baseline="0" dirty="0" smtClean="0"/>
              <a:t>extent</a:t>
            </a:r>
            <a:r>
              <a:rPr lang="zh-CN" altLang="en-US" baseline="0" dirty="0" smtClean="0"/>
              <a:t>空闲空间 分等级 例如</a:t>
            </a:r>
            <a:r>
              <a:rPr lang="en-US" altLang="zh-CN" baseline="0" dirty="0" smtClean="0"/>
              <a:t>2</a:t>
            </a:r>
            <a:r>
              <a:rPr lang="zh-CN" altLang="en-US" baseline="0" dirty="0" smtClean="0"/>
              <a:t>位 （</a:t>
            </a:r>
            <a:r>
              <a:rPr lang="en-US" altLang="zh-CN" baseline="0" dirty="0" smtClean="0"/>
              <a:t>4</a:t>
            </a:r>
            <a:r>
              <a:rPr lang="zh-CN" altLang="en-US" baseline="0" dirty="0" smtClean="0"/>
              <a:t>个等级） </a:t>
            </a:r>
            <a:endParaRPr lang="en-US" altLang="zh-CN" baseline="0" dirty="0" smtClean="0"/>
          </a:p>
          <a:p>
            <a:r>
              <a:rPr lang="en-US" altLang="zh-CN" baseline="0" dirty="0" smtClean="0"/>
              <a:t>0 [0, 256b</a:t>
            </a:r>
            <a:r>
              <a:rPr lang="zh-CN" altLang="en-US" baseline="0" dirty="0" smtClean="0"/>
              <a:t>）</a:t>
            </a:r>
            <a:endParaRPr lang="en-US" altLang="zh-CN" baseline="0" dirty="0" smtClean="0"/>
          </a:p>
          <a:p>
            <a:r>
              <a:rPr lang="en-US" altLang="zh-CN" baseline="0" dirty="0" smtClean="0"/>
              <a:t>1 [256, 1k</a:t>
            </a:r>
            <a:r>
              <a:rPr lang="zh-CN" altLang="en-US" baseline="0" dirty="0" smtClean="0"/>
              <a:t>）</a:t>
            </a:r>
            <a:endParaRPr lang="en-US" altLang="zh-CN" baseline="0" dirty="0" smtClean="0"/>
          </a:p>
          <a:p>
            <a:r>
              <a:rPr lang="en-US" altLang="zh-CN" baseline="0" dirty="0" smtClean="0"/>
              <a:t>2 [1k,2k)</a:t>
            </a:r>
          </a:p>
          <a:p>
            <a:r>
              <a:rPr lang="en-US" altLang="zh-CN" baseline="0" dirty="0" smtClean="0"/>
              <a:t>3 [2k,4k]</a:t>
            </a:r>
          </a:p>
          <a:p>
            <a:endParaRPr lang="en-US" altLang="zh-CN" baseline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aseline="0" dirty="0" smtClean="0"/>
              <a:t>2</a:t>
            </a:r>
            <a:r>
              <a:rPr lang="zh-CN" altLang="en-US" baseline="0" dirty="0" smtClean="0"/>
              <a:t>、分配 </a:t>
            </a:r>
            <a:r>
              <a:rPr lang="en-US" altLang="zh-CN" baseline="0" dirty="0" smtClean="0"/>
              <a:t>257</a:t>
            </a:r>
            <a:r>
              <a:rPr lang="zh-CN" altLang="en-US" baseline="0" dirty="0" smtClean="0"/>
              <a:t>字节时， 优先分配到等级</a:t>
            </a:r>
            <a:r>
              <a:rPr lang="en-US" altLang="zh-CN" baseline="0" dirty="0" smtClean="0"/>
              <a:t>2[1k,2k)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aseline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aseline="0" dirty="0" smtClean="0"/>
              <a:t>3</a:t>
            </a:r>
            <a:r>
              <a:rPr lang="zh-CN" altLang="en-US" baseline="0" dirty="0" smtClean="0"/>
              <a:t>、分配失败时从等级</a:t>
            </a:r>
            <a:r>
              <a:rPr lang="en-US" altLang="zh-CN" baseline="0" dirty="0" smtClean="0"/>
              <a:t>1</a:t>
            </a:r>
            <a:r>
              <a:rPr lang="zh-CN" altLang="en-US" baseline="0" dirty="0" smtClean="0"/>
              <a:t>尝试</a:t>
            </a:r>
            <a:r>
              <a:rPr lang="en-US" altLang="zh-CN" baseline="0" dirty="0" smtClean="0"/>
              <a:t>2</a:t>
            </a:r>
            <a:r>
              <a:rPr lang="zh-CN" altLang="en-US" baseline="0" dirty="0" smtClean="0"/>
              <a:t>次？ </a:t>
            </a:r>
            <a:endParaRPr lang="en-US" altLang="zh-CN" baseline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aseline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aseline="0" dirty="0" smtClean="0"/>
              <a:t>4</a:t>
            </a:r>
            <a:r>
              <a:rPr lang="zh-CN" altLang="en-US" baseline="0" dirty="0" smtClean="0"/>
              <a:t>、再失败时分配新的</a:t>
            </a:r>
            <a:r>
              <a:rPr lang="en-US" altLang="zh-CN" baseline="0" dirty="0" smtClean="0"/>
              <a:t>extent</a:t>
            </a:r>
            <a:r>
              <a:rPr lang="zh-CN" altLang="en-US" baseline="0" dirty="0" smtClean="0"/>
              <a:t>。</a:t>
            </a:r>
            <a:endParaRPr lang="en-US" altLang="zh-CN" baseline="0" dirty="0" smtClean="0"/>
          </a:p>
          <a:p>
            <a:endParaRPr lang="en-US" altLang="zh-CN" baseline="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227AFA-EB4C-4686-97EC-5D83EA90DB0E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44996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227AFA-EB4C-4686-97EC-5D83EA90DB0E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01286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DBE0D-D193-4915-9F9C-E6864CED25A9}" type="datetimeFigureOut">
              <a:rPr lang="zh-CN" altLang="en-US" smtClean="0"/>
              <a:t>2019/1/4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F12F-50F6-44CC-AB6D-43D9E09207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3861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DBE0D-D193-4915-9F9C-E6864CED25A9}" type="datetimeFigureOut">
              <a:rPr lang="zh-CN" altLang="en-US" smtClean="0"/>
              <a:t>2019/1/4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F12F-50F6-44CC-AB6D-43D9E09207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179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DBE0D-D193-4915-9F9C-E6864CED25A9}" type="datetimeFigureOut">
              <a:rPr lang="zh-CN" altLang="en-US" smtClean="0"/>
              <a:t>2019/1/4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F12F-50F6-44CC-AB6D-43D9E09207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7357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DBE0D-D193-4915-9F9C-E6864CED25A9}" type="datetimeFigureOut">
              <a:rPr lang="zh-CN" altLang="en-US" smtClean="0"/>
              <a:t>2019/1/4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F12F-50F6-44CC-AB6D-43D9E09207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2685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DBE0D-D193-4915-9F9C-E6864CED25A9}" type="datetimeFigureOut">
              <a:rPr lang="zh-CN" altLang="en-US" smtClean="0"/>
              <a:t>2019/1/4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F12F-50F6-44CC-AB6D-43D9E09207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211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DBE0D-D193-4915-9F9C-E6864CED25A9}" type="datetimeFigureOut">
              <a:rPr lang="zh-CN" altLang="en-US" smtClean="0"/>
              <a:t>2019/1/4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F12F-50F6-44CC-AB6D-43D9E09207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0194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DBE0D-D193-4915-9F9C-E6864CED25A9}" type="datetimeFigureOut">
              <a:rPr lang="zh-CN" altLang="en-US" smtClean="0"/>
              <a:t>2019/1/4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F12F-50F6-44CC-AB6D-43D9E09207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5071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DBE0D-D193-4915-9F9C-E6864CED25A9}" type="datetimeFigureOut">
              <a:rPr lang="zh-CN" altLang="en-US" smtClean="0"/>
              <a:t>2019/1/4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F12F-50F6-44CC-AB6D-43D9E09207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2111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DBE0D-D193-4915-9F9C-E6864CED25A9}" type="datetimeFigureOut">
              <a:rPr lang="zh-CN" altLang="en-US" smtClean="0"/>
              <a:t>2019/1/4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F12F-50F6-44CC-AB6D-43D9E09207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8907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DBE0D-D193-4915-9F9C-E6864CED25A9}" type="datetimeFigureOut">
              <a:rPr lang="zh-CN" altLang="en-US" smtClean="0"/>
              <a:t>2019/1/4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F12F-50F6-44CC-AB6D-43D9E09207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5429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DBE0D-D193-4915-9F9C-E6864CED25A9}" type="datetimeFigureOut">
              <a:rPr lang="zh-CN" altLang="en-US" smtClean="0"/>
              <a:t>2019/1/4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F12F-50F6-44CC-AB6D-43D9E09207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8381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EDBE0D-D193-4915-9F9C-E6864CED25A9}" type="datetimeFigureOut">
              <a:rPr lang="zh-CN" altLang="en-US" smtClean="0"/>
              <a:t>2019/1/4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F12F-50F6-44CC-AB6D-43D9E09207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644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dirty="0" smtClean="0">
                <a:solidFill>
                  <a:schemeClr val="accent2">
                    <a:lumMod val="75000"/>
                  </a:schemeClr>
                </a:solidFill>
              </a:rPr>
              <a:t>数据文件设计</a:t>
            </a:r>
            <a:endParaRPr lang="zh-CN" altLang="en-US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347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问题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838200" y="1995055"/>
            <a:ext cx="9876422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性能：</a:t>
            </a:r>
            <a:endParaRPr lang="en-US" altLang="zh-CN" sz="2400" dirty="0" smtClean="0"/>
          </a:p>
          <a:p>
            <a:r>
              <a:rPr lang="en-US" altLang="zh-CN" sz="2400" dirty="0" smtClean="0"/>
              <a:t>1</a:t>
            </a:r>
            <a:r>
              <a:rPr lang="zh-CN" altLang="en-US" sz="2400" dirty="0" smtClean="0"/>
              <a:t>、细粒度化锁，尽量避免 </a:t>
            </a:r>
            <a:r>
              <a:rPr lang="en-US" altLang="zh-CN" sz="2400" dirty="0" err="1" smtClean="0"/>
              <a:t>mblock</a:t>
            </a:r>
            <a:r>
              <a:rPr lang="en-US" altLang="zh-CN" sz="2400" dirty="0" smtClean="0"/>
              <a:t> </a:t>
            </a:r>
            <a:r>
              <a:rPr lang="zh-CN" altLang="en-US" sz="2400" dirty="0" smtClean="0"/>
              <a:t>的表级别锁</a:t>
            </a:r>
            <a:endParaRPr lang="en-US" altLang="zh-CN" sz="2400" dirty="0" smtClean="0"/>
          </a:p>
          <a:p>
            <a:r>
              <a:rPr lang="en-US" altLang="zh-CN" sz="2400" dirty="0" smtClean="0"/>
              <a:t>2</a:t>
            </a:r>
            <a:r>
              <a:rPr lang="zh-CN" altLang="en-US" sz="2400" dirty="0" smtClean="0"/>
              <a:t>、去除链表关系，当前</a:t>
            </a:r>
            <a:r>
              <a:rPr lang="zh-CN" altLang="en-US" sz="2400" dirty="0"/>
              <a:t>方案</a:t>
            </a:r>
            <a:r>
              <a:rPr lang="zh-CN" altLang="en-US" sz="2400" dirty="0" smtClean="0"/>
              <a:t>中，</a:t>
            </a:r>
            <a:r>
              <a:rPr lang="en-US" altLang="zh-CN" sz="2400" dirty="0" smtClean="0"/>
              <a:t>cl </a:t>
            </a:r>
            <a:r>
              <a:rPr lang="zh-CN" altLang="en-US" sz="2400" dirty="0" smtClean="0"/>
              <a:t>间 </a:t>
            </a:r>
            <a:r>
              <a:rPr lang="en-US" altLang="zh-CN" sz="2400" dirty="0" smtClean="0"/>
              <a:t>extent </a:t>
            </a:r>
            <a:r>
              <a:rPr lang="zh-CN" altLang="en-US" sz="2400" dirty="0" smtClean="0"/>
              <a:t>链表，以及 </a:t>
            </a:r>
            <a:r>
              <a:rPr lang="en-US" altLang="zh-CN" sz="2400" dirty="0" err="1" smtClean="0"/>
              <a:t>freelist</a:t>
            </a:r>
            <a:r>
              <a:rPr lang="en-US" altLang="zh-CN" sz="2400" dirty="0" smtClean="0"/>
              <a:t> </a:t>
            </a:r>
            <a:r>
              <a:rPr lang="zh-CN" altLang="en-US" sz="2400" dirty="0" smtClean="0"/>
              <a:t>链表</a:t>
            </a:r>
            <a:endParaRPr lang="en-US" altLang="zh-CN" sz="2400" dirty="0" smtClean="0"/>
          </a:p>
          <a:p>
            <a:r>
              <a:rPr lang="en-US" altLang="zh-CN" sz="2400" dirty="0" smtClean="0"/>
              <a:t>3</a:t>
            </a:r>
            <a:r>
              <a:rPr lang="zh-CN" altLang="en-US" sz="2400" dirty="0" smtClean="0"/>
              <a:t>、节点间的数据文件（</a:t>
            </a:r>
            <a:r>
              <a:rPr lang="en-US" altLang="zh-CN" sz="2400" dirty="0" smtClean="0"/>
              <a:t>data, capped, lob</a:t>
            </a:r>
            <a:r>
              <a:rPr lang="en-US" altLang="zh-CN" sz="2400" dirty="0"/>
              <a:t>.</a:t>
            </a:r>
            <a:r>
              <a:rPr lang="zh-CN" altLang="en-US" sz="2400" dirty="0" smtClean="0"/>
              <a:t>不包括</a:t>
            </a:r>
            <a:r>
              <a:rPr lang="en-US" altLang="zh-CN" sz="2400" dirty="0" smtClean="0"/>
              <a:t>index</a:t>
            </a:r>
            <a:r>
              <a:rPr lang="zh-CN" altLang="en-US" sz="2400" dirty="0" smtClean="0"/>
              <a:t>）保持完全一致。</a:t>
            </a:r>
            <a:endParaRPr lang="en-US" altLang="zh-CN" sz="2400" dirty="0" smtClean="0"/>
          </a:p>
          <a:p>
            <a:r>
              <a:rPr lang="en-US" altLang="zh-CN" sz="2400" dirty="0"/>
              <a:t> </a:t>
            </a:r>
            <a:r>
              <a:rPr lang="en-US" altLang="zh-CN" sz="2400" dirty="0" smtClean="0"/>
              <a:t>   </a:t>
            </a:r>
            <a:r>
              <a:rPr lang="zh-CN" altLang="en-US" sz="2400" dirty="0" smtClean="0"/>
              <a:t>（快速同步数据）</a:t>
            </a:r>
            <a:endParaRPr lang="en-US" altLang="zh-CN" sz="2400" dirty="0" smtClean="0"/>
          </a:p>
          <a:p>
            <a:r>
              <a:rPr lang="en-US" altLang="zh-CN" sz="2400" dirty="0" smtClean="0"/>
              <a:t>4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buffer pool</a:t>
            </a:r>
          </a:p>
          <a:p>
            <a:endParaRPr lang="en-US" altLang="zh-CN" sz="2400" dirty="0"/>
          </a:p>
          <a:p>
            <a:r>
              <a:rPr lang="zh-CN" altLang="en-US" sz="2400" dirty="0" smtClean="0"/>
              <a:t>功能：</a:t>
            </a:r>
            <a:endParaRPr lang="en-US" altLang="zh-CN" sz="2400" dirty="0" smtClean="0"/>
          </a:p>
          <a:p>
            <a:r>
              <a:rPr lang="en-US" altLang="zh-CN" sz="2400" dirty="0"/>
              <a:t>1</a:t>
            </a:r>
            <a:r>
              <a:rPr lang="zh-CN" altLang="en-US" sz="2400" dirty="0" smtClean="0"/>
              <a:t>、</a:t>
            </a:r>
            <a:r>
              <a:rPr lang="en-US" altLang="zh-CN" sz="2400" dirty="0" err="1" smtClean="0"/>
              <a:t>mvcc</a:t>
            </a:r>
            <a:r>
              <a:rPr lang="zh-CN" altLang="en-US" sz="2400" dirty="0" smtClean="0"/>
              <a:t>支持</a:t>
            </a:r>
            <a:endParaRPr lang="en-US" altLang="zh-CN" sz="2400" dirty="0" smtClean="0"/>
          </a:p>
          <a:p>
            <a:r>
              <a:rPr lang="en-US" altLang="zh-CN" sz="2400" dirty="0" smtClean="0"/>
              <a:t>2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checkpoint</a:t>
            </a:r>
            <a:r>
              <a:rPr lang="zh-CN" altLang="en-US" sz="2400" dirty="0" smtClean="0"/>
              <a:t>支持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677844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文件</a:t>
            </a:r>
            <a:r>
              <a:rPr lang="zh-CN" altLang="en-US" dirty="0"/>
              <a:t>总体</a:t>
            </a:r>
            <a:r>
              <a:rPr lang="zh-CN" altLang="en-US" dirty="0" smtClean="0"/>
              <a:t>方案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249251" y="1790163"/>
            <a:ext cx="793839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一个</a:t>
            </a:r>
            <a:r>
              <a:rPr lang="en-US" altLang="zh-CN" dirty="0" err="1" smtClean="0"/>
              <a:t>cs</a:t>
            </a:r>
            <a:r>
              <a:rPr lang="zh-CN" altLang="en-US" dirty="0"/>
              <a:t>一</a:t>
            </a:r>
            <a:r>
              <a:rPr lang="zh-CN" altLang="en-US" dirty="0" smtClean="0"/>
              <a:t>个文件，每个</a:t>
            </a:r>
            <a:r>
              <a:rPr lang="en-US" altLang="zh-CN" dirty="0" smtClean="0"/>
              <a:t>segment</a:t>
            </a:r>
            <a:r>
              <a:rPr lang="zh-CN" altLang="en-US" dirty="0" smtClean="0"/>
              <a:t>按</a:t>
            </a:r>
            <a:r>
              <a:rPr lang="en-US" altLang="zh-CN" dirty="0" smtClean="0"/>
              <a:t>extent</a:t>
            </a:r>
            <a:r>
              <a:rPr lang="zh-CN" altLang="en-US" dirty="0" smtClean="0"/>
              <a:t>放不同</a:t>
            </a:r>
            <a:r>
              <a:rPr lang="en-US" altLang="zh-CN" dirty="0" smtClean="0"/>
              <a:t>cl</a:t>
            </a:r>
            <a:r>
              <a:rPr lang="zh-CN" altLang="en-US" dirty="0" smtClean="0"/>
              <a:t>的数据。</a:t>
            </a:r>
            <a:endParaRPr lang="en-US" altLang="zh-CN" dirty="0" smtClean="0"/>
          </a:p>
          <a:p>
            <a:r>
              <a:rPr lang="en-US" altLang="zh-CN" dirty="0" smtClean="0"/>
              <a:t>cl</a:t>
            </a:r>
            <a:r>
              <a:rPr lang="zh-CN" altLang="en-US" dirty="0" smtClean="0"/>
              <a:t>与</a:t>
            </a:r>
            <a:r>
              <a:rPr lang="en-US" altLang="zh-CN" dirty="0" smtClean="0"/>
              <a:t>extent</a:t>
            </a:r>
            <a:r>
              <a:rPr lang="zh-CN" altLang="en-US" dirty="0" smtClean="0"/>
              <a:t>的关系由专门的</a:t>
            </a:r>
            <a:r>
              <a:rPr lang="en-US" altLang="zh-CN" dirty="0" err="1" smtClean="0"/>
              <a:t>clRelationExtent</a:t>
            </a:r>
            <a:r>
              <a:rPr lang="zh-CN" altLang="en-US" dirty="0" smtClean="0"/>
              <a:t>来维护，动态增长。</a:t>
            </a:r>
            <a:endParaRPr lang="en-US" altLang="zh-CN" dirty="0" smtClean="0"/>
          </a:p>
          <a:p>
            <a:r>
              <a:rPr lang="en-US" altLang="zh-CN" dirty="0" smtClean="0"/>
              <a:t>Insert</a:t>
            </a:r>
            <a:r>
              <a:rPr lang="zh-CN" altLang="en-US" dirty="0" smtClean="0"/>
              <a:t>时查找空闲空间的</a:t>
            </a:r>
            <a:r>
              <a:rPr lang="en-US" altLang="zh-CN" dirty="0" smtClean="0"/>
              <a:t>bitmap</a:t>
            </a:r>
            <a:r>
              <a:rPr lang="zh-CN" altLang="en-US" dirty="0" smtClean="0"/>
              <a:t>由另外的</a:t>
            </a:r>
            <a:r>
              <a:rPr lang="en-US" altLang="zh-CN" dirty="0" smtClean="0"/>
              <a:t>meta</a:t>
            </a:r>
            <a:r>
              <a:rPr lang="zh-CN" altLang="en-US" dirty="0" smtClean="0"/>
              <a:t>文件保存管理，做快速查找用。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622738" y="3760631"/>
            <a:ext cx="181812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|---</a:t>
            </a:r>
            <a:r>
              <a:rPr lang="en-US" altLang="zh-CN" dirty="0" err="1" smtClean="0"/>
              <a:t>datapath</a:t>
            </a:r>
            <a:endParaRPr lang="en-US" altLang="zh-CN" dirty="0" smtClean="0"/>
          </a:p>
          <a:p>
            <a:r>
              <a:rPr lang="en-US" altLang="zh-CN" dirty="0" smtClean="0"/>
              <a:t>  |---csid.1.data</a:t>
            </a:r>
          </a:p>
          <a:p>
            <a:r>
              <a:rPr lang="en-US" altLang="zh-CN" dirty="0"/>
              <a:t> </a:t>
            </a:r>
            <a:r>
              <a:rPr lang="en-US" altLang="zh-CN" dirty="0" smtClean="0"/>
              <a:t> |---csid.1.meta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09390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数据文件总体结构</a:t>
            </a:r>
            <a:endParaRPr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6155802"/>
              </p:ext>
            </p:extLst>
          </p:nvPr>
        </p:nvGraphicFramePr>
        <p:xfrm>
          <a:off x="838200" y="2304872"/>
          <a:ext cx="4479402" cy="29185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567">
                  <a:extLst>
                    <a:ext uri="{9D8B030D-6E8A-4147-A177-3AD203B41FA5}">
                      <a16:colId xmlns:a16="http://schemas.microsoft.com/office/drawing/2014/main" val="3954433220"/>
                    </a:ext>
                  </a:extLst>
                </a:gridCol>
                <a:gridCol w="746567">
                  <a:extLst>
                    <a:ext uri="{9D8B030D-6E8A-4147-A177-3AD203B41FA5}">
                      <a16:colId xmlns:a16="http://schemas.microsoft.com/office/drawing/2014/main" val="3984323689"/>
                    </a:ext>
                  </a:extLst>
                </a:gridCol>
                <a:gridCol w="746567">
                  <a:extLst>
                    <a:ext uri="{9D8B030D-6E8A-4147-A177-3AD203B41FA5}">
                      <a16:colId xmlns:a16="http://schemas.microsoft.com/office/drawing/2014/main" val="1253501711"/>
                    </a:ext>
                  </a:extLst>
                </a:gridCol>
                <a:gridCol w="746567">
                  <a:extLst>
                    <a:ext uri="{9D8B030D-6E8A-4147-A177-3AD203B41FA5}">
                      <a16:colId xmlns:a16="http://schemas.microsoft.com/office/drawing/2014/main" val="3873437384"/>
                    </a:ext>
                  </a:extLst>
                </a:gridCol>
                <a:gridCol w="746567">
                  <a:extLst>
                    <a:ext uri="{9D8B030D-6E8A-4147-A177-3AD203B41FA5}">
                      <a16:colId xmlns:a16="http://schemas.microsoft.com/office/drawing/2014/main" val="1048809832"/>
                    </a:ext>
                  </a:extLst>
                </a:gridCol>
                <a:gridCol w="746567">
                  <a:extLst>
                    <a:ext uri="{9D8B030D-6E8A-4147-A177-3AD203B41FA5}">
                      <a16:colId xmlns:a16="http://schemas.microsoft.com/office/drawing/2014/main" val="2210134178"/>
                    </a:ext>
                  </a:extLst>
                </a:gridCol>
              </a:tblGrid>
              <a:tr h="364281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File  Header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7371293"/>
                  </a:ext>
                </a:extLst>
              </a:tr>
              <a:tr h="167640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Space Management Extent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6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3702555"/>
                  </a:ext>
                </a:extLst>
              </a:tr>
              <a:tr h="167640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Data Segment Metadata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0943715"/>
                  </a:ext>
                </a:extLst>
              </a:tr>
              <a:tr h="167640">
                <a:tc gridSpan="6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CS Metadata</a:t>
                      </a:r>
                      <a:endParaRPr lang="zh-CN" altLang="en-US" sz="16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702736"/>
                  </a:ext>
                </a:extLst>
              </a:tr>
              <a:tr h="576778"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page1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page2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...</a:t>
                      </a:r>
                      <a:endParaRPr lang="zh-CN" altLang="en-US" sz="16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4819522"/>
                  </a:ext>
                </a:extLst>
              </a:tr>
              <a:tr h="485806">
                <a:tc>
                  <a:txBody>
                    <a:bodyPr/>
                    <a:lstStyle/>
                    <a:p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1292344"/>
                  </a:ext>
                </a:extLst>
              </a:tr>
              <a:tr h="485806">
                <a:tc>
                  <a:txBody>
                    <a:bodyPr/>
                    <a:lstStyle/>
                    <a:p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0405608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5160774"/>
              </p:ext>
            </p:extLst>
          </p:nvPr>
        </p:nvGraphicFramePr>
        <p:xfrm>
          <a:off x="6096000" y="2279479"/>
          <a:ext cx="4479402" cy="29115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79402">
                  <a:extLst>
                    <a:ext uri="{9D8B030D-6E8A-4147-A177-3AD203B41FA5}">
                      <a16:colId xmlns:a16="http://schemas.microsoft.com/office/drawing/2014/main" val="3954433220"/>
                    </a:ext>
                  </a:extLst>
                </a:gridCol>
              </a:tblGrid>
              <a:tr h="36428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File  Header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7371293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Space Management Extent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3702555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smtClean="0"/>
                        <a:t>Data Segment Metadata</a:t>
                      </a:r>
                      <a:endParaRPr lang="zh-CN" altLang="en-US" sz="16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1150061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CS Metadata</a:t>
                      </a:r>
                      <a:endParaRPr lang="zh-CN" altLang="en-US" sz="16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6894675"/>
                  </a:ext>
                </a:extLst>
              </a:tr>
              <a:tr h="49252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segment1</a:t>
                      </a:r>
                      <a:endParaRPr lang="zh-CN" altLang="en-US" sz="16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4819522"/>
                  </a:ext>
                </a:extLst>
              </a:tr>
              <a:tr h="53376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segment2</a:t>
                      </a:r>
                      <a:endParaRPr lang="zh-CN" altLang="en-US" sz="16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1292344"/>
                  </a:ext>
                </a:extLst>
              </a:tr>
              <a:tr h="5151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...</a:t>
                      </a:r>
                      <a:endParaRPr lang="zh-CN" altLang="en-US" sz="16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300955"/>
                  </a:ext>
                </a:extLst>
              </a:tr>
            </a:tbl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7132487" y="5521124"/>
            <a:ext cx="2528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Segment size</a:t>
            </a:r>
            <a:r>
              <a:rPr lang="zh-CN" altLang="en-US" dirty="0" smtClean="0"/>
              <a:t>固定</a:t>
            </a:r>
            <a:r>
              <a:rPr lang="en-US" altLang="zh-CN" dirty="0" smtClean="0"/>
              <a:t>128M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648390" y="5521124"/>
            <a:ext cx="4859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Page size</a:t>
            </a:r>
            <a:r>
              <a:rPr lang="zh-CN" altLang="en-US" dirty="0" smtClean="0"/>
              <a:t>范围</a:t>
            </a:r>
            <a:r>
              <a:rPr lang="en-US" altLang="zh-CN" dirty="0" smtClean="0"/>
              <a:t>[4k, 8k, 16k, 32k, 64k, 128k, 256k]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2473408" y="4564449"/>
            <a:ext cx="1208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page </a:t>
            </a:r>
            <a:r>
              <a:rPr lang="zh-CN" altLang="en-US" dirty="0" smtClean="0"/>
              <a:t>视图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7731208" y="4552823"/>
            <a:ext cx="15680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segment</a:t>
            </a:r>
            <a:r>
              <a:rPr lang="en-US" altLang="zh-CN" dirty="0" smtClean="0"/>
              <a:t> </a:t>
            </a:r>
            <a:r>
              <a:rPr lang="zh-CN" altLang="en-US" dirty="0" smtClean="0"/>
              <a:t>视图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18969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13204"/>
          </a:xfrm>
        </p:spPr>
        <p:txBody>
          <a:bodyPr/>
          <a:lstStyle/>
          <a:p>
            <a:r>
              <a:rPr lang="en-US" altLang="zh-CN" dirty="0" smtClean="0"/>
              <a:t>File Header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0221610"/>
              </p:ext>
            </p:extLst>
          </p:nvPr>
        </p:nvGraphicFramePr>
        <p:xfrm>
          <a:off x="838200" y="1766682"/>
          <a:ext cx="6342924" cy="41597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5584">
                  <a:extLst>
                    <a:ext uri="{9D8B030D-6E8A-4147-A177-3AD203B41FA5}">
                      <a16:colId xmlns:a16="http://schemas.microsoft.com/office/drawing/2014/main" val="3553256097"/>
                    </a:ext>
                  </a:extLst>
                </a:gridCol>
                <a:gridCol w="1369173">
                  <a:extLst>
                    <a:ext uri="{9D8B030D-6E8A-4147-A177-3AD203B41FA5}">
                      <a16:colId xmlns:a16="http://schemas.microsoft.com/office/drawing/2014/main" val="4246112648"/>
                    </a:ext>
                  </a:extLst>
                </a:gridCol>
                <a:gridCol w="1228410">
                  <a:extLst>
                    <a:ext uri="{9D8B030D-6E8A-4147-A177-3AD203B41FA5}">
                      <a16:colId xmlns:a16="http://schemas.microsoft.com/office/drawing/2014/main" val="697613201"/>
                    </a:ext>
                  </a:extLst>
                </a:gridCol>
                <a:gridCol w="2319757">
                  <a:extLst>
                    <a:ext uri="{9D8B030D-6E8A-4147-A177-3AD203B41FA5}">
                      <a16:colId xmlns:a16="http://schemas.microsoft.com/office/drawing/2014/main" val="2551292058"/>
                    </a:ext>
                  </a:extLst>
                </a:gridCol>
              </a:tblGrid>
              <a:tr h="292193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File  Header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7102329"/>
                  </a:ext>
                </a:extLst>
              </a:tr>
              <a:tr h="292193">
                <a:tc>
                  <a:txBody>
                    <a:bodyPr/>
                    <a:lstStyle/>
                    <a:p>
                      <a:r>
                        <a:rPr lang="zh-CN" altLang="en-US" sz="1600" dirty="0" smtClean="0">
                          <a:solidFill>
                            <a:schemeClr val="tx1"/>
                          </a:solidFill>
                        </a:rPr>
                        <a:t>名称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>
                          <a:solidFill>
                            <a:schemeClr val="tx1"/>
                          </a:solidFill>
                        </a:rPr>
                        <a:t>类型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>
                          <a:solidFill>
                            <a:schemeClr val="tx1"/>
                          </a:solidFill>
                        </a:rPr>
                        <a:t>长度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>
                          <a:solidFill>
                            <a:schemeClr val="tx1"/>
                          </a:solidFill>
                        </a:rPr>
                        <a:t>描述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1564046"/>
                  </a:ext>
                </a:extLst>
              </a:tr>
              <a:tr h="292193"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EYE</a:t>
                      </a:r>
                      <a:r>
                        <a:rPr lang="en-US" altLang="zh-CN" sz="1600" baseline="0" dirty="0" smtClean="0">
                          <a:solidFill>
                            <a:schemeClr val="tx1"/>
                          </a:solidFill>
                        </a:rPr>
                        <a:t> CATCHER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BYTES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>
                          <a:solidFill>
                            <a:schemeClr val="tx1"/>
                          </a:solidFill>
                        </a:rPr>
                        <a:t>识别串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7978886"/>
                  </a:ext>
                </a:extLst>
              </a:tr>
              <a:tr h="292193"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version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UINT8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>
                          <a:solidFill>
                            <a:schemeClr val="tx1"/>
                          </a:solidFill>
                        </a:rPr>
                        <a:t>版本号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5019821"/>
                  </a:ext>
                </a:extLst>
              </a:tr>
              <a:tr h="292193">
                <a:tc>
                  <a:txBody>
                    <a:bodyPr/>
                    <a:lstStyle/>
                    <a:p>
                      <a:r>
                        <a:rPr lang="en-US" altLang="zh-CN" sz="1600" dirty="0" err="1" smtClean="0">
                          <a:solidFill>
                            <a:schemeClr val="tx1"/>
                          </a:solidFill>
                        </a:rPr>
                        <a:t>cs</a:t>
                      </a:r>
                      <a:r>
                        <a:rPr lang="en-US" altLang="zh-CN" sz="1600" baseline="0" dirty="0" err="1" smtClean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CHAR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128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err="1" smtClean="0">
                          <a:solidFill>
                            <a:schemeClr val="tx1"/>
                          </a:solidFill>
                        </a:rPr>
                        <a:t>cs</a:t>
                      </a:r>
                      <a:r>
                        <a:rPr lang="zh-CN" altLang="en-US" sz="1600" dirty="0" smtClean="0">
                          <a:solidFill>
                            <a:schemeClr val="tx1"/>
                          </a:solidFill>
                        </a:rPr>
                        <a:t>名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612431"/>
                  </a:ext>
                </a:extLst>
              </a:tr>
              <a:tr h="292193">
                <a:tc>
                  <a:txBody>
                    <a:bodyPr/>
                    <a:lstStyle/>
                    <a:p>
                      <a:r>
                        <a:rPr lang="en-US" altLang="zh-CN" sz="1600" dirty="0" err="1" smtClean="0">
                          <a:solidFill>
                            <a:schemeClr val="tx1"/>
                          </a:solidFill>
                        </a:rPr>
                        <a:t>csID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UINT32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ID</a:t>
                      </a:r>
                      <a:r>
                        <a:rPr lang="zh-CN" altLang="en-US" sz="1600" dirty="0" smtClean="0">
                          <a:solidFill>
                            <a:schemeClr val="tx1"/>
                          </a:solidFill>
                        </a:rPr>
                        <a:t>号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7284969"/>
                  </a:ext>
                </a:extLst>
              </a:tr>
              <a:tr h="292193"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Sequence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UINT16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>
                          <a:solidFill>
                            <a:schemeClr val="tx1"/>
                          </a:solidFill>
                        </a:rPr>
                        <a:t>文件序列号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8802394"/>
                  </a:ext>
                </a:extLst>
              </a:tr>
              <a:tr h="1142207"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type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UINT16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>
                          <a:solidFill>
                            <a:schemeClr val="tx1"/>
                          </a:solidFill>
                        </a:rPr>
                        <a:t>文件类型：</a:t>
                      </a:r>
                      <a:endParaRPr lang="en-US" altLang="zh-CN" sz="1600" dirty="0" smtClean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1.</a:t>
                      </a:r>
                      <a:r>
                        <a:rPr lang="en-US" altLang="zh-CN" sz="1600" baseline="0" dirty="0" smtClean="0">
                          <a:solidFill>
                            <a:schemeClr val="tx1"/>
                          </a:solidFill>
                        </a:rPr>
                        <a:t> data</a:t>
                      </a:r>
                    </a:p>
                    <a:p>
                      <a:r>
                        <a:rPr lang="en-US" altLang="zh-CN" sz="1600" baseline="0" dirty="0" smtClean="0">
                          <a:solidFill>
                            <a:schemeClr val="tx1"/>
                          </a:solidFill>
                        </a:rPr>
                        <a:t>2. index</a:t>
                      </a:r>
                    </a:p>
                    <a:p>
                      <a:r>
                        <a:rPr lang="en-US" altLang="zh-CN" sz="1600" baseline="0" dirty="0" smtClean="0">
                          <a:solidFill>
                            <a:schemeClr val="tx1"/>
                          </a:solidFill>
                        </a:rPr>
                        <a:t>3. lob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853178"/>
                  </a:ext>
                </a:extLst>
              </a:tr>
              <a:tr h="292193"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Create</a:t>
                      </a:r>
                      <a:r>
                        <a:rPr lang="en-US" altLang="zh-CN" sz="1600" baseline="0" dirty="0" smtClean="0">
                          <a:solidFill>
                            <a:schemeClr val="tx1"/>
                          </a:solidFill>
                        </a:rPr>
                        <a:t> time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UINT64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aseline="0" dirty="0" smtClean="0">
                          <a:solidFill>
                            <a:schemeClr val="tx1"/>
                          </a:solidFill>
                        </a:rPr>
                        <a:t>创建时间，毫秒数</a:t>
                      </a:r>
                      <a:endParaRPr lang="en-US" altLang="zh-CN" sz="1600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6930073"/>
                  </a:ext>
                </a:extLst>
              </a:tr>
              <a:tr h="292193"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reserved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BYTES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1024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aseline="0" dirty="0" smtClean="0">
                          <a:solidFill>
                            <a:schemeClr val="tx1"/>
                          </a:solidFill>
                        </a:rPr>
                        <a:t>预留字段</a:t>
                      </a:r>
                      <a:r>
                        <a:rPr lang="en-US" altLang="zh-CN" sz="1600" baseline="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zh-CN" altLang="en-US" sz="1600" baseline="0" dirty="0" smtClean="0">
                          <a:solidFill>
                            <a:schemeClr val="tx1"/>
                          </a:solidFill>
                        </a:rPr>
                        <a:t>默认值</a:t>
                      </a:r>
                      <a:r>
                        <a:rPr lang="en-US" altLang="zh-CN" sz="1600" baseline="0" dirty="0" smtClean="0">
                          <a:solidFill>
                            <a:schemeClr val="tx1"/>
                          </a:solidFill>
                        </a:rPr>
                        <a:t>0 )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9418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1303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Space </a:t>
            </a:r>
            <a:r>
              <a:rPr lang="en-US" altLang="zh-CN" dirty="0"/>
              <a:t>M</a:t>
            </a:r>
            <a:r>
              <a:rPr lang="en-US" altLang="zh-CN" dirty="0" smtClean="0"/>
              <a:t>anagement Extent</a:t>
            </a:r>
            <a:endParaRPr lang="zh-CN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3575788"/>
              </p:ext>
            </p:extLst>
          </p:nvPr>
        </p:nvGraphicFramePr>
        <p:xfrm>
          <a:off x="838200" y="1725413"/>
          <a:ext cx="6847390" cy="32816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1461">
                  <a:extLst>
                    <a:ext uri="{9D8B030D-6E8A-4147-A177-3AD203B41FA5}">
                      <a16:colId xmlns:a16="http://schemas.microsoft.com/office/drawing/2014/main" val="85529653"/>
                    </a:ext>
                  </a:extLst>
                </a:gridCol>
                <a:gridCol w="937549">
                  <a:extLst>
                    <a:ext uri="{9D8B030D-6E8A-4147-A177-3AD203B41FA5}">
                      <a16:colId xmlns:a16="http://schemas.microsoft.com/office/drawing/2014/main" val="776076127"/>
                    </a:ext>
                  </a:extLst>
                </a:gridCol>
                <a:gridCol w="1192193">
                  <a:extLst>
                    <a:ext uri="{9D8B030D-6E8A-4147-A177-3AD203B41FA5}">
                      <a16:colId xmlns:a16="http://schemas.microsoft.com/office/drawing/2014/main" val="274818149"/>
                    </a:ext>
                  </a:extLst>
                </a:gridCol>
                <a:gridCol w="3206187">
                  <a:extLst>
                    <a:ext uri="{9D8B030D-6E8A-4147-A177-3AD203B41FA5}">
                      <a16:colId xmlns:a16="http://schemas.microsoft.com/office/drawing/2014/main" val="3187750737"/>
                    </a:ext>
                  </a:extLst>
                </a:gridCol>
              </a:tblGrid>
              <a:tr h="355557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Space Management Extent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altLang="zh-CN" sz="1600" baseline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118234"/>
                  </a:ext>
                </a:extLst>
              </a:tr>
              <a:tr h="244758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名称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类型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长度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描述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0334185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Version</a:t>
                      </a:r>
                      <a:endParaRPr lang="zh-CN" altLang="en-US" sz="16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UINT8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版本号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575168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pad</a:t>
                      </a:r>
                      <a:endParaRPr lang="zh-CN" altLang="en-US" sz="16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BYTE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填充字段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8125831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Page size</a:t>
                      </a:r>
                      <a:endParaRPr lang="zh-CN" altLang="en-US" sz="16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UINT16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3929644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Page </a:t>
                      </a:r>
                      <a:r>
                        <a:rPr lang="en-US" altLang="zh-CN" sz="16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num</a:t>
                      </a:r>
                      <a:endParaRPr lang="zh-CN" altLang="en-US" sz="16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UINT32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当前已分配</a:t>
                      </a: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page</a:t>
                      </a:r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数量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94303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Page bitmap</a:t>
                      </a:r>
                      <a:endParaRPr lang="zh-CN" altLang="en-US" sz="16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BYTES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16M</a:t>
                      </a:r>
                      <a:r>
                        <a:rPr lang="en-US" altLang="zh-CN" sz="16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altLang="zh-CN" sz="16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总共</a:t>
                      </a: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128M</a:t>
                      </a:r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个</a:t>
                      </a: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page</a:t>
                      </a:r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。每一</a:t>
                      </a: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bit</a:t>
                      </a:r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位标识是否使用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4496127"/>
                  </a:ext>
                </a:extLst>
              </a:tr>
              <a:tr h="17777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Reserved</a:t>
                      </a:r>
                      <a:endParaRPr lang="zh-CN" altLang="en-US" sz="16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BYTES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1024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预留字段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920981"/>
                  </a:ext>
                </a:extLst>
              </a:tr>
              <a:tr h="17777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582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7285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Data Segment Metadata</a:t>
            </a:r>
            <a:endParaRPr lang="zh-CN" alt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0837045"/>
              </p:ext>
            </p:extLst>
          </p:nvPr>
        </p:nvGraphicFramePr>
        <p:xfrm>
          <a:off x="838200" y="1529427"/>
          <a:ext cx="5608900" cy="23672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1933">
                  <a:extLst>
                    <a:ext uri="{9D8B030D-6E8A-4147-A177-3AD203B41FA5}">
                      <a16:colId xmlns:a16="http://schemas.microsoft.com/office/drawing/2014/main" val="8552965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776076127"/>
                    </a:ext>
                  </a:extLst>
                </a:gridCol>
                <a:gridCol w="1053296">
                  <a:extLst>
                    <a:ext uri="{9D8B030D-6E8A-4147-A177-3AD203B41FA5}">
                      <a16:colId xmlns:a16="http://schemas.microsoft.com/office/drawing/2014/main" val="274818149"/>
                    </a:ext>
                  </a:extLst>
                </a:gridCol>
                <a:gridCol w="1979271">
                  <a:extLst>
                    <a:ext uri="{9D8B030D-6E8A-4147-A177-3AD203B41FA5}">
                      <a16:colId xmlns:a16="http://schemas.microsoft.com/office/drawing/2014/main" val="3187750737"/>
                    </a:ext>
                  </a:extLst>
                </a:gridCol>
              </a:tblGrid>
              <a:tr h="355557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Segment Metadata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altLang="zh-CN" sz="1600" baseline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118234"/>
                  </a:ext>
                </a:extLst>
              </a:tr>
              <a:tr h="244758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名称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类型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长度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描述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0334185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Version</a:t>
                      </a:r>
                      <a:endParaRPr lang="zh-CN" altLang="en-US" sz="16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UINT8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版本号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575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pad</a:t>
                      </a:r>
                      <a:endParaRPr lang="zh-CN" altLang="en-US" sz="16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BYTES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填充位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4496127"/>
                  </a:ext>
                </a:extLst>
              </a:tr>
              <a:tr h="14135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Reserved</a:t>
                      </a:r>
                      <a:endParaRPr lang="zh-CN" altLang="en-US" sz="16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BYTES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1024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预留字段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914417"/>
                  </a:ext>
                </a:extLst>
              </a:tr>
              <a:tr h="177779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Segment </a:t>
                      </a:r>
                      <a:r>
                        <a:rPr lang="en-US" altLang="zh-CN" sz="16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num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UINT32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当前</a:t>
                      </a: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Segment</a:t>
                      </a:r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数量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920981"/>
                  </a:ext>
                </a:extLst>
              </a:tr>
              <a:tr h="177779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SEGMENT SLOT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UINT16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256K * 4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256K</a:t>
                      </a:r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个槽位号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903870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3830739"/>
              </p:ext>
            </p:extLst>
          </p:nvPr>
        </p:nvGraphicFramePr>
        <p:xfrm>
          <a:off x="838201" y="4023360"/>
          <a:ext cx="6824240" cy="13768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4756">
                  <a:extLst>
                    <a:ext uri="{9D8B030D-6E8A-4147-A177-3AD203B41FA5}">
                      <a16:colId xmlns:a16="http://schemas.microsoft.com/office/drawing/2014/main" val="85529653"/>
                    </a:ext>
                  </a:extLst>
                </a:gridCol>
                <a:gridCol w="891251">
                  <a:extLst>
                    <a:ext uri="{9D8B030D-6E8A-4147-A177-3AD203B41FA5}">
                      <a16:colId xmlns:a16="http://schemas.microsoft.com/office/drawing/2014/main" val="776076127"/>
                    </a:ext>
                  </a:extLst>
                </a:gridCol>
                <a:gridCol w="856526">
                  <a:extLst>
                    <a:ext uri="{9D8B030D-6E8A-4147-A177-3AD203B41FA5}">
                      <a16:colId xmlns:a16="http://schemas.microsoft.com/office/drawing/2014/main" val="274818149"/>
                    </a:ext>
                  </a:extLst>
                </a:gridCol>
                <a:gridCol w="2511707">
                  <a:extLst>
                    <a:ext uri="{9D8B030D-6E8A-4147-A177-3AD203B41FA5}">
                      <a16:colId xmlns:a16="http://schemas.microsoft.com/office/drawing/2014/main" val="3187750737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SEGMENT SLOT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altLang="zh-CN" sz="1600" baseline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118234"/>
                  </a:ext>
                </a:extLst>
              </a:tr>
              <a:tr h="37101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名称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类型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长度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描述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0334185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page </a:t>
                      </a:r>
                      <a:r>
                        <a:rPr lang="en-US" altLang="zh-CN" sz="16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num</a:t>
                      </a: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per extent</a:t>
                      </a:r>
                      <a:endParaRPr lang="zh-CN" altLang="en-US" sz="16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UINT16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每个</a:t>
                      </a: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extent</a:t>
                      </a:r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占用的</a:t>
                      </a: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page</a:t>
                      </a:r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数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914417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pad</a:t>
                      </a:r>
                      <a:endParaRPr lang="zh-CN" altLang="en-US" sz="16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BYTE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填充位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5017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8220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CS Metadata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6118806"/>
              </p:ext>
            </p:extLst>
          </p:nvPr>
        </p:nvGraphicFramePr>
        <p:xfrm>
          <a:off x="838200" y="1626293"/>
          <a:ext cx="5608900" cy="9296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1933">
                  <a:extLst>
                    <a:ext uri="{9D8B030D-6E8A-4147-A177-3AD203B41FA5}">
                      <a16:colId xmlns:a16="http://schemas.microsoft.com/office/drawing/2014/main" val="8552965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776076127"/>
                    </a:ext>
                  </a:extLst>
                </a:gridCol>
                <a:gridCol w="1053296">
                  <a:extLst>
                    <a:ext uri="{9D8B030D-6E8A-4147-A177-3AD203B41FA5}">
                      <a16:colId xmlns:a16="http://schemas.microsoft.com/office/drawing/2014/main" val="274818149"/>
                    </a:ext>
                  </a:extLst>
                </a:gridCol>
                <a:gridCol w="1979271">
                  <a:extLst>
                    <a:ext uri="{9D8B030D-6E8A-4147-A177-3AD203B41FA5}">
                      <a16:colId xmlns:a16="http://schemas.microsoft.com/office/drawing/2014/main" val="3187750737"/>
                    </a:ext>
                  </a:extLst>
                </a:gridCol>
              </a:tblGrid>
              <a:tr h="320077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solidFill>
                            <a:schemeClr val="tx1"/>
                          </a:solidFill>
                        </a:rPr>
                        <a:t>Collection Metadata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altLang="zh-CN" sz="1600" baseline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118234"/>
                  </a:ext>
                </a:extLst>
              </a:tr>
              <a:tr h="30182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名称</a:t>
                      </a:r>
                      <a:endParaRPr lang="zh-CN" altLang="en-US" sz="14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类型</a:t>
                      </a:r>
                      <a:endParaRPr lang="zh-CN" altLang="en-US" sz="14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长度</a:t>
                      </a:r>
                      <a:endParaRPr lang="zh-CN" altLang="en-US" sz="14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描述</a:t>
                      </a:r>
                      <a:endParaRPr lang="zh-CN" altLang="en-US" sz="14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033418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Collection slots</a:t>
                      </a:r>
                      <a:endParaRPr lang="zh-CN" altLang="en-US" sz="14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BYTES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4096 * xx</a:t>
                      </a:r>
                      <a:endParaRPr lang="zh-CN" altLang="en-US" sz="14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4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8991050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/>
          </p:nvPr>
        </p:nvGraphicFramePr>
        <p:xfrm>
          <a:off x="838200" y="2951856"/>
          <a:ext cx="10083085" cy="36131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1933">
                  <a:extLst>
                    <a:ext uri="{9D8B030D-6E8A-4147-A177-3AD203B41FA5}">
                      <a16:colId xmlns:a16="http://schemas.microsoft.com/office/drawing/2014/main" val="8552965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776076127"/>
                    </a:ext>
                  </a:extLst>
                </a:gridCol>
                <a:gridCol w="1053296">
                  <a:extLst>
                    <a:ext uri="{9D8B030D-6E8A-4147-A177-3AD203B41FA5}">
                      <a16:colId xmlns:a16="http://schemas.microsoft.com/office/drawing/2014/main" val="274818149"/>
                    </a:ext>
                  </a:extLst>
                </a:gridCol>
                <a:gridCol w="6453456">
                  <a:extLst>
                    <a:ext uri="{9D8B030D-6E8A-4147-A177-3AD203B41FA5}">
                      <a16:colId xmlns:a16="http://schemas.microsoft.com/office/drawing/2014/main" val="3187750737"/>
                    </a:ext>
                  </a:extLst>
                </a:gridCol>
              </a:tblGrid>
              <a:tr h="291577">
                <a:tc gridSpan="4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Collection slots</a:t>
                      </a:r>
                      <a:endParaRPr lang="zh-CN" altLang="en-US" sz="14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altLang="zh-CN" sz="1600" baseline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118234"/>
                  </a:ext>
                </a:extLst>
              </a:tr>
              <a:tr h="29157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名称</a:t>
                      </a:r>
                      <a:endParaRPr lang="zh-CN" altLang="en-US" sz="14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类型</a:t>
                      </a:r>
                      <a:endParaRPr lang="zh-CN" altLang="en-US" sz="14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长度</a:t>
                      </a:r>
                      <a:endParaRPr lang="zh-CN" altLang="en-US" sz="14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描述</a:t>
                      </a:r>
                      <a:endParaRPr lang="zh-CN" altLang="en-US" sz="14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0334185"/>
                  </a:ext>
                </a:extLst>
              </a:tr>
              <a:tr h="291577">
                <a:tc>
                  <a:txBody>
                    <a:bodyPr/>
                    <a:lstStyle/>
                    <a:p>
                      <a:r>
                        <a:rPr lang="en-US" altLang="zh-CN" sz="1400" dirty="0" err="1" smtClean="0"/>
                        <a:t>clName</a:t>
                      </a:r>
                      <a:endParaRPr lang="en-US" altLang="zh-CN" sz="14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CHAR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128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表名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575168"/>
                  </a:ext>
                </a:extLst>
              </a:tr>
              <a:tr h="291577">
                <a:tc>
                  <a:txBody>
                    <a:bodyPr/>
                    <a:lstStyle/>
                    <a:p>
                      <a:r>
                        <a:rPr lang="en-US" altLang="zh-CN" sz="1400" dirty="0" err="1" smtClean="0"/>
                        <a:t>clid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UINT64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8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表唯一</a:t>
                      </a:r>
                      <a:r>
                        <a:rPr lang="en-US" altLang="zh-CN" sz="1400" dirty="0" smtClean="0"/>
                        <a:t>id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4496127"/>
                  </a:ext>
                </a:extLst>
              </a:tr>
              <a:tr h="29157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idx</a:t>
                      </a:r>
                      <a:endParaRPr lang="zh-CN" altLang="en-US" sz="14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UINT16</a:t>
                      </a:r>
                      <a:endParaRPr lang="zh-CN" altLang="en-US" sz="14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4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在</a:t>
                      </a:r>
                      <a:r>
                        <a:rPr lang="en-US" altLang="zh-CN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Slot</a:t>
                      </a:r>
                      <a:r>
                        <a:rPr lang="zh-CN" altLang="en-US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中的</a:t>
                      </a:r>
                      <a:r>
                        <a:rPr lang="en-US" altLang="zh-CN" sz="14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idx</a:t>
                      </a:r>
                      <a:endParaRPr lang="zh-CN" altLang="en-US" sz="14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914417"/>
                  </a:ext>
                </a:extLst>
              </a:tr>
              <a:tr h="29157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Flag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UINT16</a:t>
                      </a:r>
                      <a:endParaRPr lang="zh-CN" altLang="en-US" sz="14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4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状态位（</a:t>
                      </a:r>
                      <a:r>
                        <a:rPr lang="en-US" altLang="zh-CN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free</a:t>
                      </a:r>
                      <a:r>
                        <a:rPr lang="zh-CN" altLang="en-US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dropped</a:t>
                      </a:r>
                      <a:r>
                        <a:rPr lang="zh-CN" altLang="en-US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used</a:t>
                      </a:r>
                      <a:r>
                        <a:rPr lang="zh-CN" altLang="en-US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；</a:t>
                      </a:r>
                      <a:r>
                        <a:rPr lang="en-US" altLang="zh-CN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online reorg etc.</a:t>
                      </a:r>
                      <a:r>
                        <a:rPr lang="zh-CN" altLang="en-US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  <a:endParaRPr lang="zh-CN" altLang="en-US" sz="14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1967559"/>
                  </a:ext>
                </a:extLst>
              </a:tr>
              <a:tr h="50363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stat</a:t>
                      </a:r>
                      <a:endParaRPr lang="zh-CN" altLang="en-US" sz="14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BYTES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36</a:t>
                      </a:r>
                      <a:endParaRPr lang="zh-CN" altLang="en-US" sz="14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Records(8)</a:t>
                      </a:r>
                      <a:r>
                        <a:rPr lang="zh-CN" altLang="en-US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4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DataPages</a:t>
                      </a:r>
                      <a:r>
                        <a:rPr lang="en-US" altLang="zh-CN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(4)</a:t>
                      </a:r>
                      <a:r>
                        <a:rPr lang="zh-CN" altLang="en-US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4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IndexPages</a:t>
                      </a:r>
                      <a:r>
                        <a:rPr lang="en-US" altLang="zh-CN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(4)</a:t>
                      </a:r>
                      <a:r>
                        <a:rPr lang="zh-CN" altLang="en-US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4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DataFreeSpace</a:t>
                      </a:r>
                      <a:r>
                        <a:rPr lang="en-US" altLang="zh-CN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(8)</a:t>
                      </a:r>
                      <a:r>
                        <a:rPr lang="zh-CN" altLang="en-US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4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IndexFreeSpace</a:t>
                      </a:r>
                      <a:r>
                        <a:rPr lang="en-US" altLang="zh-CN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(8)</a:t>
                      </a:r>
                      <a:r>
                        <a:rPr lang="zh-CN" altLang="en-US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4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LobPages</a:t>
                      </a:r>
                      <a:r>
                        <a:rPr lang="en-US" altLang="zh-CN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(4)</a:t>
                      </a:r>
                      <a:endParaRPr lang="zh-CN" altLang="en-US" sz="14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920981"/>
                  </a:ext>
                </a:extLst>
              </a:tr>
              <a:tr h="351751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compressorType</a:t>
                      </a:r>
                      <a:endParaRPr lang="zh-CN" altLang="en-US" sz="14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UINT8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压缩类型</a:t>
                      </a:r>
                      <a:endParaRPr lang="zh-CN" altLang="en-US" sz="14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0926502"/>
                  </a:ext>
                </a:extLst>
              </a:tr>
              <a:tr h="29157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dictExtentID</a:t>
                      </a:r>
                      <a:endParaRPr lang="zh-CN" altLang="en-US" sz="14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UINT32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CN" altLang="en-US" sz="14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字典所在</a:t>
                      </a:r>
                      <a:r>
                        <a:rPr lang="en-US" altLang="zh-CN" sz="14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extentID</a:t>
                      </a:r>
                      <a:endParaRPr lang="zh-CN" altLang="en-US" sz="14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919122"/>
                  </a:ext>
                </a:extLst>
              </a:tr>
              <a:tr h="29157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indexExtent</a:t>
                      </a:r>
                      <a:r>
                        <a:rPr lang="en-US" altLang="zh-CN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[64]</a:t>
                      </a:r>
                      <a:endParaRPr lang="zh-CN" altLang="en-US" sz="14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UINT32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64 </a:t>
                      </a:r>
                      <a:r>
                        <a:rPr lang="zh-CN" altLang="en-US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 </a:t>
                      </a:r>
                      <a:r>
                        <a:rPr lang="en-US" altLang="zh-CN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CN" altLang="en-US" sz="14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索引定义所在</a:t>
                      </a:r>
                      <a:r>
                        <a:rPr lang="en-US" altLang="zh-CN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extent</a:t>
                      </a:r>
                      <a:r>
                        <a:rPr lang="zh-CN" altLang="en-US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，最大</a:t>
                      </a:r>
                      <a:r>
                        <a:rPr lang="en-US" altLang="zh-CN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64</a:t>
                      </a:r>
                      <a:r>
                        <a:rPr lang="zh-CN" altLang="en-US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个索引</a:t>
                      </a:r>
                      <a:endParaRPr lang="zh-CN" altLang="en-US" sz="14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1846790"/>
                  </a:ext>
                </a:extLst>
              </a:tr>
              <a:tr h="29157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relationExtent</a:t>
                      </a:r>
                      <a:r>
                        <a:rPr lang="en-US" altLang="zh-CN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[4]</a:t>
                      </a:r>
                      <a:endParaRPr lang="zh-CN" altLang="en-US" sz="14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UINT32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 </a:t>
                      </a:r>
                      <a:r>
                        <a:rPr lang="zh-CN" altLang="en-US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 </a:t>
                      </a:r>
                      <a:r>
                        <a:rPr lang="en-US" altLang="zh-CN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CN" altLang="en-US" sz="14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aseline="0" dirty="0" smtClean="0"/>
                        <a:t>根据记录大小分为</a:t>
                      </a:r>
                      <a:r>
                        <a:rPr lang="en-US" altLang="zh-CN" sz="1400" baseline="0" dirty="0" smtClean="0"/>
                        <a:t>4</a:t>
                      </a:r>
                      <a:r>
                        <a:rPr lang="zh-CN" altLang="en-US" sz="1400" baseline="0" dirty="0" smtClean="0"/>
                        <a:t>个等级：</a:t>
                      </a:r>
                      <a:r>
                        <a:rPr lang="en-US" altLang="zh-CN" sz="1400" baseline="0" dirty="0" smtClean="0"/>
                        <a:t>(0, 4k)</a:t>
                      </a:r>
                      <a:r>
                        <a:rPr lang="zh-CN" altLang="en-US" sz="1400" baseline="0" dirty="0" smtClean="0"/>
                        <a:t>、</a:t>
                      </a:r>
                      <a:r>
                        <a:rPr lang="en-US" altLang="zh-CN" sz="1400" baseline="0" dirty="0" smtClean="0"/>
                        <a:t>[4k, 64k)</a:t>
                      </a:r>
                      <a:r>
                        <a:rPr lang="zh-CN" altLang="en-US" sz="1400" baseline="0" dirty="0" smtClean="0"/>
                        <a:t>、</a:t>
                      </a:r>
                      <a:r>
                        <a:rPr lang="en-US" altLang="zh-CN" sz="1400" baseline="0" dirty="0" smtClean="0"/>
                        <a:t>[64k, 1M)</a:t>
                      </a:r>
                      <a:r>
                        <a:rPr lang="zh-CN" altLang="en-US" sz="1400" baseline="0" dirty="0" smtClean="0"/>
                        <a:t>、</a:t>
                      </a:r>
                      <a:r>
                        <a:rPr lang="en-US" altLang="zh-CN" sz="1400" baseline="0" dirty="0" smtClean="0"/>
                        <a:t>[1M, 16M )</a:t>
                      </a:r>
                      <a:endParaRPr lang="zh-CN" altLang="en-US" sz="14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944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8787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cl </a:t>
            </a:r>
            <a:r>
              <a:rPr lang="zh-CN" altLang="en-US" dirty="0" smtClean="0"/>
              <a:t>与</a:t>
            </a:r>
            <a:r>
              <a:rPr lang="en-US" altLang="zh-CN" dirty="0" smtClean="0"/>
              <a:t>extent</a:t>
            </a:r>
            <a:r>
              <a:rPr lang="zh-CN" altLang="en-US" dirty="0" smtClean="0"/>
              <a:t>的关系</a:t>
            </a:r>
            <a:endParaRPr lang="zh-CN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5610026"/>
              </p:ext>
            </p:extLst>
          </p:nvPr>
        </p:nvGraphicFramePr>
        <p:xfrm>
          <a:off x="1726841" y="2114157"/>
          <a:ext cx="3755724" cy="27612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5954">
                  <a:extLst>
                    <a:ext uri="{9D8B030D-6E8A-4147-A177-3AD203B41FA5}">
                      <a16:colId xmlns:a16="http://schemas.microsoft.com/office/drawing/2014/main" val="1587746740"/>
                    </a:ext>
                  </a:extLst>
                </a:gridCol>
                <a:gridCol w="625954">
                  <a:extLst>
                    <a:ext uri="{9D8B030D-6E8A-4147-A177-3AD203B41FA5}">
                      <a16:colId xmlns:a16="http://schemas.microsoft.com/office/drawing/2014/main" val="2969394237"/>
                    </a:ext>
                  </a:extLst>
                </a:gridCol>
                <a:gridCol w="625954">
                  <a:extLst>
                    <a:ext uri="{9D8B030D-6E8A-4147-A177-3AD203B41FA5}">
                      <a16:colId xmlns:a16="http://schemas.microsoft.com/office/drawing/2014/main" val="306593386"/>
                    </a:ext>
                  </a:extLst>
                </a:gridCol>
                <a:gridCol w="625954">
                  <a:extLst>
                    <a:ext uri="{9D8B030D-6E8A-4147-A177-3AD203B41FA5}">
                      <a16:colId xmlns:a16="http://schemas.microsoft.com/office/drawing/2014/main" val="1726841658"/>
                    </a:ext>
                  </a:extLst>
                </a:gridCol>
                <a:gridCol w="625954">
                  <a:extLst>
                    <a:ext uri="{9D8B030D-6E8A-4147-A177-3AD203B41FA5}">
                      <a16:colId xmlns:a16="http://schemas.microsoft.com/office/drawing/2014/main" val="1944885060"/>
                    </a:ext>
                  </a:extLst>
                </a:gridCol>
                <a:gridCol w="625954">
                  <a:extLst>
                    <a:ext uri="{9D8B030D-6E8A-4147-A177-3AD203B41FA5}">
                      <a16:colId xmlns:a16="http://schemas.microsoft.com/office/drawing/2014/main" val="1595363227"/>
                    </a:ext>
                  </a:extLst>
                </a:gridCol>
              </a:tblGrid>
              <a:tr h="45493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rgbClr val="FF0000"/>
                          </a:solidFill>
                        </a:rPr>
                        <a:t>r1_0</a:t>
                      </a:r>
                      <a:endParaRPr lang="zh-CN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</a:rPr>
                        <a:t>cl1</a:t>
                      </a:r>
                      <a:endParaRPr lang="zh-CN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</a:rPr>
                        <a:t>cl1</a:t>
                      </a:r>
                      <a:endParaRPr lang="zh-CN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rgbClr val="FF0000"/>
                          </a:solidFill>
                        </a:rPr>
                        <a:t>r2_0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</a:rPr>
                        <a:t>cl2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rgbClr val="FF0000"/>
                          </a:solidFill>
                        </a:rPr>
                        <a:t>r3_1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907438"/>
                  </a:ext>
                </a:extLst>
              </a:tr>
              <a:tr h="46125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</a:rPr>
                        <a:t>cl1</a:t>
                      </a:r>
                      <a:endParaRPr lang="zh-CN" altLang="en-US" sz="1800" b="1" dirty="0" smtClean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dirty="0" smtClean="0">
                          <a:solidFill>
                            <a:srgbClr val="FF0000"/>
                          </a:solidFill>
                        </a:rPr>
                        <a:t>r1_1</a:t>
                      </a:r>
                      <a:endParaRPr lang="zh-CN" altLang="en-US" sz="1800" b="1" dirty="0" smtClean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</a:rPr>
                        <a:t>cl1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rgbClr val="FF0000"/>
                          </a:solidFill>
                        </a:rPr>
                        <a:t>r1_2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2092012"/>
                  </a:ext>
                </a:extLst>
              </a:tr>
              <a:tr h="461254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</a:rPr>
                        <a:t>cl3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</a:rPr>
                        <a:t>cl1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</a:rPr>
                        <a:t>cl1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673971"/>
                  </a:ext>
                </a:extLst>
              </a:tr>
              <a:tr h="461254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</a:rPr>
                        <a:t>cl1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</a:rPr>
                        <a:t>cl1</a:t>
                      </a:r>
                      <a:endParaRPr lang="zh-CN" altLang="en-US" sz="18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</a:rPr>
                        <a:t>cl1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022743"/>
                  </a:ext>
                </a:extLst>
              </a:tr>
              <a:tr h="461254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</a:rPr>
                        <a:t>cl1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3001124"/>
                  </a:ext>
                </a:extLst>
              </a:tr>
              <a:tr h="461254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</a:rPr>
                        <a:t>cl1</a:t>
                      </a:r>
                      <a:endParaRPr lang="zh-CN" altLang="en-US" sz="1800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2294619"/>
                  </a:ext>
                </a:extLst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1873744" y="1752575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0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2491929" y="1752575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3110114" y="1744825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3728299" y="1744825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4346484" y="1744825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4964669" y="1744825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1229800" y="2146692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0</a:t>
            </a:r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1229800" y="262321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1229800" y="3050668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12</a:t>
            </a:r>
            <a:endParaRPr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1229800" y="3494760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18</a:t>
            </a:r>
            <a:endParaRPr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1229800" y="3938852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24</a:t>
            </a:r>
            <a:endParaRPr lang="zh-CN" altLang="en-US" dirty="0"/>
          </a:p>
        </p:txBody>
      </p:sp>
      <p:sp>
        <p:nvSpPr>
          <p:cNvPr id="18" name="文本框 17"/>
          <p:cNvSpPr txBox="1"/>
          <p:nvPr/>
        </p:nvSpPr>
        <p:spPr>
          <a:xfrm>
            <a:off x="1229800" y="4386589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30</a:t>
            </a:r>
            <a:endParaRPr lang="zh-CN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49399" y="2414014"/>
            <a:ext cx="1165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segment1</a:t>
            </a:r>
            <a:endParaRPr lang="zh-CN" altLang="en-US" dirty="0"/>
          </a:p>
        </p:txBody>
      </p:sp>
      <p:sp>
        <p:nvSpPr>
          <p:cNvPr id="23" name="文本框 22"/>
          <p:cNvSpPr txBox="1"/>
          <p:nvPr/>
        </p:nvSpPr>
        <p:spPr>
          <a:xfrm>
            <a:off x="2976967" y="5052279"/>
            <a:ext cx="12554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Extent</a:t>
            </a:r>
            <a:r>
              <a:rPr lang="zh-CN" altLang="en-US" dirty="0"/>
              <a:t>视图</a:t>
            </a:r>
          </a:p>
        </p:txBody>
      </p:sp>
      <p:sp>
        <p:nvSpPr>
          <p:cNvPr id="25" name="矩形 24"/>
          <p:cNvSpPr/>
          <p:nvPr/>
        </p:nvSpPr>
        <p:spPr>
          <a:xfrm>
            <a:off x="64096" y="3304820"/>
            <a:ext cx="1165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segment2</a:t>
            </a:r>
            <a:endParaRPr lang="zh-CN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64096" y="4190576"/>
            <a:ext cx="1165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segment3</a:t>
            </a:r>
            <a:endParaRPr lang="zh-CN" altLang="en-US" dirty="0"/>
          </a:p>
        </p:txBody>
      </p:sp>
      <p:cxnSp>
        <p:nvCxnSpPr>
          <p:cNvPr id="32" name="曲线连接符 31"/>
          <p:cNvCxnSpPr>
            <a:stCxn id="57" idx="0"/>
            <a:endCxn id="7" idx="2"/>
          </p:cNvCxnSpPr>
          <p:nvPr/>
        </p:nvCxnSpPr>
        <p:spPr>
          <a:xfrm rot="16200000" flipH="1" flipV="1">
            <a:off x="4439765" y="-1004665"/>
            <a:ext cx="713798" cy="5539346"/>
          </a:xfrm>
          <a:prstGeom prst="curvedConnector5">
            <a:avLst>
              <a:gd name="adj1" fmla="val -32026"/>
              <a:gd name="adj2" fmla="val 51639"/>
              <a:gd name="adj3" fmla="val 2118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曲线连接符 41"/>
          <p:cNvCxnSpPr>
            <a:stCxn id="58" idx="2"/>
          </p:cNvCxnSpPr>
          <p:nvPr/>
        </p:nvCxnSpPr>
        <p:spPr>
          <a:xfrm rot="5400000">
            <a:off x="5001845" y="-450848"/>
            <a:ext cx="1030772" cy="5437614"/>
          </a:xfrm>
          <a:prstGeom prst="curved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曲线连接符 43"/>
          <p:cNvCxnSpPr>
            <a:stCxn id="59" idx="2"/>
          </p:cNvCxnSpPr>
          <p:nvPr/>
        </p:nvCxnSpPr>
        <p:spPr>
          <a:xfrm rot="5400000">
            <a:off x="5945587" y="-87621"/>
            <a:ext cx="1117190" cy="4797579"/>
          </a:xfrm>
          <a:prstGeom prst="curved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6" name="表格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1820567"/>
              </p:ext>
            </p:extLst>
          </p:nvPr>
        </p:nvGraphicFramePr>
        <p:xfrm>
          <a:off x="6431745" y="3003197"/>
          <a:ext cx="230388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5972">
                  <a:extLst>
                    <a:ext uri="{9D8B030D-6E8A-4147-A177-3AD203B41FA5}">
                      <a16:colId xmlns:a16="http://schemas.microsoft.com/office/drawing/2014/main" val="785319347"/>
                    </a:ext>
                  </a:extLst>
                </a:gridCol>
                <a:gridCol w="575972">
                  <a:extLst>
                    <a:ext uri="{9D8B030D-6E8A-4147-A177-3AD203B41FA5}">
                      <a16:colId xmlns:a16="http://schemas.microsoft.com/office/drawing/2014/main" val="3775003825"/>
                    </a:ext>
                  </a:extLst>
                </a:gridCol>
                <a:gridCol w="575972">
                  <a:extLst>
                    <a:ext uri="{9D8B030D-6E8A-4147-A177-3AD203B41FA5}">
                      <a16:colId xmlns:a16="http://schemas.microsoft.com/office/drawing/2014/main" val="2931746197"/>
                    </a:ext>
                  </a:extLst>
                </a:gridCol>
                <a:gridCol w="575972">
                  <a:extLst>
                    <a:ext uri="{9D8B030D-6E8A-4147-A177-3AD203B41FA5}">
                      <a16:colId xmlns:a16="http://schemas.microsoft.com/office/drawing/2014/main" val="35860701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0146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047197"/>
                  </a:ext>
                </a:extLst>
              </a:tr>
            </a:tbl>
          </a:graphicData>
        </a:graphic>
      </p:graphicFrame>
      <p:sp>
        <p:nvSpPr>
          <p:cNvPr id="47" name="文本框 46"/>
          <p:cNvSpPr txBox="1"/>
          <p:nvPr/>
        </p:nvSpPr>
        <p:spPr>
          <a:xfrm>
            <a:off x="6498812" y="3798082"/>
            <a:ext cx="2161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relation extent(</a:t>
            </a:r>
            <a:r>
              <a:rPr lang="en-US" altLang="zh-CN" b="1" dirty="0" smtClean="0">
                <a:solidFill>
                  <a:srgbClr val="FF0000"/>
                </a:solidFill>
              </a:rPr>
              <a:t>r1_0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  <p:graphicFrame>
        <p:nvGraphicFramePr>
          <p:cNvPr id="48" name="表格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5010641"/>
              </p:ext>
            </p:extLst>
          </p:nvPr>
        </p:nvGraphicFramePr>
        <p:xfrm>
          <a:off x="9211435" y="3013928"/>
          <a:ext cx="230388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5972">
                  <a:extLst>
                    <a:ext uri="{9D8B030D-6E8A-4147-A177-3AD203B41FA5}">
                      <a16:colId xmlns:a16="http://schemas.microsoft.com/office/drawing/2014/main" val="785319347"/>
                    </a:ext>
                  </a:extLst>
                </a:gridCol>
                <a:gridCol w="575972">
                  <a:extLst>
                    <a:ext uri="{9D8B030D-6E8A-4147-A177-3AD203B41FA5}">
                      <a16:colId xmlns:a16="http://schemas.microsoft.com/office/drawing/2014/main" val="3775003825"/>
                    </a:ext>
                  </a:extLst>
                </a:gridCol>
                <a:gridCol w="575972">
                  <a:extLst>
                    <a:ext uri="{9D8B030D-6E8A-4147-A177-3AD203B41FA5}">
                      <a16:colId xmlns:a16="http://schemas.microsoft.com/office/drawing/2014/main" val="2931746197"/>
                    </a:ext>
                  </a:extLst>
                </a:gridCol>
                <a:gridCol w="575972">
                  <a:extLst>
                    <a:ext uri="{9D8B030D-6E8A-4147-A177-3AD203B41FA5}">
                      <a16:colId xmlns:a16="http://schemas.microsoft.com/office/drawing/2014/main" val="35860701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smtClean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smtClean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smtClean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smtClean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0146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smtClean="0">
                          <a:solidFill>
                            <a:schemeClr val="tx1"/>
                          </a:solidFill>
                        </a:rPr>
                        <a:t>22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047197"/>
                  </a:ext>
                </a:extLst>
              </a:tr>
            </a:tbl>
          </a:graphicData>
        </a:graphic>
      </p:graphicFrame>
      <p:sp>
        <p:nvSpPr>
          <p:cNvPr id="49" name="文本框 48"/>
          <p:cNvSpPr txBox="1"/>
          <p:nvPr/>
        </p:nvSpPr>
        <p:spPr>
          <a:xfrm>
            <a:off x="9315181" y="3796896"/>
            <a:ext cx="2161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relation extent(</a:t>
            </a:r>
            <a:r>
              <a:rPr lang="en-US" altLang="zh-CN" b="1" dirty="0" smtClean="0">
                <a:solidFill>
                  <a:srgbClr val="FF0000"/>
                </a:solidFill>
              </a:rPr>
              <a:t>r1_1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  <p:graphicFrame>
        <p:nvGraphicFramePr>
          <p:cNvPr id="50" name="表格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1930628"/>
              </p:ext>
            </p:extLst>
          </p:nvPr>
        </p:nvGraphicFramePr>
        <p:xfrm>
          <a:off x="6414393" y="4310599"/>
          <a:ext cx="230388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5972">
                  <a:extLst>
                    <a:ext uri="{9D8B030D-6E8A-4147-A177-3AD203B41FA5}">
                      <a16:colId xmlns:a16="http://schemas.microsoft.com/office/drawing/2014/main" val="785319347"/>
                    </a:ext>
                  </a:extLst>
                </a:gridCol>
                <a:gridCol w="575972">
                  <a:extLst>
                    <a:ext uri="{9D8B030D-6E8A-4147-A177-3AD203B41FA5}">
                      <a16:colId xmlns:a16="http://schemas.microsoft.com/office/drawing/2014/main" val="3775003825"/>
                    </a:ext>
                  </a:extLst>
                </a:gridCol>
                <a:gridCol w="575972">
                  <a:extLst>
                    <a:ext uri="{9D8B030D-6E8A-4147-A177-3AD203B41FA5}">
                      <a16:colId xmlns:a16="http://schemas.microsoft.com/office/drawing/2014/main" val="2931746197"/>
                    </a:ext>
                  </a:extLst>
                </a:gridCol>
                <a:gridCol w="575972">
                  <a:extLst>
                    <a:ext uri="{9D8B030D-6E8A-4147-A177-3AD203B41FA5}">
                      <a16:colId xmlns:a16="http://schemas.microsoft.com/office/drawing/2014/main" val="35860701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smtClean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smtClean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0146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047197"/>
                  </a:ext>
                </a:extLst>
              </a:tr>
            </a:tbl>
          </a:graphicData>
        </a:graphic>
      </p:graphicFrame>
      <p:sp>
        <p:nvSpPr>
          <p:cNvPr id="51" name="文本框 50"/>
          <p:cNvSpPr txBox="1"/>
          <p:nvPr/>
        </p:nvSpPr>
        <p:spPr>
          <a:xfrm>
            <a:off x="6485752" y="5043161"/>
            <a:ext cx="2161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relation extent(</a:t>
            </a:r>
            <a:r>
              <a:rPr lang="en-US" altLang="zh-CN" b="1" dirty="0" smtClean="0">
                <a:solidFill>
                  <a:srgbClr val="FF0000"/>
                </a:solidFill>
              </a:rPr>
              <a:t>r1_2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  <p:sp>
        <p:nvSpPr>
          <p:cNvPr id="52" name="文本框 51"/>
          <p:cNvSpPr txBox="1"/>
          <p:nvPr/>
        </p:nvSpPr>
        <p:spPr>
          <a:xfrm>
            <a:off x="7125735" y="1744825"/>
            <a:ext cx="2653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Level0 leve1 level2 level3</a:t>
            </a:r>
            <a:endParaRPr lang="zh-CN" altLang="en-US" dirty="0"/>
          </a:p>
        </p:txBody>
      </p:sp>
      <p:sp>
        <p:nvSpPr>
          <p:cNvPr id="54" name="文本框 53"/>
          <p:cNvSpPr txBox="1"/>
          <p:nvPr/>
        </p:nvSpPr>
        <p:spPr>
          <a:xfrm>
            <a:off x="1443961" y="5866011"/>
            <a:ext cx="4323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Relation extent: r1_0, r2_0, r3_1, r1_1, r1_2</a:t>
            </a:r>
            <a:endParaRPr lang="zh-CN" altLang="en-US" dirty="0"/>
          </a:p>
        </p:txBody>
      </p:sp>
      <p:sp>
        <p:nvSpPr>
          <p:cNvPr id="55" name="文本框 54"/>
          <p:cNvSpPr txBox="1"/>
          <p:nvPr/>
        </p:nvSpPr>
        <p:spPr>
          <a:xfrm>
            <a:off x="1443961" y="6347035"/>
            <a:ext cx="2371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Data extent: cl1,cl2,cl3</a:t>
            </a:r>
            <a:endParaRPr lang="zh-CN" altLang="en-US" dirty="0"/>
          </a:p>
        </p:txBody>
      </p:sp>
      <p:sp>
        <p:nvSpPr>
          <p:cNvPr id="56" name="矩形 55"/>
          <p:cNvSpPr/>
          <p:nvPr/>
        </p:nvSpPr>
        <p:spPr>
          <a:xfrm>
            <a:off x="6564553" y="1408110"/>
            <a:ext cx="669701" cy="34446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cl1</a:t>
            </a:r>
            <a:endParaRPr lang="zh-CN" altLang="en-US" dirty="0"/>
          </a:p>
        </p:txBody>
      </p:sp>
      <p:sp>
        <p:nvSpPr>
          <p:cNvPr id="57" name="矩形 56"/>
          <p:cNvSpPr/>
          <p:nvPr/>
        </p:nvSpPr>
        <p:spPr>
          <a:xfrm>
            <a:off x="7231486" y="1408109"/>
            <a:ext cx="669701" cy="34446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level0</a:t>
            </a:r>
            <a:endParaRPr lang="zh-CN" altLang="en-US" sz="1400" dirty="0"/>
          </a:p>
        </p:txBody>
      </p:sp>
      <p:sp>
        <p:nvSpPr>
          <p:cNvPr id="58" name="矩形 57"/>
          <p:cNvSpPr/>
          <p:nvPr/>
        </p:nvSpPr>
        <p:spPr>
          <a:xfrm>
            <a:off x="7901187" y="1408109"/>
            <a:ext cx="669701" cy="34446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level1</a:t>
            </a:r>
            <a:endParaRPr lang="zh-CN" altLang="en-US" sz="1400" dirty="0"/>
          </a:p>
        </p:txBody>
      </p:sp>
      <p:sp>
        <p:nvSpPr>
          <p:cNvPr id="59" name="矩形 58"/>
          <p:cNvSpPr/>
          <p:nvPr/>
        </p:nvSpPr>
        <p:spPr>
          <a:xfrm>
            <a:off x="8568120" y="1408109"/>
            <a:ext cx="669701" cy="34446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level2</a:t>
            </a:r>
            <a:endParaRPr lang="zh-CN" altLang="en-US" sz="1400" dirty="0"/>
          </a:p>
        </p:txBody>
      </p:sp>
      <p:sp>
        <p:nvSpPr>
          <p:cNvPr id="60" name="矩形 59"/>
          <p:cNvSpPr/>
          <p:nvPr/>
        </p:nvSpPr>
        <p:spPr>
          <a:xfrm>
            <a:off x="9235053" y="1408109"/>
            <a:ext cx="669701" cy="34446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level3</a:t>
            </a:r>
            <a:endParaRPr lang="zh-CN" altLang="en-US" sz="1400" dirty="0"/>
          </a:p>
        </p:txBody>
      </p:sp>
      <p:cxnSp>
        <p:nvCxnSpPr>
          <p:cNvPr id="4" name="直接箭头连接符 3"/>
          <p:cNvCxnSpPr/>
          <p:nvPr/>
        </p:nvCxnSpPr>
        <p:spPr>
          <a:xfrm>
            <a:off x="2180238" y="2414014"/>
            <a:ext cx="4234155" cy="786386"/>
          </a:xfrm>
          <a:prstGeom prst="straightConnector1">
            <a:avLst/>
          </a:prstGeom>
          <a:ln w="25400" cap="sq">
            <a:prstDash val="solid"/>
            <a:headEnd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50826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Extent Header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7496190"/>
              </p:ext>
            </p:extLst>
          </p:nvPr>
        </p:nvGraphicFramePr>
        <p:xfrm>
          <a:off x="838200" y="1781535"/>
          <a:ext cx="6338104" cy="43068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9253">
                  <a:extLst>
                    <a:ext uri="{9D8B030D-6E8A-4147-A177-3AD203B41FA5}">
                      <a16:colId xmlns:a16="http://schemas.microsoft.com/office/drawing/2014/main" val="85529653"/>
                    </a:ext>
                  </a:extLst>
                </a:gridCol>
                <a:gridCol w="868101">
                  <a:extLst>
                    <a:ext uri="{9D8B030D-6E8A-4147-A177-3AD203B41FA5}">
                      <a16:colId xmlns:a16="http://schemas.microsoft.com/office/drawing/2014/main" val="776076127"/>
                    </a:ext>
                  </a:extLst>
                </a:gridCol>
                <a:gridCol w="972274">
                  <a:extLst>
                    <a:ext uri="{9D8B030D-6E8A-4147-A177-3AD203B41FA5}">
                      <a16:colId xmlns:a16="http://schemas.microsoft.com/office/drawing/2014/main" val="274818149"/>
                    </a:ext>
                  </a:extLst>
                </a:gridCol>
                <a:gridCol w="2708476">
                  <a:extLst>
                    <a:ext uri="{9D8B030D-6E8A-4147-A177-3AD203B41FA5}">
                      <a16:colId xmlns:a16="http://schemas.microsoft.com/office/drawing/2014/main" val="3187750737"/>
                    </a:ext>
                  </a:extLst>
                </a:gridCol>
              </a:tblGrid>
              <a:tr h="277794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Extent Header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altLang="zh-CN" sz="1600" baseline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118234"/>
                  </a:ext>
                </a:extLst>
              </a:tr>
              <a:tr h="177779"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名称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类型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长度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描述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0334185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EYE_CATCHER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BYTES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2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4685954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version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UINT8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1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版本号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249934"/>
                  </a:ext>
                </a:extLst>
              </a:tr>
              <a:tr h="750845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status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UINT8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1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aseline="0" dirty="0" smtClean="0"/>
                        <a:t>0x00 normal</a:t>
                      </a:r>
                    </a:p>
                    <a:p>
                      <a:r>
                        <a:rPr lang="en-US" altLang="zh-CN" sz="1600" baseline="0" dirty="0" smtClean="0"/>
                        <a:t>0x01 deleted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575168"/>
                  </a:ext>
                </a:extLst>
              </a:tr>
              <a:tr h="177779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type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UINT8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1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aseline="0" dirty="0" smtClean="0"/>
                        <a:t>0x00 data extent</a:t>
                      </a:r>
                    </a:p>
                    <a:p>
                      <a:r>
                        <a:rPr lang="en-US" altLang="zh-CN" sz="1600" baseline="0" dirty="0" smtClean="0"/>
                        <a:t>0x01 relation </a:t>
                      </a:r>
                      <a:r>
                        <a:rPr lang="en-US" altLang="zh-CN" sz="1600" baseline="0" dirty="0" smtClean="0"/>
                        <a:t>leaf extent</a:t>
                      </a:r>
                      <a:endParaRPr lang="en-US" altLang="zh-CN" sz="1600" baseline="0" dirty="0" smtClean="0"/>
                    </a:p>
                    <a:p>
                      <a:r>
                        <a:rPr lang="en-US" altLang="zh-CN" sz="1600" baseline="0" dirty="0" smtClean="0"/>
                        <a:t>0x02 relation </a:t>
                      </a:r>
                      <a:r>
                        <a:rPr lang="en-US" altLang="zh-CN" sz="1600" baseline="0" dirty="0" smtClean="0"/>
                        <a:t>parent extent</a:t>
                      </a:r>
                      <a:endParaRPr lang="en-US" altLang="zh-CN" sz="1600" baseline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920981"/>
                  </a:ext>
                </a:extLst>
              </a:tr>
              <a:tr h="177779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Page </a:t>
                      </a:r>
                      <a:r>
                        <a:rPr lang="en-US" altLang="zh-CN" sz="1600" dirty="0" err="1" smtClean="0"/>
                        <a:t>num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UINT16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2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aseline="0" dirty="0" smtClean="0"/>
                        <a:t>Extent</a:t>
                      </a:r>
                      <a:r>
                        <a:rPr lang="zh-CN" altLang="en-US" sz="1600" baseline="0" dirty="0" smtClean="0"/>
                        <a:t>包含的</a:t>
                      </a:r>
                      <a:r>
                        <a:rPr lang="en-US" altLang="zh-CN" sz="1600" baseline="0" dirty="0" smtClean="0"/>
                        <a:t>page</a:t>
                      </a:r>
                      <a:r>
                        <a:rPr lang="zh-CN" altLang="en-US" sz="1600" baseline="0" dirty="0" smtClean="0"/>
                        <a:t>数量</a:t>
                      </a:r>
                      <a:endParaRPr lang="en-US" altLang="zh-CN" sz="1600" baseline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7909686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pad1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UINT8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1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aseline="0" dirty="0" smtClean="0"/>
                        <a:t>填充位</a:t>
                      </a:r>
                      <a:endParaRPr lang="en-US" altLang="zh-CN" sz="1600" baseline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8804492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checksum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UINT32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4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zh-CN" sz="1600" baseline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1427202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zh-CN" sz="1600" baseline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2571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9259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Data Extent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7480773"/>
              </p:ext>
            </p:extLst>
          </p:nvPr>
        </p:nvGraphicFramePr>
        <p:xfrm>
          <a:off x="838200" y="1400535"/>
          <a:ext cx="6338104" cy="5292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9253">
                  <a:extLst>
                    <a:ext uri="{9D8B030D-6E8A-4147-A177-3AD203B41FA5}">
                      <a16:colId xmlns:a16="http://schemas.microsoft.com/office/drawing/2014/main" val="85529653"/>
                    </a:ext>
                  </a:extLst>
                </a:gridCol>
                <a:gridCol w="868101">
                  <a:extLst>
                    <a:ext uri="{9D8B030D-6E8A-4147-A177-3AD203B41FA5}">
                      <a16:colId xmlns:a16="http://schemas.microsoft.com/office/drawing/2014/main" val="776076127"/>
                    </a:ext>
                  </a:extLst>
                </a:gridCol>
                <a:gridCol w="972274">
                  <a:extLst>
                    <a:ext uri="{9D8B030D-6E8A-4147-A177-3AD203B41FA5}">
                      <a16:colId xmlns:a16="http://schemas.microsoft.com/office/drawing/2014/main" val="274818149"/>
                    </a:ext>
                  </a:extLst>
                </a:gridCol>
                <a:gridCol w="2708476">
                  <a:extLst>
                    <a:ext uri="{9D8B030D-6E8A-4147-A177-3AD203B41FA5}">
                      <a16:colId xmlns:a16="http://schemas.microsoft.com/office/drawing/2014/main" val="3187750737"/>
                    </a:ext>
                  </a:extLst>
                </a:gridCol>
              </a:tblGrid>
              <a:tr h="277794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Data Extent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altLang="zh-CN" sz="1600" baseline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118234"/>
                  </a:ext>
                </a:extLst>
              </a:tr>
              <a:tr h="177779"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名称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类型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长度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描述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0334185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Extent Header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BYTES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12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4685954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Relation </a:t>
                      </a:r>
                      <a:r>
                        <a:rPr lang="en-US" altLang="zh-CN" sz="1600" dirty="0" err="1" smtClean="0"/>
                        <a:t>recordID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UINT64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8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在关系表中的位置。</a:t>
                      </a:r>
                      <a:r>
                        <a:rPr lang="en-US" altLang="zh-CN" sz="1600" dirty="0" smtClean="0"/>
                        <a:t>relation</a:t>
                      </a:r>
                      <a:r>
                        <a:rPr lang="en-US" altLang="zh-CN" sz="1600" baseline="0" dirty="0" smtClean="0"/>
                        <a:t> extent</a:t>
                      </a:r>
                      <a:r>
                        <a:rPr lang="zh-CN" altLang="en-US" sz="1600" baseline="0" dirty="0" smtClean="0"/>
                        <a:t>的</a:t>
                      </a:r>
                      <a:r>
                        <a:rPr lang="en-US" altLang="zh-CN" sz="1600" baseline="0" dirty="0" smtClean="0"/>
                        <a:t>id</a:t>
                      </a:r>
                      <a:r>
                        <a:rPr lang="zh-CN" altLang="en-US" sz="1600" baseline="0" dirty="0" smtClean="0"/>
                        <a:t>和</a:t>
                      </a:r>
                      <a:r>
                        <a:rPr lang="zh-CN" altLang="en-US" sz="1600" baseline="0" dirty="0" smtClean="0"/>
                        <a:t>偏移  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249934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record</a:t>
                      </a:r>
                      <a:r>
                        <a:rPr lang="en-US" altLang="zh-CN" sz="1600" baseline="0" dirty="0" smtClean="0"/>
                        <a:t> count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UINT32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4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记录数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2710841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r>
                        <a:rPr lang="en-US" altLang="zh-CN" sz="1600" dirty="0" err="1" smtClean="0"/>
                        <a:t>clid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UINT32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4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224458"/>
                  </a:ext>
                </a:extLst>
              </a:tr>
              <a:tr h="872732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Free space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UINT32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4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aseline="0" dirty="0" smtClean="0"/>
                        <a:t>总的剩余空间</a:t>
                      </a:r>
                      <a:endParaRPr lang="en-US" altLang="zh-CN" sz="1600" baseline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575168"/>
                  </a:ext>
                </a:extLst>
              </a:tr>
              <a:tr h="177779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Max free continuous</a:t>
                      </a:r>
                      <a:r>
                        <a:rPr lang="en-US" altLang="zh-CN" sz="1600" baseline="0" dirty="0" smtClean="0"/>
                        <a:t> space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UINT32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4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aseline="0" dirty="0" smtClean="0"/>
                        <a:t>最大连续的剩余空间</a:t>
                      </a:r>
                      <a:endParaRPr lang="en-US" altLang="zh-CN" sz="1600" baseline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920981"/>
                  </a:ext>
                </a:extLst>
              </a:tr>
              <a:tr h="193040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reserved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CHAR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8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aseline="0" dirty="0" smtClean="0"/>
                        <a:t>预留位</a:t>
                      </a:r>
                      <a:endParaRPr lang="en-US" altLang="zh-CN" sz="1600" baseline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8804492"/>
                  </a:ext>
                </a:extLst>
              </a:tr>
              <a:tr h="193040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Slot </a:t>
                      </a:r>
                      <a:r>
                        <a:rPr lang="en-US" altLang="zh-CN" sz="1600" dirty="0" err="1" smtClean="0"/>
                        <a:t>num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UINT32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4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aseline="0" dirty="0" smtClean="0"/>
                        <a:t>当前已分配</a:t>
                      </a:r>
                      <a:r>
                        <a:rPr lang="en-US" altLang="zh-CN" sz="1600" baseline="0" dirty="0" smtClean="0"/>
                        <a:t>slot</a:t>
                      </a:r>
                      <a:r>
                        <a:rPr lang="zh-CN" altLang="en-US" sz="1600" baseline="0" dirty="0" smtClean="0"/>
                        <a:t>个数</a:t>
                      </a:r>
                      <a:endParaRPr lang="en-US" altLang="zh-CN" sz="1600" baseline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0165571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slots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UINT32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4 * N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aseline="0" dirty="0" smtClean="0"/>
                        <a:t>记录</a:t>
                      </a:r>
                      <a:r>
                        <a:rPr lang="en-US" altLang="zh-CN" sz="1600" baseline="0" dirty="0" smtClean="0"/>
                        <a:t>Extent</a:t>
                      </a:r>
                      <a:r>
                        <a:rPr lang="zh-CN" altLang="en-US" sz="1600" baseline="0" dirty="0" smtClean="0"/>
                        <a:t>内偏移地址。有几条记录则记录几个</a:t>
                      </a:r>
                      <a:r>
                        <a:rPr lang="en-US" altLang="zh-CN" sz="1600" baseline="0" dirty="0" smtClean="0"/>
                        <a:t>slot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1427202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data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BYTES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aseline="0" dirty="0" smtClean="0"/>
                        <a:t>数据</a:t>
                      </a:r>
                      <a:endParaRPr lang="en-US" altLang="zh-CN" sz="1600" baseline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257145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6339406"/>
              </p:ext>
            </p:extLst>
          </p:nvPr>
        </p:nvGraphicFramePr>
        <p:xfrm>
          <a:off x="7592028" y="2700331"/>
          <a:ext cx="3761772" cy="17293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0443">
                  <a:extLst>
                    <a:ext uri="{9D8B030D-6E8A-4147-A177-3AD203B41FA5}">
                      <a16:colId xmlns:a16="http://schemas.microsoft.com/office/drawing/2014/main" val="226489393"/>
                    </a:ext>
                  </a:extLst>
                </a:gridCol>
                <a:gridCol w="940443">
                  <a:extLst>
                    <a:ext uri="{9D8B030D-6E8A-4147-A177-3AD203B41FA5}">
                      <a16:colId xmlns:a16="http://schemas.microsoft.com/office/drawing/2014/main" val="3315947240"/>
                    </a:ext>
                  </a:extLst>
                </a:gridCol>
                <a:gridCol w="1880886">
                  <a:extLst>
                    <a:ext uri="{9D8B030D-6E8A-4147-A177-3AD203B41FA5}">
                      <a16:colId xmlns:a16="http://schemas.microsoft.com/office/drawing/2014/main" val="4175610667"/>
                    </a:ext>
                  </a:extLst>
                </a:gridCol>
              </a:tblGrid>
              <a:tr h="57644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offset1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offset2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1460894"/>
                  </a:ext>
                </a:extLst>
              </a:tr>
              <a:tr h="576447">
                <a:tc gridSpan="3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7524138"/>
                  </a:ext>
                </a:extLst>
              </a:tr>
              <a:tr h="576447"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data2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data1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742222"/>
                  </a:ext>
                </a:extLst>
              </a:tr>
            </a:tbl>
          </a:graphicData>
        </a:graphic>
      </p:graphicFrame>
      <p:cxnSp>
        <p:nvCxnSpPr>
          <p:cNvPr id="11" name="直接箭头连接符 10"/>
          <p:cNvCxnSpPr/>
          <p:nvPr/>
        </p:nvCxnSpPr>
        <p:spPr>
          <a:xfrm>
            <a:off x="8715736" y="3194611"/>
            <a:ext cx="0" cy="74077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>
            <a:off x="8090704" y="3067291"/>
            <a:ext cx="1551007" cy="86810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20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Relation extent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6192036"/>
              </p:ext>
            </p:extLst>
          </p:nvPr>
        </p:nvGraphicFramePr>
        <p:xfrm>
          <a:off x="554862" y="1761140"/>
          <a:ext cx="6902006" cy="4803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9253">
                  <a:extLst>
                    <a:ext uri="{9D8B030D-6E8A-4147-A177-3AD203B41FA5}">
                      <a16:colId xmlns:a16="http://schemas.microsoft.com/office/drawing/2014/main" val="85529653"/>
                    </a:ext>
                  </a:extLst>
                </a:gridCol>
                <a:gridCol w="868101">
                  <a:extLst>
                    <a:ext uri="{9D8B030D-6E8A-4147-A177-3AD203B41FA5}">
                      <a16:colId xmlns:a16="http://schemas.microsoft.com/office/drawing/2014/main" val="776076127"/>
                    </a:ext>
                  </a:extLst>
                </a:gridCol>
                <a:gridCol w="972274">
                  <a:extLst>
                    <a:ext uri="{9D8B030D-6E8A-4147-A177-3AD203B41FA5}">
                      <a16:colId xmlns:a16="http://schemas.microsoft.com/office/drawing/2014/main" val="274818149"/>
                    </a:ext>
                  </a:extLst>
                </a:gridCol>
                <a:gridCol w="3272378">
                  <a:extLst>
                    <a:ext uri="{9D8B030D-6E8A-4147-A177-3AD203B41FA5}">
                      <a16:colId xmlns:a16="http://schemas.microsoft.com/office/drawing/2014/main" val="3187750737"/>
                    </a:ext>
                  </a:extLst>
                </a:gridCol>
              </a:tblGrid>
              <a:tr h="310169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Relation Extent·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altLang="zh-CN" sz="1600" baseline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118234"/>
                  </a:ext>
                </a:extLst>
              </a:tr>
              <a:tr h="310169"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名称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类型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长度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描述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0334185"/>
                  </a:ext>
                </a:extLst>
              </a:tr>
              <a:tr h="310169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Extent Header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BYTES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12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4685954"/>
                  </a:ext>
                </a:extLst>
              </a:tr>
              <a:tr h="310169">
                <a:tc>
                  <a:txBody>
                    <a:bodyPr/>
                    <a:lstStyle/>
                    <a:p>
                      <a:r>
                        <a:rPr lang="en-US" altLang="zh-CN" sz="1600" dirty="0" err="1" smtClean="0"/>
                        <a:t>clid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UINT32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4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所在的</a:t>
                      </a:r>
                      <a:r>
                        <a:rPr lang="en-US" altLang="zh-CN" sz="1600" dirty="0" smtClean="0"/>
                        <a:t>cl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807448"/>
                  </a:ext>
                </a:extLst>
              </a:tr>
              <a:tr h="310169">
                <a:tc>
                  <a:txBody>
                    <a:bodyPr/>
                    <a:lstStyle/>
                    <a:p>
                      <a:r>
                        <a:rPr lang="en-US" altLang="zh-CN" sz="1600" dirty="0" err="1" smtClean="0"/>
                        <a:t>recordLevel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UINT8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1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该</a:t>
                      </a:r>
                      <a:r>
                        <a:rPr lang="en-US" altLang="zh-CN" sz="1600" dirty="0" smtClean="0"/>
                        <a:t>extent</a:t>
                      </a:r>
                      <a:r>
                        <a:rPr lang="zh-CN" altLang="en-US" sz="1600" dirty="0" smtClean="0"/>
                        <a:t>所在等级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2282148"/>
                  </a:ext>
                </a:extLst>
              </a:tr>
              <a:tr h="310169">
                <a:tc>
                  <a:txBody>
                    <a:bodyPr/>
                    <a:lstStyle/>
                    <a:p>
                      <a:r>
                        <a:rPr lang="en-US" altLang="zh-CN" sz="1600" dirty="0" err="1" smtClean="0"/>
                        <a:t>idx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UINT32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4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在</a:t>
                      </a:r>
                      <a:r>
                        <a:rPr lang="en-US" altLang="zh-CN" sz="1600" dirty="0" smtClean="0"/>
                        <a:t>parent</a:t>
                      </a:r>
                      <a:r>
                        <a:rPr lang="zh-CN" altLang="en-US" sz="1600" dirty="0" smtClean="0"/>
                        <a:t>中</a:t>
                      </a:r>
                      <a:r>
                        <a:rPr lang="zh-CN" altLang="en-US" sz="1600" dirty="0" smtClean="0"/>
                        <a:t>的下标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6835317"/>
                  </a:ext>
                </a:extLst>
              </a:tr>
              <a:tr h="2791523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Extent</a:t>
                      </a:r>
                      <a:r>
                        <a:rPr lang="en-US" altLang="zh-CN" sz="1600" baseline="0" dirty="0" smtClean="0"/>
                        <a:t> slots[N]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BYTES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4 * N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N = (64K(extent</a:t>
                      </a:r>
                      <a:r>
                        <a:rPr lang="en-US" altLang="zh-CN" sz="1600" baseline="0" dirty="0" smtClean="0"/>
                        <a:t> length) – 24(</a:t>
                      </a:r>
                      <a:r>
                        <a:rPr lang="en-US" altLang="zh-CN" sz="1600" baseline="0" dirty="0" err="1" smtClean="0"/>
                        <a:t>header+idx+clid+recordLevel</a:t>
                      </a:r>
                      <a:r>
                        <a:rPr lang="en-US" altLang="zh-CN" sz="1600" baseline="0" dirty="0" smtClean="0"/>
                        <a:t>)) / 4(extent id length) - 1 = 16k – 6</a:t>
                      </a:r>
                      <a:r>
                        <a:rPr lang="zh-CN" altLang="en-US" sz="1600" baseline="0" dirty="0" smtClean="0"/>
                        <a:t>。</a:t>
                      </a:r>
                      <a:endParaRPr lang="en-US" altLang="zh-CN" sz="1600" baseline="0" dirty="0" smtClean="0"/>
                    </a:p>
                    <a:p>
                      <a:endParaRPr lang="en-US" altLang="zh-CN" sz="1600" baseline="0" dirty="0" smtClean="0"/>
                    </a:p>
                    <a:p>
                      <a:r>
                        <a:rPr lang="zh-CN" altLang="en-US" sz="1600" baseline="0" dirty="0" smtClean="0"/>
                        <a:t>当为</a:t>
                      </a:r>
                      <a:r>
                        <a:rPr lang="en-US" altLang="zh-CN" sz="1600" baseline="0" dirty="0" smtClean="0"/>
                        <a:t>relation extent leaf</a:t>
                      </a:r>
                      <a:r>
                        <a:rPr lang="zh-CN" altLang="en-US" sz="1600" baseline="0" dirty="0" smtClean="0"/>
                        <a:t>时，最后一个保存的是</a:t>
                      </a:r>
                      <a:r>
                        <a:rPr lang="en-US" altLang="zh-CN" sz="1600" baseline="0" dirty="0" smtClean="0"/>
                        <a:t>relation extent </a:t>
                      </a:r>
                      <a:r>
                        <a:rPr lang="en-US" altLang="zh-CN" sz="1600" baseline="0" dirty="0" smtClean="0"/>
                        <a:t>parent</a:t>
                      </a:r>
                      <a:r>
                        <a:rPr lang="zh-CN" altLang="en-US" sz="1600" baseline="0" dirty="0" smtClean="0"/>
                        <a:t>的</a:t>
                      </a:r>
                      <a:r>
                        <a:rPr lang="en-US" altLang="zh-CN" sz="1600" baseline="0" dirty="0" smtClean="0"/>
                        <a:t>extent id</a:t>
                      </a:r>
                      <a:r>
                        <a:rPr lang="zh-CN" altLang="en-US" sz="1600" baseline="0" dirty="0" smtClean="0"/>
                        <a:t>；其他为</a:t>
                      </a:r>
                      <a:r>
                        <a:rPr lang="en-US" altLang="zh-CN" sz="1600" baseline="0" dirty="0" smtClean="0"/>
                        <a:t>data extent id</a:t>
                      </a:r>
                      <a:r>
                        <a:rPr lang="zh-CN" altLang="en-US" sz="1600" baseline="0" dirty="0" smtClean="0"/>
                        <a:t>。</a:t>
                      </a:r>
                      <a:endParaRPr lang="en-US" altLang="zh-CN" sz="1600" baseline="0" dirty="0" smtClean="0"/>
                    </a:p>
                    <a:p>
                      <a:endParaRPr lang="en-US" altLang="zh-CN" sz="1600" baseline="0" dirty="0" smtClean="0"/>
                    </a:p>
                    <a:p>
                      <a:r>
                        <a:rPr lang="zh-CN" altLang="en-US" sz="1600" baseline="0" dirty="0" smtClean="0"/>
                        <a:t>当为</a:t>
                      </a:r>
                      <a:r>
                        <a:rPr lang="en-US" altLang="zh-CN" sz="1600" baseline="0" dirty="0" smtClean="0"/>
                        <a:t>relation extent </a:t>
                      </a:r>
                      <a:r>
                        <a:rPr lang="en-US" altLang="zh-CN" sz="1600" baseline="0" dirty="0" smtClean="0"/>
                        <a:t>parent</a:t>
                      </a:r>
                      <a:r>
                        <a:rPr lang="zh-CN" altLang="en-US" sz="1600" baseline="0" dirty="0" smtClean="0"/>
                        <a:t>时</a:t>
                      </a:r>
                      <a:r>
                        <a:rPr lang="zh-CN" altLang="en-US" sz="1600" baseline="0" dirty="0" smtClean="0"/>
                        <a:t>，均表示</a:t>
                      </a:r>
                      <a:r>
                        <a:rPr lang="en-US" altLang="zh-CN" sz="1600" baseline="0" dirty="0" smtClean="0"/>
                        <a:t>relation extent leaf</a:t>
                      </a:r>
                      <a:r>
                        <a:rPr lang="zh-CN" altLang="en-US" sz="1600" baseline="0" dirty="0" smtClean="0"/>
                        <a:t>的</a:t>
                      </a:r>
                      <a:r>
                        <a:rPr lang="en-US" altLang="zh-CN" sz="1600" baseline="0" dirty="0" smtClean="0"/>
                        <a:t>extent id</a:t>
                      </a:r>
                      <a:r>
                        <a:rPr lang="zh-CN" altLang="en-US" sz="1600" baseline="0" dirty="0" smtClean="0"/>
                        <a:t>。</a:t>
                      </a:r>
                      <a:endParaRPr lang="en-US" altLang="zh-CN" sz="1600" baseline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249934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8229600" y="2421227"/>
            <a:ext cx="669701" cy="4507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leaf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7559899" y="1756569"/>
            <a:ext cx="669701" cy="34446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cl</a:t>
            </a:r>
            <a:endParaRPr lang="zh-CN" altLang="en-US" dirty="0"/>
          </a:p>
        </p:txBody>
      </p:sp>
      <p:cxnSp>
        <p:nvCxnSpPr>
          <p:cNvPr id="8" name="曲线连接符 7"/>
          <p:cNvCxnSpPr>
            <a:stCxn id="28" idx="2"/>
            <a:endCxn id="5" idx="0"/>
          </p:cNvCxnSpPr>
          <p:nvPr/>
        </p:nvCxnSpPr>
        <p:spPr>
          <a:xfrm rot="16200000" flipH="1">
            <a:off x="8402970" y="2259745"/>
            <a:ext cx="320195" cy="276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9463963" y="2421227"/>
            <a:ext cx="822724" cy="4507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parent</a:t>
            </a:r>
            <a:endParaRPr lang="zh-CN" altLang="en-US" dirty="0"/>
          </a:p>
        </p:txBody>
      </p:sp>
      <p:cxnSp>
        <p:nvCxnSpPr>
          <p:cNvPr id="15" name="曲线连接符 14"/>
          <p:cNvCxnSpPr>
            <a:stCxn id="5" idx="3"/>
            <a:endCxn id="13" idx="1"/>
          </p:cNvCxnSpPr>
          <p:nvPr/>
        </p:nvCxnSpPr>
        <p:spPr>
          <a:xfrm>
            <a:off x="8899301" y="2646608"/>
            <a:ext cx="564662" cy="1270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8229599" y="3467298"/>
            <a:ext cx="669701" cy="4507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leaf</a:t>
            </a:r>
            <a:endParaRPr lang="zh-CN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9540475" y="3467296"/>
            <a:ext cx="669701" cy="4507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leaf</a:t>
            </a:r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0851351" y="3467296"/>
            <a:ext cx="669701" cy="4507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leaf</a:t>
            </a:r>
            <a:endParaRPr lang="zh-CN" altLang="en-US" dirty="0"/>
          </a:p>
        </p:txBody>
      </p:sp>
      <p:cxnSp>
        <p:nvCxnSpPr>
          <p:cNvPr id="21" name="曲线连接符 20"/>
          <p:cNvCxnSpPr>
            <a:stCxn id="13" idx="2"/>
            <a:endCxn id="17" idx="0"/>
          </p:cNvCxnSpPr>
          <p:nvPr/>
        </p:nvCxnSpPr>
        <p:spPr>
          <a:xfrm rot="5400000">
            <a:off x="8922233" y="2514206"/>
            <a:ext cx="595310" cy="131087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曲线连接符 22"/>
          <p:cNvCxnSpPr>
            <a:stCxn id="13" idx="2"/>
            <a:endCxn id="18" idx="0"/>
          </p:cNvCxnSpPr>
          <p:nvPr/>
        </p:nvCxnSpPr>
        <p:spPr>
          <a:xfrm rot="16200000" flipH="1">
            <a:off x="9577671" y="3169641"/>
            <a:ext cx="595308" cy="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曲线连接符 24"/>
          <p:cNvCxnSpPr>
            <a:stCxn id="13" idx="2"/>
            <a:endCxn id="19" idx="0"/>
          </p:cNvCxnSpPr>
          <p:nvPr/>
        </p:nvCxnSpPr>
        <p:spPr>
          <a:xfrm rot="16200000" flipH="1">
            <a:off x="10233109" y="2514203"/>
            <a:ext cx="595308" cy="1310877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曲线连接符 26"/>
          <p:cNvCxnSpPr>
            <a:stCxn id="13" idx="2"/>
            <a:endCxn id="5" idx="0"/>
          </p:cNvCxnSpPr>
          <p:nvPr/>
        </p:nvCxnSpPr>
        <p:spPr>
          <a:xfrm rot="5400000" flipH="1">
            <a:off x="8994507" y="1991171"/>
            <a:ext cx="450761" cy="1310874"/>
          </a:xfrm>
          <a:prstGeom prst="curvedConnector5">
            <a:avLst>
              <a:gd name="adj1" fmla="val -50714"/>
              <a:gd name="adj2" fmla="val 52918"/>
              <a:gd name="adj3" fmla="val 15071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8226832" y="1756568"/>
            <a:ext cx="669701" cy="34446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level0</a:t>
            </a:r>
            <a:endParaRPr lang="zh-CN" altLang="en-US" sz="1400" dirty="0"/>
          </a:p>
        </p:txBody>
      </p:sp>
      <p:sp>
        <p:nvSpPr>
          <p:cNvPr id="32" name="矩形 31"/>
          <p:cNvSpPr/>
          <p:nvPr/>
        </p:nvSpPr>
        <p:spPr>
          <a:xfrm>
            <a:off x="8896533" y="1756568"/>
            <a:ext cx="669701" cy="34446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level1</a:t>
            </a:r>
            <a:endParaRPr lang="zh-CN" altLang="en-US" sz="1400" dirty="0"/>
          </a:p>
        </p:txBody>
      </p:sp>
      <p:sp>
        <p:nvSpPr>
          <p:cNvPr id="33" name="矩形 32"/>
          <p:cNvSpPr/>
          <p:nvPr/>
        </p:nvSpPr>
        <p:spPr>
          <a:xfrm>
            <a:off x="9563466" y="1756568"/>
            <a:ext cx="669701" cy="34446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level2</a:t>
            </a:r>
            <a:endParaRPr lang="zh-CN" altLang="en-US" sz="1400" dirty="0"/>
          </a:p>
        </p:txBody>
      </p:sp>
      <p:sp>
        <p:nvSpPr>
          <p:cNvPr id="34" name="矩形 33"/>
          <p:cNvSpPr/>
          <p:nvPr/>
        </p:nvSpPr>
        <p:spPr>
          <a:xfrm>
            <a:off x="10230399" y="1756568"/>
            <a:ext cx="669701" cy="34446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level3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7435523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1408308"/>
              </p:ext>
            </p:extLst>
          </p:nvPr>
        </p:nvGraphicFramePr>
        <p:xfrm>
          <a:off x="142741" y="2597979"/>
          <a:ext cx="6596999" cy="2956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115">
                  <a:extLst>
                    <a:ext uri="{9D8B030D-6E8A-4147-A177-3AD203B41FA5}">
                      <a16:colId xmlns:a16="http://schemas.microsoft.com/office/drawing/2014/main" val="2249297909"/>
                    </a:ext>
                  </a:extLst>
                </a:gridCol>
                <a:gridCol w="953037">
                  <a:extLst>
                    <a:ext uri="{9D8B030D-6E8A-4147-A177-3AD203B41FA5}">
                      <a16:colId xmlns:a16="http://schemas.microsoft.com/office/drawing/2014/main" val="1015509528"/>
                    </a:ext>
                  </a:extLst>
                </a:gridCol>
                <a:gridCol w="2279561">
                  <a:extLst>
                    <a:ext uri="{9D8B030D-6E8A-4147-A177-3AD203B41FA5}">
                      <a16:colId xmlns:a16="http://schemas.microsoft.com/office/drawing/2014/main" val="1354780554"/>
                    </a:ext>
                  </a:extLst>
                </a:gridCol>
                <a:gridCol w="1674253">
                  <a:extLst>
                    <a:ext uri="{9D8B030D-6E8A-4147-A177-3AD203B41FA5}">
                      <a16:colId xmlns:a16="http://schemas.microsoft.com/office/drawing/2014/main" val="101577088"/>
                    </a:ext>
                  </a:extLst>
                </a:gridCol>
                <a:gridCol w="648033">
                  <a:extLst>
                    <a:ext uri="{9D8B030D-6E8A-4147-A177-3AD203B41FA5}">
                      <a16:colId xmlns:a16="http://schemas.microsoft.com/office/drawing/2014/main" val="41300071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smtClean="0"/>
                        <a:t>page</a:t>
                      </a:r>
                      <a:r>
                        <a:rPr lang="en-US" altLang="zh-CN" sz="1600" baseline="0" dirty="0" smtClean="0"/>
                        <a:t> size</a:t>
                      </a:r>
                      <a:endParaRPr lang="zh-CN" alt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smtClean="0"/>
                        <a:t>File size</a:t>
                      </a:r>
                      <a:endParaRPr lang="zh-CN" alt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smtClean="0"/>
                        <a:t>Segment slot number</a:t>
                      </a:r>
                      <a:endParaRPr lang="zh-CN" alt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473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4k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512G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4k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507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8k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8k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2704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16k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16k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4084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32k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4T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32k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4082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64k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8T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64k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12530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128k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16T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128k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4644814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256k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32T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256k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9043090"/>
                  </a:ext>
                </a:extLst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094704" y="2150772"/>
            <a:ext cx="4204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page</a:t>
            </a:r>
            <a:r>
              <a:rPr lang="zh-CN" altLang="en-US" dirty="0"/>
              <a:t> </a:t>
            </a:r>
            <a:r>
              <a:rPr lang="en-US" altLang="zh-CN" dirty="0" err="1" smtClean="0"/>
              <a:t>num</a:t>
            </a:r>
            <a:r>
              <a:rPr lang="zh-CN" altLang="en-US" dirty="0" smtClean="0"/>
              <a:t> </a:t>
            </a:r>
            <a:r>
              <a:rPr lang="en-US" altLang="zh-CN" dirty="0" smtClean="0"/>
              <a:t>128M</a:t>
            </a:r>
            <a:r>
              <a:rPr lang="zh-CN" altLang="en-US" dirty="0" smtClean="0"/>
              <a:t>个，</a:t>
            </a:r>
            <a:r>
              <a:rPr lang="en-US" altLang="zh-CN" dirty="0" smtClean="0"/>
              <a:t>segment</a:t>
            </a:r>
            <a:r>
              <a:rPr lang="zh-CN" altLang="en-US" dirty="0"/>
              <a:t> </a:t>
            </a:r>
            <a:r>
              <a:rPr lang="en-US" altLang="zh-CN" dirty="0" smtClean="0"/>
              <a:t>size 128M</a:t>
            </a:r>
            <a:endParaRPr lang="zh-CN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6897764"/>
              </p:ext>
            </p:extLst>
          </p:nvPr>
        </p:nvGraphicFramePr>
        <p:xfrm>
          <a:off x="7057621" y="2516699"/>
          <a:ext cx="4881094" cy="303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8948">
                  <a:extLst>
                    <a:ext uri="{9D8B030D-6E8A-4147-A177-3AD203B41FA5}">
                      <a16:colId xmlns:a16="http://schemas.microsoft.com/office/drawing/2014/main" val="2848572070"/>
                    </a:ext>
                  </a:extLst>
                </a:gridCol>
                <a:gridCol w="721217">
                  <a:extLst>
                    <a:ext uri="{9D8B030D-6E8A-4147-A177-3AD203B41FA5}">
                      <a16:colId xmlns:a16="http://schemas.microsoft.com/office/drawing/2014/main" val="2018968454"/>
                    </a:ext>
                  </a:extLst>
                </a:gridCol>
                <a:gridCol w="953037">
                  <a:extLst>
                    <a:ext uri="{9D8B030D-6E8A-4147-A177-3AD203B41FA5}">
                      <a16:colId xmlns:a16="http://schemas.microsoft.com/office/drawing/2014/main" val="2117237622"/>
                    </a:ext>
                  </a:extLst>
                </a:gridCol>
                <a:gridCol w="1043188">
                  <a:extLst>
                    <a:ext uri="{9D8B030D-6E8A-4147-A177-3AD203B41FA5}">
                      <a16:colId xmlns:a16="http://schemas.microsoft.com/office/drawing/2014/main" val="2615805294"/>
                    </a:ext>
                  </a:extLst>
                </a:gridCol>
                <a:gridCol w="1094704">
                  <a:extLst>
                    <a:ext uri="{9D8B030D-6E8A-4147-A177-3AD203B41FA5}">
                      <a16:colId xmlns:a16="http://schemas.microsoft.com/office/drawing/2014/main" val="15005292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 smtClean="0"/>
                        <a:t>         rec</a:t>
                      </a:r>
                      <a:r>
                        <a:rPr lang="en-US" altLang="zh-CN" sz="1200" baseline="0" dirty="0" smtClean="0"/>
                        <a:t> size</a:t>
                      </a:r>
                      <a:endParaRPr lang="en-US" altLang="zh-CN" sz="1200" dirty="0" smtClean="0"/>
                    </a:p>
                    <a:p>
                      <a:r>
                        <a:rPr lang="en-US" altLang="zh-CN" sz="1200" dirty="0" smtClean="0"/>
                        <a:t>page size</a:t>
                      </a:r>
                      <a:endParaRPr lang="zh-CN" altLang="en-US" sz="1200" dirty="0"/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(0,4k)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[4k,64k)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[64k,1M)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[1M,16M]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912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4k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64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1k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4k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6000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8k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32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512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2k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49767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16k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256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1k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26295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32k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128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512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5406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64k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64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256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1311735"/>
                  </a:ext>
                </a:extLst>
              </a:tr>
              <a:tr h="291592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128k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32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128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398630"/>
                  </a:ext>
                </a:extLst>
              </a:tr>
              <a:tr h="217424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256k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64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2647440"/>
                  </a:ext>
                </a:extLst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7422920" y="2150772"/>
            <a:ext cx="4150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以</a:t>
            </a:r>
            <a:r>
              <a:rPr lang="zh-CN" altLang="en-US" dirty="0" smtClean="0"/>
              <a:t>一个</a:t>
            </a:r>
            <a:r>
              <a:rPr lang="en-US" altLang="zh-CN" dirty="0" smtClean="0"/>
              <a:t>extent</a:t>
            </a:r>
            <a:r>
              <a:rPr lang="zh-CN" altLang="en-US" dirty="0" smtClean="0"/>
              <a:t>可以放</a:t>
            </a:r>
            <a:r>
              <a:rPr lang="en-US" altLang="zh-CN" dirty="0" smtClean="0"/>
              <a:t>4</a:t>
            </a:r>
            <a:r>
              <a:rPr lang="zh-CN" altLang="en-US" dirty="0" smtClean="0"/>
              <a:t>条最大记录为原则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580013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Bitmap</a:t>
            </a:r>
            <a:r>
              <a:rPr lang="zh-CN" altLang="en-US" dirty="0" smtClean="0"/>
              <a:t>设计</a:t>
            </a:r>
            <a:endParaRPr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5925166"/>
              </p:ext>
            </p:extLst>
          </p:nvPr>
        </p:nvGraphicFramePr>
        <p:xfrm>
          <a:off x="7623887" y="1057634"/>
          <a:ext cx="2781300" cy="201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5325">
                  <a:extLst>
                    <a:ext uri="{9D8B030D-6E8A-4147-A177-3AD203B41FA5}">
                      <a16:colId xmlns:a16="http://schemas.microsoft.com/office/drawing/2014/main" val="2840802406"/>
                    </a:ext>
                  </a:extLst>
                </a:gridCol>
                <a:gridCol w="695325">
                  <a:extLst>
                    <a:ext uri="{9D8B030D-6E8A-4147-A177-3AD203B41FA5}">
                      <a16:colId xmlns:a16="http://schemas.microsoft.com/office/drawing/2014/main" val="3201362042"/>
                    </a:ext>
                  </a:extLst>
                </a:gridCol>
                <a:gridCol w="695325">
                  <a:extLst>
                    <a:ext uri="{9D8B030D-6E8A-4147-A177-3AD203B41FA5}">
                      <a16:colId xmlns:a16="http://schemas.microsoft.com/office/drawing/2014/main" val="3320490650"/>
                    </a:ext>
                  </a:extLst>
                </a:gridCol>
                <a:gridCol w="695325">
                  <a:extLst>
                    <a:ext uri="{9D8B030D-6E8A-4147-A177-3AD203B41FA5}">
                      <a16:colId xmlns:a16="http://schemas.microsoft.com/office/drawing/2014/main" val="814919630"/>
                    </a:ext>
                  </a:extLst>
                </a:gridCol>
              </a:tblGrid>
              <a:tr h="50442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623699"/>
                  </a:ext>
                </a:extLst>
              </a:tr>
              <a:tr h="50442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788181"/>
                  </a:ext>
                </a:extLst>
              </a:tr>
              <a:tr h="50442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3747752"/>
                  </a:ext>
                </a:extLst>
              </a:tr>
              <a:tr h="50442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6484704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1332720"/>
              </p:ext>
            </p:extLst>
          </p:nvPr>
        </p:nvGraphicFramePr>
        <p:xfrm>
          <a:off x="977900" y="3500523"/>
          <a:ext cx="422910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319">
                  <a:extLst>
                    <a:ext uri="{9D8B030D-6E8A-4147-A177-3AD203B41FA5}">
                      <a16:colId xmlns:a16="http://schemas.microsoft.com/office/drawing/2014/main" val="4233077644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4148428616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241572639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3763874664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2975834510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637013342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4222235508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3315780244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897767596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3651299526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2281972350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584751127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1523276907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2638845773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2559534100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5653168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1028109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1277533"/>
              </p:ext>
            </p:extLst>
          </p:nvPr>
        </p:nvGraphicFramePr>
        <p:xfrm>
          <a:off x="977900" y="4137747"/>
          <a:ext cx="422910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319">
                  <a:extLst>
                    <a:ext uri="{9D8B030D-6E8A-4147-A177-3AD203B41FA5}">
                      <a16:colId xmlns:a16="http://schemas.microsoft.com/office/drawing/2014/main" val="4233077644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4148428616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241572639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3763874664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2975834510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637013342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4222235508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3315780244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897767596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3651299526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2281972350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584751127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1523276907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2638845773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2559534100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5653168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1028109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6330960"/>
              </p:ext>
            </p:extLst>
          </p:nvPr>
        </p:nvGraphicFramePr>
        <p:xfrm>
          <a:off x="977900" y="4694799"/>
          <a:ext cx="422910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319">
                  <a:extLst>
                    <a:ext uri="{9D8B030D-6E8A-4147-A177-3AD203B41FA5}">
                      <a16:colId xmlns:a16="http://schemas.microsoft.com/office/drawing/2014/main" val="4233077644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4148428616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241572639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3763874664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2975834510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637013342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4222235508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3315780244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897767596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3651299526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2281972350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584751127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1523276907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2638845773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2559534100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5653168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1028109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5047326"/>
              </p:ext>
            </p:extLst>
          </p:nvPr>
        </p:nvGraphicFramePr>
        <p:xfrm>
          <a:off x="977900" y="5227563"/>
          <a:ext cx="422910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319">
                  <a:extLst>
                    <a:ext uri="{9D8B030D-6E8A-4147-A177-3AD203B41FA5}">
                      <a16:colId xmlns:a16="http://schemas.microsoft.com/office/drawing/2014/main" val="4233077644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4148428616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241572639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3763874664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2975834510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637013342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4222235508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3315780244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897767596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3651299526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2281972350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584751127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1523276907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2638845773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2559534100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5653168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1028109"/>
                  </a:ext>
                </a:extLst>
              </a:tr>
            </a:tbl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1308100" y="1429110"/>
            <a:ext cx="536717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以</a:t>
            </a:r>
            <a:r>
              <a:rPr lang="en-US" altLang="zh-CN" dirty="0" smtClean="0"/>
              <a:t>4k</a:t>
            </a:r>
            <a:r>
              <a:rPr lang="zh-CN" altLang="en-US" dirty="0" smtClean="0"/>
              <a:t>为例， 假设按照</a:t>
            </a:r>
            <a:r>
              <a:rPr lang="en-US" altLang="zh-CN" dirty="0" smtClean="0"/>
              <a:t>extent</a:t>
            </a:r>
            <a:r>
              <a:rPr lang="zh-CN" altLang="en-US" dirty="0" smtClean="0"/>
              <a:t>剩余空间分为</a:t>
            </a:r>
            <a:r>
              <a:rPr lang="en-US" altLang="zh-CN" dirty="0" smtClean="0"/>
              <a:t>4</a:t>
            </a:r>
            <a:r>
              <a:rPr lang="zh-CN" altLang="en-US" dirty="0" smtClean="0"/>
              <a:t>个等级：</a:t>
            </a:r>
            <a:endParaRPr lang="en-US" altLang="zh-CN" dirty="0" smtClean="0"/>
          </a:p>
          <a:p>
            <a:r>
              <a:rPr lang="en-US" altLang="zh-CN" dirty="0" smtClean="0"/>
              <a:t>0 </a:t>
            </a:r>
            <a:r>
              <a:rPr lang="en-US" altLang="zh-CN" dirty="0"/>
              <a:t>[0, 256b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en-US" altLang="zh-CN" dirty="0"/>
              <a:t>1 [256, 1k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en-US" altLang="zh-CN" dirty="0"/>
              <a:t>2 [1k,2k)</a:t>
            </a:r>
          </a:p>
          <a:p>
            <a:r>
              <a:rPr lang="en-US" altLang="zh-CN" dirty="0"/>
              <a:t>3 [2k,4k</a:t>
            </a:r>
            <a:r>
              <a:rPr lang="en-US" altLang="zh-CN" dirty="0" smtClean="0"/>
              <a:t>]</a:t>
            </a:r>
          </a:p>
        </p:txBody>
      </p:sp>
      <p:sp>
        <p:nvSpPr>
          <p:cNvPr id="11" name="矩形 10"/>
          <p:cNvSpPr/>
          <p:nvPr/>
        </p:nvSpPr>
        <p:spPr>
          <a:xfrm>
            <a:off x="571500" y="3499887"/>
            <a:ext cx="242994" cy="3699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571500" y="4138619"/>
            <a:ext cx="242994" cy="3699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571500" y="4695671"/>
            <a:ext cx="242994" cy="3699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/>
              <a:t>2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571500" y="5252723"/>
            <a:ext cx="242994" cy="3699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/>
              <a:t>3</a:t>
            </a:r>
            <a:endParaRPr lang="zh-CN" altLang="en-US" dirty="0"/>
          </a:p>
        </p:txBody>
      </p:sp>
      <p:sp>
        <p:nvSpPr>
          <p:cNvPr id="23" name="文本框 22"/>
          <p:cNvSpPr txBox="1"/>
          <p:nvPr/>
        </p:nvSpPr>
        <p:spPr>
          <a:xfrm>
            <a:off x="1308100" y="5622691"/>
            <a:ext cx="808105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 smtClean="0"/>
              <a:t>RecordSize</a:t>
            </a:r>
            <a:r>
              <a:rPr lang="en-US" altLang="zh-CN" dirty="0" smtClean="0"/>
              <a:t>: 1000(level1)</a:t>
            </a:r>
          </a:p>
          <a:p>
            <a:pPr marL="342900" indent="-342900">
              <a:buAutoNum type="arabicPeriod"/>
            </a:pPr>
            <a:r>
              <a:rPr lang="zh-CN" altLang="en-US" dirty="0"/>
              <a:t>先检查</a:t>
            </a:r>
            <a:r>
              <a:rPr lang="en-US" altLang="zh-CN" dirty="0" smtClean="0"/>
              <a:t>Last extent</a:t>
            </a:r>
            <a:r>
              <a:rPr lang="zh-CN" altLang="en-US" dirty="0" smtClean="0"/>
              <a:t>是否有剩余空间。</a:t>
            </a:r>
            <a:endParaRPr lang="en-US" altLang="zh-CN" dirty="0" smtClean="0"/>
          </a:p>
          <a:p>
            <a:pPr marL="342900" indent="-342900">
              <a:buAutoNum type="arabicPeriod"/>
            </a:pPr>
            <a:r>
              <a:rPr lang="zh-CN" altLang="en-US" dirty="0"/>
              <a:t>依次</a:t>
            </a:r>
            <a:r>
              <a:rPr lang="zh-CN" altLang="en-US" dirty="0" smtClean="0"/>
              <a:t>检查</a:t>
            </a:r>
            <a:r>
              <a:rPr lang="en-US" altLang="zh-CN" dirty="0" smtClean="0"/>
              <a:t>level2</a:t>
            </a:r>
            <a:r>
              <a:rPr lang="zh-CN" altLang="en-US" dirty="0" smtClean="0"/>
              <a:t>到最高</a:t>
            </a:r>
            <a:r>
              <a:rPr lang="en-US" altLang="zh-CN" dirty="0" smtClean="0"/>
              <a:t>level</a:t>
            </a:r>
            <a:r>
              <a:rPr lang="zh-CN" altLang="en-US" dirty="0" smtClean="0"/>
              <a:t>的</a:t>
            </a:r>
            <a:r>
              <a:rPr lang="en-US" altLang="zh-CN" dirty="0" smtClean="0"/>
              <a:t>extent</a:t>
            </a:r>
          </a:p>
          <a:p>
            <a:pPr marL="342900" indent="-342900">
              <a:buAutoNum type="arabicPeriod"/>
            </a:pPr>
            <a:r>
              <a:rPr lang="zh-CN" altLang="en-US" dirty="0" smtClean="0"/>
              <a:t>检查相同等级，试探</a:t>
            </a:r>
            <a:r>
              <a:rPr lang="en-US" altLang="zh-CN" dirty="0" smtClean="0"/>
              <a:t>3</a:t>
            </a:r>
            <a:r>
              <a:rPr lang="zh-CN" altLang="en-US" dirty="0" smtClean="0"/>
              <a:t>次</a:t>
            </a:r>
            <a:r>
              <a:rPr lang="zh-CN" altLang="en-US" dirty="0" smtClean="0">
                <a:solidFill>
                  <a:srgbClr val="FF0000"/>
                </a:solidFill>
              </a:rPr>
              <a:t>（需要考虑如何选取，防止一直试探前</a:t>
            </a:r>
            <a:r>
              <a:rPr lang="en-US" altLang="zh-CN" dirty="0" smtClean="0">
                <a:solidFill>
                  <a:srgbClr val="FF0000"/>
                </a:solidFill>
              </a:rPr>
              <a:t>3</a:t>
            </a:r>
            <a:r>
              <a:rPr lang="zh-CN" altLang="en-US" dirty="0" smtClean="0">
                <a:solidFill>
                  <a:srgbClr val="FF0000"/>
                </a:solidFill>
              </a:rPr>
              <a:t>个</a:t>
            </a:r>
            <a:r>
              <a:rPr lang="en-US" altLang="zh-CN" dirty="0" smtClean="0">
                <a:solidFill>
                  <a:srgbClr val="FF0000"/>
                </a:solidFill>
              </a:rPr>
              <a:t>extent</a:t>
            </a:r>
            <a:r>
              <a:rPr lang="zh-CN" altLang="en-US" dirty="0" smtClean="0">
                <a:solidFill>
                  <a:srgbClr val="FF0000"/>
                </a:solidFill>
              </a:rPr>
              <a:t>）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endParaRPr lang="zh-CN" altLang="en-US" dirty="0"/>
          </a:p>
        </p:txBody>
      </p:sp>
      <p:sp>
        <p:nvSpPr>
          <p:cNvPr id="24" name="下箭头 23"/>
          <p:cNvSpPr/>
          <p:nvPr/>
        </p:nvSpPr>
        <p:spPr>
          <a:xfrm>
            <a:off x="2883201" y="3213100"/>
            <a:ext cx="139399" cy="924647"/>
          </a:xfrm>
          <a:prstGeom prst="down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2952900" y="3038085"/>
            <a:ext cx="1250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Last extent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24545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META</a:t>
            </a:r>
            <a:r>
              <a:rPr lang="zh-CN" altLang="en-US" dirty="0" smtClean="0"/>
              <a:t>文件中的</a:t>
            </a:r>
            <a:r>
              <a:rPr lang="en-US" altLang="zh-CN" dirty="0" err="1" smtClean="0"/>
              <a:t>metaExtent</a:t>
            </a:r>
            <a:endParaRPr lang="zh-CN" altLang="en-US" dirty="0"/>
          </a:p>
        </p:txBody>
      </p:sp>
      <p:graphicFrame>
        <p:nvGraphicFramePr>
          <p:cNvPr id="22" name="表格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9288721"/>
              </p:ext>
            </p:extLst>
          </p:nvPr>
        </p:nvGraphicFramePr>
        <p:xfrm>
          <a:off x="846710" y="1384123"/>
          <a:ext cx="6479949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1098">
                  <a:extLst>
                    <a:ext uri="{9D8B030D-6E8A-4147-A177-3AD203B41FA5}">
                      <a16:colId xmlns:a16="http://schemas.microsoft.com/office/drawing/2014/main" val="85529653"/>
                    </a:ext>
                  </a:extLst>
                </a:gridCol>
                <a:gridCol w="868101">
                  <a:extLst>
                    <a:ext uri="{9D8B030D-6E8A-4147-A177-3AD203B41FA5}">
                      <a16:colId xmlns:a16="http://schemas.microsoft.com/office/drawing/2014/main" val="776076127"/>
                    </a:ext>
                  </a:extLst>
                </a:gridCol>
                <a:gridCol w="972274">
                  <a:extLst>
                    <a:ext uri="{9D8B030D-6E8A-4147-A177-3AD203B41FA5}">
                      <a16:colId xmlns:a16="http://schemas.microsoft.com/office/drawing/2014/main" val="274818149"/>
                    </a:ext>
                  </a:extLst>
                </a:gridCol>
                <a:gridCol w="2708476">
                  <a:extLst>
                    <a:ext uri="{9D8B030D-6E8A-4147-A177-3AD203B41FA5}">
                      <a16:colId xmlns:a16="http://schemas.microsoft.com/office/drawing/2014/main" val="3187750737"/>
                    </a:ext>
                  </a:extLst>
                </a:gridCol>
              </a:tblGrid>
              <a:tr h="303246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Meta Extent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altLang="zh-CN" sz="1600" baseline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118234"/>
                  </a:ext>
                </a:extLst>
              </a:tr>
              <a:tr h="303246"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名称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类型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长度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描述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0334185"/>
                  </a:ext>
                </a:extLst>
              </a:tr>
              <a:tr h="303246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Extent Header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BYTES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12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4685954"/>
                  </a:ext>
                </a:extLst>
              </a:tr>
              <a:tr h="303246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reserved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CHAR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8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aseline="0" dirty="0" smtClean="0"/>
                        <a:t>预留位</a:t>
                      </a:r>
                      <a:endParaRPr lang="en-US" altLang="zh-CN" sz="1600" baseline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6835317"/>
                  </a:ext>
                </a:extLst>
              </a:tr>
              <a:tr h="303246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Slot </a:t>
                      </a:r>
                      <a:r>
                        <a:rPr lang="en-US" altLang="zh-CN" sz="1600" dirty="0" err="1" smtClean="0"/>
                        <a:t>num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UINT32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4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aseline="0" dirty="0" smtClean="0"/>
                        <a:t>当前已分配</a:t>
                      </a:r>
                      <a:r>
                        <a:rPr lang="en-US" altLang="zh-CN" sz="1600" baseline="0" dirty="0" smtClean="0"/>
                        <a:t>slot</a:t>
                      </a:r>
                      <a:r>
                        <a:rPr lang="zh-CN" altLang="en-US" sz="1600" baseline="0" dirty="0" smtClean="0"/>
                        <a:t>个数</a:t>
                      </a:r>
                      <a:endParaRPr lang="en-US" altLang="zh-CN" sz="1600" baseline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218475"/>
                  </a:ext>
                </a:extLst>
              </a:tr>
              <a:tr h="523788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slots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UINT32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4 * N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aseline="0" dirty="0" smtClean="0"/>
                        <a:t>记录</a:t>
                      </a:r>
                      <a:r>
                        <a:rPr lang="en-US" altLang="zh-CN" sz="1600" baseline="0" dirty="0" smtClean="0"/>
                        <a:t>Extent</a:t>
                      </a:r>
                      <a:r>
                        <a:rPr lang="zh-CN" altLang="en-US" sz="1600" baseline="0" dirty="0" smtClean="0"/>
                        <a:t>内偏移地址。有几条记录则记录几个</a:t>
                      </a:r>
                      <a:r>
                        <a:rPr lang="en-US" altLang="zh-CN" sz="1600" baseline="0" dirty="0" smtClean="0"/>
                        <a:t>slot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2048734"/>
                  </a:ext>
                </a:extLst>
              </a:tr>
              <a:tr h="303246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data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BYTES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aseline="0" dirty="0" smtClean="0"/>
                        <a:t>数据</a:t>
                      </a:r>
                      <a:endParaRPr lang="en-US" altLang="zh-CN" sz="1600" baseline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249934"/>
                  </a:ext>
                </a:extLst>
              </a:tr>
            </a:tbl>
          </a:graphicData>
        </a:graphic>
      </p:graphicFrame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1138687"/>
              </p:ext>
            </p:extLst>
          </p:nvPr>
        </p:nvGraphicFramePr>
        <p:xfrm>
          <a:off x="838200" y="4183500"/>
          <a:ext cx="9258837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1098">
                  <a:extLst>
                    <a:ext uri="{9D8B030D-6E8A-4147-A177-3AD203B41FA5}">
                      <a16:colId xmlns:a16="http://schemas.microsoft.com/office/drawing/2014/main" val="85529653"/>
                    </a:ext>
                  </a:extLst>
                </a:gridCol>
                <a:gridCol w="868101">
                  <a:extLst>
                    <a:ext uri="{9D8B030D-6E8A-4147-A177-3AD203B41FA5}">
                      <a16:colId xmlns:a16="http://schemas.microsoft.com/office/drawing/2014/main" val="776076127"/>
                    </a:ext>
                  </a:extLst>
                </a:gridCol>
                <a:gridCol w="972274">
                  <a:extLst>
                    <a:ext uri="{9D8B030D-6E8A-4147-A177-3AD203B41FA5}">
                      <a16:colId xmlns:a16="http://schemas.microsoft.com/office/drawing/2014/main" val="274818149"/>
                    </a:ext>
                  </a:extLst>
                </a:gridCol>
                <a:gridCol w="5487364">
                  <a:extLst>
                    <a:ext uri="{9D8B030D-6E8A-4147-A177-3AD203B41FA5}">
                      <a16:colId xmlns:a16="http://schemas.microsoft.com/office/drawing/2014/main" val="3187750737"/>
                    </a:ext>
                  </a:extLst>
                </a:gridCol>
              </a:tblGrid>
              <a:tr h="277794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Meta Extent Data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altLang="zh-CN" sz="1600" baseline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118234"/>
                  </a:ext>
                </a:extLst>
              </a:tr>
              <a:tr h="177779"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名称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类型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长度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描述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0334185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r>
                        <a:rPr lang="en-US" altLang="zh-CN" sz="1600" dirty="0" err="1" smtClean="0"/>
                        <a:t>clid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UINT32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4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4685954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r>
                        <a:rPr lang="en-US" altLang="zh-CN" sz="1600" dirty="0" err="1" smtClean="0"/>
                        <a:t>recordLevel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UINT8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1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该</a:t>
                      </a:r>
                      <a:r>
                        <a:rPr lang="en-US" altLang="zh-CN" sz="1600" dirty="0" smtClean="0"/>
                        <a:t>extent</a:t>
                      </a:r>
                      <a:r>
                        <a:rPr lang="zh-CN" altLang="en-US" sz="1600" dirty="0" smtClean="0"/>
                        <a:t>所在等级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6835317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relation</a:t>
                      </a:r>
                      <a:r>
                        <a:rPr lang="en-US" altLang="zh-CN" sz="1600" baseline="0" dirty="0" smtClean="0"/>
                        <a:t> extent id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UINT32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4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aseline="0" dirty="0" smtClean="0"/>
                        <a:t>与此</a:t>
                      </a:r>
                      <a:r>
                        <a:rPr lang="en-US" altLang="zh-CN" sz="1600" baseline="0" dirty="0" smtClean="0"/>
                        <a:t>bitmap</a:t>
                      </a:r>
                      <a:r>
                        <a:rPr lang="zh-CN" altLang="en-US" sz="1600" baseline="0" dirty="0" smtClean="0"/>
                        <a:t>一一对应的</a:t>
                      </a:r>
                      <a:r>
                        <a:rPr lang="en-US" altLang="zh-CN" sz="1600" baseline="0" dirty="0" smtClean="0"/>
                        <a:t>extent id</a:t>
                      </a:r>
                      <a:r>
                        <a:rPr lang="zh-CN" altLang="en-US" sz="1600" baseline="0" dirty="0" smtClean="0"/>
                        <a:t>（数据文件中）</a:t>
                      </a:r>
                      <a:endParaRPr lang="en-US" altLang="zh-CN" sz="1600" baseline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218475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Next data id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UINT64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8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aseline="0" dirty="0" smtClean="0"/>
                        <a:t>下一个</a:t>
                      </a:r>
                      <a:r>
                        <a:rPr lang="en-US" altLang="zh-CN" sz="1600" baseline="0" dirty="0" smtClean="0"/>
                        <a:t>bitmap</a:t>
                      </a:r>
                      <a:r>
                        <a:rPr lang="zh-CN" altLang="en-US" sz="1600" baseline="0" dirty="0" smtClean="0"/>
                        <a:t>的</a:t>
                      </a:r>
                      <a:r>
                        <a:rPr lang="en-US" altLang="zh-CN" sz="1600" baseline="0" dirty="0" smtClean="0"/>
                        <a:t>record 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6572319"/>
                  </a:ext>
                </a:extLst>
              </a:tr>
              <a:tr h="223520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Bitmap[4]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BYTES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4 * N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aseline="0" dirty="0" smtClean="0"/>
                        <a:t>根据最小的</a:t>
                      </a:r>
                      <a:r>
                        <a:rPr lang="en-US" altLang="zh-CN" sz="1600" baseline="0" dirty="0" err="1" smtClean="0"/>
                        <a:t>pageSize</a:t>
                      </a:r>
                      <a:r>
                        <a:rPr lang="zh-CN" altLang="en-US" sz="1600" baseline="0" dirty="0" smtClean="0"/>
                        <a:t>来算，如</a:t>
                      </a:r>
                      <a:r>
                        <a:rPr lang="en-US" altLang="zh-CN" sz="1600" baseline="0" dirty="0" err="1" smtClean="0"/>
                        <a:t>pageSize</a:t>
                      </a:r>
                      <a:r>
                        <a:rPr lang="en-US" altLang="zh-CN" sz="1600" baseline="0" dirty="0" smtClean="0"/>
                        <a:t> 4k</a:t>
                      </a:r>
                      <a:r>
                        <a:rPr lang="zh-CN" altLang="en-US" sz="1600" baseline="0" dirty="0" smtClean="0"/>
                        <a:t>，</a:t>
                      </a:r>
                      <a:r>
                        <a:rPr lang="en-US" altLang="zh-CN" sz="1600" baseline="0" dirty="0" smtClean="0"/>
                        <a:t>relation</a:t>
                      </a:r>
                      <a:r>
                        <a:rPr lang="zh-CN" altLang="en-US" sz="1600" baseline="0" dirty="0" smtClean="0"/>
                        <a:t>最多可以放</a:t>
                      </a:r>
                      <a:r>
                        <a:rPr lang="en-US" altLang="zh-CN" sz="1600" baseline="0" dirty="0" smtClean="0"/>
                        <a:t>4k/4=1k</a:t>
                      </a:r>
                      <a:r>
                        <a:rPr lang="zh-CN" altLang="en-US" sz="1600" baseline="0" dirty="0" smtClean="0"/>
                        <a:t>个</a:t>
                      </a:r>
                      <a:r>
                        <a:rPr lang="en-US" altLang="zh-CN" sz="1600" baseline="0" dirty="0" err="1" smtClean="0"/>
                        <a:t>extentid</a:t>
                      </a:r>
                      <a:r>
                        <a:rPr lang="zh-CN" altLang="en-US" sz="1600" baseline="0" dirty="0" smtClean="0"/>
                        <a:t>， </a:t>
                      </a:r>
                      <a:r>
                        <a:rPr lang="en-US" altLang="zh-CN" sz="1600" baseline="0" dirty="0" smtClean="0"/>
                        <a:t>bitmap=1k/8bit = 128byte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7305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8082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38200" y="2409372"/>
            <a:ext cx="10995318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baseline="0" dirty="0" smtClean="0">
                <a:solidFill>
                  <a:srgbClr val="00B050"/>
                </a:solidFill>
              </a:rPr>
              <a:t>1</a:t>
            </a:r>
            <a:r>
              <a:rPr lang="zh-CN" altLang="en-US" b="1" baseline="0" dirty="0" smtClean="0">
                <a:solidFill>
                  <a:srgbClr val="00B050"/>
                </a:solidFill>
              </a:rPr>
              <a:t>、</a:t>
            </a:r>
            <a:r>
              <a:rPr lang="en-US" altLang="zh-CN" b="1" baseline="0" dirty="0" smtClean="0">
                <a:solidFill>
                  <a:srgbClr val="00B050"/>
                </a:solidFill>
              </a:rPr>
              <a:t>Segment </a:t>
            </a:r>
            <a:r>
              <a:rPr lang="zh-CN" altLang="en-US" b="1" baseline="0" dirty="0" smtClean="0">
                <a:solidFill>
                  <a:srgbClr val="00B050"/>
                </a:solidFill>
              </a:rPr>
              <a:t>可以放不同</a:t>
            </a:r>
            <a:r>
              <a:rPr lang="en-US" altLang="zh-CN" b="1" baseline="0" dirty="0" smtClean="0">
                <a:solidFill>
                  <a:srgbClr val="00B050"/>
                </a:solidFill>
              </a:rPr>
              <a:t>cl </a:t>
            </a:r>
            <a:endParaRPr lang="zh-CN" altLang="en-US" b="1" dirty="0" smtClean="0">
              <a:solidFill>
                <a:srgbClr val="00B050"/>
              </a:solidFill>
            </a:endParaRPr>
          </a:p>
          <a:p>
            <a:r>
              <a:rPr lang="en-US" altLang="zh-CN" b="1" dirty="0" smtClean="0">
                <a:solidFill>
                  <a:srgbClr val="00B050"/>
                </a:solidFill>
              </a:rPr>
              <a:t>2</a:t>
            </a:r>
            <a:r>
              <a:rPr lang="zh-CN" altLang="en-US" b="1" dirty="0" smtClean="0">
                <a:solidFill>
                  <a:srgbClr val="00B050"/>
                </a:solidFill>
              </a:rPr>
              <a:t>、数据文件多节点之间完全一致，是否还有问题（压缩算法）</a:t>
            </a:r>
            <a:endParaRPr lang="en-US" altLang="zh-CN" b="1" dirty="0" smtClean="0">
              <a:solidFill>
                <a:srgbClr val="00B050"/>
              </a:solidFill>
            </a:endParaRPr>
          </a:p>
          <a:p>
            <a:r>
              <a:rPr lang="en-US" altLang="zh-CN" b="1" dirty="0" smtClean="0">
                <a:solidFill>
                  <a:srgbClr val="00B050"/>
                </a:solidFill>
              </a:rPr>
              <a:t>3</a:t>
            </a:r>
            <a:r>
              <a:rPr lang="zh-CN" altLang="en-US" b="1" dirty="0" smtClean="0">
                <a:solidFill>
                  <a:srgbClr val="00B050"/>
                </a:solidFill>
              </a:rPr>
              <a:t>、细化</a:t>
            </a:r>
            <a:r>
              <a:rPr lang="en-US" altLang="zh-CN" b="1" dirty="0" smtClean="0">
                <a:solidFill>
                  <a:srgbClr val="00B050"/>
                </a:solidFill>
              </a:rPr>
              <a:t>page</a:t>
            </a:r>
            <a:r>
              <a:rPr lang="zh-CN" altLang="en-US" b="1" dirty="0" smtClean="0">
                <a:solidFill>
                  <a:srgbClr val="00B050"/>
                </a:solidFill>
              </a:rPr>
              <a:t>分配算法 </a:t>
            </a:r>
            <a:r>
              <a:rPr lang="en-US" altLang="zh-CN" b="1" dirty="0" smtClean="0">
                <a:solidFill>
                  <a:srgbClr val="00B050"/>
                </a:solidFill>
              </a:rPr>
              <a:t>bitmap</a:t>
            </a:r>
            <a:r>
              <a:rPr lang="zh-CN" altLang="en-US" b="1" dirty="0" smtClean="0">
                <a:solidFill>
                  <a:srgbClr val="00B050"/>
                </a:solidFill>
              </a:rPr>
              <a:t>（有效，无效，锁流程）</a:t>
            </a:r>
            <a:endParaRPr lang="en-US" altLang="zh-CN" b="1" dirty="0" smtClean="0">
              <a:solidFill>
                <a:srgbClr val="00B050"/>
              </a:solidFill>
            </a:endParaRPr>
          </a:p>
          <a:p>
            <a:r>
              <a:rPr lang="en-US" altLang="zh-CN" b="1" dirty="0" smtClean="0">
                <a:solidFill>
                  <a:srgbClr val="FF0000"/>
                </a:solidFill>
              </a:rPr>
              <a:t>4</a:t>
            </a:r>
            <a:r>
              <a:rPr lang="zh-CN" altLang="en-US" b="1" dirty="0" smtClean="0">
                <a:solidFill>
                  <a:srgbClr val="FF0000"/>
                </a:solidFill>
              </a:rPr>
              <a:t>、</a:t>
            </a:r>
            <a:r>
              <a:rPr lang="en-US" altLang="zh-CN" b="1" dirty="0" smtClean="0">
                <a:solidFill>
                  <a:srgbClr val="FF0000"/>
                </a:solidFill>
              </a:rPr>
              <a:t>checkpoint</a:t>
            </a:r>
            <a:r>
              <a:rPr lang="zh-CN" altLang="en-US" b="1" dirty="0" smtClean="0">
                <a:solidFill>
                  <a:srgbClr val="FF0000"/>
                </a:solidFill>
              </a:rPr>
              <a:t>、页本身的校验。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r>
              <a:rPr lang="en-US" altLang="zh-CN" b="1" dirty="0" smtClean="0">
                <a:solidFill>
                  <a:srgbClr val="FF0000"/>
                </a:solidFill>
              </a:rPr>
              <a:t>5</a:t>
            </a:r>
            <a:r>
              <a:rPr lang="zh-CN" altLang="en-US" b="1" dirty="0" smtClean="0">
                <a:solidFill>
                  <a:srgbClr val="FF0000"/>
                </a:solidFill>
              </a:rPr>
              <a:t>、</a:t>
            </a:r>
            <a:r>
              <a:rPr lang="en-US" altLang="zh-CN" b="1" dirty="0" err="1" smtClean="0">
                <a:solidFill>
                  <a:srgbClr val="FF0000"/>
                </a:solidFill>
              </a:rPr>
              <a:t>mvcc</a:t>
            </a:r>
            <a:r>
              <a:rPr lang="zh-CN" altLang="en-US" b="1" dirty="0" smtClean="0">
                <a:solidFill>
                  <a:srgbClr val="FF0000"/>
                </a:solidFill>
              </a:rPr>
              <a:t>（</a:t>
            </a:r>
            <a:r>
              <a:rPr lang="en-US" altLang="zh-CN" b="1" dirty="0" smtClean="0">
                <a:solidFill>
                  <a:srgbClr val="FF0000"/>
                </a:solidFill>
              </a:rPr>
              <a:t>LSM tree</a:t>
            </a:r>
            <a:r>
              <a:rPr lang="zh-CN" altLang="en-US" b="1" dirty="0" smtClean="0">
                <a:solidFill>
                  <a:srgbClr val="FF0000"/>
                </a:solidFill>
              </a:rPr>
              <a:t>）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r>
              <a:rPr lang="en-US" altLang="zh-CN" b="1" dirty="0" smtClean="0">
                <a:solidFill>
                  <a:srgbClr val="FF0000"/>
                </a:solidFill>
              </a:rPr>
              <a:t>6</a:t>
            </a:r>
            <a:r>
              <a:rPr lang="zh-CN" altLang="en-US" b="1" dirty="0" smtClean="0">
                <a:solidFill>
                  <a:srgbClr val="FF0000"/>
                </a:solidFill>
              </a:rPr>
              <a:t>、</a:t>
            </a:r>
            <a:r>
              <a:rPr lang="en-US" altLang="zh-CN" b="1" dirty="0" smtClean="0">
                <a:solidFill>
                  <a:srgbClr val="FF0000"/>
                </a:solidFill>
              </a:rPr>
              <a:t>v1</a:t>
            </a:r>
            <a:r>
              <a:rPr lang="zh-CN" altLang="en-US" b="1" dirty="0" smtClean="0">
                <a:solidFill>
                  <a:srgbClr val="FF0000"/>
                </a:solidFill>
              </a:rPr>
              <a:t>，</a:t>
            </a:r>
            <a:r>
              <a:rPr lang="en-US" altLang="zh-CN" b="1" dirty="0" smtClean="0">
                <a:solidFill>
                  <a:srgbClr val="FF0000"/>
                </a:solidFill>
              </a:rPr>
              <a:t>v2</a:t>
            </a:r>
            <a:r>
              <a:rPr lang="zh-CN" altLang="en-US" b="1" dirty="0" smtClean="0">
                <a:solidFill>
                  <a:srgbClr val="FF0000"/>
                </a:solidFill>
              </a:rPr>
              <a:t>引擎共存时，如何保证数据正确及正常切换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en-US" altLang="zh-CN" b="1" dirty="0" smtClean="0">
                <a:solidFill>
                  <a:srgbClr val="FF0000"/>
                </a:solidFill>
              </a:rPr>
              <a:t>7</a:t>
            </a:r>
            <a:r>
              <a:rPr lang="zh-CN" altLang="en-US" b="1" dirty="0" smtClean="0">
                <a:solidFill>
                  <a:srgbClr val="FF0000"/>
                </a:solidFill>
              </a:rPr>
              <a:t>、</a:t>
            </a:r>
            <a:r>
              <a:rPr lang="en-US" altLang="zh-CN" b="1" dirty="0" err="1" smtClean="0">
                <a:solidFill>
                  <a:srgbClr val="FF0000"/>
                </a:solidFill>
              </a:rPr>
              <a:t>dps</a:t>
            </a:r>
            <a:r>
              <a:rPr lang="zh-CN" altLang="en-US" b="1" dirty="0" smtClean="0">
                <a:solidFill>
                  <a:srgbClr val="FF0000"/>
                </a:solidFill>
              </a:rPr>
              <a:t>日志如何写？（文件中的元数据，压缩字典，数据，创表等操作）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r>
              <a:rPr lang="en-US" altLang="zh-CN" b="1" dirty="0" smtClean="0">
                <a:solidFill>
                  <a:srgbClr val="FF0000"/>
                </a:solidFill>
              </a:rPr>
              <a:t>8</a:t>
            </a:r>
            <a:r>
              <a:rPr lang="zh-CN" altLang="en-US" b="1" dirty="0" smtClean="0">
                <a:solidFill>
                  <a:srgbClr val="FF0000"/>
                </a:solidFill>
              </a:rPr>
              <a:t>、数据块恢复， 当本地数据块损坏时，如何获取对端的数据块，同时要保证</a:t>
            </a:r>
            <a:r>
              <a:rPr lang="en-US" altLang="zh-CN" b="1" dirty="0" smtClean="0">
                <a:solidFill>
                  <a:srgbClr val="FF0000"/>
                </a:solidFill>
              </a:rPr>
              <a:t>LSN</a:t>
            </a:r>
            <a:r>
              <a:rPr lang="zh-CN" altLang="en-US" b="1" dirty="0" smtClean="0">
                <a:solidFill>
                  <a:srgbClr val="FF0000"/>
                </a:solidFill>
              </a:rPr>
              <a:t>的一致性。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r>
              <a:rPr lang="en-US" altLang="zh-CN" b="1" dirty="0">
                <a:solidFill>
                  <a:srgbClr val="FF0000"/>
                </a:solidFill>
              </a:rPr>
              <a:t> </a:t>
            </a:r>
            <a:r>
              <a:rPr lang="en-US" altLang="zh-CN" b="1" dirty="0" smtClean="0">
                <a:solidFill>
                  <a:srgbClr val="FF0000"/>
                </a:solidFill>
              </a:rPr>
              <a:t>     </a:t>
            </a:r>
            <a:r>
              <a:rPr lang="zh-CN" altLang="en-US" b="1" dirty="0" smtClean="0">
                <a:solidFill>
                  <a:srgbClr val="FF0000"/>
                </a:solidFill>
              </a:rPr>
              <a:t>如本地事务才到</a:t>
            </a:r>
            <a:r>
              <a:rPr lang="en-US" altLang="zh-CN" b="1" dirty="0" smtClean="0">
                <a:solidFill>
                  <a:srgbClr val="FF0000"/>
                </a:solidFill>
              </a:rPr>
              <a:t>100</a:t>
            </a:r>
            <a:r>
              <a:rPr lang="zh-CN" altLang="en-US" b="1" dirty="0" smtClean="0">
                <a:solidFill>
                  <a:srgbClr val="FF0000"/>
                </a:solidFill>
              </a:rPr>
              <a:t>，而对端发过来的数据块已经到</a:t>
            </a:r>
            <a:r>
              <a:rPr lang="en-US" altLang="zh-CN" b="1" dirty="0" smtClean="0">
                <a:solidFill>
                  <a:srgbClr val="FF0000"/>
                </a:solidFill>
              </a:rPr>
              <a:t>200</a:t>
            </a:r>
            <a:r>
              <a:rPr lang="zh-CN" altLang="en-US" b="1" dirty="0" smtClean="0">
                <a:solidFill>
                  <a:srgbClr val="FF0000"/>
                </a:solidFill>
              </a:rPr>
              <a:t>了，此时备节点是没有</a:t>
            </a:r>
            <a:r>
              <a:rPr lang="en-US" altLang="zh-CN" b="1" dirty="0" smtClean="0">
                <a:solidFill>
                  <a:srgbClr val="FF0000"/>
                </a:solidFill>
              </a:rPr>
              <a:t>100-200</a:t>
            </a:r>
            <a:r>
              <a:rPr lang="zh-CN" altLang="en-US" b="1" dirty="0" smtClean="0">
                <a:solidFill>
                  <a:srgbClr val="FF0000"/>
                </a:solidFill>
              </a:rPr>
              <a:t>之间的事务的。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zh-CN" altLang="en-US" b="1" dirty="0" smtClean="0">
                <a:solidFill>
                  <a:srgbClr val="FF0000"/>
                </a:solidFill>
              </a:rPr>
              <a:t>文件、</a:t>
            </a:r>
            <a:r>
              <a:rPr lang="en-US" altLang="zh-CN" b="1" dirty="0" smtClean="0">
                <a:solidFill>
                  <a:srgbClr val="FF0000"/>
                </a:solidFill>
              </a:rPr>
              <a:t>checkpoint</a:t>
            </a:r>
            <a:r>
              <a:rPr lang="zh-CN" altLang="en-US" b="1" dirty="0" smtClean="0">
                <a:solidFill>
                  <a:srgbClr val="FF0000"/>
                </a:solidFill>
              </a:rPr>
              <a:t>、</a:t>
            </a:r>
            <a:r>
              <a:rPr lang="en-US" altLang="zh-CN" b="1" dirty="0" err="1" smtClean="0">
                <a:solidFill>
                  <a:srgbClr val="FF0000"/>
                </a:solidFill>
              </a:rPr>
              <a:t>wal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endParaRPr lang="en-US" altLang="zh-CN" b="1" dirty="0" smtClean="0">
              <a:solidFill>
                <a:srgbClr val="FF0000"/>
              </a:solidFill>
            </a:endParaRPr>
          </a:p>
          <a:p>
            <a:endParaRPr lang="en-US" altLang="zh-CN" b="1" dirty="0" smtClean="0">
              <a:solidFill>
                <a:srgbClr val="FF0000"/>
              </a:solidFill>
            </a:endParaRPr>
          </a:p>
          <a:p>
            <a:endParaRPr lang="en-US" altLang="zh-CN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6010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待讨论问题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54299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C7EDCC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C7EDCC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43553</TotalTime>
  <Words>1592</Words>
  <Application>Microsoft Office PowerPoint</Application>
  <PresentationFormat>宽屏</PresentationFormat>
  <Paragraphs>631</Paragraphs>
  <Slides>17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等线</vt:lpstr>
      <vt:lpstr>等线 Light</vt:lpstr>
      <vt:lpstr>Arial</vt:lpstr>
      <vt:lpstr>Office 主题​​</vt:lpstr>
      <vt:lpstr>数据文件设计</vt:lpstr>
      <vt:lpstr>问题</vt:lpstr>
      <vt:lpstr>文件总体方案</vt:lpstr>
      <vt:lpstr>数据文件总体结构</vt:lpstr>
      <vt:lpstr>File Header</vt:lpstr>
      <vt:lpstr>Space Management Extent</vt:lpstr>
      <vt:lpstr>Data Segment Metadata</vt:lpstr>
      <vt:lpstr>CS Metadata</vt:lpstr>
      <vt:lpstr>cl 与extent的关系</vt:lpstr>
      <vt:lpstr>Extent Header</vt:lpstr>
      <vt:lpstr>Data Extent</vt:lpstr>
      <vt:lpstr>Relation extent</vt:lpstr>
      <vt:lpstr>PowerPoint 演示文稿</vt:lpstr>
      <vt:lpstr>Bitmap设计</vt:lpstr>
      <vt:lpstr>META文件中的metaExtent</vt:lpstr>
      <vt:lpstr>PowerPoint 演示文稿</vt:lpstr>
      <vt:lpstr>待讨论问题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数据文件设计</dc:title>
  <dc:creator>linyoubin</dc:creator>
  <cp:lastModifiedBy>linyoubin</cp:lastModifiedBy>
  <cp:revision>741</cp:revision>
  <dcterms:created xsi:type="dcterms:W3CDTF">2018-11-26T02:24:39Z</dcterms:created>
  <dcterms:modified xsi:type="dcterms:W3CDTF">2019-01-08T09:52:48Z</dcterms:modified>
</cp:coreProperties>
</file>