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343" r:id="rId3"/>
    <p:sldId id="344" r:id="rId4"/>
    <p:sldId id="345" r:id="rId5"/>
    <p:sldId id="346" r:id="rId6"/>
    <p:sldId id="347" r:id="rId7"/>
    <p:sldId id="348" r:id="rId8"/>
    <p:sldId id="349" r:id="rId9"/>
    <p:sldId id="350" r:id="rId10"/>
    <p:sldId id="351" r:id="rId11"/>
    <p:sldId id="352" r:id="rId12"/>
    <p:sldId id="342" r:id="rId13"/>
    <p:sldId id="353" r:id="rId14"/>
    <p:sldId id="281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EBFF"/>
    <a:srgbClr val="89E0FF"/>
    <a:srgbClr val="FBF5A3"/>
    <a:srgbClr val="7EB4F6"/>
    <a:srgbClr val="C02A3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85581" autoAdjust="0"/>
  </p:normalViewPr>
  <p:slideViewPr>
    <p:cSldViewPr>
      <p:cViewPr varScale="1">
        <p:scale>
          <a:sx n="109" d="100"/>
          <a:sy n="109" d="100"/>
        </p:scale>
        <p:origin x="-168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0A76CE-B591-404B-B39C-86CC1FD600A3}" type="datetimeFigureOut">
              <a:rPr lang="zh-CN" altLang="en-US" smtClean="0"/>
              <a:pPr/>
              <a:t>2016/3/11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95A556-B770-442E-91B6-DBACBAE32CF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95A556-B770-442E-91B6-DBACBAE32CFF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 w="21600">
            <a:round/>
            <a:headEnd/>
            <a:tailEnd/>
          </a:ln>
        </p:spPr>
        <p:txBody>
          <a:bodyPr/>
          <a:lstStyle/>
          <a:p>
            <a:fld id="{1F235632-6E56-4B76-AD17-1221CF6CDD18}" type="slidenum">
              <a:rPr lang="en-US" altLang="zh-CN" smtClean="0"/>
              <a:pPr/>
              <a:t>14</a:t>
            </a:fld>
            <a:endParaRPr lang="en-US" altLang="zh-CN" smtClean="0"/>
          </a:p>
        </p:txBody>
      </p:sp>
      <p:sp>
        <p:nvSpPr>
          <p:cNvPr id="14233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4234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208463"/>
          </a:xfrm>
          <a:noFill/>
        </p:spPr>
        <p:txBody>
          <a:bodyPr wrap="none" anchor="ctr"/>
          <a:lstStyle/>
          <a:p>
            <a:endParaRPr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57356" y="2571744"/>
            <a:ext cx="7286644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57356" y="3929066"/>
            <a:ext cx="7286644" cy="64294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348" y="4143380"/>
            <a:ext cx="7772400" cy="1362075"/>
          </a:xfrm>
        </p:spPr>
        <p:txBody>
          <a:bodyPr anchor="t">
            <a:norm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4348" y="2643182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714619"/>
            <a:ext cx="4040188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92880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714619"/>
            <a:ext cx="4041775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71678"/>
            <a:ext cx="5111750" cy="40544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2071678"/>
            <a:ext cx="3008313" cy="40544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1000108"/>
            <a:ext cx="5486400" cy="37274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smtClean="0"/>
              <a:t>Click icon to add picture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43108" y="4357694"/>
            <a:ext cx="7000892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8229600" cy="4197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HelveticaNeueLT Pro 65 Md" pitchFamily="34" charset="0"/>
          <a:ea typeface="方正兰亭中黑_GBK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7356" y="2571744"/>
            <a:ext cx="7107132" cy="1214422"/>
          </a:xfrm>
        </p:spPr>
        <p:txBody>
          <a:bodyPr/>
          <a:lstStyle/>
          <a:p>
            <a:r>
              <a:rPr lang="en-US" altLang="zh-CN" dirty="0" smtClean="0">
                <a:latin typeface="HelveticaNeueLT Pro 65 Md"/>
                <a:ea typeface="方正兰亭中黑_GBK"/>
              </a:rPr>
              <a:t>SequoiaDB Business Plan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860032" y="4077072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</a:rPr>
              <a:t>2016</a:t>
            </a:r>
            <a:r>
              <a:rPr lang="zh-CN" altLang="en-US" sz="2400" dirty="0" smtClean="0">
                <a:solidFill>
                  <a:schemeClr val="bg1"/>
                </a:solidFill>
              </a:rPr>
              <a:t>年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/>
          <p:cNvCxnSpPr>
            <a:stCxn id="14" idx="0"/>
          </p:cNvCxnSpPr>
          <p:nvPr/>
        </p:nvCxnSpPr>
        <p:spPr>
          <a:xfrm rot="5400000" flipH="1" flipV="1">
            <a:off x="-1107321" y="4179099"/>
            <a:ext cx="4357718" cy="15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35" idx="0"/>
          </p:cNvCxnSpPr>
          <p:nvPr/>
        </p:nvCxnSpPr>
        <p:spPr>
          <a:xfrm rot="5400000" flipH="1" flipV="1">
            <a:off x="-178627" y="4178305"/>
            <a:ext cx="4357718" cy="15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2016</a:t>
            </a:r>
            <a:r>
              <a:rPr lang="zh-CN" altLang="en-US" dirty="0" smtClean="0"/>
              <a:t>年版本里程碑</a:t>
            </a:r>
            <a:endParaRPr lang="zh-CN" alt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214282" y="2000240"/>
            <a:ext cx="8358246" cy="642942"/>
          </a:xfrm>
          <a:prstGeom prst="roundRect">
            <a:avLst/>
          </a:prstGeom>
          <a:noFill/>
          <a:ln w="158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42844" y="2192529"/>
            <a:ext cx="806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主干</a:t>
            </a:r>
            <a:r>
              <a:rPr lang="en-US" altLang="zh-CN" sz="1400" dirty="0" smtClean="0"/>
              <a:t>-DB</a:t>
            </a:r>
            <a:endParaRPr lang="zh-CN" alt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3560" y="6550247"/>
            <a:ext cx="4363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3/1</a:t>
            </a:r>
            <a:endParaRPr lang="zh-CN" altLang="en-US" sz="1400" dirty="0"/>
          </a:p>
        </p:txBody>
      </p:sp>
      <p:sp>
        <p:nvSpPr>
          <p:cNvPr id="14" name="Isosceles Triangle 13"/>
          <p:cNvSpPr/>
          <p:nvPr/>
        </p:nvSpPr>
        <p:spPr>
          <a:xfrm>
            <a:off x="1000100" y="6357958"/>
            <a:ext cx="142876" cy="214314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ounded Rectangle 23"/>
          <p:cNvSpPr/>
          <p:nvPr/>
        </p:nvSpPr>
        <p:spPr>
          <a:xfrm>
            <a:off x="214282" y="2786058"/>
            <a:ext cx="8358246" cy="642942"/>
          </a:xfrm>
          <a:prstGeom prst="roundRect">
            <a:avLst/>
          </a:prstGeom>
          <a:noFill/>
          <a:ln w="158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142844" y="2978347"/>
            <a:ext cx="8066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分支</a:t>
            </a:r>
            <a:r>
              <a:rPr lang="en-US" altLang="zh-CN" sz="1400" dirty="0" smtClean="0"/>
              <a:t>-DB</a:t>
            </a:r>
            <a:endParaRPr lang="zh-CN" altLang="en-US" sz="1400" dirty="0"/>
          </a:p>
        </p:txBody>
      </p:sp>
      <p:sp>
        <p:nvSpPr>
          <p:cNvPr id="26" name="Rounded Rectangle 25"/>
          <p:cNvSpPr/>
          <p:nvPr/>
        </p:nvSpPr>
        <p:spPr>
          <a:xfrm>
            <a:off x="214282" y="3571876"/>
            <a:ext cx="8358246" cy="642942"/>
          </a:xfrm>
          <a:prstGeom prst="roundRect">
            <a:avLst/>
          </a:prstGeom>
          <a:noFill/>
          <a:ln w="158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142844" y="3764165"/>
            <a:ext cx="4619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SQL</a:t>
            </a:r>
            <a:endParaRPr lang="zh-CN" altLang="en-US" sz="1400" dirty="0"/>
          </a:p>
        </p:txBody>
      </p:sp>
      <p:sp>
        <p:nvSpPr>
          <p:cNvPr id="28" name="Rounded Rectangle 27"/>
          <p:cNvSpPr/>
          <p:nvPr/>
        </p:nvSpPr>
        <p:spPr>
          <a:xfrm>
            <a:off x="214282" y="4357694"/>
            <a:ext cx="8358246" cy="642942"/>
          </a:xfrm>
          <a:prstGeom prst="roundRect">
            <a:avLst/>
          </a:prstGeom>
          <a:noFill/>
          <a:ln w="158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142844" y="4549983"/>
            <a:ext cx="464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SAC</a:t>
            </a:r>
            <a:endParaRPr lang="zh-CN" altLang="en-US" sz="1400" dirty="0"/>
          </a:p>
        </p:txBody>
      </p:sp>
      <p:sp>
        <p:nvSpPr>
          <p:cNvPr id="30" name="Rounded Rectangle 29"/>
          <p:cNvSpPr/>
          <p:nvPr/>
        </p:nvSpPr>
        <p:spPr>
          <a:xfrm>
            <a:off x="214282" y="5143512"/>
            <a:ext cx="8358246" cy="642942"/>
          </a:xfrm>
          <a:prstGeom prst="roundRect">
            <a:avLst/>
          </a:prstGeom>
          <a:noFill/>
          <a:ln w="158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142844" y="5335801"/>
            <a:ext cx="470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SDP</a:t>
            </a:r>
            <a:endParaRPr lang="zh-CN" altLang="en-US" sz="1400" dirty="0"/>
          </a:p>
        </p:txBody>
      </p:sp>
      <p:sp>
        <p:nvSpPr>
          <p:cNvPr id="33" name="Rounded Rectangle 32"/>
          <p:cNvSpPr/>
          <p:nvPr/>
        </p:nvSpPr>
        <p:spPr>
          <a:xfrm>
            <a:off x="1714480" y="2928934"/>
            <a:ext cx="642942" cy="357190"/>
          </a:xfrm>
          <a:prstGeom prst="roundRect">
            <a:avLst/>
          </a:prstGeom>
          <a:solidFill>
            <a:srgbClr val="89E0FF"/>
          </a:solidFill>
          <a:ln>
            <a:solidFill>
              <a:srgbClr val="7EB4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1.12.6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785918" y="6549453"/>
            <a:ext cx="5277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4/30</a:t>
            </a:r>
            <a:endParaRPr lang="zh-CN" altLang="en-US" sz="1400" dirty="0"/>
          </a:p>
        </p:txBody>
      </p:sp>
      <p:sp>
        <p:nvSpPr>
          <p:cNvPr id="35" name="Isosceles Triangle 34"/>
          <p:cNvSpPr/>
          <p:nvPr/>
        </p:nvSpPr>
        <p:spPr>
          <a:xfrm>
            <a:off x="1928794" y="6357164"/>
            <a:ext cx="142876" cy="214314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2" name="Group 41"/>
          <p:cNvGrpSpPr/>
          <p:nvPr/>
        </p:nvGrpSpPr>
        <p:grpSpPr>
          <a:xfrm>
            <a:off x="3714744" y="2000241"/>
            <a:ext cx="527709" cy="4856990"/>
            <a:chOff x="3353956" y="2000241"/>
            <a:chExt cx="527709" cy="4856990"/>
          </a:xfrm>
        </p:grpSpPr>
        <p:cxnSp>
          <p:nvCxnSpPr>
            <p:cNvPr id="39" name="Straight Connector 38"/>
            <p:cNvCxnSpPr>
              <a:stCxn id="41" idx="0"/>
            </p:cNvCxnSpPr>
            <p:nvPr/>
          </p:nvCxnSpPr>
          <p:spPr>
            <a:xfrm rot="5400000" flipH="1" flipV="1">
              <a:off x="1389411" y="4178306"/>
              <a:ext cx="4357718" cy="158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3353956" y="6549454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 smtClean="0"/>
                <a:t>7/30</a:t>
              </a:r>
              <a:endParaRPr lang="zh-CN" altLang="en-US" sz="1400" dirty="0"/>
            </a:p>
          </p:txBody>
        </p:sp>
        <p:sp>
          <p:nvSpPr>
            <p:cNvPr id="41" name="Isosceles Triangle 40"/>
            <p:cNvSpPr/>
            <p:nvPr/>
          </p:nvSpPr>
          <p:spPr>
            <a:xfrm>
              <a:off x="3496832" y="6357165"/>
              <a:ext cx="142876" cy="214314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7" name="Rounded Rectangle 36"/>
          <p:cNvSpPr/>
          <p:nvPr/>
        </p:nvSpPr>
        <p:spPr>
          <a:xfrm>
            <a:off x="3643306" y="2143116"/>
            <a:ext cx="642942" cy="357190"/>
          </a:xfrm>
          <a:prstGeom prst="roundRect">
            <a:avLst/>
          </a:prstGeom>
          <a:solidFill>
            <a:srgbClr val="89E0FF"/>
          </a:solidFill>
          <a:ln>
            <a:solidFill>
              <a:srgbClr val="7EB4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2.2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45" name="Straight Connector 44"/>
          <p:cNvCxnSpPr>
            <a:stCxn id="47" idx="0"/>
          </p:cNvCxnSpPr>
          <p:nvPr/>
        </p:nvCxnSpPr>
        <p:spPr>
          <a:xfrm rot="5400000" flipH="1" flipV="1">
            <a:off x="4393405" y="4178305"/>
            <a:ext cx="4357718" cy="15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286512" y="6549453"/>
            <a:ext cx="619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 smtClean="0"/>
              <a:t>12/31</a:t>
            </a:r>
            <a:endParaRPr lang="zh-CN" altLang="en-US" sz="1400" dirty="0"/>
          </a:p>
        </p:txBody>
      </p:sp>
      <p:sp>
        <p:nvSpPr>
          <p:cNvPr id="47" name="Isosceles Triangle 46"/>
          <p:cNvSpPr/>
          <p:nvPr/>
        </p:nvSpPr>
        <p:spPr>
          <a:xfrm>
            <a:off x="6500826" y="6357164"/>
            <a:ext cx="142876" cy="214314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Rounded Rectangle 42"/>
          <p:cNvSpPr/>
          <p:nvPr/>
        </p:nvSpPr>
        <p:spPr>
          <a:xfrm>
            <a:off x="6286512" y="2143116"/>
            <a:ext cx="642942" cy="357190"/>
          </a:xfrm>
          <a:prstGeom prst="roundRect">
            <a:avLst/>
          </a:prstGeom>
          <a:solidFill>
            <a:srgbClr val="89E0FF"/>
          </a:solidFill>
          <a:ln>
            <a:solidFill>
              <a:srgbClr val="7EB4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2.4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286512" y="4500570"/>
            <a:ext cx="642942" cy="357190"/>
          </a:xfrm>
          <a:prstGeom prst="roundRect">
            <a:avLst/>
          </a:prstGeom>
          <a:solidFill>
            <a:srgbClr val="89E0FF"/>
          </a:solidFill>
          <a:ln>
            <a:solidFill>
              <a:srgbClr val="7EB4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2.4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grpSp>
        <p:nvGrpSpPr>
          <p:cNvPr id="57" name="Group 56"/>
          <p:cNvGrpSpPr/>
          <p:nvPr/>
        </p:nvGrpSpPr>
        <p:grpSpPr>
          <a:xfrm>
            <a:off x="4758671" y="2000240"/>
            <a:ext cx="436338" cy="4856990"/>
            <a:chOff x="3353956" y="2000241"/>
            <a:chExt cx="436338" cy="4856990"/>
          </a:xfrm>
        </p:grpSpPr>
        <p:cxnSp>
          <p:nvCxnSpPr>
            <p:cNvPr id="58" name="Straight Connector 57"/>
            <p:cNvCxnSpPr>
              <a:stCxn id="60" idx="0"/>
            </p:cNvCxnSpPr>
            <p:nvPr/>
          </p:nvCxnSpPr>
          <p:spPr>
            <a:xfrm rot="5400000" flipH="1" flipV="1">
              <a:off x="1389411" y="4178306"/>
              <a:ext cx="4357718" cy="158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>
              <a:off x="3353956" y="6549454"/>
              <a:ext cx="4363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 smtClean="0"/>
                <a:t>9/9</a:t>
              </a:r>
              <a:endParaRPr lang="zh-CN" altLang="en-US" sz="1400" dirty="0"/>
            </a:p>
          </p:txBody>
        </p:sp>
        <p:sp>
          <p:nvSpPr>
            <p:cNvPr id="60" name="Isosceles Triangle 59"/>
            <p:cNvSpPr/>
            <p:nvPr/>
          </p:nvSpPr>
          <p:spPr>
            <a:xfrm>
              <a:off x="3496832" y="6357165"/>
              <a:ext cx="142876" cy="214314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7830505" y="2000240"/>
            <a:ext cx="527709" cy="4856990"/>
            <a:chOff x="3353956" y="2000241"/>
            <a:chExt cx="527709" cy="4856990"/>
          </a:xfrm>
        </p:grpSpPr>
        <p:cxnSp>
          <p:nvCxnSpPr>
            <p:cNvPr id="66" name="Straight Connector 65"/>
            <p:cNvCxnSpPr>
              <a:stCxn id="68" idx="0"/>
            </p:cNvCxnSpPr>
            <p:nvPr/>
          </p:nvCxnSpPr>
          <p:spPr>
            <a:xfrm rot="5400000" flipH="1" flipV="1">
              <a:off x="1389411" y="4178306"/>
              <a:ext cx="4357718" cy="158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/>
            <p:cNvSpPr txBox="1"/>
            <p:nvPr/>
          </p:nvSpPr>
          <p:spPr>
            <a:xfrm>
              <a:off x="3353956" y="6549454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 smtClean="0"/>
                <a:t>2/24</a:t>
              </a:r>
              <a:endParaRPr lang="zh-CN" altLang="en-US" sz="1400" dirty="0"/>
            </a:p>
          </p:txBody>
        </p:sp>
        <p:sp>
          <p:nvSpPr>
            <p:cNvPr id="68" name="Isosceles Triangle 67"/>
            <p:cNvSpPr/>
            <p:nvPr/>
          </p:nvSpPr>
          <p:spPr>
            <a:xfrm>
              <a:off x="3496832" y="6357165"/>
              <a:ext cx="142876" cy="214314"/>
            </a:xfrm>
            <a:prstGeom prst="triangl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Left-Right Arrow 7"/>
          <p:cNvSpPr/>
          <p:nvPr/>
        </p:nvSpPr>
        <p:spPr>
          <a:xfrm>
            <a:off x="714348" y="6072206"/>
            <a:ext cx="7858180" cy="357190"/>
          </a:xfrm>
          <a:prstGeom prst="left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Rounded Rectangle 72"/>
          <p:cNvSpPr/>
          <p:nvPr/>
        </p:nvSpPr>
        <p:spPr>
          <a:xfrm>
            <a:off x="4643438" y="2928934"/>
            <a:ext cx="642942" cy="357190"/>
          </a:xfrm>
          <a:prstGeom prst="roundRect">
            <a:avLst/>
          </a:prstGeom>
          <a:solidFill>
            <a:srgbClr val="89E0FF"/>
          </a:solidFill>
          <a:ln>
            <a:solidFill>
              <a:srgbClr val="7EB4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1.12.7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7715272" y="5286388"/>
            <a:ext cx="642942" cy="357190"/>
          </a:xfrm>
          <a:prstGeom prst="roundRect">
            <a:avLst/>
          </a:prstGeom>
          <a:solidFill>
            <a:srgbClr val="89E0FF"/>
          </a:solidFill>
          <a:ln>
            <a:solidFill>
              <a:srgbClr val="7EB4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2.6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3643306" y="3714752"/>
            <a:ext cx="642942" cy="357190"/>
          </a:xfrm>
          <a:prstGeom prst="roundRect">
            <a:avLst/>
          </a:prstGeom>
          <a:solidFill>
            <a:srgbClr val="89E0FF"/>
          </a:solidFill>
          <a:ln>
            <a:solidFill>
              <a:srgbClr val="7EB4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2.2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6286512" y="3714752"/>
            <a:ext cx="642942" cy="357190"/>
          </a:xfrm>
          <a:prstGeom prst="roundRect">
            <a:avLst/>
          </a:prstGeom>
          <a:solidFill>
            <a:srgbClr val="89E0FF"/>
          </a:solidFill>
          <a:ln>
            <a:solidFill>
              <a:srgbClr val="7EB4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2.4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86" name="Rounded Rectangular Callout 85"/>
          <p:cNvSpPr/>
          <p:nvPr/>
        </p:nvSpPr>
        <p:spPr>
          <a:xfrm>
            <a:off x="1500166" y="2214554"/>
            <a:ext cx="1143008" cy="500066"/>
          </a:xfrm>
          <a:prstGeom prst="wedgeRoundRectCallout">
            <a:avLst>
              <a:gd name="adj1" fmla="val -20833"/>
              <a:gd name="adj2" fmla="val 92976"/>
              <a:gd name="adj3" fmla="val 16667"/>
            </a:avLst>
          </a:prstGeom>
          <a:solidFill>
            <a:srgbClr val="FBF5A3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 smtClean="0">
                <a:solidFill>
                  <a:schemeClr val="tx1"/>
                </a:solidFill>
              </a:rPr>
              <a:t>持久化能力，减少全量同步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7" name="Rounded Rectangular Callout 86"/>
          <p:cNvSpPr/>
          <p:nvPr/>
        </p:nvSpPr>
        <p:spPr>
          <a:xfrm>
            <a:off x="4500562" y="1285860"/>
            <a:ext cx="1643074" cy="1071570"/>
          </a:xfrm>
          <a:prstGeom prst="wedgeRoundRectCallout">
            <a:avLst>
              <a:gd name="adj1" fmla="val -64195"/>
              <a:gd name="adj2" fmla="val 31452"/>
              <a:gd name="adj3" fmla="val 16667"/>
            </a:avLst>
          </a:prstGeom>
          <a:solidFill>
            <a:srgbClr val="FBF5A3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 dirty="0" smtClean="0">
                <a:solidFill>
                  <a:schemeClr val="tx1"/>
                </a:solidFill>
              </a:rPr>
              <a:t>Decimal</a:t>
            </a:r>
            <a:r>
              <a:rPr lang="zh-CN" altLang="en-US" sz="1000" dirty="0" smtClean="0">
                <a:solidFill>
                  <a:schemeClr val="tx1"/>
                </a:solidFill>
              </a:rPr>
              <a:t>类型</a:t>
            </a:r>
            <a:endParaRPr lang="en-US" altLang="zh-CN" sz="1000" dirty="0" smtClean="0">
              <a:solidFill>
                <a:schemeClr val="tx1"/>
              </a:solidFill>
            </a:endParaRPr>
          </a:p>
          <a:p>
            <a:r>
              <a:rPr lang="en-US" altLang="zh-CN" sz="1000" dirty="0" smtClean="0">
                <a:solidFill>
                  <a:schemeClr val="tx1"/>
                </a:solidFill>
              </a:rPr>
              <a:t>OM</a:t>
            </a:r>
            <a:r>
              <a:rPr lang="zh-CN" altLang="en-US" sz="1000" dirty="0" smtClean="0">
                <a:solidFill>
                  <a:schemeClr val="tx1"/>
                </a:solidFill>
              </a:rPr>
              <a:t>主机和业务监控</a:t>
            </a:r>
            <a:endParaRPr lang="en-US" altLang="zh-CN" sz="1000" dirty="0" smtClean="0">
              <a:solidFill>
                <a:schemeClr val="tx1"/>
              </a:solidFill>
            </a:endParaRPr>
          </a:p>
          <a:p>
            <a:r>
              <a:rPr lang="zh-CN" altLang="en-US" sz="1000" dirty="0" smtClean="0">
                <a:solidFill>
                  <a:schemeClr val="tx1"/>
                </a:solidFill>
              </a:rPr>
              <a:t>可维护性和接口规范化</a:t>
            </a:r>
            <a:endParaRPr lang="en-US" altLang="zh-CN" sz="1000" dirty="0" smtClean="0">
              <a:solidFill>
                <a:schemeClr val="tx1"/>
              </a:solidFill>
            </a:endParaRPr>
          </a:p>
          <a:p>
            <a:r>
              <a:rPr lang="zh-CN" altLang="en-US" sz="1000" dirty="0" smtClean="0">
                <a:solidFill>
                  <a:schemeClr val="tx1"/>
                </a:solidFill>
              </a:rPr>
              <a:t>持久化能力、灾备</a:t>
            </a:r>
            <a:endParaRPr lang="en-US" altLang="zh-CN" sz="1000" dirty="0" smtClean="0">
              <a:solidFill>
                <a:schemeClr val="tx1"/>
              </a:solidFill>
            </a:endParaRPr>
          </a:p>
          <a:p>
            <a:r>
              <a:rPr lang="zh-CN" altLang="en-US" sz="1000" dirty="0" smtClean="0">
                <a:solidFill>
                  <a:schemeClr val="tx1"/>
                </a:solidFill>
              </a:rPr>
              <a:t>性能优化</a:t>
            </a:r>
            <a:endParaRPr lang="en-US" altLang="zh-CN" sz="1000" dirty="0" smtClean="0">
              <a:solidFill>
                <a:schemeClr val="tx1"/>
              </a:solidFill>
            </a:endParaRPr>
          </a:p>
          <a:p>
            <a:r>
              <a:rPr lang="zh-CN" altLang="en-US" sz="1000" dirty="0" smtClean="0">
                <a:solidFill>
                  <a:schemeClr val="tx1"/>
                </a:solidFill>
              </a:rPr>
              <a:t>流式</a:t>
            </a:r>
            <a:r>
              <a:rPr lang="en-US" altLang="zh-CN" sz="1000" dirty="0" smtClean="0">
                <a:solidFill>
                  <a:schemeClr val="tx1"/>
                </a:solidFill>
              </a:rPr>
              <a:t>match</a:t>
            </a:r>
            <a:r>
              <a:rPr lang="zh-CN" altLang="en-US" sz="1000" dirty="0" smtClean="0">
                <a:solidFill>
                  <a:schemeClr val="tx1"/>
                </a:solidFill>
              </a:rPr>
              <a:t>和</a:t>
            </a:r>
            <a:r>
              <a:rPr lang="en-US" altLang="zh-CN" sz="1000" dirty="0" smtClean="0">
                <a:solidFill>
                  <a:schemeClr val="tx1"/>
                </a:solidFill>
              </a:rPr>
              <a:t>modify</a:t>
            </a:r>
          </a:p>
          <a:p>
            <a:r>
              <a:rPr lang="zh-CN" altLang="en-US" sz="1000" dirty="0" smtClean="0">
                <a:solidFill>
                  <a:schemeClr val="tx1"/>
                </a:solidFill>
              </a:rPr>
              <a:t>数据</a:t>
            </a:r>
            <a:r>
              <a:rPr lang="en-US" altLang="zh-CN" sz="1000" dirty="0" smtClean="0">
                <a:solidFill>
                  <a:schemeClr val="tx1"/>
                </a:solidFill>
              </a:rPr>
              <a:t>Load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8" name="Rounded Rectangular Callout 87"/>
          <p:cNvSpPr/>
          <p:nvPr/>
        </p:nvSpPr>
        <p:spPr>
          <a:xfrm>
            <a:off x="7143768" y="1214422"/>
            <a:ext cx="1857388" cy="1285884"/>
          </a:xfrm>
          <a:prstGeom prst="wedgeRoundRectCallout">
            <a:avLst>
              <a:gd name="adj1" fmla="val -60545"/>
              <a:gd name="adj2" fmla="val 31672"/>
              <a:gd name="adj3" fmla="val 16667"/>
            </a:avLst>
          </a:prstGeom>
          <a:solidFill>
            <a:srgbClr val="FBF5A3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 smtClean="0">
                <a:solidFill>
                  <a:schemeClr val="tx1"/>
                </a:solidFill>
              </a:rPr>
              <a:t>告警、策略、配置</a:t>
            </a:r>
            <a:endParaRPr lang="en-US" altLang="zh-CN" sz="1000" dirty="0" smtClean="0">
              <a:solidFill>
                <a:schemeClr val="tx1"/>
              </a:solidFill>
            </a:endParaRPr>
          </a:p>
          <a:p>
            <a:r>
              <a:rPr lang="zh-CN" altLang="en-US" sz="1000" dirty="0" smtClean="0">
                <a:solidFill>
                  <a:schemeClr val="tx1"/>
                </a:solidFill>
              </a:rPr>
              <a:t>索引</a:t>
            </a:r>
            <a:r>
              <a:rPr lang="en-US" altLang="zh-CN" sz="1000" dirty="0" smtClean="0">
                <a:solidFill>
                  <a:schemeClr val="tx1"/>
                </a:solidFill>
              </a:rPr>
              <a:t>and/or</a:t>
            </a:r>
            <a:r>
              <a:rPr lang="zh-CN" altLang="en-US" sz="1000" dirty="0" smtClean="0">
                <a:solidFill>
                  <a:schemeClr val="tx1"/>
                </a:solidFill>
              </a:rPr>
              <a:t>，访问计划优化</a:t>
            </a:r>
            <a:endParaRPr lang="en-US" altLang="zh-CN" sz="1000" dirty="0" smtClean="0">
              <a:solidFill>
                <a:schemeClr val="tx1"/>
              </a:solidFill>
            </a:endParaRPr>
          </a:p>
          <a:p>
            <a:r>
              <a:rPr lang="zh-CN" altLang="en-US" sz="1000" dirty="0" smtClean="0">
                <a:solidFill>
                  <a:schemeClr val="tx1"/>
                </a:solidFill>
              </a:rPr>
              <a:t>离线快速同步</a:t>
            </a:r>
            <a:endParaRPr lang="en-US" altLang="zh-CN" sz="1000" dirty="0" smtClean="0">
              <a:solidFill>
                <a:schemeClr val="tx1"/>
              </a:solidFill>
            </a:endParaRPr>
          </a:p>
          <a:p>
            <a:r>
              <a:rPr lang="zh-CN" altLang="en-US" sz="1000" dirty="0" smtClean="0">
                <a:solidFill>
                  <a:schemeClr val="tx1"/>
                </a:solidFill>
              </a:rPr>
              <a:t>并发读写</a:t>
            </a:r>
            <a:endParaRPr lang="en-US" altLang="zh-CN" sz="1000" dirty="0" smtClean="0">
              <a:solidFill>
                <a:schemeClr val="tx1"/>
              </a:solidFill>
            </a:endParaRPr>
          </a:p>
          <a:p>
            <a:r>
              <a:rPr lang="zh-CN" altLang="en-US" sz="1000" dirty="0" smtClean="0">
                <a:solidFill>
                  <a:schemeClr val="tx1"/>
                </a:solidFill>
              </a:rPr>
              <a:t>接口规范</a:t>
            </a:r>
            <a:r>
              <a:rPr lang="en-US" altLang="zh-CN" sz="1000" dirty="0" smtClean="0">
                <a:solidFill>
                  <a:schemeClr val="tx1"/>
                </a:solidFill>
              </a:rPr>
              <a:t>/</a:t>
            </a:r>
            <a:r>
              <a:rPr lang="zh-CN" altLang="en-US" sz="1000" dirty="0" smtClean="0">
                <a:solidFill>
                  <a:schemeClr val="tx1"/>
                </a:solidFill>
              </a:rPr>
              <a:t>操作返回详细信息</a:t>
            </a:r>
            <a:endParaRPr lang="en-US" altLang="zh-CN" sz="1000" dirty="0" smtClean="0">
              <a:solidFill>
                <a:schemeClr val="tx1"/>
              </a:solidFill>
            </a:endParaRPr>
          </a:p>
          <a:p>
            <a:r>
              <a:rPr lang="zh-CN" altLang="en-US" sz="1000" dirty="0" smtClean="0">
                <a:solidFill>
                  <a:schemeClr val="tx1"/>
                </a:solidFill>
              </a:rPr>
              <a:t>数据库审计</a:t>
            </a:r>
            <a:endParaRPr lang="en-US" altLang="zh-CN" sz="1000" dirty="0" smtClean="0">
              <a:solidFill>
                <a:schemeClr val="tx1"/>
              </a:solidFill>
            </a:endParaRPr>
          </a:p>
          <a:p>
            <a:r>
              <a:rPr lang="zh-CN" altLang="en-US" sz="1000" dirty="0" smtClean="0">
                <a:solidFill>
                  <a:schemeClr val="tx1"/>
                </a:solidFill>
              </a:rPr>
              <a:t>日志归档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9" name="Rounded Rectangular Callout 88"/>
          <p:cNvSpPr/>
          <p:nvPr/>
        </p:nvSpPr>
        <p:spPr>
          <a:xfrm>
            <a:off x="3286116" y="2643182"/>
            <a:ext cx="1143008" cy="500066"/>
          </a:xfrm>
          <a:prstGeom prst="wedgeRoundRectCallout">
            <a:avLst>
              <a:gd name="adj1" fmla="val 66023"/>
              <a:gd name="adj2" fmla="val 23316"/>
              <a:gd name="adj3" fmla="val 16667"/>
            </a:avLst>
          </a:prstGeom>
          <a:solidFill>
            <a:srgbClr val="FBF5A3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 smtClean="0">
                <a:solidFill>
                  <a:schemeClr val="tx1"/>
                </a:solidFill>
              </a:rPr>
              <a:t>数据压缩能力</a:t>
            </a:r>
            <a:endParaRPr lang="en-US" altLang="zh-CN" sz="1000" dirty="0" smtClean="0">
              <a:solidFill>
                <a:schemeClr val="tx1"/>
              </a:solidFill>
            </a:endParaRPr>
          </a:p>
          <a:p>
            <a:r>
              <a:rPr lang="zh-CN" altLang="en-US" sz="1000" dirty="0" smtClean="0">
                <a:solidFill>
                  <a:schemeClr val="tx1"/>
                </a:solidFill>
              </a:rPr>
              <a:t>策略和资源管控能力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90" name="Rounded Rectangular Callout 89"/>
          <p:cNvSpPr/>
          <p:nvPr/>
        </p:nvSpPr>
        <p:spPr>
          <a:xfrm>
            <a:off x="2285984" y="3429000"/>
            <a:ext cx="1143008" cy="500066"/>
          </a:xfrm>
          <a:prstGeom prst="wedgeRoundRectCallout">
            <a:avLst>
              <a:gd name="adj1" fmla="val 66023"/>
              <a:gd name="adj2" fmla="val 23316"/>
              <a:gd name="adj3" fmla="val 16667"/>
            </a:avLst>
          </a:prstGeom>
          <a:solidFill>
            <a:srgbClr val="FBF5A3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 smtClean="0">
                <a:solidFill>
                  <a:schemeClr val="tx1"/>
                </a:solidFill>
              </a:rPr>
              <a:t>自动化安装部署</a:t>
            </a:r>
            <a:endParaRPr lang="en-US" altLang="zh-CN" sz="1000" dirty="0" smtClean="0">
              <a:solidFill>
                <a:schemeClr val="tx1"/>
              </a:solidFill>
            </a:endParaRPr>
          </a:p>
          <a:p>
            <a:r>
              <a:rPr lang="zh-CN" altLang="en-US" sz="1000" dirty="0" smtClean="0">
                <a:solidFill>
                  <a:schemeClr val="tx1"/>
                </a:solidFill>
              </a:rPr>
              <a:t>性能优化</a:t>
            </a:r>
            <a:endParaRPr lang="en-US" altLang="zh-CN" sz="1000" dirty="0" smtClean="0">
              <a:solidFill>
                <a:schemeClr val="tx1"/>
              </a:solidFill>
            </a:endParaRPr>
          </a:p>
          <a:p>
            <a:r>
              <a:rPr lang="zh-CN" altLang="en-US" sz="1000" dirty="0" smtClean="0">
                <a:solidFill>
                  <a:schemeClr val="tx1"/>
                </a:solidFill>
              </a:rPr>
              <a:t>监控和定位能力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91" name="Rounded Rectangular Callout 90"/>
          <p:cNvSpPr/>
          <p:nvPr/>
        </p:nvSpPr>
        <p:spPr>
          <a:xfrm>
            <a:off x="4929190" y="3357562"/>
            <a:ext cx="1143008" cy="571504"/>
          </a:xfrm>
          <a:prstGeom prst="wedgeRoundRectCallout">
            <a:avLst>
              <a:gd name="adj1" fmla="val 66023"/>
              <a:gd name="adj2" fmla="val 23316"/>
              <a:gd name="adj3" fmla="val 16667"/>
            </a:avLst>
          </a:prstGeom>
          <a:solidFill>
            <a:srgbClr val="FBF5A3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 dirty="0" smtClean="0">
                <a:solidFill>
                  <a:schemeClr val="tx1"/>
                </a:solidFill>
              </a:rPr>
              <a:t>HA</a:t>
            </a:r>
          </a:p>
          <a:p>
            <a:r>
              <a:rPr lang="zh-CN" altLang="en-US" sz="1000" dirty="0" smtClean="0">
                <a:solidFill>
                  <a:schemeClr val="tx1"/>
                </a:solidFill>
              </a:rPr>
              <a:t>业务和资源管理</a:t>
            </a:r>
            <a:endParaRPr lang="en-US" altLang="zh-CN" sz="1000" dirty="0" smtClean="0">
              <a:solidFill>
                <a:schemeClr val="tx1"/>
              </a:solidFill>
            </a:endParaRPr>
          </a:p>
          <a:p>
            <a:r>
              <a:rPr lang="zh-CN" altLang="en-US" sz="1000" dirty="0" smtClean="0">
                <a:solidFill>
                  <a:schemeClr val="tx1"/>
                </a:solidFill>
              </a:rPr>
              <a:t>性能定位能力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92" name="Rounded Rectangular Callout 91"/>
          <p:cNvSpPr/>
          <p:nvPr/>
        </p:nvSpPr>
        <p:spPr>
          <a:xfrm>
            <a:off x="4929190" y="4214818"/>
            <a:ext cx="1143008" cy="571504"/>
          </a:xfrm>
          <a:prstGeom prst="wedgeRoundRectCallout">
            <a:avLst>
              <a:gd name="adj1" fmla="val 66023"/>
              <a:gd name="adj2" fmla="val 23316"/>
              <a:gd name="adj3" fmla="val 16667"/>
            </a:avLst>
          </a:prstGeom>
          <a:solidFill>
            <a:srgbClr val="FBF5A3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 smtClean="0">
                <a:solidFill>
                  <a:schemeClr val="tx1"/>
                </a:solidFill>
              </a:rPr>
              <a:t>提供独立产品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93" name="Rounded Rectangular Callout 92"/>
          <p:cNvSpPr/>
          <p:nvPr/>
        </p:nvSpPr>
        <p:spPr>
          <a:xfrm>
            <a:off x="6000760" y="5000636"/>
            <a:ext cx="1500198" cy="571504"/>
          </a:xfrm>
          <a:prstGeom prst="wedgeRoundRectCallout">
            <a:avLst>
              <a:gd name="adj1" fmla="val 63121"/>
              <a:gd name="adj2" fmla="val 24840"/>
              <a:gd name="adj3" fmla="val 16667"/>
            </a:avLst>
          </a:prstGeom>
          <a:solidFill>
            <a:srgbClr val="FBF5A3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 smtClean="0">
                <a:solidFill>
                  <a:schemeClr val="tx1"/>
                </a:solidFill>
              </a:rPr>
              <a:t>集成</a:t>
            </a:r>
            <a:r>
              <a:rPr lang="en-US" altLang="zh-CN" sz="1000" dirty="0" smtClean="0">
                <a:solidFill>
                  <a:schemeClr val="tx1"/>
                </a:solidFill>
              </a:rPr>
              <a:t>DB</a:t>
            </a:r>
            <a:r>
              <a:rPr lang="zh-CN" altLang="en-US" sz="1000" dirty="0" smtClean="0">
                <a:solidFill>
                  <a:schemeClr val="tx1"/>
                </a:solidFill>
              </a:rPr>
              <a:t>、</a:t>
            </a:r>
            <a:r>
              <a:rPr lang="en-US" altLang="zh-CN" sz="1000" dirty="0" smtClean="0">
                <a:solidFill>
                  <a:schemeClr val="tx1"/>
                </a:solidFill>
              </a:rPr>
              <a:t>SAC</a:t>
            </a:r>
            <a:r>
              <a:rPr lang="zh-CN" altLang="en-US" sz="1000" dirty="0" smtClean="0">
                <a:solidFill>
                  <a:schemeClr val="tx1"/>
                </a:solidFill>
              </a:rPr>
              <a:t>、</a:t>
            </a:r>
            <a:r>
              <a:rPr lang="en-US" altLang="zh-CN" sz="1000" dirty="0" smtClean="0">
                <a:solidFill>
                  <a:schemeClr val="tx1"/>
                </a:solidFill>
              </a:rPr>
              <a:t>SQL</a:t>
            </a:r>
          </a:p>
          <a:p>
            <a:r>
              <a:rPr lang="en-US" altLang="zh-CN" sz="1000" dirty="0" smtClean="0">
                <a:solidFill>
                  <a:schemeClr val="tx1"/>
                </a:solidFill>
              </a:rPr>
              <a:t>SQL</a:t>
            </a:r>
            <a:r>
              <a:rPr lang="zh-CN" altLang="en-US" sz="1000" dirty="0" smtClean="0">
                <a:solidFill>
                  <a:schemeClr val="tx1"/>
                </a:solidFill>
              </a:rPr>
              <a:t>和</a:t>
            </a:r>
            <a:r>
              <a:rPr lang="en-US" altLang="zh-CN" sz="1000" dirty="0" smtClean="0">
                <a:solidFill>
                  <a:schemeClr val="tx1"/>
                </a:solidFill>
              </a:rPr>
              <a:t>DB</a:t>
            </a:r>
            <a:r>
              <a:rPr lang="zh-CN" altLang="en-US" sz="1000" dirty="0" smtClean="0">
                <a:solidFill>
                  <a:schemeClr val="tx1"/>
                </a:solidFill>
              </a:rPr>
              <a:t>业务拉能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grpSp>
        <p:nvGrpSpPr>
          <p:cNvPr id="95" name="Group 94"/>
          <p:cNvGrpSpPr/>
          <p:nvPr/>
        </p:nvGrpSpPr>
        <p:grpSpPr>
          <a:xfrm>
            <a:off x="1115333" y="2000240"/>
            <a:ext cx="527709" cy="4571238"/>
            <a:chOff x="1115333" y="2000240"/>
            <a:chExt cx="527709" cy="4571238"/>
          </a:xfrm>
        </p:grpSpPr>
        <p:grpSp>
          <p:nvGrpSpPr>
            <p:cNvPr id="85" name="Group 84"/>
            <p:cNvGrpSpPr/>
            <p:nvPr/>
          </p:nvGrpSpPr>
          <p:grpSpPr>
            <a:xfrm>
              <a:off x="1285852" y="2000240"/>
              <a:ext cx="142876" cy="4571238"/>
              <a:chOff x="1152500" y="2000240"/>
              <a:chExt cx="142876" cy="4571238"/>
            </a:xfrm>
          </p:grpSpPr>
          <p:cxnSp>
            <p:nvCxnSpPr>
              <p:cNvPr id="82" name="Straight Connector 81"/>
              <p:cNvCxnSpPr>
                <a:stCxn id="84" idx="0"/>
              </p:cNvCxnSpPr>
              <p:nvPr/>
            </p:nvCxnSpPr>
            <p:spPr>
              <a:xfrm rot="5400000" flipH="1" flipV="1">
                <a:off x="-954921" y="4178305"/>
                <a:ext cx="4357718" cy="1588"/>
              </a:xfrm>
              <a:prstGeom prst="line">
                <a:avLst/>
              </a:prstGeom>
              <a:ln w="12700">
                <a:solidFill>
                  <a:srgbClr val="C02A3F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Isosceles Triangle 83"/>
              <p:cNvSpPr/>
              <p:nvPr/>
            </p:nvSpPr>
            <p:spPr>
              <a:xfrm>
                <a:off x="1152500" y="6357164"/>
                <a:ext cx="142876" cy="214314"/>
              </a:xfrm>
              <a:prstGeom prst="triangle">
                <a:avLst/>
              </a:prstGeom>
              <a:solidFill>
                <a:srgbClr val="C02A3F"/>
              </a:solidFill>
              <a:ln>
                <a:solidFill>
                  <a:srgbClr val="C02A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4" name="TextBox 93"/>
            <p:cNvSpPr txBox="1"/>
            <p:nvPr/>
          </p:nvSpPr>
          <p:spPr>
            <a:xfrm>
              <a:off x="1115333" y="5764429"/>
              <a:ext cx="527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 smtClean="0"/>
                <a:t>3/14</a:t>
              </a:r>
              <a:endParaRPr lang="zh-CN" alt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SDP</a:t>
            </a:r>
            <a:r>
              <a:rPr lang="zh-CN" altLang="en-US" dirty="0" smtClean="0"/>
              <a:t>的逻辑架构</a:t>
            </a:r>
            <a:endParaRPr lang="zh-CN" alt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2643174" y="3000372"/>
            <a:ext cx="4714908" cy="278608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ounded Rectangle 4"/>
          <p:cNvSpPr/>
          <p:nvPr/>
        </p:nvSpPr>
        <p:spPr>
          <a:xfrm>
            <a:off x="3000364" y="3286124"/>
            <a:ext cx="1214446" cy="15001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SAC</a:t>
            </a:r>
            <a:endParaRPr lang="zh-CN" alt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4572000" y="3286124"/>
            <a:ext cx="2357454" cy="6429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SequoiaDB Module</a:t>
            </a:r>
            <a:endParaRPr lang="zh-CN" alt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4572000" y="4071942"/>
            <a:ext cx="2357454" cy="6429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SequoiaSQL Module</a:t>
            </a:r>
            <a:endParaRPr lang="zh-CN" alt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4572000" y="4857760"/>
            <a:ext cx="2357454" cy="6429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Spark Module</a:t>
            </a:r>
            <a:endParaRPr lang="zh-CN" alt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3000364" y="4929198"/>
            <a:ext cx="1214446" cy="5715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Meta Server</a:t>
            </a:r>
            <a:endParaRPr lang="zh-CN" alt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4643438" y="2071678"/>
            <a:ext cx="2643206" cy="571504"/>
          </a:xfrm>
          <a:prstGeom prst="roundRect">
            <a:avLst/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ounded Rectangle 10"/>
          <p:cNvSpPr/>
          <p:nvPr/>
        </p:nvSpPr>
        <p:spPr>
          <a:xfrm>
            <a:off x="2643174" y="2071678"/>
            <a:ext cx="1928826" cy="571504"/>
          </a:xfrm>
          <a:prstGeom prst="roundRect">
            <a:avLst/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928662" y="2786058"/>
            <a:ext cx="7000924" cy="158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42976" y="213097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接口层</a:t>
            </a:r>
            <a:endParaRPr lang="zh-CN" alt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5286380" y="2214554"/>
            <a:ext cx="714380" cy="357190"/>
          </a:xfrm>
          <a:prstGeom prst="roundRect">
            <a:avLst/>
          </a:prstGeom>
          <a:solidFill>
            <a:srgbClr val="B3EBFF"/>
          </a:solidFill>
          <a:ln>
            <a:solidFill>
              <a:srgbClr val="7EB4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SQL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43636" y="2214554"/>
            <a:ext cx="928694" cy="357190"/>
          </a:xfrm>
          <a:prstGeom prst="roundRect">
            <a:avLst/>
          </a:prstGeom>
          <a:solidFill>
            <a:srgbClr val="B3EBFF"/>
          </a:solidFill>
          <a:ln>
            <a:solidFill>
              <a:srgbClr val="7EB4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API-JSON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143240" y="2214554"/>
            <a:ext cx="714380" cy="357190"/>
          </a:xfrm>
          <a:prstGeom prst="roundRect">
            <a:avLst/>
          </a:prstGeom>
          <a:solidFill>
            <a:srgbClr val="B3EBFF"/>
          </a:solidFill>
          <a:ln>
            <a:solidFill>
              <a:srgbClr val="7EB4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REST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43174" y="207167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/>
              <a:t>管控</a:t>
            </a:r>
            <a:endParaRPr lang="zh-CN" altLang="en-US" sz="1200" dirty="0"/>
          </a:p>
        </p:txBody>
      </p:sp>
      <p:sp>
        <p:nvSpPr>
          <p:cNvPr id="19" name="TextBox 18"/>
          <p:cNvSpPr txBox="1"/>
          <p:nvPr/>
        </p:nvSpPr>
        <p:spPr>
          <a:xfrm>
            <a:off x="4643438" y="207167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 smtClean="0"/>
              <a:t>业务</a:t>
            </a:r>
            <a:endParaRPr lang="zh-CN" altLang="en-US" sz="1200" dirty="0"/>
          </a:p>
        </p:txBody>
      </p:sp>
      <p:sp>
        <p:nvSpPr>
          <p:cNvPr id="21" name="Up-Down Arrow 20"/>
          <p:cNvSpPr/>
          <p:nvPr/>
        </p:nvSpPr>
        <p:spPr>
          <a:xfrm>
            <a:off x="4572000" y="2643182"/>
            <a:ext cx="142876" cy="357190"/>
          </a:xfrm>
          <a:prstGeom prst="up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142976" y="413123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模块层</a:t>
            </a:r>
            <a:endParaRPr lang="zh-CN" altLang="en-US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928662" y="5999180"/>
            <a:ext cx="7000924" cy="158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42976" y="620294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基础平台层</a:t>
            </a:r>
            <a:endParaRPr lang="zh-CN" altLang="en-US" dirty="0"/>
          </a:p>
        </p:txBody>
      </p:sp>
      <p:sp>
        <p:nvSpPr>
          <p:cNvPr id="26" name="Rounded Rectangle 25"/>
          <p:cNvSpPr/>
          <p:nvPr/>
        </p:nvSpPr>
        <p:spPr>
          <a:xfrm>
            <a:off x="2714612" y="6143644"/>
            <a:ext cx="4714908" cy="500066"/>
          </a:xfrm>
          <a:prstGeom prst="round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solidFill>
                  <a:schemeClr val="tx1"/>
                </a:solidFill>
              </a:rPr>
              <a:t>x86-64/PPC64 Servers + Linux Operation Systems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428860" y="1857364"/>
            <a:ext cx="5214974" cy="4929222"/>
          </a:xfrm>
          <a:prstGeom prst="roundRect">
            <a:avLst>
              <a:gd name="adj" fmla="val 5662"/>
            </a:avLst>
          </a:prstGeom>
          <a:noFill/>
          <a:ln w="12700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1.12.X</a:t>
            </a:r>
            <a:r>
              <a:rPr lang="zh-CN" altLang="en-US" dirty="0" smtClean="0"/>
              <a:t>版本需求</a:t>
            </a:r>
            <a:endParaRPr lang="zh-CN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85786" y="2000240"/>
          <a:ext cx="7072363" cy="3672263"/>
        </p:xfrm>
        <a:graphic>
          <a:graphicData uri="http://schemas.openxmlformats.org/drawingml/2006/table">
            <a:tbl>
              <a:tblPr/>
              <a:tblGrid>
                <a:gridCol w="357190"/>
                <a:gridCol w="2363141"/>
                <a:gridCol w="1205715"/>
                <a:gridCol w="560508"/>
                <a:gridCol w="560508"/>
                <a:gridCol w="587910"/>
                <a:gridCol w="590402"/>
                <a:gridCol w="846989"/>
              </a:tblGrid>
              <a:tr h="361296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latin typeface="宋体"/>
                        </a:rPr>
                        <a:t>编号</a:t>
                      </a:r>
                    </a:p>
                  </a:txBody>
                  <a:tcPr marL="6449" marR="6449" marT="644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描述</a:t>
                      </a:r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400" b="1" i="0" u="none" strike="noStrike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>
                          <a:solidFill>
                            <a:srgbClr val="FFFFFF"/>
                          </a:solidFill>
                          <a:latin typeface="宋体"/>
                        </a:rPr>
                        <a:t>特性编号</a:t>
                      </a: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>
                          <a:solidFill>
                            <a:srgbClr val="FFFFFF"/>
                          </a:solidFill>
                          <a:latin typeface="宋体"/>
                        </a:rPr>
                        <a:t>归属</a:t>
                      </a: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属性</a:t>
                      </a:r>
                      <a:r>
                        <a:rPr lang="zh-CN" altLang="en-US" sz="14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4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优先级</a:t>
                      </a:r>
                      <a:r>
                        <a:rPr lang="zh-CN" altLang="en-US" sz="14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4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模块</a:t>
                      </a:r>
                      <a:r>
                        <a:rPr lang="zh-CN" altLang="en-US" sz="14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4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工作量</a:t>
                      </a:r>
                      <a:r>
                        <a:rPr lang="en-US" altLang="zh-CN" sz="14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/</a:t>
                      </a:r>
                      <a:r>
                        <a:rPr lang="zh-CN" altLang="en-US" sz="14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人天</a:t>
                      </a: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</a:tr>
              <a:tr h="49685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1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SequoiaDB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支持按会话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/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操作优先级进行资源调度和限制（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CPU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，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MEM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等</a:t>
                      </a:r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）</a:t>
                      </a:r>
                      <a:b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1.12.7</a:t>
                      </a: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PMD</a:t>
                      </a: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30</a:t>
                      </a: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07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2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SequoiaDB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持久化能力优化</a:t>
                      </a:r>
                      <a:b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1.12.6</a:t>
                      </a: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可靠性</a:t>
                      </a: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DMS</a:t>
                      </a: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33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07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0" i="0" u="none" strike="noStrike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宋体"/>
                        </a:rPr>
                        <a:t>3</a:t>
                      </a:r>
                      <a:endParaRPr lang="en-US" altLang="zh-CN" sz="14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宋体"/>
                        </a:rPr>
                        <a:t>Truncate/Drop Collection</a:t>
                      </a:r>
                      <a:r>
                        <a:rPr lang="zh-CN" altLang="en-US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宋体"/>
                        </a:rPr>
                        <a:t>的性能优化</a:t>
                      </a:r>
                      <a:br>
                        <a:rPr lang="zh-CN" altLang="en-US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宋体"/>
                        </a:rPr>
                      </a:br>
                      <a:endParaRPr lang="zh-CN" altLang="en-US" sz="14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CN" sz="14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u="none" strike="noStrike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宋体"/>
                        </a:rPr>
                        <a:t>1.12.6</a:t>
                      </a: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宋体"/>
                        </a:rPr>
                        <a:t>性能</a:t>
                      </a: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宋体"/>
                        </a:rPr>
                        <a:t>中</a:t>
                      </a: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latin typeface="宋体"/>
                        </a:rPr>
                        <a:t>RTN</a:t>
                      </a: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宋体"/>
                        </a:rPr>
                        <a:t>15</a:t>
                      </a: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07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4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提供策略定制功能</a:t>
                      </a:r>
                      <a:br>
                        <a:rPr lang="zh-CN" altLang="en-US" sz="14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4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1.12.7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中</a:t>
                      </a: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OM</a:t>
                      </a: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30</a:t>
                      </a: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07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5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同步数据压缩和索引压缩至</a:t>
                      </a:r>
                      <a:r>
                        <a:rPr lang="en-US" altLang="zh-CN" sz="14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1.12</a:t>
                      </a:r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分支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1.12.7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优化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DMS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15</a:t>
                      </a: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078">
                <a:tc gridSpan="7"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工作量</a:t>
                      </a:r>
                      <a:endParaRPr lang="en-US" altLang="zh-CN" sz="1400" b="0" i="0" u="none" strike="noStrike" dirty="0" smtClean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14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4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33</a:t>
                      </a:r>
                      <a:r>
                        <a:rPr lang="en-US" altLang="zh-CN" sz="1400" b="0" i="0" u="none" strike="noStrike" baseline="0" dirty="0" smtClean="0">
                          <a:solidFill>
                            <a:srgbClr val="000000"/>
                          </a:solidFill>
                          <a:latin typeface="宋体"/>
                        </a:rPr>
                        <a:t> + 75 =</a:t>
                      </a:r>
                    </a:p>
                    <a:p>
                      <a:pPr algn="r" fontAlgn="ctr"/>
                      <a:r>
                        <a:rPr lang="en-US" altLang="zh-CN" sz="1400" b="0" i="0" u="none" strike="noStrike" baseline="0" dirty="0" smtClean="0">
                          <a:solidFill>
                            <a:srgbClr val="000000"/>
                          </a:solidFill>
                          <a:latin typeface="宋体"/>
                        </a:rPr>
                        <a:t>108 </a:t>
                      </a:r>
                      <a:r>
                        <a:rPr lang="zh-CN" altLang="en-US" sz="14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人天</a:t>
                      </a:r>
                      <a:endParaRPr lang="en-US" altLang="zh-CN" sz="1400" b="0" i="0" u="none" strike="noStrike" dirty="0" smtClean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449" marR="6449" marT="644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SequoiaDB 2.2</a:t>
            </a:r>
            <a:r>
              <a:rPr lang="zh-CN" altLang="en-US" dirty="0" smtClean="0"/>
              <a:t>版本需求（高）</a:t>
            </a:r>
            <a:endParaRPr lang="zh-CN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2910" y="1857364"/>
          <a:ext cx="7715303" cy="4353199"/>
        </p:xfrm>
        <a:graphic>
          <a:graphicData uri="http://schemas.openxmlformats.org/drawingml/2006/table">
            <a:tbl>
              <a:tblPr/>
              <a:tblGrid>
                <a:gridCol w="445555"/>
                <a:gridCol w="3131987"/>
                <a:gridCol w="737131"/>
                <a:gridCol w="737131"/>
                <a:gridCol w="773168"/>
                <a:gridCol w="776444"/>
                <a:gridCol w="1113887"/>
              </a:tblGrid>
              <a:tr h="238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latin typeface="宋体"/>
                        </a:rPr>
                        <a:t>编号</a:t>
                      </a:r>
                    </a:p>
                  </a:txBody>
                  <a:tcPr marL="6065" marR="6065" marT="60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描述</a:t>
                      </a: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latin typeface="宋体"/>
                        </a:rPr>
                        <a:t>归属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属性</a:t>
                      </a: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优先级</a:t>
                      </a: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模块</a:t>
                      </a: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工作量</a:t>
                      </a:r>
                      <a:r>
                        <a:rPr lang="en-US" altLang="zh-CN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/</a:t>
                      </a: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人天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</a:tr>
              <a:tr h="76419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16</a:t>
                      </a:r>
                    </a:p>
                  </a:txBody>
                  <a:tcPr marL="6065" marR="6065" marT="60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OM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提供“主机监控管理”（主机状态，内存，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CPU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利用率，磁盘等）</a:t>
                      </a:r>
                      <a:b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OM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提供“业务监控管理”（读写更新的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IOPS，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业务进程资源使用率等，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CollectionSpace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, Collection, Group, Domain, Record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等，性能监控，扩容减容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）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易用性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OM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90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55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18</a:t>
                      </a:r>
                    </a:p>
                  </a:txBody>
                  <a:tcPr marL="6065" marR="6065" marT="60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索引压缩优化（前缀压缩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）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性能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IXM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30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68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24</a:t>
                      </a:r>
                    </a:p>
                  </a:txBody>
                  <a:tcPr marL="6065" marR="6065" marT="60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垂直切分功能重构（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、主表下直接创建分区；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、只能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attach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被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detach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的分区；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3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、保持分区有效性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）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优化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CLS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25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55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34</a:t>
                      </a:r>
                    </a:p>
                  </a:txBody>
                  <a:tcPr marL="6065" marR="6065" marT="60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Coord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上需要确保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Insert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时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OID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的自动生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成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优化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COORD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10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51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35</a:t>
                      </a:r>
                    </a:p>
                  </a:txBody>
                  <a:tcPr marL="6065" marR="6065" marT="60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创建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Collection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默认调整为基于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OID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的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Hash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分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区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优化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CLS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5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51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65</a:t>
                      </a:r>
                    </a:p>
                  </a:txBody>
                  <a:tcPr marL="6065" marR="6065" marT="60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SequoiaDB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的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BSON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对象模型中支持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Decimal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类型数据，保持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PG Decimal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类型的兼容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性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BSON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30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51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68</a:t>
                      </a:r>
                    </a:p>
                  </a:txBody>
                  <a:tcPr marL="6065" marR="6065" marT="60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SequoiaDB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支持按会话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/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操作优先级进行资源调度和限制（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CPU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，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MEM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等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）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PMD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30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68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71</a:t>
                      </a:r>
                    </a:p>
                  </a:txBody>
                  <a:tcPr marL="6065" marR="6065" marT="60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数据压缩算法的优化（字典大小，压缩解压性能，总体内存占用，非压缩集合开启压缩，压缩重构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）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DMS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22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55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74</a:t>
                      </a:r>
                    </a:p>
                  </a:txBody>
                  <a:tcPr marL="6065" marR="6065" marT="60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SequoiaDB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持久化能力优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化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可靠性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DMS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--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55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80</a:t>
                      </a:r>
                    </a:p>
                  </a:txBody>
                  <a:tcPr marL="6065" marR="6065" marT="60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提供集群的数据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Load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功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能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RTN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40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51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88</a:t>
                      </a:r>
                    </a:p>
                  </a:txBody>
                  <a:tcPr marL="6065" marR="6065" marT="60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驱动接口规范化和性能优化（减少对象获取时的交互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）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优化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Driver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45</a:t>
                      </a:r>
                    </a:p>
                  </a:txBody>
                  <a:tcPr marL="6065" marR="6065" marT="60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SequoiaDB2.2</a:t>
            </a:r>
            <a:r>
              <a:rPr lang="zh-CN" altLang="en-US" dirty="0" smtClean="0"/>
              <a:t>版本需求（中）</a:t>
            </a:r>
            <a:endParaRPr lang="zh-CN" alt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2910" y="1785926"/>
          <a:ext cx="7715305" cy="4072035"/>
        </p:xfrm>
        <a:graphic>
          <a:graphicData uri="http://schemas.openxmlformats.org/drawingml/2006/table">
            <a:tbl>
              <a:tblPr/>
              <a:tblGrid>
                <a:gridCol w="445555"/>
                <a:gridCol w="3131987"/>
                <a:gridCol w="737132"/>
                <a:gridCol w="737132"/>
                <a:gridCol w="773168"/>
                <a:gridCol w="776445"/>
                <a:gridCol w="1113886"/>
              </a:tblGrid>
              <a:tr h="23844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b="1" i="0" u="none" strike="noStrike" dirty="0">
                          <a:solidFill>
                            <a:srgbClr val="FFFFFF"/>
                          </a:solidFill>
                          <a:latin typeface="宋体"/>
                        </a:rPr>
                        <a:t>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描述</a:t>
                      </a:r>
                      <a:r>
                        <a:rPr lang="zh-CN" altLang="en-US" sz="105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50" b="1" i="0" u="none" strike="noStrike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b="1" i="0" u="none" strike="noStrike" dirty="0">
                          <a:solidFill>
                            <a:srgbClr val="FFFFFF"/>
                          </a:solidFill>
                          <a:latin typeface="宋体"/>
                        </a:rPr>
                        <a:t>归属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属性</a:t>
                      </a:r>
                      <a:r>
                        <a:rPr lang="zh-CN" altLang="en-US" sz="105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50" b="1" i="0" u="none" strike="noStrike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优先级</a:t>
                      </a:r>
                      <a:r>
                        <a:rPr lang="zh-CN" altLang="en-US" sz="105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50" b="1" i="0" u="none" strike="noStrike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模块</a:t>
                      </a:r>
                      <a:r>
                        <a:rPr lang="zh-CN" altLang="en-US" sz="105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50" b="1" i="0" u="none" strike="noStrike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5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工作量</a:t>
                      </a:r>
                      <a:r>
                        <a:rPr lang="en-US" altLang="zh-CN" sz="105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/</a:t>
                      </a:r>
                      <a:r>
                        <a:rPr lang="zh-CN" altLang="en-US" sz="105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人天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</a:tr>
              <a:tr h="43720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Coord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加入到系统管理，向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Catalog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注册获取节点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ID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，实现</a:t>
                      </a:r>
                      <a:r>
                        <a:rPr lang="en-US" altLang="zh-CN" sz="11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Coord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自动负载均衡和监控（所有</a:t>
                      </a:r>
                      <a:r>
                        <a:rPr lang="en-US" altLang="zh-CN" sz="11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coord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节点的</a:t>
                      </a:r>
                      <a:r>
                        <a:rPr lang="en-US" altLang="zh-CN" sz="11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catalogaddr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参数自动保存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）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CLS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90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会话关联：</a:t>
                      </a:r>
                      <a:r>
                        <a:rPr lang="en-US" altLang="zh-CN" sz="11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Coord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监控信息按会话关联，对外展现为关联信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息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可维护性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RTN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860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提供数据中心按域进行灾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备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RTN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90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提供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SequoiaDB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的版本升级功能（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、安装包升级，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、通过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OM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升级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）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OM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860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Truncate/Drop Collection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的性能优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化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性能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RTN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90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76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match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支持函数和流式处理，支持对数组的精确匹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配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MTH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90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77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modify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支持流式处理和嵌套能力，提供对数组的精确修改，支持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modify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记录数量限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制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MTH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50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78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JS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对象增强和重构：</a:t>
                      </a:r>
                      <a:b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、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system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对象增加进程操作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killProcess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,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enumProcess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等；</a:t>
                      </a:r>
                      <a:b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、所有对象提供远程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new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的能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力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SPT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50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、规范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snapshot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和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list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的输出格式和内容；</a:t>
                      </a:r>
                      <a:b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、查看当前具体执行的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SQL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语句及时间和资源占用；</a:t>
                      </a:r>
                      <a:b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3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、记录慢查询操作信息，以便分析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；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可维护性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RTN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905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86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Build Tree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调整优化，以及模块化调整去除模块依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赖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优化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PMD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SequoiaDB</a:t>
            </a:r>
            <a:r>
              <a:rPr lang="zh-CN" altLang="en-US" dirty="0" smtClean="0"/>
              <a:t>版本需求（低）</a:t>
            </a:r>
            <a:endParaRPr lang="zh-CN" alt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0034" y="2143116"/>
          <a:ext cx="8143932" cy="1424992"/>
        </p:xfrm>
        <a:graphic>
          <a:graphicData uri="http://schemas.openxmlformats.org/drawingml/2006/table">
            <a:tbl>
              <a:tblPr/>
              <a:tblGrid>
                <a:gridCol w="470308"/>
                <a:gridCol w="3305987"/>
                <a:gridCol w="778082"/>
                <a:gridCol w="778082"/>
                <a:gridCol w="816122"/>
                <a:gridCol w="819581"/>
                <a:gridCol w="1175770"/>
              </a:tblGrid>
              <a:tr h="30531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宋体"/>
                        </a:rPr>
                        <a:t>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描述</a:t>
                      </a: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100" b="1" i="0" u="none" strike="noStrike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latin typeface="宋体"/>
                        </a:rPr>
                        <a:t>归属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属性</a:t>
                      </a: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100" b="1" i="0" u="none" strike="noStrike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优先级</a:t>
                      </a: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100" b="1" i="0" u="none" strike="noStrike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模块</a:t>
                      </a: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100" b="1" i="0" u="none" strike="noStrike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工作量</a:t>
                      </a:r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/</a:t>
                      </a: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人天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</a:tr>
              <a:tr h="41987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SequoiaDB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支持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like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匹配符，兼容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PG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的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like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语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法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低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MTH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87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SequoiaDB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提供对长整型的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json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特殊语法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{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field:{$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numberLong:x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}}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的支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持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低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BSON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918">
                <a:tc gridSpan="6">
                  <a:txBody>
                    <a:bodyPr/>
                    <a:lstStyle/>
                    <a:p>
                      <a:pPr algn="l" fontAlgn="ctr"/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工作量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CN" sz="11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1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564</a:t>
                      </a:r>
                      <a:r>
                        <a:rPr lang="zh-CN" altLang="en-US" sz="11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人天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SequoiaSQL2.2</a:t>
            </a:r>
            <a:r>
              <a:rPr lang="zh-CN" altLang="en-US" dirty="0" smtClean="0"/>
              <a:t>版本需求</a:t>
            </a:r>
            <a:endParaRPr lang="zh-CN" alt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2910" y="1857364"/>
          <a:ext cx="7786742" cy="1707399"/>
        </p:xfrm>
        <a:graphic>
          <a:graphicData uri="http://schemas.openxmlformats.org/drawingml/2006/table">
            <a:tbl>
              <a:tblPr/>
              <a:tblGrid>
                <a:gridCol w="449681"/>
                <a:gridCol w="3160987"/>
                <a:gridCol w="743956"/>
                <a:gridCol w="743956"/>
                <a:gridCol w="780327"/>
                <a:gridCol w="783634"/>
                <a:gridCol w="1124201"/>
              </a:tblGrid>
              <a:tr h="30531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宋体"/>
                        </a:rPr>
                        <a:t>编号</a:t>
                      </a:r>
                    </a:p>
                  </a:txBody>
                  <a:tcPr marL="7776" marR="7776" marT="77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描述</a:t>
                      </a:r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1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latin typeface="宋体"/>
                        </a:rPr>
                        <a:t>归属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属性</a:t>
                      </a:r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1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优先级</a:t>
                      </a:r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1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模块</a:t>
                      </a:r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1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工作量</a:t>
                      </a:r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/</a:t>
                      </a: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人天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</a:tr>
              <a:tr h="2814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87</a:t>
                      </a:r>
                    </a:p>
                  </a:txBody>
                  <a:tcPr marL="7776" marR="7776" marT="77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提供通过</a:t>
                      </a: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OM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进行</a:t>
                      </a: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SequoiaSQL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的安装和部署</a:t>
                      </a:r>
                      <a:b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中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SQL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60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4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91</a:t>
                      </a:r>
                    </a:p>
                  </a:txBody>
                  <a:tcPr marL="7776" marR="7776" marT="77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SequoiaSQL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的性能优化</a:t>
                      </a:r>
                      <a:b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性能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低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SQL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30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473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92</a:t>
                      </a:r>
                    </a:p>
                  </a:txBody>
                  <a:tcPr marL="7776" marR="7776" marT="77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SequoiaSQL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的定位和诊断能力</a:t>
                      </a:r>
                      <a:b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2.2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可维护性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低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SQL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30</a:t>
                      </a: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473">
                <a:tc gridSpan="6"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工作量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7776" marR="7776" marT="777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120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人天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7776" marR="7776" marT="77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SequoiaDB2.4</a:t>
            </a:r>
            <a:r>
              <a:rPr lang="zh-CN" altLang="en-US" dirty="0" smtClean="0"/>
              <a:t>版本需求（高）</a:t>
            </a:r>
            <a:endParaRPr lang="zh-CN" alt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2910" y="1928802"/>
          <a:ext cx="7786742" cy="3664339"/>
        </p:xfrm>
        <a:graphic>
          <a:graphicData uri="http://schemas.openxmlformats.org/drawingml/2006/table">
            <a:tbl>
              <a:tblPr/>
              <a:tblGrid>
                <a:gridCol w="449681"/>
                <a:gridCol w="3160987"/>
                <a:gridCol w="743956"/>
                <a:gridCol w="743956"/>
                <a:gridCol w="780327"/>
                <a:gridCol w="783634"/>
                <a:gridCol w="1124201"/>
              </a:tblGrid>
              <a:tr h="30531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宋体"/>
                        </a:rPr>
                        <a:t>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描述</a:t>
                      </a: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100" b="1" i="0" u="none" strike="noStrike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latin typeface="宋体"/>
                        </a:rPr>
                        <a:t>归属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属性</a:t>
                      </a: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100" b="1" i="0" u="none" strike="noStrike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优先级</a:t>
                      </a:r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1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模块</a:t>
                      </a: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100" b="1" i="0" u="none" strike="noStrike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工作量</a:t>
                      </a:r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/</a:t>
                      </a: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人天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</a:tr>
              <a:tr h="41987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对于各种操作能够返回详细的错误信息和统计信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息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可维护性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PMD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80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91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索引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or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和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and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性能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IXM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983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Collection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需要支持在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DMS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层读写的并发性（可以考虑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Collection Latch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为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Block Latch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）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性能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DMS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91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OM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提供“配置管理”和“配置下发”功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能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易用性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OM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983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Domain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功能和接口重构，增加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add group, remove group, add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cs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/remove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cs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, rebalance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操作，都通过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alter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接口实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现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CLS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20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983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49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完善collection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alter功能（支持sharding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 key,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sharding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 type, enable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sharding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key的更改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）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CLS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87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update中的$each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, $sort, $slice, $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position</a:t>
                      </a:r>
                      <a:r>
                        <a:rPr lang="en-US" sz="1200" b="0" i="0" u="none" strike="noStrike" dirty="0" err="1" smtClean="0">
                          <a:solidFill>
                            <a:srgbClr val="000000"/>
                          </a:solidFill>
                          <a:latin typeface="宋体"/>
                        </a:rPr>
                        <a:t>操作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MTH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91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73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DMS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读写并发（块锁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+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记录锁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+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索引页锁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）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性能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DMS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SequoiaDB2.4</a:t>
            </a:r>
            <a:r>
              <a:rPr lang="zh-CN" altLang="en-US" dirty="0" smtClean="0"/>
              <a:t>版本需求（中低）</a:t>
            </a:r>
            <a:endParaRPr lang="zh-CN" alt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472" y="1714488"/>
          <a:ext cx="7858181" cy="4353365"/>
        </p:xfrm>
        <a:graphic>
          <a:graphicData uri="http://schemas.openxmlformats.org/drawingml/2006/table">
            <a:tbl>
              <a:tblPr/>
              <a:tblGrid>
                <a:gridCol w="453806"/>
                <a:gridCol w="3189987"/>
                <a:gridCol w="750782"/>
                <a:gridCol w="750782"/>
                <a:gridCol w="787486"/>
                <a:gridCol w="790823"/>
                <a:gridCol w="1134515"/>
              </a:tblGrid>
              <a:tr h="293741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宋体"/>
                        </a:rPr>
                        <a:t>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描述</a:t>
                      </a: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100" b="1" i="0" u="none" strike="noStrike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宋体"/>
                        </a:rPr>
                        <a:t>归属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属性</a:t>
                      </a: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100" b="1" i="0" u="none" strike="noStrike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优先级</a:t>
                      </a:r>
                      <a:r>
                        <a:rPr lang="zh-CN" altLang="en-US" sz="11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1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模块</a:t>
                      </a: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100" b="1" i="0" u="none" strike="noStrike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工作量</a:t>
                      </a:r>
                      <a:r>
                        <a:rPr lang="en-US" altLang="zh-CN" sz="11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/</a:t>
                      </a:r>
                      <a:r>
                        <a:rPr lang="zh-CN" altLang="en-US" sz="1100" b="1" i="0" u="none" strike="noStrike" dirty="0">
                          <a:solidFill>
                            <a:srgbClr val="FFFFFF"/>
                          </a:solidFill>
                          <a:latin typeface="Arial"/>
                        </a:rPr>
                        <a:t>人天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</a:tr>
              <a:tr h="53860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参数动态生效（</a:t>
                      </a:r>
                      <a:r>
                        <a:rPr lang="en-US" altLang="zh-CN" sz="12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getConfig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/</a:t>
                      </a:r>
                      <a:r>
                        <a:rPr lang="en-US" altLang="zh-CN" sz="1200" b="0" i="0" u="none" strike="noStrike" dirty="0" err="1">
                          <a:solidFill>
                            <a:srgbClr val="000000"/>
                          </a:solidFill>
                          <a:latin typeface="宋体"/>
                        </a:rPr>
                        <a:t>setConfig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，需要区分出能批量修改的和不能批量修改的，以前批量修改时可否用系统变量替换等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）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可维护性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PMD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20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60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数据库审计，对接全文检索引擎（根据策略调用审计接口，推送数据文日志；提供基本的审计策略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）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AUDIT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30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95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disable/enable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节点（用于让数据库不同步进行快速操作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）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低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CLS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0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OM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提供“告警”和“统计”功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能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易用性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OM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0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Catalog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元数据操作在并发时保证一致性要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可靠性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RTN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40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956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70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提供数据审计功能（基于现有的审计功能上进行增强，提供二进制的存储和转换工具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）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AUDIT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0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提供视图功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能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低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CLS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0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82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测试及健康检查工具（用例脚本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）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可维护性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低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TOOL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0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提供归档日志（压缩存储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）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DPS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0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85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提供日志回滚保存和重新回放功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能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DPS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0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提供策略定制功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能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功能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OM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60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304">
                <a:tc gridSpan="6"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工作量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475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人天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SequoiaSQL2.4</a:t>
            </a:r>
            <a:r>
              <a:rPr lang="zh-CN" altLang="en-US" dirty="0" smtClean="0"/>
              <a:t>版本需求</a:t>
            </a:r>
            <a:endParaRPr lang="zh-CN" alt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472" y="1928802"/>
          <a:ext cx="7643866" cy="1682516"/>
        </p:xfrm>
        <a:graphic>
          <a:graphicData uri="http://schemas.openxmlformats.org/drawingml/2006/table">
            <a:tbl>
              <a:tblPr/>
              <a:tblGrid>
                <a:gridCol w="441430"/>
                <a:gridCol w="3102988"/>
                <a:gridCol w="730305"/>
                <a:gridCol w="730305"/>
                <a:gridCol w="766009"/>
                <a:gridCol w="769256"/>
                <a:gridCol w="1103573"/>
              </a:tblGrid>
              <a:tr h="30531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latin typeface="宋体"/>
                        </a:rPr>
                        <a:t>编号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描述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宋体"/>
                        </a:rPr>
                        <a:t>归属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属性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优先级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模块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工作量</a:t>
                      </a:r>
                      <a:r>
                        <a:rPr lang="en-US" altLang="zh-CN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/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latin typeface="Arial"/>
                        </a:rPr>
                        <a:t>人天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4817"/>
                    </a:solidFill>
                  </a:tcPr>
                </a:tc>
              </a:tr>
              <a:tr h="27991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93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SequoaSQL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的元数据管理和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HA</a:t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en-US" sz="12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可靠性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中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SQL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91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SequoiaSQL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的性能定位能力</a:t>
                      </a:r>
                      <a:b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优化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低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SQL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918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97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SequoiaSQL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的业务操作管理</a:t>
                      </a:r>
                      <a:b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</a:br>
                      <a:endParaRPr lang="zh-CN" altLang="en-US" sz="1200" b="0" i="0" u="none" strike="noStrike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可维护性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宋体"/>
                        </a:rPr>
                        <a:t>SQL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latin typeface="宋体"/>
                        </a:rPr>
                        <a:t>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918">
                <a:tc gridSpan="6"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工作量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180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latin typeface="宋体"/>
                        </a:rPr>
                        <a:t>人天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latin typeface="宋体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</a:t>
            </a:r>
            <a:r>
              <a:rPr lang="zh-CN" altLang="en-US" dirty="0" smtClean="0"/>
              <a:t>本开发人力汇总</a:t>
            </a:r>
            <a:endParaRPr lang="zh-CN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0034" y="1857364"/>
          <a:ext cx="8001054" cy="3538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9"/>
                <a:gridCol w="1333509"/>
                <a:gridCol w="1333509"/>
                <a:gridCol w="1333509"/>
                <a:gridCol w="1333509"/>
                <a:gridCol w="1333509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版本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周期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开发人力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测试人力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工作量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版本重点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1.12.6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32</a:t>
                      </a:r>
                      <a:r>
                        <a:rPr lang="zh-CN" altLang="en-US" sz="1400" dirty="0" smtClean="0"/>
                        <a:t>工作日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/>
                        <a:t>2 * 32 = 64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/>
                        <a:t>1 * 32 = 32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33</a:t>
                      </a:r>
                      <a:endParaRPr lang="zh-CN" altLang="en-US" sz="1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1.12.7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27</a:t>
                      </a:r>
                      <a:r>
                        <a:rPr lang="zh-CN" altLang="en-US" sz="1400" dirty="0" smtClean="0"/>
                        <a:t>工作日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 *</a:t>
                      </a:r>
                      <a:r>
                        <a:rPr lang="en-US" altLang="zh-CN" sz="1400" baseline="0" dirty="0" smtClean="0"/>
                        <a:t> 27 = 81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1.5</a:t>
                      </a:r>
                      <a:r>
                        <a:rPr lang="en-US" altLang="zh-CN" sz="1400" baseline="0" dirty="0" smtClean="0"/>
                        <a:t> * 27 = 40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75</a:t>
                      </a:r>
                      <a:endParaRPr lang="zh-CN" altLang="en-US" sz="1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DB2.2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66</a:t>
                      </a:r>
                      <a:r>
                        <a:rPr lang="zh-CN" altLang="en-US" sz="1400" dirty="0" smtClean="0"/>
                        <a:t>工作日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/>
                        <a:t>7 * 66 = 462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 * 66 = 330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564</a:t>
                      </a:r>
                      <a:endParaRPr lang="zh-CN" altLang="en-US" sz="1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 smtClean="0"/>
                        <a:t>以高中优先级为主，测试以业务覆盖为主</a:t>
                      </a:r>
                      <a:endParaRPr lang="zh-CN" altLang="en-US" sz="105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DB2.4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81</a:t>
                      </a:r>
                      <a:r>
                        <a:rPr lang="zh-CN" altLang="en-US" sz="1400" dirty="0" smtClean="0"/>
                        <a:t>工作日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8 * 81 = 648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6 * 81 = 486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475</a:t>
                      </a:r>
                      <a:endParaRPr lang="zh-CN" altLang="en-US" sz="1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 smtClean="0"/>
                        <a:t>以高中优先级为主</a:t>
                      </a:r>
                      <a:endParaRPr lang="zh-CN" altLang="en-US" sz="105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SQL2.2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合入</a:t>
                      </a:r>
                      <a:r>
                        <a:rPr lang="en-US" altLang="zh-CN" sz="1400" dirty="0" smtClean="0"/>
                        <a:t>DB2.2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 * 66 = 66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 * 66 = 66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120</a:t>
                      </a:r>
                      <a:endParaRPr lang="zh-CN" altLang="en-US" sz="1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SQL2.4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合入</a:t>
                      </a:r>
                      <a:r>
                        <a:rPr lang="en-US" altLang="zh-CN" sz="1400" dirty="0" smtClean="0"/>
                        <a:t>DB2.4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</a:t>
                      </a:r>
                      <a:r>
                        <a:rPr lang="en-US" altLang="zh-CN" sz="1400" baseline="0" dirty="0" smtClean="0"/>
                        <a:t> * 66 = 66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 * 66 = 66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180</a:t>
                      </a:r>
                      <a:endParaRPr lang="zh-CN" altLang="en-US" sz="1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SAC2.4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合入</a:t>
                      </a:r>
                      <a:r>
                        <a:rPr lang="en-US" altLang="zh-CN" sz="1400" dirty="0" smtClean="0"/>
                        <a:t>DB2.4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SDP2.6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35</a:t>
                      </a:r>
                      <a:r>
                        <a:rPr lang="zh-CN" altLang="en-US" sz="1400" dirty="0" smtClean="0"/>
                        <a:t>工作日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版本其它人力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客户及社区问题支撑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2.2</a:t>
            </a:r>
            <a:r>
              <a:rPr lang="zh-CN" altLang="en-US" dirty="0" smtClean="0"/>
              <a:t>版本：</a:t>
            </a:r>
            <a:r>
              <a:rPr lang="en-US" altLang="zh-CN" dirty="0" smtClean="0"/>
              <a:t>4</a:t>
            </a:r>
            <a:r>
              <a:rPr lang="en-US" altLang="zh-CN" dirty="0" smtClean="0"/>
              <a:t>0</a:t>
            </a:r>
            <a:r>
              <a:rPr lang="zh-CN" altLang="en-US" dirty="0" smtClean="0"/>
              <a:t>人天</a:t>
            </a:r>
            <a:endParaRPr lang="en-US" altLang="zh-CN" dirty="0" smtClean="0"/>
          </a:p>
          <a:p>
            <a:r>
              <a:rPr lang="zh-CN" altLang="en-US" dirty="0" smtClean="0"/>
              <a:t>内部技能提升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2.2</a:t>
            </a:r>
            <a:r>
              <a:rPr lang="zh-CN" altLang="en-US" dirty="0" smtClean="0"/>
              <a:t>版本：</a:t>
            </a:r>
            <a:r>
              <a:rPr lang="en-US" altLang="zh-CN" dirty="0" smtClean="0"/>
              <a:t>2</a:t>
            </a:r>
            <a:r>
              <a:rPr lang="en-US" altLang="zh-CN" dirty="0" smtClean="0"/>
              <a:t>0</a:t>
            </a:r>
            <a:r>
              <a:rPr lang="zh-CN" altLang="en-US" dirty="0" smtClean="0"/>
              <a:t>人天</a:t>
            </a:r>
            <a:endParaRPr lang="en-US" altLang="zh-CN" dirty="0" smtClean="0"/>
          </a:p>
          <a:p>
            <a:r>
              <a:rPr lang="en-US" altLang="zh-CN" dirty="0" err="1" smtClean="0"/>
              <a:t>PoC</a:t>
            </a:r>
            <a:r>
              <a:rPr lang="zh-CN" altLang="en-US" dirty="0" smtClean="0"/>
              <a:t>及性能测试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2.2</a:t>
            </a:r>
            <a:r>
              <a:rPr lang="zh-CN" altLang="en-US" dirty="0" smtClean="0"/>
              <a:t>版本：</a:t>
            </a:r>
            <a:r>
              <a:rPr lang="en-US" altLang="zh-CN" dirty="0" smtClean="0"/>
              <a:t>2</a:t>
            </a:r>
            <a:r>
              <a:rPr lang="en-US" altLang="zh-CN" dirty="0" smtClean="0"/>
              <a:t>0</a:t>
            </a:r>
            <a:r>
              <a:rPr lang="zh-CN" altLang="en-US" dirty="0" smtClean="0"/>
              <a:t>人天</a:t>
            </a:r>
            <a:endParaRPr lang="en-US" altLang="zh-CN" dirty="0" smtClean="0"/>
          </a:p>
          <a:p>
            <a:r>
              <a:rPr lang="zh-CN" altLang="en-US" dirty="0" smtClean="0"/>
              <a:t>疑难问题攻关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2.2</a:t>
            </a:r>
            <a:r>
              <a:rPr lang="zh-CN" altLang="en-US" dirty="0" smtClean="0"/>
              <a:t>版本：</a:t>
            </a:r>
            <a:r>
              <a:rPr lang="en-US" altLang="zh-CN" dirty="0" smtClean="0"/>
              <a:t>2</a:t>
            </a:r>
            <a:r>
              <a:rPr lang="en-US" altLang="zh-CN" dirty="0" smtClean="0"/>
              <a:t>0</a:t>
            </a:r>
            <a:r>
              <a:rPr lang="zh-CN" altLang="en-US" dirty="0" smtClean="0"/>
              <a:t>人天</a:t>
            </a:r>
            <a:endParaRPr lang="en-US" altLang="zh-CN" dirty="0" smtClean="0"/>
          </a:p>
          <a:p>
            <a:r>
              <a:rPr lang="zh-CN" altLang="en-US" dirty="0" smtClean="0"/>
              <a:t>其它工具开发及紧急需求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2.2</a:t>
            </a:r>
            <a:r>
              <a:rPr lang="zh-CN" altLang="en-US" dirty="0" smtClean="0"/>
              <a:t>版本：</a:t>
            </a:r>
            <a:r>
              <a:rPr lang="en-US" altLang="zh-CN" dirty="0" smtClean="0"/>
              <a:t>50</a:t>
            </a:r>
            <a:r>
              <a:rPr lang="zh-CN" altLang="en-US" dirty="0" smtClean="0"/>
              <a:t>人天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1"/>
          <p:cNvSpPr txBox="1">
            <a:spLocks noChangeArrowheads="1"/>
          </p:cNvSpPr>
          <p:nvPr/>
        </p:nvSpPr>
        <p:spPr bwMode="auto">
          <a:xfrm>
            <a:off x="533400" y="762000"/>
            <a:ext cx="8229600" cy="8842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4000" b="1" dirty="0" smtClean="0">
                <a:solidFill>
                  <a:srgbClr val="990000"/>
                </a:solidFill>
              </a:rPr>
              <a:t>谢谢</a:t>
            </a:r>
            <a:endParaRPr lang="en-US" sz="4000" b="1" dirty="0">
              <a:solidFill>
                <a:srgbClr val="990000"/>
              </a:solidFill>
            </a:endParaRPr>
          </a:p>
        </p:txBody>
      </p:sp>
      <p:pic>
        <p:nvPicPr>
          <p:cNvPr id="130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66837" y="1807680"/>
            <a:ext cx="6329363" cy="421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 advTm="181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[SequoiaDB]PPT Template-中英文版1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[SequoiaDB]PPT Template-中英文版1</Template>
  <TotalTime>10411</TotalTime>
  <Words>2134</Words>
  <Application>Microsoft Office PowerPoint</Application>
  <PresentationFormat>On-screen Show (4:3)</PresentationFormat>
  <Paragraphs>568</Paragraphs>
  <Slides>14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[SequoiaDB]PPT Template-中英文版1</vt:lpstr>
      <vt:lpstr>SequoiaDB Business Plan</vt:lpstr>
      <vt:lpstr>2016年版本里程碑</vt:lpstr>
      <vt:lpstr>SDP的逻辑架构</vt:lpstr>
      <vt:lpstr>1.12.X版本需求</vt:lpstr>
      <vt:lpstr>SequoiaDB 2.2版本需求（高）</vt:lpstr>
      <vt:lpstr>SequoiaDB2.2版本需求（中）</vt:lpstr>
      <vt:lpstr>SequoiaDB版本需求（低）</vt:lpstr>
      <vt:lpstr>SequoiaSQL2.2版本需求</vt:lpstr>
      <vt:lpstr>SequoiaDB2.4版本需求（高）</vt:lpstr>
      <vt:lpstr>SequoiaDB2.4版本需求（中低）</vt:lpstr>
      <vt:lpstr>SequoiaSQL2.4版本需求</vt:lpstr>
      <vt:lpstr>版本开发人力汇总</vt:lpstr>
      <vt:lpstr>版本其它人力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taoewang</dc:creator>
  <cp:lastModifiedBy>xujianhui</cp:lastModifiedBy>
  <cp:revision>321</cp:revision>
  <dcterms:created xsi:type="dcterms:W3CDTF">2013-10-30T01:59:32Z</dcterms:created>
  <dcterms:modified xsi:type="dcterms:W3CDTF">2016-03-14T06:24:54Z</dcterms:modified>
</cp:coreProperties>
</file>