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16" r:id="rId3"/>
    <p:sldId id="342" r:id="rId4"/>
    <p:sldId id="318" r:id="rId5"/>
    <p:sldId id="328" r:id="rId6"/>
    <p:sldId id="343" r:id="rId7"/>
    <p:sldId id="330" r:id="rId8"/>
    <p:sldId id="336" r:id="rId9"/>
    <p:sldId id="327" r:id="rId10"/>
    <p:sldId id="340" r:id="rId11"/>
    <p:sldId id="341" r:id="rId12"/>
    <p:sldId id="28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EBFF"/>
    <a:srgbClr val="7EB4F6"/>
    <a:srgbClr val="89E0FF"/>
    <a:srgbClr val="FBF5A3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98" d="100"/>
          <a:sy n="98" d="100"/>
        </p:scale>
        <p:origin x="-117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A76CE-B591-404B-B39C-86CC1FD600A3}" type="datetimeFigureOut">
              <a:rPr lang="zh-CN" altLang="en-US" smtClean="0"/>
              <a:pPr/>
              <a:t>2014/7/14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95A556-B770-442E-91B6-DBACBAE32CFF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6"/>
          <p:cNvSpPr>
            <a:spLocks noGrp="1" noChangeArrowheads="1"/>
          </p:cNvSpPr>
          <p:nvPr>
            <p:ph type="sldNum" sz="quarter"/>
          </p:nvPr>
        </p:nvSpPr>
        <p:spPr>
          <a:noFill/>
          <a:ln w="21600">
            <a:round/>
            <a:headEnd/>
            <a:tailEnd/>
          </a:ln>
        </p:spPr>
        <p:txBody>
          <a:bodyPr/>
          <a:lstStyle/>
          <a:p>
            <a:fld id="{1F235632-6E56-4B76-AD17-1221CF6CDD18}" type="slidenum">
              <a:rPr lang="en-US" altLang="zh-CN" smtClean="0"/>
              <a:pPr/>
              <a:t>12</a:t>
            </a:fld>
            <a:endParaRPr lang="en-US" altLang="zh-CN" smtClean="0"/>
          </a:p>
        </p:txBody>
      </p:sp>
      <p:sp>
        <p:nvSpPr>
          <p:cNvPr id="14233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14234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208463"/>
          </a:xfrm>
          <a:noFill/>
        </p:spPr>
        <p:txBody>
          <a:bodyPr wrap="none" anchor="ctr"/>
          <a:lstStyle/>
          <a:p>
            <a:endParaRPr lang="en-US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107132" cy="1214422"/>
          </a:xfrm>
        </p:spPr>
        <p:txBody>
          <a:bodyPr/>
          <a:lstStyle/>
          <a:p>
            <a:r>
              <a:rPr lang="en-US" altLang="zh-CN" dirty="0" smtClean="0">
                <a:latin typeface="HelveticaNeueLT Pro 65 Md"/>
                <a:ea typeface="方正兰亭中黑_GBK"/>
              </a:rPr>
              <a:t>SequoiaDB Business Plan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860032" y="4077072"/>
            <a:ext cx="3816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bg1"/>
                </a:solidFill>
              </a:rPr>
              <a:t>2014</a:t>
            </a:r>
            <a:r>
              <a:rPr lang="zh-CN" altLang="en-US" sz="2400" dirty="0" smtClean="0">
                <a:solidFill>
                  <a:schemeClr val="bg1"/>
                </a:solidFill>
              </a:rPr>
              <a:t>年</a:t>
            </a:r>
            <a:r>
              <a:rPr lang="en-US" altLang="zh-CN" sz="2400" dirty="0" smtClean="0">
                <a:solidFill>
                  <a:schemeClr val="bg1"/>
                </a:solidFill>
              </a:rPr>
              <a:t>3</a:t>
            </a:r>
            <a:r>
              <a:rPr lang="zh-CN" altLang="en-US" sz="2400" dirty="0" smtClean="0">
                <a:solidFill>
                  <a:schemeClr val="bg1"/>
                </a:solidFill>
              </a:rPr>
              <a:t>季度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2014</a:t>
            </a:r>
            <a:r>
              <a:rPr lang="zh-CN" altLang="en-US" dirty="0" smtClean="0"/>
              <a:t>年</a:t>
            </a:r>
            <a:r>
              <a:rPr lang="en-US" altLang="zh-CN" dirty="0" smtClean="0"/>
              <a:t>3</a:t>
            </a:r>
            <a:r>
              <a:rPr lang="zh-CN" altLang="en-US" dirty="0" smtClean="0"/>
              <a:t>季度总体目标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总体目标</a:t>
            </a:r>
            <a:endParaRPr lang="en-US" altLang="zh-CN" dirty="0" smtClean="0"/>
          </a:p>
          <a:p>
            <a:pPr lvl="1"/>
            <a:r>
              <a:rPr lang="zh-CN" altLang="en-US" sz="1800" dirty="0" smtClean="0"/>
              <a:t>提升</a:t>
            </a:r>
            <a:r>
              <a:rPr lang="zh-CN" altLang="en-US" sz="1800" b="1" dirty="0" smtClean="0">
                <a:solidFill>
                  <a:srgbClr val="C00000"/>
                </a:solidFill>
              </a:rPr>
              <a:t>性能和易用性</a:t>
            </a:r>
            <a:r>
              <a:rPr lang="zh-CN" altLang="en-US" sz="1800" dirty="0" smtClean="0"/>
              <a:t>，持续提高可靠性，丰富功能</a:t>
            </a:r>
            <a:endParaRPr lang="en-US" altLang="zh-CN" sz="1800" dirty="0" smtClean="0"/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时间点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08/29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1.9</a:t>
            </a:r>
            <a:r>
              <a:rPr lang="zh-CN" altLang="en-US" sz="1800" dirty="0" smtClean="0"/>
              <a:t>内部版</a:t>
            </a:r>
            <a:endParaRPr lang="en-US" altLang="zh-CN" sz="1800" dirty="0" smtClean="0"/>
          </a:p>
          <a:p>
            <a:pPr lvl="1"/>
            <a:r>
              <a:rPr lang="en-US" altLang="zh-CN" sz="1800" dirty="0" smtClean="0"/>
              <a:t>09/25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1.10</a:t>
            </a:r>
            <a:r>
              <a:rPr lang="zh-CN" altLang="en-US" sz="1800" dirty="0" smtClean="0"/>
              <a:t>内部测试版</a:t>
            </a:r>
            <a:r>
              <a:rPr lang="en-US" altLang="zh-CN" sz="1800" dirty="0" smtClean="0"/>
              <a:t>Beta1</a:t>
            </a:r>
          </a:p>
          <a:p>
            <a:pPr lvl="1"/>
            <a:r>
              <a:rPr lang="en-US" altLang="zh-CN" sz="1800" dirty="0" smtClean="0"/>
              <a:t>10/15</a:t>
            </a:r>
            <a:r>
              <a:rPr lang="zh-CN" altLang="en-US" sz="1800" dirty="0" smtClean="0"/>
              <a:t>：发布</a:t>
            </a:r>
            <a:r>
              <a:rPr lang="en-US" altLang="zh-CN" sz="1800" dirty="0" smtClean="0"/>
              <a:t>1.10</a:t>
            </a:r>
          </a:p>
          <a:p>
            <a:pPr lvl="1"/>
            <a:endParaRPr lang="en-US" altLang="zh-CN" sz="1800" dirty="0" smtClean="0"/>
          </a:p>
          <a:p>
            <a:r>
              <a:rPr lang="zh-CN" altLang="en-US" dirty="0" smtClean="0"/>
              <a:t>平台</a:t>
            </a:r>
            <a:endParaRPr lang="en-US" altLang="zh-CN" dirty="0" smtClean="0"/>
          </a:p>
          <a:p>
            <a:pPr lvl="1"/>
            <a:r>
              <a:rPr lang="en-US" altLang="zh-CN" sz="1800" dirty="0" smtClean="0"/>
              <a:t>X86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Centos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Ubuntu</a:t>
            </a:r>
          </a:p>
          <a:p>
            <a:pPr lvl="1"/>
            <a:r>
              <a:rPr lang="en-US" altLang="zh-CN" sz="1800" dirty="0" smtClean="0"/>
              <a:t>Power</a:t>
            </a:r>
            <a:r>
              <a:rPr lang="zh-CN" altLang="en-US" sz="1800" dirty="0" smtClean="0"/>
              <a:t>：</a:t>
            </a:r>
            <a:r>
              <a:rPr lang="en-US" altLang="zh-CN" sz="1800" dirty="0" smtClean="0"/>
              <a:t>SUSE</a:t>
            </a:r>
            <a:r>
              <a:rPr lang="zh-CN" altLang="en-US" sz="1800" dirty="0" smtClean="0"/>
              <a:t>、</a:t>
            </a:r>
            <a:r>
              <a:rPr lang="en-US" altLang="zh-CN" sz="1800" dirty="0" smtClean="0"/>
              <a:t>Redhat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版本要求和约束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外部消息接口兼容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存储文件结构兼容</a:t>
            </a:r>
            <a:r>
              <a:rPr lang="en-US" altLang="zh-CN" dirty="0" smtClean="0"/>
              <a:t>1.8</a:t>
            </a:r>
            <a:r>
              <a:rPr lang="zh-CN" altLang="en-US" dirty="0" smtClean="0"/>
              <a:t>版本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性能（一）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57224" y="2143116"/>
          <a:ext cx="6786611" cy="1714512"/>
        </p:xfrm>
        <a:graphic>
          <a:graphicData uri="http://schemas.openxmlformats.org/drawingml/2006/table">
            <a:tbl>
              <a:tblPr/>
              <a:tblGrid>
                <a:gridCol w="2923839"/>
                <a:gridCol w="688142"/>
                <a:gridCol w="688142"/>
                <a:gridCol w="721784"/>
                <a:gridCol w="724844"/>
                <a:gridCol w="1039860"/>
              </a:tblGrid>
              <a:tr h="511574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721763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Query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性能优化（端对端全程序优化，减少内存拷贝，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io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和锁延时）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1175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全索引匹配后不需要再匹配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match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的优化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性能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IXM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可维护</a:t>
            </a:r>
            <a:r>
              <a:rPr lang="zh-CN" altLang="en-US" dirty="0" smtClean="0"/>
              <a:t>性</a:t>
            </a:r>
            <a:endParaRPr lang="zh-CN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2910" y="2071678"/>
          <a:ext cx="7286676" cy="2500329"/>
        </p:xfrm>
        <a:graphic>
          <a:graphicData uri="http://schemas.openxmlformats.org/drawingml/2006/table">
            <a:tbl>
              <a:tblPr/>
              <a:tblGrid>
                <a:gridCol w="3139280"/>
                <a:gridCol w="738847"/>
                <a:gridCol w="738847"/>
                <a:gridCol w="774968"/>
                <a:gridCol w="778253"/>
                <a:gridCol w="1116481"/>
              </a:tblGrid>
              <a:tr h="438432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82475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参数动态生效（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getConfig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/</a:t>
                      </a:r>
                      <a:r>
                        <a:rPr lang="en-US" altLang="zh-CN" sz="1200" b="0" i="0" u="none" strike="noStrike" dirty="0" err="1">
                          <a:solidFill>
                            <a:srgbClr val="000000"/>
                          </a:solidFill>
                          <a:latin typeface="宋体"/>
                        </a:rPr>
                        <a:t>setConfig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，需要区分出能匹量修改的和不能匹量修改的，以前匹量修改时可否用系统变量替换等）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856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对于各种操作能够返回详细的错误信息和统计信息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PMD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856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会话关联：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Coord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监控信息按会话关联，对外展现为关联信息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可维护性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RTN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功能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472" y="2143116"/>
          <a:ext cx="7215237" cy="1071570"/>
        </p:xfrm>
        <a:graphic>
          <a:graphicData uri="http://schemas.openxmlformats.org/drawingml/2006/table">
            <a:tbl>
              <a:tblPr/>
              <a:tblGrid>
                <a:gridCol w="3108502"/>
                <a:gridCol w="731603"/>
                <a:gridCol w="731603"/>
                <a:gridCol w="767371"/>
                <a:gridCol w="770623"/>
                <a:gridCol w="1105535"/>
              </a:tblGrid>
              <a:tr h="552191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519379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支持存储大对象（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LOB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、文件系统、分布式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KV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）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功能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en-US" altLang="zh-CN" dirty="0" smtClean="0"/>
              <a:t>OM</a:t>
            </a:r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>
            <a:normAutofit lnSpcReduction="10000"/>
          </a:bodyPr>
          <a:lstStyle/>
          <a:p>
            <a:r>
              <a:rPr lang="zh-CN" altLang="en-US" b="1" dirty="0" smtClean="0"/>
              <a:t>自动化安装部署、扩容和配置</a:t>
            </a:r>
            <a:endParaRPr lang="en-US" altLang="zh-CN" b="1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抽象</a:t>
            </a:r>
            <a:r>
              <a:rPr lang="en-US" altLang="zh-CN" dirty="0" smtClean="0"/>
              <a:t>OM</a:t>
            </a:r>
            <a:r>
              <a:rPr lang="zh-CN" altLang="en-US" dirty="0" smtClean="0"/>
              <a:t>管理模块，基于</a:t>
            </a:r>
            <a:r>
              <a:rPr lang="en-US" altLang="zh-CN" dirty="0" smtClean="0"/>
              <a:t>JS</a:t>
            </a:r>
            <a:r>
              <a:rPr lang="zh-CN" altLang="en-US" dirty="0" smtClean="0"/>
              <a:t>脚本执行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存储节点信息，按策略生成分组和配置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存储节点配置信息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/>
              <a:t>支持统一修改配置，按组修改配置，按机器修改配置，按节点修改配置</a:t>
            </a:r>
            <a:endParaRPr lang="en-US" altLang="zh-CN" dirty="0" smtClean="0"/>
          </a:p>
          <a:p>
            <a:pPr lvl="1">
              <a:lnSpc>
                <a:spcPct val="150000"/>
              </a:lnSpc>
            </a:pPr>
            <a:r>
              <a:rPr lang="zh-CN" altLang="en-US" dirty="0" smtClean="0">
                <a:solidFill>
                  <a:schemeClr val="bg1">
                    <a:lumMod val="75000"/>
                  </a:schemeClr>
                </a:solidFill>
              </a:rPr>
              <a:t>支持在线扩容</a:t>
            </a:r>
            <a:endParaRPr lang="en-US" altLang="zh-CN" dirty="0" smtClean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b="1" dirty="0" smtClean="0"/>
              <a:t>数据库监控</a:t>
            </a:r>
            <a:endParaRPr lang="en-US" altLang="zh-CN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zh-CN" altLang="en-US" dirty="0" smtClean="0"/>
              <a:t>版本特性</a:t>
            </a:r>
            <a:r>
              <a:rPr lang="en-US" altLang="zh-CN" dirty="0" smtClean="0"/>
              <a:t>—</a:t>
            </a:r>
            <a:r>
              <a:rPr lang="zh-CN" altLang="en-US" dirty="0" smtClean="0"/>
              <a:t>可靠性</a:t>
            </a:r>
            <a:endParaRPr lang="zh-CN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472" y="2214554"/>
          <a:ext cx="7429552" cy="2643206"/>
        </p:xfrm>
        <a:graphic>
          <a:graphicData uri="http://schemas.openxmlformats.org/drawingml/2006/table">
            <a:tbl>
              <a:tblPr/>
              <a:tblGrid>
                <a:gridCol w="3200834"/>
                <a:gridCol w="753334"/>
                <a:gridCol w="753334"/>
                <a:gridCol w="790164"/>
                <a:gridCol w="793513"/>
                <a:gridCol w="1138373"/>
              </a:tblGrid>
              <a:tr h="60861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描述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宋体"/>
                        </a:rPr>
                        <a:t>归属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属性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优先级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模块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lang="zh-CN" altLang="en-US" sz="1000" b="1" i="0" u="none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工作量</a:t>
                      </a:r>
                      <a:r>
                        <a:rPr lang="en-US" altLang="zh-CN" sz="1000" b="1" i="0" u="none" strike="noStrike">
                          <a:solidFill>
                            <a:srgbClr val="FFFFFF"/>
                          </a:solidFill>
                          <a:latin typeface="Calibri"/>
                        </a:rPr>
                        <a:t>/</a:t>
                      </a:r>
                      <a:r>
                        <a:rPr lang="zh-CN" altLang="en-US" sz="1000" b="1" i="0" u="none" strike="noStrike">
                          <a:solidFill>
                            <a:srgbClr val="FFFFFF"/>
                          </a:solidFill>
                          <a:latin typeface="Arial"/>
                        </a:rPr>
                        <a:t>人天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4817"/>
                    </a:solidFill>
                  </a:tcPr>
                </a:tc>
              </a:tr>
              <a:tr h="874180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本地数据文件损坏的恢复（独立元数据文件）优化</a:t>
                      </a:r>
                      <a:b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可靠性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DMS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10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0407"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集群数据一致性校验功能（对</a:t>
                      </a:r>
                      <a:r>
                        <a:rPr lang="en-US" altLang="zh-CN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CL</a:t>
                      </a: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  <a:t>中数据反复在一个组中的各节点比对，直至收敛到次数和阀值）</a:t>
                      </a:r>
                      <a:br>
                        <a:rPr lang="zh-CN" altLang="en-US" sz="1200" b="0" i="0" u="none" strike="noStrike">
                          <a:solidFill>
                            <a:srgbClr val="000000"/>
                          </a:solidFill>
                          <a:latin typeface="宋体"/>
                        </a:rPr>
                      </a:br>
                      <a:endParaRPr lang="zh-CN" altLang="en-US" sz="1200" b="0" i="0" u="none" strike="noStrike">
                        <a:solidFill>
                          <a:srgbClr val="000000"/>
                        </a:solidFill>
                        <a:latin typeface="宋体"/>
                      </a:endParaRP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2014Q3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可靠性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高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TOOL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latin typeface="宋体"/>
                        </a:rPr>
                        <a:t>8</a:t>
                      </a:r>
                    </a:p>
                  </a:txBody>
                  <a:tcPr marL="8253" marR="8253" marT="82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人力汇总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总人力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时间</a:t>
            </a:r>
            <a:r>
              <a:rPr lang="zh-CN" altLang="en-US" dirty="0" smtClean="0"/>
              <a:t>：</a:t>
            </a:r>
            <a:r>
              <a:rPr lang="en-US" altLang="zh-CN" dirty="0" smtClean="0"/>
              <a:t>50</a:t>
            </a:r>
            <a:r>
              <a:rPr lang="zh-CN" altLang="en-US" dirty="0" smtClean="0"/>
              <a:t>天（开发）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人天</a:t>
            </a:r>
            <a:r>
              <a:rPr lang="zh-CN" altLang="en-US" dirty="0" smtClean="0"/>
              <a:t>：</a:t>
            </a:r>
            <a:r>
              <a:rPr lang="en-US" altLang="zh-CN" dirty="0" smtClean="0"/>
              <a:t>250</a:t>
            </a:r>
            <a:r>
              <a:rPr lang="zh-CN" altLang="en-US" dirty="0" smtClean="0"/>
              <a:t>人</a:t>
            </a:r>
            <a:r>
              <a:rPr lang="zh-CN" altLang="en-US" dirty="0" smtClean="0"/>
              <a:t>天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制度（一）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21618"/>
          </a:xfrm>
        </p:spPr>
        <p:txBody>
          <a:bodyPr/>
          <a:lstStyle/>
          <a:p>
            <a:r>
              <a:rPr lang="zh-CN" altLang="en-US" dirty="0" smtClean="0"/>
              <a:t>例会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每周一上午</a:t>
            </a:r>
            <a:r>
              <a:rPr lang="en-US" altLang="zh-CN" dirty="0" smtClean="0"/>
              <a:t>10</a:t>
            </a:r>
            <a:r>
              <a:rPr lang="zh-CN" altLang="en-US" dirty="0" smtClean="0"/>
              <a:t>点</a:t>
            </a:r>
            <a:r>
              <a:rPr lang="en-US" altLang="zh-CN" dirty="0" smtClean="0"/>
              <a:t>-11</a:t>
            </a:r>
            <a:r>
              <a:rPr lang="zh-CN" altLang="en-US" dirty="0" smtClean="0"/>
              <a:t>点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交流进度、分配任务、讨论问题、分享经验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轮流主持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设计方案讨论会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由各特性负责人发起的设计讨论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特性实施前必须发起讨论，模板按</a:t>
            </a:r>
            <a:r>
              <a:rPr lang="en-US" altLang="zh-CN" dirty="0" smtClean="0"/>
              <a:t>Story</a:t>
            </a:r>
            <a:r>
              <a:rPr lang="zh-CN" altLang="en-US" dirty="0" smtClean="0"/>
              <a:t>或</a:t>
            </a:r>
            <a:r>
              <a:rPr lang="en-US" altLang="zh-CN" dirty="0" smtClean="0"/>
              <a:t>LI</a:t>
            </a:r>
            <a:r>
              <a:rPr lang="zh-CN" altLang="en-US" dirty="0" smtClean="0"/>
              <a:t>模板</a:t>
            </a:r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制度（二）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165634"/>
          </a:xfrm>
        </p:spPr>
        <p:txBody>
          <a:bodyPr/>
          <a:lstStyle/>
          <a:p>
            <a:r>
              <a:rPr lang="zh-CN" altLang="en-US" dirty="0" smtClean="0"/>
              <a:t>技术交流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原则上每月举行一次技术交流会，交流主题由各位发起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检视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特性开发完成后需要交叉检视</a:t>
            </a:r>
            <a:endParaRPr lang="en-US" altLang="zh-CN" dirty="0" smtClean="0"/>
          </a:p>
          <a:p>
            <a:pPr lvl="1"/>
            <a:endParaRPr lang="en-US" altLang="zh-CN" dirty="0" smtClean="0"/>
          </a:p>
          <a:p>
            <a:r>
              <a:rPr lang="zh-CN" altLang="en-US" dirty="0" smtClean="0"/>
              <a:t>问题跟踪</a:t>
            </a:r>
            <a:endParaRPr lang="en-US" altLang="zh-CN" dirty="0" smtClean="0"/>
          </a:p>
          <a:p>
            <a:pPr lvl="1"/>
            <a:r>
              <a:rPr lang="en-US" altLang="zh-CN" dirty="0" err="1" smtClean="0"/>
              <a:t>Jira</a:t>
            </a:r>
            <a:r>
              <a:rPr lang="zh-CN" altLang="en-US" dirty="0" smtClean="0"/>
              <a:t>单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Text Box 1"/>
          <p:cNvSpPr txBox="1">
            <a:spLocks noChangeArrowheads="1"/>
          </p:cNvSpPr>
          <p:nvPr/>
        </p:nvSpPr>
        <p:spPr bwMode="auto">
          <a:xfrm>
            <a:off x="533400" y="762000"/>
            <a:ext cx="8229600" cy="88423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anchor="ctr"/>
          <a:lstStyle/>
          <a:p>
            <a:pPr>
              <a:buClrTx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zh-CN" altLang="en-US" sz="4000" b="1" dirty="0" smtClean="0">
                <a:solidFill>
                  <a:srgbClr val="990000"/>
                </a:solidFill>
              </a:rPr>
              <a:t>谢谢</a:t>
            </a:r>
            <a:endParaRPr lang="en-US" sz="4000" b="1" dirty="0">
              <a:solidFill>
                <a:srgbClr val="990000"/>
              </a:solidFill>
            </a:endParaRPr>
          </a:p>
        </p:txBody>
      </p:sp>
      <p:pic>
        <p:nvPicPr>
          <p:cNvPr id="130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66837" y="1807680"/>
            <a:ext cx="6329363" cy="4212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med" advTm="1810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[SequoiaDB]PPT Template-中英文版1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[SequoiaDB]PPT Template-中英文版1</Template>
  <TotalTime>5756</TotalTime>
  <Words>760</Words>
  <Application>Microsoft Office PowerPoint</Application>
  <PresentationFormat>On-screen Show (4:3)</PresentationFormat>
  <Paragraphs>126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[SequoiaDB]PPT Template-中英文版1</vt:lpstr>
      <vt:lpstr>SequoiaDB Business Plan</vt:lpstr>
      <vt:lpstr>2014年3季度总体目标</vt:lpstr>
      <vt:lpstr>版本要求和约束</vt:lpstr>
      <vt:lpstr>版本特性—性能（一）</vt:lpstr>
      <vt:lpstr>版本特性—可维护性</vt:lpstr>
      <vt:lpstr>版本特性—功能</vt:lpstr>
      <vt:lpstr>版本特性—OM</vt:lpstr>
      <vt:lpstr>版本特性—可靠性</vt:lpstr>
      <vt:lpstr>人力汇总</vt:lpstr>
      <vt:lpstr>制度（一）</vt:lpstr>
      <vt:lpstr>制度（二）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taoewang</dc:creator>
  <cp:lastModifiedBy>xujianhui</cp:lastModifiedBy>
  <cp:revision>227</cp:revision>
  <dcterms:created xsi:type="dcterms:W3CDTF">2013-10-30T01:59:32Z</dcterms:created>
  <dcterms:modified xsi:type="dcterms:W3CDTF">2014-07-14T08:58:32Z</dcterms:modified>
</cp:coreProperties>
</file>