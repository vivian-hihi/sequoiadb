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316" r:id="rId3"/>
    <p:sldId id="342" r:id="rId4"/>
    <p:sldId id="318" r:id="rId5"/>
    <p:sldId id="328" r:id="rId6"/>
    <p:sldId id="343" r:id="rId7"/>
    <p:sldId id="330" r:id="rId8"/>
    <p:sldId id="336" r:id="rId9"/>
    <p:sldId id="327" r:id="rId10"/>
    <p:sldId id="340" r:id="rId11"/>
    <p:sldId id="341" r:id="rId12"/>
    <p:sldId id="281" r:id="rId13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3EBFF"/>
    <a:srgbClr val="7EB4F6"/>
    <a:srgbClr val="89E0FF"/>
    <a:srgbClr val="FBF5A3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/>
    <p:restoredTop sz="85581" autoAdjust="0"/>
  </p:normalViewPr>
  <p:slideViewPr>
    <p:cSldViewPr>
      <p:cViewPr varScale="1">
        <p:scale>
          <a:sx n="88" d="100"/>
          <a:sy n="88" d="100"/>
        </p:scale>
        <p:origin x="-1470" y="-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0A76CE-B591-404B-B39C-86CC1FD600A3}" type="datetimeFigureOut">
              <a:rPr lang="zh-CN" altLang="en-US" smtClean="0"/>
              <a:pPr/>
              <a:t>2014/11/4</a:t>
            </a:fld>
            <a:endParaRPr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95A556-B770-442E-91B6-DBACBAE32CFF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495A556-B770-442E-91B6-DBACBAE32CFF}" type="slidenum">
              <a:rPr lang="zh-CN" altLang="en-US" smtClean="0"/>
              <a:pPr/>
              <a:t>2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Rectangle 6"/>
          <p:cNvSpPr>
            <a:spLocks noGrp="1" noChangeArrowheads="1"/>
          </p:cNvSpPr>
          <p:nvPr>
            <p:ph type="sldNum" sz="quarter"/>
          </p:nvPr>
        </p:nvSpPr>
        <p:spPr>
          <a:noFill/>
          <a:ln w="21600">
            <a:round/>
            <a:headEnd/>
            <a:tailEnd/>
          </a:ln>
        </p:spPr>
        <p:txBody>
          <a:bodyPr/>
          <a:lstStyle/>
          <a:p>
            <a:fld id="{1F235632-6E56-4B76-AD17-1221CF6CDD18}" type="slidenum">
              <a:rPr lang="en-US" altLang="zh-CN" smtClean="0"/>
              <a:pPr/>
              <a:t>12</a:t>
            </a:fld>
            <a:endParaRPr lang="en-US" altLang="zh-CN" smtClean="0"/>
          </a:p>
        </p:txBody>
      </p:sp>
      <p:sp>
        <p:nvSpPr>
          <p:cNvPr id="142339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FFFFFF"/>
          </a:solidFill>
          <a:ln/>
        </p:spPr>
      </p:sp>
      <p:sp>
        <p:nvSpPr>
          <p:cNvPr id="142340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486400" cy="4208463"/>
          </a:xfrm>
          <a:noFill/>
        </p:spPr>
        <p:txBody>
          <a:bodyPr wrap="none" anchor="ctr"/>
          <a:lstStyle/>
          <a:p>
            <a:endParaRPr lang="en-US" altLang="zh-CN" smtClean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857356" y="2571744"/>
            <a:ext cx="7286644" cy="1214422"/>
          </a:xfrm>
        </p:spPr>
        <p:txBody>
          <a:bodyPr>
            <a:normAutofit/>
          </a:bodyPr>
          <a:lstStyle>
            <a:lvl1pPr algn="l">
              <a:defRPr sz="3200" baseline="0">
                <a:solidFill>
                  <a:schemeClr val="bg1"/>
                </a:solidFill>
                <a:latin typeface="HelveticaNeueLT Pro 65 Md" pitchFamily="34" charset="0"/>
                <a:ea typeface="方正兰亭中黑_GBK" pitchFamily="2" charset="-122"/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57356" y="3929066"/>
            <a:ext cx="7286644" cy="642942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 smtClean="0"/>
              <a:t>Click to edit Master subtitle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2071678"/>
            <a:ext cx="8229600" cy="4054485"/>
          </a:xfrm>
        </p:spPr>
        <p:txBody>
          <a:bodyPr/>
          <a:lstStyle/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14348" y="4143380"/>
            <a:ext cx="7772400" cy="1362075"/>
          </a:xfrm>
        </p:spPr>
        <p:txBody>
          <a:bodyPr anchor="t">
            <a:normAutofit/>
          </a:bodyPr>
          <a:lstStyle>
            <a:lvl1pPr algn="l">
              <a:defRPr sz="3200" b="1" cap="all">
                <a:solidFill>
                  <a:schemeClr val="bg1"/>
                </a:solidFill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14348" y="2643182"/>
            <a:ext cx="7772400" cy="1500187"/>
          </a:xfrm>
        </p:spPr>
        <p:txBody>
          <a:bodyPr anchor="b">
            <a:normAutofit/>
          </a:bodyPr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2071678"/>
            <a:ext cx="4038600" cy="405448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2071678"/>
            <a:ext cx="4038600" cy="405448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928802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714619"/>
            <a:ext cx="4040188" cy="34115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928802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714619"/>
            <a:ext cx="4041775" cy="34115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071678"/>
            <a:ext cx="5111750" cy="405448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2071678"/>
            <a:ext cx="3008313" cy="405448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</p:spPr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1000108"/>
            <a:ext cx="5486400" cy="372746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zh-CN" smtClean="0"/>
              <a:t>Click icon to add picture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底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2143108" y="4357694"/>
            <a:ext cx="7000892" cy="1214422"/>
          </a:xfrm>
        </p:spPr>
        <p:txBody>
          <a:bodyPr>
            <a:normAutofit/>
          </a:bodyPr>
          <a:lstStyle>
            <a:lvl1pPr algn="l">
              <a:defRPr sz="3200" baseline="0">
                <a:solidFill>
                  <a:schemeClr val="bg1"/>
                </a:solidFill>
                <a:latin typeface="HelveticaNeueLT Pro 65 Md" pitchFamily="34" charset="0"/>
                <a:ea typeface="方正兰亭中黑_GBK" pitchFamily="2" charset="-122"/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928802"/>
            <a:ext cx="8229600" cy="41973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 smtClean="0"/>
              <a:t>单击此处编辑母版文本样式</a:t>
            </a:r>
          </a:p>
          <a:p>
            <a:pPr lvl="1"/>
            <a:r>
              <a:rPr lang="zh-CN" altLang="en-US" dirty="0" smtClean="0"/>
              <a:t>第二级</a:t>
            </a:r>
          </a:p>
          <a:p>
            <a:pPr lvl="2"/>
            <a:r>
              <a:rPr lang="zh-CN" altLang="en-US" dirty="0" smtClean="0"/>
              <a:t>第三级</a:t>
            </a:r>
          </a:p>
          <a:p>
            <a:pPr lvl="3"/>
            <a:r>
              <a:rPr lang="zh-CN" altLang="en-US" dirty="0" smtClean="0"/>
              <a:t>第四级</a:t>
            </a:r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3200" kern="1200" baseline="0">
          <a:solidFill>
            <a:schemeClr val="tx1"/>
          </a:solidFill>
          <a:latin typeface="HelveticaNeueLT Pro 65 Md" pitchFamily="34" charset="0"/>
          <a:ea typeface="方正兰亭中黑_GBK" pitchFamily="2" charset="-122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8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4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7356" y="2571744"/>
            <a:ext cx="7107132" cy="1214422"/>
          </a:xfrm>
        </p:spPr>
        <p:txBody>
          <a:bodyPr/>
          <a:lstStyle/>
          <a:p>
            <a:r>
              <a:rPr lang="en-US" altLang="zh-CN" dirty="0" smtClean="0">
                <a:latin typeface="HelveticaNeueLT Pro 65 Md"/>
                <a:ea typeface="方正兰亭中黑_GBK"/>
              </a:rPr>
              <a:t>SequoiaDB Business Plan</a:t>
            </a:r>
            <a:endParaRPr lang="zh-CN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4860032" y="4077072"/>
            <a:ext cx="38164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smtClean="0">
                <a:solidFill>
                  <a:schemeClr val="bg1"/>
                </a:solidFill>
              </a:rPr>
              <a:t>2014</a:t>
            </a:r>
            <a:r>
              <a:rPr lang="zh-CN" altLang="en-US" sz="2400" dirty="0" smtClean="0">
                <a:solidFill>
                  <a:schemeClr val="bg1"/>
                </a:solidFill>
              </a:rPr>
              <a:t>年</a:t>
            </a:r>
            <a:r>
              <a:rPr lang="en-US" altLang="zh-CN" sz="2400" dirty="0" smtClean="0">
                <a:solidFill>
                  <a:schemeClr val="bg1"/>
                </a:solidFill>
              </a:rPr>
              <a:t>4</a:t>
            </a:r>
            <a:r>
              <a:rPr lang="zh-CN" altLang="en-US" sz="2400" dirty="0" smtClean="0">
                <a:solidFill>
                  <a:schemeClr val="bg1"/>
                </a:solidFill>
              </a:rPr>
              <a:t>季度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2014</a:t>
            </a:r>
            <a:r>
              <a:rPr lang="zh-CN" altLang="en-US" dirty="0" smtClean="0"/>
              <a:t>年</a:t>
            </a:r>
            <a:r>
              <a:rPr lang="en-US" altLang="zh-CN" dirty="0" smtClean="0"/>
              <a:t>4</a:t>
            </a:r>
            <a:r>
              <a:rPr lang="zh-CN" altLang="en-US" dirty="0" smtClean="0"/>
              <a:t>季度总体目标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dirty="0" smtClean="0"/>
              <a:t>总体目标</a:t>
            </a:r>
            <a:endParaRPr lang="en-US" altLang="zh-CN" dirty="0" smtClean="0"/>
          </a:p>
          <a:p>
            <a:pPr lvl="1"/>
            <a:r>
              <a:rPr lang="zh-CN" altLang="en-US" sz="1800" dirty="0" smtClean="0"/>
              <a:t>以“</a:t>
            </a:r>
            <a:r>
              <a:rPr lang="zh-CN" altLang="en-US" sz="1800" b="1" dirty="0" smtClean="0">
                <a:solidFill>
                  <a:srgbClr val="FF0000"/>
                </a:solidFill>
              </a:rPr>
              <a:t>高并发</a:t>
            </a:r>
            <a:r>
              <a:rPr lang="zh-CN" altLang="en-US" sz="1800" dirty="0" smtClean="0"/>
              <a:t>”和“</a:t>
            </a:r>
            <a:r>
              <a:rPr lang="zh-CN" altLang="en-US" sz="1800" b="1" dirty="0" smtClean="0">
                <a:solidFill>
                  <a:srgbClr val="FF0000"/>
                </a:solidFill>
              </a:rPr>
              <a:t>易用性</a:t>
            </a:r>
            <a:r>
              <a:rPr lang="zh-CN" altLang="en-US" sz="1800" dirty="0" smtClean="0"/>
              <a:t>”为中心，持续</a:t>
            </a:r>
            <a:r>
              <a:rPr lang="zh-CN" altLang="en-US" sz="1800" b="1" dirty="0" smtClean="0">
                <a:solidFill>
                  <a:srgbClr val="FF0000"/>
                </a:solidFill>
              </a:rPr>
              <a:t>优化</a:t>
            </a:r>
            <a:r>
              <a:rPr lang="zh-CN" altLang="en-US" sz="1800" dirty="0" smtClean="0"/>
              <a:t>和</a:t>
            </a:r>
            <a:r>
              <a:rPr lang="zh-CN" altLang="en-US" sz="1800" b="1" dirty="0" smtClean="0">
                <a:solidFill>
                  <a:srgbClr val="FF0000"/>
                </a:solidFill>
              </a:rPr>
              <a:t>完善</a:t>
            </a:r>
            <a:r>
              <a:rPr lang="zh-CN" altLang="en-US" sz="1800" dirty="0" smtClean="0"/>
              <a:t>功能</a:t>
            </a:r>
            <a:endParaRPr lang="en-US" altLang="zh-CN" sz="1800" dirty="0" smtClean="0"/>
          </a:p>
          <a:p>
            <a:pPr lvl="1"/>
            <a:endParaRPr lang="en-US" altLang="zh-CN" sz="1800" dirty="0" smtClean="0"/>
          </a:p>
          <a:p>
            <a:r>
              <a:rPr lang="zh-CN" altLang="en-US" dirty="0" smtClean="0"/>
              <a:t>时间点</a:t>
            </a:r>
            <a:endParaRPr lang="en-US" altLang="zh-CN" dirty="0" smtClean="0"/>
          </a:p>
          <a:p>
            <a:pPr lvl="1"/>
            <a:r>
              <a:rPr lang="en-US" altLang="zh-CN" sz="1800" dirty="0" smtClean="0"/>
              <a:t>01/06</a:t>
            </a:r>
            <a:r>
              <a:rPr lang="zh-CN" altLang="en-US" sz="1800" dirty="0" smtClean="0"/>
              <a:t>：发布</a:t>
            </a:r>
            <a:r>
              <a:rPr lang="en-US" altLang="zh-CN" sz="1800" dirty="0" smtClean="0"/>
              <a:t>1.11</a:t>
            </a:r>
            <a:r>
              <a:rPr lang="zh-CN" altLang="en-US" sz="1800" dirty="0" smtClean="0"/>
              <a:t>内部测试版</a:t>
            </a:r>
            <a:r>
              <a:rPr lang="en-US" altLang="zh-CN" sz="1800" dirty="0" smtClean="0"/>
              <a:t>Beta1</a:t>
            </a:r>
            <a:r>
              <a:rPr lang="zh-CN" altLang="en-US" sz="1800" dirty="0" smtClean="0"/>
              <a:t>（</a:t>
            </a:r>
            <a:r>
              <a:rPr lang="en-US" altLang="zh-CN" sz="1800" dirty="0" smtClean="0"/>
              <a:t>44</a:t>
            </a:r>
            <a:r>
              <a:rPr lang="zh-CN" altLang="en-US" sz="1800" dirty="0" smtClean="0"/>
              <a:t>工作日）</a:t>
            </a:r>
            <a:endParaRPr lang="en-US" altLang="zh-CN" sz="1800" dirty="0" smtClean="0"/>
          </a:p>
          <a:p>
            <a:pPr lvl="1"/>
            <a:r>
              <a:rPr lang="en-US" altLang="zh-CN" sz="1800" dirty="0" smtClean="0"/>
              <a:t>01/15</a:t>
            </a:r>
            <a:r>
              <a:rPr lang="zh-CN" altLang="en-US" sz="1800" dirty="0" smtClean="0"/>
              <a:t>：发布</a:t>
            </a:r>
            <a:r>
              <a:rPr lang="en-US" altLang="zh-CN" sz="1800" dirty="0" smtClean="0"/>
              <a:t>1.12</a:t>
            </a:r>
            <a:r>
              <a:rPr lang="zh-CN" altLang="en-US" sz="1800" dirty="0" smtClean="0"/>
              <a:t>（</a:t>
            </a:r>
            <a:r>
              <a:rPr lang="en-US" altLang="zh-CN" sz="1800" dirty="0" smtClean="0"/>
              <a:t>7</a:t>
            </a:r>
            <a:r>
              <a:rPr lang="zh-CN" altLang="en-US" sz="1800" dirty="0" smtClean="0"/>
              <a:t>工作日）</a:t>
            </a:r>
            <a:endParaRPr lang="en-US" altLang="zh-CN" sz="1800" dirty="0" smtClean="0"/>
          </a:p>
          <a:p>
            <a:pPr lvl="1"/>
            <a:endParaRPr lang="en-US" altLang="zh-CN" sz="1800" dirty="0" smtClean="0"/>
          </a:p>
          <a:p>
            <a:r>
              <a:rPr lang="zh-CN" altLang="en-US" dirty="0" smtClean="0"/>
              <a:t>平台</a:t>
            </a:r>
            <a:endParaRPr lang="en-US" altLang="zh-CN" dirty="0" smtClean="0"/>
          </a:p>
          <a:p>
            <a:pPr lvl="1"/>
            <a:r>
              <a:rPr lang="en-US" altLang="zh-CN" sz="1800" dirty="0" smtClean="0"/>
              <a:t>X86</a:t>
            </a:r>
            <a:r>
              <a:rPr lang="zh-CN" altLang="en-US" sz="1800" dirty="0" smtClean="0"/>
              <a:t>：</a:t>
            </a:r>
            <a:r>
              <a:rPr lang="en-US" altLang="zh-CN" sz="1800" dirty="0" smtClean="0"/>
              <a:t>SUSE</a:t>
            </a:r>
            <a:r>
              <a:rPr lang="zh-CN" altLang="en-US" sz="1800" dirty="0" smtClean="0"/>
              <a:t>、</a:t>
            </a:r>
            <a:r>
              <a:rPr lang="en-US" altLang="zh-CN" sz="1800" dirty="0" smtClean="0"/>
              <a:t>Redhat</a:t>
            </a:r>
            <a:r>
              <a:rPr lang="zh-CN" altLang="en-US" sz="1800" dirty="0" smtClean="0"/>
              <a:t>、</a:t>
            </a:r>
            <a:r>
              <a:rPr lang="en-US" altLang="zh-CN" sz="1800" dirty="0" smtClean="0"/>
              <a:t>Centos</a:t>
            </a:r>
            <a:r>
              <a:rPr lang="zh-CN" altLang="en-US" sz="1800" dirty="0" smtClean="0"/>
              <a:t>、</a:t>
            </a:r>
            <a:r>
              <a:rPr lang="en-US" altLang="zh-CN" sz="1800" dirty="0" smtClean="0"/>
              <a:t>Ubuntu</a:t>
            </a:r>
          </a:p>
          <a:p>
            <a:pPr lvl="1"/>
            <a:r>
              <a:rPr lang="en-US" altLang="zh-CN" sz="1800" dirty="0" smtClean="0"/>
              <a:t>Power</a:t>
            </a:r>
            <a:r>
              <a:rPr lang="zh-CN" altLang="en-US" sz="1800" dirty="0" smtClean="0"/>
              <a:t>：</a:t>
            </a:r>
            <a:r>
              <a:rPr lang="en-US" altLang="zh-CN" sz="1800" dirty="0" smtClean="0"/>
              <a:t>SUSE</a:t>
            </a:r>
            <a:r>
              <a:rPr lang="zh-CN" altLang="en-US" sz="1800" dirty="0" smtClean="0"/>
              <a:t>、</a:t>
            </a:r>
            <a:r>
              <a:rPr lang="en-US" altLang="zh-CN" sz="1800" dirty="0" smtClean="0"/>
              <a:t>Redhat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版本要求和约束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兼容</a:t>
            </a:r>
            <a:r>
              <a:rPr lang="en-US" altLang="zh-CN" dirty="0" smtClean="0"/>
              <a:t>1.10</a:t>
            </a:r>
            <a:r>
              <a:rPr lang="zh-CN" altLang="en-US" dirty="0" smtClean="0"/>
              <a:t>版本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外部消息接口兼容</a:t>
            </a:r>
            <a:r>
              <a:rPr lang="en-US" altLang="zh-CN" dirty="0" smtClean="0"/>
              <a:t>1.10</a:t>
            </a:r>
            <a:r>
              <a:rPr lang="zh-CN" altLang="en-US" dirty="0" smtClean="0"/>
              <a:t>版本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存储文件结构兼容</a:t>
            </a:r>
            <a:r>
              <a:rPr lang="en-US" altLang="zh-CN" dirty="0" smtClean="0"/>
              <a:t>1.10</a:t>
            </a:r>
            <a:r>
              <a:rPr lang="zh-CN" altLang="en-US" dirty="0" smtClean="0"/>
              <a:t>版本</a:t>
            </a:r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版本特性</a:t>
            </a:r>
            <a:r>
              <a:rPr lang="en-US" altLang="zh-CN" dirty="0" smtClean="0"/>
              <a:t>—</a:t>
            </a:r>
            <a:r>
              <a:rPr lang="zh-CN" altLang="en-US" dirty="0" smtClean="0"/>
              <a:t>性能（一）</a:t>
            </a:r>
            <a:endParaRPr lang="zh-CN" alt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71472" y="1785926"/>
          <a:ext cx="8001056" cy="2143140"/>
        </p:xfrm>
        <a:graphic>
          <a:graphicData uri="http://schemas.openxmlformats.org/drawingml/2006/table">
            <a:tbl>
              <a:tblPr/>
              <a:tblGrid>
                <a:gridCol w="462057"/>
                <a:gridCol w="3247987"/>
                <a:gridCol w="764432"/>
                <a:gridCol w="764432"/>
                <a:gridCol w="801804"/>
                <a:gridCol w="805202"/>
                <a:gridCol w="1155142"/>
              </a:tblGrid>
              <a:tr h="571439"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宋体"/>
                        </a:rPr>
                        <a:t>编号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描述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宋体"/>
                        </a:rPr>
                        <a:t>归属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属性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优先级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模块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工作量</a:t>
                      </a:r>
                      <a:r>
                        <a:rPr lang="en-US" altLang="zh-CN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/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人天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</a:tr>
              <a:tr h="523900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27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全索引匹配后不需要再匹配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match</a:t>
                      </a: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的优化</a:t>
                      </a:r>
                      <a:b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2014Q4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性能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IXM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7801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36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Collection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需要支持在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DMS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层读写的并发性（可以考虑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Collection Latch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为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Block Latch）</a:t>
                      </a:r>
                      <a:b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en-US" sz="1200" b="0" i="0" u="none" strike="noStrike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2014Q4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性能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DMS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18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版本特性</a:t>
            </a:r>
            <a:r>
              <a:rPr lang="en-US" altLang="zh-CN" dirty="0" smtClean="0"/>
              <a:t>—</a:t>
            </a:r>
            <a:r>
              <a:rPr lang="zh-CN" altLang="en-US" dirty="0" smtClean="0"/>
              <a:t>可维护性</a:t>
            </a:r>
            <a:endParaRPr lang="zh-CN" alt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71473" y="1857364"/>
          <a:ext cx="8001057" cy="1285884"/>
        </p:xfrm>
        <a:graphic>
          <a:graphicData uri="http://schemas.openxmlformats.org/drawingml/2006/table">
            <a:tbl>
              <a:tblPr/>
              <a:tblGrid>
                <a:gridCol w="462057"/>
                <a:gridCol w="3247988"/>
                <a:gridCol w="764432"/>
                <a:gridCol w="764432"/>
                <a:gridCol w="801804"/>
                <a:gridCol w="805202"/>
                <a:gridCol w="1155142"/>
              </a:tblGrid>
              <a:tr h="541376"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宋体"/>
                        </a:rPr>
                        <a:t>编号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描述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宋体"/>
                        </a:rPr>
                        <a:t>归属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属性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优先级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模块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工作量</a:t>
                      </a:r>
                      <a:r>
                        <a:rPr lang="en-US" altLang="zh-CN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/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人天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</a:tr>
              <a:tr h="744508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21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对于各种操作能够返回详细的错误信息和统计信息</a:t>
                      </a:r>
                      <a:b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2014Q4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可维护性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PMD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20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版本特性</a:t>
            </a:r>
            <a:r>
              <a:rPr lang="en-US" altLang="zh-CN" dirty="0" smtClean="0"/>
              <a:t>—</a:t>
            </a:r>
            <a:r>
              <a:rPr lang="zh-CN" altLang="en-US" dirty="0" smtClean="0"/>
              <a:t>功能</a:t>
            </a:r>
            <a:endParaRPr lang="zh-CN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71472" y="1928802"/>
          <a:ext cx="8001056" cy="4214839"/>
        </p:xfrm>
        <a:graphic>
          <a:graphicData uri="http://schemas.openxmlformats.org/drawingml/2006/table">
            <a:tbl>
              <a:tblPr/>
              <a:tblGrid>
                <a:gridCol w="462057"/>
                <a:gridCol w="3247987"/>
                <a:gridCol w="764432"/>
                <a:gridCol w="764432"/>
                <a:gridCol w="801804"/>
                <a:gridCol w="805202"/>
                <a:gridCol w="1155142"/>
              </a:tblGrid>
              <a:tr h="479347"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宋体"/>
                        </a:rPr>
                        <a:t>编号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描述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宋体"/>
                        </a:rPr>
                        <a:t>归属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属性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优先级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模块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工作量</a:t>
                      </a:r>
                      <a:r>
                        <a:rPr lang="en-US" altLang="zh-CN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/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人天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</a:tr>
              <a:tr h="659206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200" b="0" i="0" u="none" strike="noStrike" dirty="0" err="1">
                          <a:solidFill>
                            <a:srgbClr val="000000"/>
                          </a:solidFill>
                          <a:latin typeface="宋体"/>
                        </a:rPr>
                        <a:t>Coord</a:t>
                      </a: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加入到系统管理，实现</a:t>
                      </a:r>
                      <a:r>
                        <a:rPr lang="en-US" altLang="zh-CN" sz="1200" b="0" i="0" u="none" strike="noStrike" dirty="0" err="1">
                          <a:solidFill>
                            <a:srgbClr val="000000"/>
                          </a:solidFill>
                          <a:latin typeface="宋体"/>
                        </a:rPr>
                        <a:t>Coord</a:t>
                      </a: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自动负载均衡和监控（</a:t>
                      </a:r>
                      <a:r>
                        <a:rPr lang="en-US" altLang="zh-CN" sz="1200" b="0" i="0" u="none" strike="noStrike" dirty="0" err="1">
                          <a:solidFill>
                            <a:srgbClr val="000000"/>
                          </a:solidFill>
                          <a:latin typeface="宋体"/>
                        </a:rPr>
                        <a:t>catalogaddr</a:t>
                      </a: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参数自动保存）</a:t>
                      </a:r>
                      <a:b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2014Q4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功能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COORD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9469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32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提供兼容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latin typeface="宋体"/>
                        </a:rPr>
                        <a:t>mongoDB</a:t>
                      </a: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驱动的接口</a:t>
                      </a:r>
                      <a:b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2014Q4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功能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PMD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9469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37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Coord/Data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节点需要提供业务层的</a:t>
                      </a:r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Rest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接口</a:t>
                      </a:r>
                      <a:b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2014Q4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功能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PMD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15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9469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41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Catalog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组提供删除节点功能</a:t>
                      </a:r>
                      <a:b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2014Q4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功能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CLS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5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9469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42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JS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脚本</a:t>
                      </a:r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Root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用户信息保护</a:t>
                      </a:r>
                      <a:b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2014Q4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功能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OMA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8941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44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OMA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对象功能加强，提供“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listNode, getNodeConfig, setNodeConfig, updateNodeConfig”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等功能</a:t>
                      </a:r>
                      <a:b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2014Q4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功能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OMA/SDB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9469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46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提供</a:t>
                      </a:r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LOB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的导入和导出功能</a:t>
                      </a:r>
                      <a:b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2014Q4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功能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TOOL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5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</p:spPr>
        <p:txBody>
          <a:bodyPr/>
          <a:lstStyle/>
          <a:p>
            <a:r>
              <a:rPr lang="zh-CN" altLang="en-US" dirty="0" smtClean="0"/>
              <a:t>版本特性</a:t>
            </a:r>
            <a:r>
              <a:rPr lang="en-US" altLang="zh-CN" dirty="0" smtClean="0"/>
              <a:t>—OM</a:t>
            </a:r>
            <a:endParaRPr lang="zh-CN" altLang="en-US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0034" y="2000240"/>
          <a:ext cx="8215371" cy="1857389"/>
        </p:xfrm>
        <a:graphic>
          <a:graphicData uri="http://schemas.openxmlformats.org/drawingml/2006/table">
            <a:tbl>
              <a:tblPr/>
              <a:tblGrid>
                <a:gridCol w="474434"/>
                <a:gridCol w="3334987"/>
                <a:gridCol w="784908"/>
                <a:gridCol w="784908"/>
                <a:gridCol w="823281"/>
                <a:gridCol w="826770"/>
                <a:gridCol w="1186083"/>
              </a:tblGrid>
              <a:tr h="495247"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宋体"/>
                        </a:rPr>
                        <a:t>编号</a:t>
                      </a:r>
                    </a:p>
                  </a:txBody>
                  <a:tcPr marL="7776" marR="7776" marT="7776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描述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7776" marR="7776" marT="777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宋体"/>
                        </a:rPr>
                        <a:t>归属</a:t>
                      </a:r>
                    </a:p>
                  </a:txBody>
                  <a:tcPr marL="7776" marR="7776" marT="777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属性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7776" marR="7776" marT="777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优先级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7776" marR="7776" marT="777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模块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7776" marR="7776" marT="777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工作量</a:t>
                      </a:r>
                      <a:r>
                        <a:rPr lang="en-US" altLang="zh-CN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/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人天</a:t>
                      </a:r>
                    </a:p>
                  </a:txBody>
                  <a:tcPr marL="7776" marR="7776" marT="777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</a:tr>
              <a:tr h="681071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16</a:t>
                      </a:r>
                    </a:p>
                  </a:txBody>
                  <a:tcPr marL="7776" marR="7776" marT="7776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OM</a:t>
                      </a: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提供“节点监控管理”、“业务监控管理”功能</a:t>
                      </a:r>
                      <a:b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7776" marR="7776" marT="777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2014Q4</a:t>
                      </a:r>
                    </a:p>
                  </a:txBody>
                  <a:tcPr marL="7776" marR="7776" marT="777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易用性</a:t>
                      </a:r>
                    </a:p>
                  </a:txBody>
                  <a:tcPr marL="7776" marR="7776" marT="777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7776" marR="7776" marT="777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OM</a:t>
                      </a:r>
                    </a:p>
                  </a:txBody>
                  <a:tcPr marL="7776" marR="7776" marT="777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25</a:t>
                      </a:r>
                    </a:p>
                  </a:txBody>
                  <a:tcPr marL="7776" marR="7776" marT="777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1071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51</a:t>
                      </a:r>
                    </a:p>
                  </a:txBody>
                  <a:tcPr marL="7776" marR="7776" marT="7776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OM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安装部署功能优化（各种异常下的恢复、遗留问题，参数检测等）</a:t>
                      </a:r>
                      <a:b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7776" marR="7776" marT="777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2014Q4</a:t>
                      </a:r>
                    </a:p>
                  </a:txBody>
                  <a:tcPr marL="7776" marR="7776" marT="777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易用性</a:t>
                      </a:r>
                    </a:p>
                  </a:txBody>
                  <a:tcPr marL="7776" marR="7776" marT="777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7776" marR="7776" marT="777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OM</a:t>
                      </a:r>
                    </a:p>
                  </a:txBody>
                  <a:tcPr marL="7776" marR="7776" marT="777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15</a:t>
                      </a:r>
                    </a:p>
                  </a:txBody>
                  <a:tcPr marL="7776" marR="7776" marT="777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</p:spPr>
        <p:txBody>
          <a:bodyPr/>
          <a:lstStyle/>
          <a:p>
            <a:r>
              <a:rPr lang="zh-CN" altLang="en-US" dirty="0" smtClean="0"/>
              <a:t>版本特性</a:t>
            </a:r>
            <a:r>
              <a:rPr lang="en-US" altLang="zh-CN" dirty="0" smtClean="0"/>
              <a:t>—</a:t>
            </a:r>
            <a:r>
              <a:rPr lang="zh-CN" altLang="en-US" dirty="0" smtClean="0"/>
              <a:t>优化</a:t>
            </a:r>
            <a:endParaRPr lang="zh-CN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71472" y="1857364"/>
          <a:ext cx="7929618" cy="2500329"/>
        </p:xfrm>
        <a:graphic>
          <a:graphicData uri="http://schemas.openxmlformats.org/drawingml/2006/table">
            <a:tbl>
              <a:tblPr/>
              <a:tblGrid>
                <a:gridCol w="457932"/>
                <a:gridCol w="3218988"/>
                <a:gridCol w="757606"/>
                <a:gridCol w="757606"/>
                <a:gridCol w="794645"/>
                <a:gridCol w="798013"/>
                <a:gridCol w="1144828"/>
              </a:tblGrid>
              <a:tr h="535719"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宋体"/>
                        </a:rPr>
                        <a:t>编号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描述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宋体"/>
                        </a:rPr>
                        <a:t>归属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属性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优先级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模块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工作量</a:t>
                      </a:r>
                      <a:r>
                        <a:rPr lang="en-US" altLang="zh-CN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/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人天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</a:tr>
              <a:tr h="736729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split</a:t>
                      </a: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过程中保持数据不出现重复（</a:t>
                      </a:r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split</a:t>
                      </a: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窗口开启范围检测，或</a:t>
                      </a:r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split</a:t>
                      </a: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窗口禁止读写）</a:t>
                      </a:r>
                      <a:b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2014Q4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优化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CLS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1152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34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Coord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上需要确保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Insert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时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OID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的自动生成</a:t>
                      </a:r>
                      <a:b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2014Q4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优化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COORD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6729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35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创建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Collection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默认调整为基于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OID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的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Hash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分区</a:t>
                      </a:r>
                      <a:b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2014Q4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优化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CLS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人力汇总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2071678"/>
            <a:ext cx="8229600" cy="4286280"/>
          </a:xfrm>
        </p:spPr>
        <p:txBody>
          <a:bodyPr>
            <a:normAutofit/>
          </a:bodyPr>
          <a:lstStyle/>
          <a:p>
            <a:r>
              <a:rPr lang="zh-CN" altLang="en-US" dirty="0" smtClean="0"/>
              <a:t>总人力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时间：</a:t>
            </a:r>
            <a:r>
              <a:rPr lang="en-US" altLang="zh-CN" dirty="0" smtClean="0"/>
              <a:t>44</a:t>
            </a:r>
            <a:r>
              <a:rPr lang="zh-CN" altLang="en-US" dirty="0" smtClean="0"/>
              <a:t>天（工作日）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开发：</a:t>
            </a:r>
            <a:r>
              <a:rPr lang="en-US" altLang="zh-CN" dirty="0" smtClean="0"/>
              <a:t>242</a:t>
            </a:r>
            <a:r>
              <a:rPr lang="zh-CN" altLang="en-US" dirty="0" smtClean="0"/>
              <a:t>人天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测试：</a:t>
            </a:r>
            <a:r>
              <a:rPr lang="en-US" altLang="zh-CN" dirty="0" smtClean="0"/>
              <a:t>176</a:t>
            </a:r>
            <a:r>
              <a:rPr lang="zh-CN" altLang="en-US" dirty="0" smtClean="0"/>
              <a:t>人天（兼顾性能和</a:t>
            </a:r>
            <a:r>
              <a:rPr lang="en-US" altLang="zh-CN" dirty="0" smtClean="0"/>
              <a:t>CI</a:t>
            </a:r>
            <a:r>
              <a:rPr lang="zh-CN" altLang="en-US" dirty="0" smtClean="0"/>
              <a:t>）</a:t>
            </a:r>
            <a:endParaRPr lang="en-US" altLang="zh-CN" dirty="0" smtClean="0"/>
          </a:p>
          <a:p>
            <a:r>
              <a:rPr lang="zh-CN" altLang="en-US" dirty="0" smtClean="0"/>
              <a:t>开发任务人力</a:t>
            </a:r>
            <a:endParaRPr lang="en-US" altLang="zh-CN" dirty="0" smtClean="0"/>
          </a:p>
          <a:p>
            <a:pPr lvl="1"/>
            <a:r>
              <a:rPr lang="en-US" altLang="zh-CN" dirty="0" smtClean="0"/>
              <a:t>160</a:t>
            </a:r>
            <a:r>
              <a:rPr lang="zh-CN" altLang="en-US" dirty="0" smtClean="0"/>
              <a:t>人天</a:t>
            </a:r>
            <a:endParaRPr lang="en-US" altLang="zh-CN" dirty="0" smtClean="0"/>
          </a:p>
          <a:p>
            <a:r>
              <a:rPr lang="zh-CN" altLang="en-US" dirty="0" smtClean="0"/>
              <a:t>其它任务人力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问题处理</a:t>
            </a:r>
            <a:r>
              <a:rPr lang="zh-CN" altLang="en-US" dirty="0" smtClean="0"/>
              <a:t>：</a:t>
            </a:r>
            <a:r>
              <a:rPr lang="en-US" altLang="zh-CN" dirty="0" smtClean="0"/>
              <a:t>4</a:t>
            </a:r>
            <a:r>
              <a:rPr lang="en-US" altLang="zh-CN" dirty="0" smtClean="0"/>
              <a:t>0</a:t>
            </a:r>
            <a:r>
              <a:rPr lang="zh-CN" altLang="en-US" dirty="0" smtClean="0"/>
              <a:t>人天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其它优化：</a:t>
            </a:r>
            <a:r>
              <a:rPr lang="en-US" altLang="zh-CN" dirty="0" smtClean="0"/>
              <a:t>30</a:t>
            </a:r>
            <a:r>
              <a:rPr lang="zh-CN" altLang="en-US" dirty="0" smtClean="0"/>
              <a:t>人</a:t>
            </a:r>
            <a:r>
              <a:rPr lang="zh-CN" altLang="en-US" dirty="0" smtClean="0"/>
              <a:t>天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培训交流：</a:t>
            </a:r>
            <a:r>
              <a:rPr lang="en-US" altLang="zh-CN" b="1" dirty="0" smtClean="0">
                <a:solidFill>
                  <a:srgbClr val="FF0000"/>
                </a:solidFill>
              </a:rPr>
              <a:t>15</a:t>
            </a:r>
            <a:r>
              <a:rPr lang="zh-CN" altLang="en-US" dirty="0" smtClean="0"/>
              <a:t>人天（不足）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其它事项</a:t>
            </a:r>
            <a:r>
              <a:rPr lang="zh-CN" altLang="en-US" dirty="0" smtClean="0"/>
              <a:t>：</a:t>
            </a:r>
            <a:r>
              <a:rPr lang="en-US" altLang="zh-CN" dirty="0" smtClean="0"/>
              <a:t>12</a:t>
            </a:r>
            <a:r>
              <a:rPr lang="zh-CN" altLang="en-US" dirty="0" smtClean="0"/>
              <a:t>人天</a:t>
            </a:r>
            <a:endParaRPr lang="en-US" altLang="zh-CN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制度（一）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2071678"/>
            <a:ext cx="8229600" cy="4021618"/>
          </a:xfrm>
        </p:spPr>
        <p:txBody>
          <a:bodyPr>
            <a:normAutofit lnSpcReduction="10000"/>
          </a:bodyPr>
          <a:lstStyle/>
          <a:p>
            <a:r>
              <a:rPr lang="zh-CN" altLang="en-US" dirty="0" smtClean="0"/>
              <a:t>例会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每周一上午</a:t>
            </a:r>
            <a:r>
              <a:rPr lang="en-US" altLang="zh-CN" dirty="0" smtClean="0"/>
              <a:t>10</a:t>
            </a:r>
            <a:r>
              <a:rPr lang="zh-CN" altLang="en-US" dirty="0" smtClean="0"/>
              <a:t>点</a:t>
            </a:r>
            <a:r>
              <a:rPr lang="en-US" altLang="zh-CN" dirty="0" smtClean="0"/>
              <a:t>-11</a:t>
            </a:r>
            <a:r>
              <a:rPr lang="zh-CN" altLang="en-US" dirty="0" smtClean="0"/>
              <a:t>点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交流进度、分配任务、讨论问题、分享经验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轮流主</a:t>
            </a:r>
            <a:r>
              <a:rPr lang="zh-CN" altLang="en-US" dirty="0" smtClean="0"/>
              <a:t>持</a:t>
            </a:r>
            <a:endParaRPr lang="en-US" altLang="zh-CN" dirty="0" smtClean="0"/>
          </a:p>
          <a:p>
            <a:pPr lvl="2"/>
            <a:r>
              <a:rPr lang="zh-CN" altLang="en-US" b="1" dirty="0" smtClean="0">
                <a:solidFill>
                  <a:srgbClr val="000099"/>
                </a:solidFill>
              </a:rPr>
              <a:t>开发任务要细化到周，要及时反馈风险；出现问题和开展重构要及时沟通，确保进</a:t>
            </a:r>
            <a:r>
              <a:rPr lang="zh-CN" altLang="en-US" b="1" dirty="0" smtClean="0">
                <a:solidFill>
                  <a:srgbClr val="000099"/>
                </a:solidFill>
              </a:rPr>
              <a:t>度</a:t>
            </a:r>
            <a:endParaRPr lang="en-US" altLang="zh-CN" dirty="0" smtClean="0"/>
          </a:p>
          <a:p>
            <a:pPr lvl="1"/>
            <a:endParaRPr lang="en-US" altLang="zh-CN" dirty="0" smtClean="0"/>
          </a:p>
          <a:p>
            <a:r>
              <a:rPr lang="zh-CN" altLang="en-US" dirty="0" smtClean="0"/>
              <a:t>遵守</a:t>
            </a:r>
            <a:r>
              <a:rPr lang="en-US" altLang="zh-CN" dirty="0" smtClean="0"/>
              <a:t>Story</a:t>
            </a:r>
            <a:r>
              <a:rPr lang="zh-CN" altLang="en-US" dirty="0" smtClean="0"/>
              <a:t>开发流程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由各特性负责人发起的设计讨论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特性实施前必须发起讨论，模板按</a:t>
            </a:r>
            <a:r>
              <a:rPr lang="en-US" altLang="zh-CN" dirty="0" smtClean="0"/>
              <a:t>Story</a:t>
            </a:r>
            <a:r>
              <a:rPr lang="zh-CN" altLang="en-US" dirty="0" smtClean="0"/>
              <a:t>或</a:t>
            </a:r>
            <a:r>
              <a:rPr lang="en-US" altLang="zh-CN" dirty="0" smtClean="0"/>
              <a:t>LI</a:t>
            </a:r>
            <a:r>
              <a:rPr lang="zh-CN" altLang="en-US" dirty="0" smtClean="0"/>
              <a:t>模板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测试必须发起测试设计讨论</a:t>
            </a:r>
            <a:endParaRPr lang="en-US" altLang="zh-CN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制度（二）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2071678"/>
            <a:ext cx="8229600" cy="4165634"/>
          </a:xfrm>
        </p:spPr>
        <p:txBody>
          <a:bodyPr>
            <a:normAutofit fontScale="92500" lnSpcReduction="20000"/>
          </a:bodyPr>
          <a:lstStyle/>
          <a:p>
            <a:r>
              <a:rPr lang="zh-CN" altLang="en-US" dirty="0" smtClean="0"/>
              <a:t>技术交流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原则上</a:t>
            </a:r>
            <a:r>
              <a:rPr lang="zh-CN" altLang="en-US" dirty="0" smtClean="0"/>
              <a:t>每</a:t>
            </a:r>
            <a:r>
              <a:rPr lang="en-US" altLang="zh-CN" dirty="0" smtClean="0"/>
              <a:t>1</a:t>
            </a:r>
            <a:r>
              <a:rPr lang="zh-CN" altLang="en-US" dirty="0" smtClean="0"/>
              <a:t>个月</a:t>
            </a:r>
            <a:r>
              <a:rPr lang="zh-CN" altLang="en-US" dirty="0" smtClean="0"/>
              <a:t>举行一次技术交流会，交流主题由各位发起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开展培训交流讨</a:t>
            </a:r>
            <a:r>
              <a:rPr lang="zh-CN" altLang="en-US" dirty="0" smtClean="0"/>
              <a:t>论</a:t>
            </a:r>
            <a:endParaRPr lang="en-US" altLang="zh-CN" dirty="0" smtClean="0"/>
          </a:p>
          <a:p>
            <a:pPr lvl="1"/>
            <a:r>
              <a:rPr lang="zh-CN" altLang="en-US" b="1" dirty="0" smtClean="0">
                <a:solidFill>
                  <a:srgbClr val="000099"/>
                </a:solidFill>
              </a:rPr>
              <a:t>开展对开发人员外部使用场景的交流培训，售前人员需要总结支撑和大会报告，定期与开发人员交</a:t>
            </a:r>
            <a:r>
              <a:rPr lang="zh-CN" altLang="en-US" b="1" dirty="0" smtClean="0">
                <a:solidFill>
                  <a:srgbClr val="000099"/>
                </a:solidFill>
              </a:rPr>
              <a:t>流</a:t>
            </a:r>
            <a:endParaRPr lang="en-US" altLang="zh-CN" b="1" dirty="0" smtClean="0">
              <a:solidFill>
                <a:srgbClr val="000099"/>
              </a:solidFill>
            </a:endParaRPr>
          </a:p>
          <a:p>
            <a:pPr lvl="1"/>
            <a:r>
              <a:rPr lang="zh-CN" altLang="en-US" b="1" dirty="0" smtClean="0">
                <a:solidFill>
                  <a:srgbClr val="000099"/>
                </a:solidFill>
              </a:rPr>
              <a:t>探索和细化测试方法，开展培训交流，深化测试面，提升测试人员技能技</a:t>
            </a:r>
            <a:r>
              <a:rPr lang="zh-CN" altLang="en-US" b="1" dirty="0" smtClean="0">
                <a:solidFill>
                  <a:srgbClr val="000099"/>
                </a:solidFill>
              </a:rPr>
              <a:t>巧</a:t>
            </a:r>
            <a:endParaRPr lang="en-US" altLang="zh-CN" dirty="0" smtClean="0"/>
          </a:p>
          <a:p>
            <a:pPr>
              <a:buNone/>
            </a:pPr>
            <a:endParaRPr lang="en-US" altLang="zh-CN" dirty="0" smtClean="0"/>
          </a:p>
          <a:p>
            <a:r>
              <a:rPr lang="zh-CN" altLang="en-US" dirty="0" smtClean="0"/>
              <a:t>检</a:t>
            </a:r>
            <a:r>
              <a:rPr lang="zh-CN" altLang="en-US" dirty="0" smtClean="0"/>
              <a:t>视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特性开发完成后需要交叉检视</a:t>
            </a:r>
            <a:endParaRPr lang="en-US" altLang="zh-CN" dirty="0" smtClean="0"/>
          </a:p>
          <a:p>
            <a:pPr lvl="1"/>
            <a:endParaRPr lang="en-US" altLang="zh-CN" dirty="0" smtClean="0"/>
          </a:p>
          <a:p>
            <a:r>
              <a:rPr lang="zh-CN" altLang="en-US" dirty="0" smtClean="0"/>
              <a:t>质量活动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规范</a:t>
            </a:r>
            <a:r>
              <a:rPr lang="en-US" altLang="zh-CN" dirty="0" err="1" smtClean="0"/>
              <a:t>Jira</a:t>
            </a:r>
            <a:r>
              <a:rPr lang="zh-CN" altLang="en-US" dirty="0" smtClean="0"/>
              <a:t>单：</a:t>
            </a:r>
            <a:r>
              <a:rPr lang="en-US" altLang="zh-CN" dirty="0" err="1" smtClean="0"/>
              <a:t>Jira</a:t>
            </a:r>
            <a:r>
              <a:rPr lang="zh-CN" altLang="en-US" dirty="0" smtClean="0"/>
              <a:t>单中必须说明问题原因，重现条件和提交</a:t>
            </a:r>
            <a:r>
              <a:rPr lang="en-US" altLang="zh-CN" dirty="0" smtClean="0"/>
              <a:t>SVN</a:t>
            </a:r>
            <a:r>
              <a:rPr lang="zh-CN" altLang="en-US" dirty="0" smtClean="0"/>
              <a:t>号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开展人工场景测试</a:t>
            </a:r>
            <a:endParaRPr lang="en-US" altLang="zh-CN" dirty="0" smtClean="0"/>
          </a:p>
          <a:p>
            <a:pPr lvl="1"/>
            <a:endParaRPr lang="en-US" altLang="zh-CN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50" name="Text Box 1"/>
          <p:cNvSpPr txBox="1">
            <a:spLocks noChangeArrowheads="1"/>
          </p:cNvSpPr>
          <p:nvPr/>
        </p:nvSpPr>
        <p:spPr bwMode="auto">
          <a:xfrm>
            <a:off x="533400" y="762000"/>
            <a:ext cx="8229600" cy="884238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anchor="ctr"/>
          <a:lstStyle/>
          <a:p>
            <a:pPr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zh-CN" altLang="en-US" sz="4000" b="1" dirty="0" smtClean="0">
                <a:solidFill>
                  <a:srgbClr val="990000"/>
                </a:solidFill>
              </a:rPr>
              <a:t>谢谢</a:t>
            </a:r>
            <a:endParaRPr lang="en-US" sz="4000" b="1" dirty="0">
              <a:solidFill>
                <a:srgbClr val="990000"/>
              </a:solidFill>
            </a:endParaRPr>
          </a:p>
        </p:txBody>
      </p:sp>
      <p:pic>
        <p:nvPicPr>
          <p:cNvPr id="130052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366837" y="1807680"/>
            <a:ext cx="6329363" cy="42121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 spd="med" advTm="1810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[SequoiaDB]PPT Template-中英文版1">
  <a:themeElements>
    <a:clrScheme name="平衡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[SequoiaDB]PPT Template-中英文版1</Template>
  <TotalTime>6061</TotalTime>
  <Words>1047</Words>
  <Application>Microsoft Office PowerPoint</Application>
  <PresentationFormat>On-screen Show (4:3)</PresentationFormat>
  <Paragraphs>201</Paragraphs>
  <Slides>12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[SequoiaDB]PPT Template-中英文版1</vt:lpstr>
      <vt:lpstr>SequoiaDB Business Plan</vt:lpstr>
      <vt:lpstr>2014年4季度总体目标</vt:lpstr>
      <vt:lpstr>版本要求和约束</vt:lpstr>
      <vt:lpstr>版本特性—性能（一）</vt:lpstr>
      <vt:lpstr>版本特性—可维护性</vt:lpstr>
      <vt:lpstr>版本特性—功能</vt:lpstr>
      <vt:lpstr>版本特性—OM</vt:lpstr>
      <vt:lpstr>版本特性—优化</vt:lpstr>
      <vt:lpstr>人力汇总</vt:lpstr>
      <vt:lpstr>制度（一）</vt:lpstr>
      <vt:lpstr>制度（二）</vt:lpstr>
      <vt:lpstr>Slide 12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taoewang</dc:creator>
  <cp:lastModifiedBy>xujianhui</cp:lastModifiedBy>
  <cp:revision>255</cp:revision>
  <dcterms:created xsi:type="dcterms:W3CDTF">2013-10-30T01:59:32Z</dcterms:created>
  <dcterms:modified xsi:type="dcterms:W3CDTF">2014-11-04T07:30:27Z</dcterms:modified>
</cp:coreProperties>
</file>